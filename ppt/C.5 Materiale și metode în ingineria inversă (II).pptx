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08" r:id="rId2"/>
    <p:sldMasterId id="2147483720" r:id="rId3"/>
    <p:sldMasterId id="2147483738" r:id="rId4"/>
    <p:sldMasterId id="2147483750" r:id="rId5"/>
  </p:sldMasterIdLst>
  <p:notesMasterIdLst>
    <p:notesMasterId r:id="rId67"/>
  </p:notesMasterIdLst>
  <p:sldIdLst>
    <p:sldId id="480" r:id="rId6"/>
    <p:sldId id="471" r:id="rId7"/>
    <p:sldId id="314" r:id="rId8"/>
    <p:sldId id="468" r:id="rId9"/>
    <p:sldId id="337" r:id="rId10"/>
    <p:sldId id="354" r:id="rId11"/>
    <p:sldId id="355" r:id="rId12"/>
    <p:sldId id="356" r:id="rId13"/>
    <p:sldId id="359" r:id="rId14"/>
    <p:sldId id="482" r:id="rId15"/>
    <p:sldId id="483" r:id="rId16"/>
    <p:sldId id="428" r:id="rId17"/>
    <p:sldId id="444" r:id="rId18"/>
    <p:sldId id="361" r:id="rId19"/>
    <p:sldId id="362" r:id="rId20"/>
    <p:sldId id="429" r:id="rId21"/>
    <p:sldId id="357" r:id="rId22"/>
    <p:sldId id="358" r:id="rId23"/>
    <p:sldId id="363" r:id="rId24"/>
    <p:sldId id="430" r:id="rId25"/>
    <p:sldId id="474" r:id="rId26"/>
    <p:sldId id="364" r:id="rId27"/>
    <p:sldId id="477" r:id="rId28"/>
    <p:sldId id="476" r:id="rId29"/>
    <p:sldId id="475" r:id="rId30"/>
    <p:sldId id="431" r:id="rId31"/>
    <p:sldId id="445" r:id="rId32"/>
    <p:sldId id="365" r:id="rId33"/>
    <p:sldId id="366" r:id="rId34"/>
    <p:sldId id="484" r:id="rId35"/>
    <p:sldId id="486" r:id="rId36"/>
    <p:sldId id="485" r:id="rId37"/>
    <p:sldId id="487" r:id="rId38"/>
    <p:sldId id="367" r:id="rId39"/>
    <p:sldId id="368" r:id="rId40"/>
    <p:sldId id="370" r:id="rId41"/>
    <p:sldId id="371" r:id="rId42"/>
    <p:sldId id="372" r:id="rId43"/>
    <p:sldId id="373" r:id="rId44"/>
    <p:sldId id="375" r:id="rId45"/>
    <p:sldId id="376" r:id="rId46"/>
    <p:sldId id="469" r:id="rId47"/>
    <p:sldId id="460" r:id="rId48"/>
    <p:sldId id="461" r:id="rId49"/>
    <p:sldId id="462" r:id="rId50"/>
    <p:sldId id="470" r:id="rId51"/>
    <p:sldId id="383" r:id="rId52"/>
    <p:sldId id="384" r:id="rId53"/>
    <p:sldId id="387" r:id="rId54"/>
    <p:sldId id="388" r:id="rId55"/>
    <p:sldId id="389" r:id="rId56"/>
    <p:sldId id="390" r:id="rId57"/>
    <p:sldId id="391" r:id="rId58"/>
    <p:sldId id="392" r:id="rId59"/>
    <p:sldId id="393" r:id="rId60"/>
    <p:sldId id="394" r:id="rId61"/>
    <p:sldId id="395" r:id="rId62"/>
    <p:sldId id="396" r:id="rId63"/>
    <p:sldId id="397" r:id="rId64"/>
    <p:sldId id="479" r:id="rId65"/>
    <p:sldId id="481"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07" autoAdjust="0"/>
    <p:restoredTop sz="94660"/>
  </p:normalViewPr>
  <p:slideViewPr>
    <p:cSldViewPr snapToGrid="0">
      <p:cViewPr varScale="1">
        <p:scale>
          <a:sx n="150" d="100"/>
          <a:sy n="150" d="100"/>
        </p:scale>
        <p:origin x="45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2EC079-3751-4D68-8033-EEF05FB65875}"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2F2D4FA3-1832-482D-A448-08BE4B9C12A7}">
      <dgm:prSet phldrT="[Text]"/>
      <dgm:spPr/>
      <dgm:t>
        <a:bodyPr/>
        <a:lstStyle/>
        <a:p>
          <a:r>
            <a:rPr lang="en-US">
              <a:solidFill>
                <a:schemeClr val="tx1">
                  <a:lumMod val="50000"/>
                  <a:lumOff val="50000"/>
                </a:schemeClr>
              </a:solidFill>
            </a:rPr>
            <a:t>sysinternals</a:t>
          </a:r>
        </a:p>
      </dgm:t>
    </dgm:pt>
    <dgm:pt modelId="{750703D8-084D-42DB-983B-DE2AB2B0A914}" type="parTrans" cxnId="{73DB03EE-C038-4723-BCC3-1D794A9367AC}">
      <dgm:prSet/>
      <dgm:spPr/>
      <dgm:t>
        <a:bodyPr/>
        <a:lstStyle/>
        <a:p>
          <a:endParaRPr lang="en-US"/>
        </a:p>
      </dgm:t>
    </dgm:pt>
    <dgm:pt modelId="{2072B493-91FF-4562-95F0-36446EE1F288}" type="sibTrans" cxnId="{73DB03EE-C038-4723-BCC3-1D794A9367AC}">
      <dgm:prSet/>
      <dgm:spPr/>
      <dgm:t>
        <a:bodyPr/>
        <a:lstStyle/>
        <a:p>
          <a:endParaRPr lang="en-US"/>
        </a:p>
      </dgm:t>
    </dgm:pt>
    <dgm:pt modelId="{A74F5E40-9C12-4A5E-8B51-CB8C69EFD97C}">
      <dgm:prSet phldrT="[Text]"/>
      <dgm:spPr/>
      <dgm:t>
        <a:bodyPr/>
        <a:lstStyle/>
        <a:p>
          <a:r>
            <a:rPr lang="en-US">
              <a:solidFill>
                <a:schemeClr val="tx1">
                  <a:lumMod val="50000"/>
                  <a:lumOff val="50000"/>
                </a:schemeClr>
              </a:solidFill>
            </a:rPr>
            <a:t>Process Monitor</a:t>
          </a:r>
        </a:p>
      </dgm:t>
    </dgm:pt>
    <dgm:pt modelId="{DE426D1C-F751-4289-A01D-2A29BE79F306}" type="parTrans" cxnId="{5CEAFF60-10C9-4E31-94C3-567BC5E348BD}">
      <dgm:prSet/>
      <dgm:spPr/>
      <dgm:t>
        <a:bodyPr/>
        <a:lstStyle/>
        <a:p>
          <a:endParaRPr lang="en-US"/>
        </a:p>
      </dgm:t>
    </dgm:pt>
    <dgm:pt modelId="{5AFC0E99-F844-4B8A-A94E-B1B554FF00CF}" type="sibTrans" cxnId="{5CEAFF60-10C9-4E31-94C3-567BC5E348BD}">
      <dgm:prSet/>
      <dgm:spPr/>
      <dgm:t>
        <a:bodyPr/>
        <a:lstStyle/>
        <a:p>
          <a:endParaRPr lang="en-US"/>
        </a:p>
      </dgm:t>
    </dgm:pt>
    <dgm:pt modelId="{7ABED66D-AC67-4640-8F04-34C5F2C66082}">
      <dgm:prSet phldrT="[Text]"/>
      <dgm:spPr/>
      <dgm:t>
        <a:bodyPr/>
        <a:lstStyle/>
        <a:p>
          <a:r>
            <a:rPr lang="en-US">
              <a:solidFill>
                <a:schemeClr val="tx1">
                  <a:lumMod val="50000"/>
                  <a:lumOff val="50000"/>
                </a:schemeClr>
              </a:solidFill>
            </a:rPr>
            <a:t>Process Explorer</a:t>
          </a:r>
        </a:p>
      </dgm:t>
    </dgm:pt>
    <dgm:pt modelId="{0F8CF3AD-F9F8-48BB-B6D0-3DBE70E22780}" type="parTrans" cxnId="{5D87202D-36F2-481A-82B9-1B4C6823206D}">
      <dgm:prSet/>
      <dgm:spPr/>
      <dgm:t>
        <a:bodyPr/>
        <a:lstStyle/>
        <a:p>
          <a:endParaRPr lang="en-US"/>
        </a:p>
      </dgm:t>
    </dgm:pt>
    <dgm:pt modelId="{AA58D9A3-DBE3-4A45-9765-6653219D8656}" type="sibTrans" cxnId="{5D87202D-36F2-481A-82B9-1B4C6823206D}">
      <dgm:prSet/>
      <dgm:spPr/>
      <dgm:t>
        <a:bodyPr/>
        <a:lstStyle/>
        <a:p>
          <a:endParaRPr lang="en-US"/>
        </a:p>
      </dgm:t>
    </dgm:pt>
    <dgm:pt modelId="{1DFBC50D-C9C3-43B8-A581-85489C65A2D3}" type="pres">
      <dgm:prSet presAssocID="{FC2EC079-3751-4D68-8033-EEF05FB65875}" presName="hierChild1" presStyleCnt="0">
        <dgm:presLayoutVars>
          <dgm:chPref val="1"/>
          <dgm:dir/>
          <dgm:animOne val="branch"/>
          <dgm:animLvl val="lvl"/>
          <dgm:resizeHandles/>
        </dgm:presLayoutVars>
      </dgm:prSet>
      <dgm:spPr/>
    </dgm:pt>
    <dgm:pt modelId="{7696E89C-B134-4922-820C-7EEEE9043E13}" type="pres">
      <dgm:prSet presAssocID="{2F2D4FA3-1832-482D-A448-08BE4B9C12A7}" presName="hierRoot1" presStyleCnt="0"/>
      <dgm:spPr/>
    </dgm:pt>
    <dgm:pt modelId="{311F2EC7-6EA5-4A04-BE71-F792332D4E98}" type="pres">
      <dgm:prSet presAssocID="{2F2D4FA3-1832-482D-A448-08BE4B9C12A7}" presName="composite" presStyleCnt="0"/>
      <dgm:spPr/>
    </dgm:pt>
    <dgm:pt modelId="{D2537A95-D538-4E50-84B0-A7B5B322AFB2}" type="pres">
      <dgm:prSet presAssocID="{2F2D4FA3-1832-482D-A448-08BE4B9C12A7}" presName="background" presStyleLbl="node0" presStyleIdx="0" presStyleCnt="1"/>
      <dgm:spPr/>
    </dgm:pt>
    <dgm:pt modelId="{96698A8B-A381-4D04-AFBC-C3D7B20914C4}" type="pres">
      <dgm:prSet presAssocID="{2F2D4FA3-1832-482D-A448-08BE4B9C12A7}" presName="text" presStyleLbl="fgAcc0" presStyleIdx="0" presStyleCnt="1">
        <dgm:presLayoutVars>
          <dgm:chPref val="3"/>
        </dgm:presLayoutVars>
      </dgm:prSet>
      <dgm:spPr/>
    </dgm:pt>
    <dgm:pt modelId="{9600D900-3785-4E93-848D-88AC25B37F36}" type="pres">
      <dgm:prSet presAssocID="{2F2D4FA3-1832-482D-A448-08BE4B9C12A7}" presName="hierChild2" presStyleCnt="0"/>
      <dgm:spPr/>
    </dgm:pt>
    <dgm:pt modelId="{7A30AC4A-E793-42D8-86D9-1CDD63123B05}" type="pres">
      <dgm:prSet presAssocID="{DE426D1C-F751-4289-A01D-2A29BE79F306}" presName="Name10" presStyleLbl="parChTrans1D2" presStyleIdx="0" presStyleCnt="2"/>
      <dgm:spPr/>
    </dgm:pt>
    <dgm:pt modelId="{0415324C-0ACF-4075-88D7-0D919F4931D2}" type="pres">
      <dgm:prSet presAssocID="{A74F5E40-9C12-4A5E-8B51-CB8C69EFD97C}" presName="hierRoot2" presStyleCnt="0"/>
      <dgm:spPr/>
    </dgm:pt>
    <dgm:pt modelId="{3CE5F2FE-AC79-4DEF-959C-D59B37F8D4AD}" type="pres">
      <dgm:prSet presAssocID="{A74F5E40-9C12-4A5E-8B51-CB8C69EFD97C}" presName="composite2" presStyleCnt="0"/>
      <dgm:spPr/>
    </dgm:pt>
    <dgm:pt modelId="{80C6AF8D-87CA-412D-8D80-A4484012E1F9}" type="pres">
      <dgm:prSet presAssocID="{A74F5E40-9C12-4A5E-8B51-CB8C69EFD97C}" presName="background2" presStyleLbl="node2" presStyleIdx="0" presStyleCnt="2"/>
      <dgm:spPr/>
    </dgm:pt>
    <dgm:pt modelId="{A739D72B-1A6A-48B1-BBCF-511098FC9B51}" type="pres">
      <dgm:prSet presAssocID="{A74F5E40-9C12-4A5E-8B51-CB8C69EFD97C}" presName="text2" presStyleLbl="fgAcc2" presStyleIdx="0" presStyleCnt="2">
        <dgm:presLayoutVars>
          <dgm:chPref val="3"/>
        </dgm:presLayoutVars>
      </dgm:prSet>
      <dgm:spPr/>
    </dgm:pt>
    <dgm:pt modelId="{854B7A74-DCDF-4D15-880C-4ED90595AB13}" type="pres">
      <dgm:prSet presAssocID="{A74F5E40-9C12-4A5E-8B51-CB8C69EFD97C}" presName="hierChild3" presStyleCnt="0"/>
      <dgm:spPr/>
    </dgm:pt>
    <dgm:pt modelId="{8070249D-E6D0-4926-BAE0-CCB11BAD265A}" type="pres">
      <dgm:prSet presAssocID="{0F8CF3AD-F9F8-48BB-B6D0-3DBE70E22780}" presName="Name10" presStyleLbl="parChTrans1D2" presStyleIdx="1" presStyleCnt="2"/>
      <dgm:spPr/>
    </dgm:pt>
    <dgm:pt modelId="{CA84FB75-47A9-44BC-AEBE-B859FD7FF167}" type="pres">
      <dgm:prSet presAssocID="{7ABED66D-AC67-4640-8F04-34C5F2C66082}" presName="hierRoot2" presStyleCnt="0"/>
      <dgm:spPr/>
    </dgm:pt>
    <dgm:pt modelId="{D96C0D9F-D336-45D5-8640-EFD256D05063}" type="pres">
      <dgm:prSet presAssocID="{7ABED66D-AC67-4640-8F04-34C5F2C66082}" presName="composite2" presStyleCnt="0"/>
      <dgm:spPr/>
    </dgm:pt>
    <dgm:pt modelId="{9B9D2B7D-03D6-4A7E-98ED-EBDCDF129A70}" type="pres">
      <dgm:prSet presAssocID="{7ABED66D-AC67-4640-8F04-34C5F2C66082}" presName="background2" presStyleLbl="node2" presStyleIdx="1" presStyleCnt="2"/>
      <dgm:spPr/>
    </dgm:pt>
    <dgm:pt modelId="{235ECE06-371C-41E8-AC19-B447D58645D3}" type="pres">
      <dgm:prSet presAssocID="{7ABED66D-AC67-4640-8F04-34C5F2C66082}" presName="text2" presStyleLbl="fgAcc2" presStyleIdx="1" presStyleCnt="2">
        <dgm:presLayoutVars>
          <dgm:chPref val="3"/>
        </dgm:presLayoutVars>
      </dgm:prSet>
      <dgm:spPr/>
    </dgm:pt>
    <dgm:pt modelId="{4F62976A-1444-4774-97E5-46D7CC6E64AB}" type="pres">
      <dgm:prSet presAssocID="{7ABED66D-AC67-4640-8F04-34C5F2C66082}" presName="hierChild3" presStyleCnt="0"/>
      <dgm:spPr/>
    </dgm:pt>
  </dgm:ptLst>
  <dgm:cxnLst>
    <dgm:cxn modelId="{B34E370C-1250-4A54-8D25-859774DCB50E}" type="presOf" srcId="{7ABED66D-AC67-4640-8F04-34C5F2C66082}" destId="{235ECE06-371C-41E8-AC19-B447D58645D3}" srcOrd="0" destOrd="0" presId="urn:microsoft.com/office/officeart/2005/8/layout/hierarchy1"/>
    <dgm:cxn modelId="{07703D1D-1D0A-4D56-BF96-AB2AA1762089}" type="presOf" srcId="{2F2D4FA3-1832-482D-A448-08BE4B9C12A7}" destId="{96698A8B-A381-4D04-AFBC-C3D7B20914C4}" srcOrd="0" destOrd="0" presId="urn:microsoft.com/office/officeart/2005/8/layout/hierarchy1"/>
    <dgm:cxn modelId="{5D87202D-36F2-481A-82B9-1B4C6823206D}" srcId="{2F2D4FA3-1832-482D-A448-08BE4B9C12A7}" destId="{7ABED66D-AC67-4640-8F04-34C5F2C66082}" srcOrd="1" destOrd="0" parTransId="{0F8CF3AD-F9F8-48BB-B6D0-3DBE70E22780}" sibTransId="{AA58D9A3-DBE3-4A45-9765-6653219D8656}"/>
    <dgm:cxn modelId="{5CEAFF60-10C9-4E31-94C3-567BC5E348BD}" srcId="{2F2D4FA3-1832-482D-A448-08BE4B9C12A7}" destId="{A74F5E40-9C12-4A5E-8B51-CB8C69EFD97C}" srcOrd="0" destOrd="0" parTransId="{DE426D1C-F751-4289-A01D-2A29BE79F306}" sibTransId="{5AFC0E99-F844-4B8A-A94E-B1B554FF00CF}"/>
    <dgm:cxn modelId="{B8722A4D-BD84-4C0E-9B05-B25C2B048F5A}" type="presOf" srcId="{DE426D1C-F751-4289-A01D-2A29BE79F306}" destId="{7A30AC4A-E793-42D8-86D9-1CDD63123B05}" srcOrd="0" destOrd="0" presId="urn:microsoft.com/office/officeart/2005/8/layout/hierarchy1"/>
    <dgm:cxn modelId="{6C4B9D74-BED8-4414-A484-F7FAAD386165}" type="presOf" srcId="{FC2EC079-3751-4D68-8033-EEF05FB65875}" destId="{1DFBC50D-C9C3-43B8-A581-85489C65A2D3}" srcOrd="0" destOrd="0" presId="urn:microsoft.com/office/officeart/2005/8/layout/hierarchy1"/>
    <dgm:cxn modelId="{39B173E2-8455-40E7-9D34-9BA3B2A6D1CD}" type="presOf" srcId="{0F8CF3AD-F9F8-48BB-B6D0-3DBE70E22780}" destId="{8070249D-E6D0-4926-BAE0-CCB11BAD265A}" srcOrd="0" destOrd="0" presId="urn:microsoft.com/office/officeart/2005/8/layout/hierarchy1"/>
    <dgm:cxn modelId="{AF7535EC-37DA-47D4-8BCC-BF567822F672}" type="presOf" srcId="{A74F5E40-9C12-4A5E-8B51-CB8C69EFD97C}" destId="{A739D72B-1A6A-48B1-BBCF-511098FC9B51}" srcOrd="0" destOrd="0" presId="urn:microsoft.com/office/officeart/2005/8/layout/hierarchy1"/>
    <dgm:cxn modelId="{73DB03EE-C038-4723-BCC3-1D794A9367AC}" srcId="{FC2EC079-3751-4D68-8033-EEF05FB65875}" destId="{2F2D4FA3-1832-482D-A448-08BE4B9C12A7}" srcOrd="0" destOrd="0" parTransId="{750703D8-084D-42DB-983B-DE2AB2B0A914}" sibTransId="{2072B493-91FF-4562-95F0-36446EE1F288}"/>
    <dgm:cxn modelId="{23FB17E6-F4AA-4EBA-A471-3F5BE8DA5EBB}" type="presParOf" srcId="{1DFBC50D-C9C3-43B8-A581-85489C65A2D3}" destId="{7696E89C-B134-4922-820C-7EEEE9043E13}" srcOrd="0" destOrd="0" presId="urn:microsoft.com/office/officeart/2005/8/layout/hierarchy1"/>
    <dgm:cxn modelId="{BF85DF87-AA54-4629-A81B-C524465C59C6}" type="presParOf" srcId="{7696E89C-B134-4922-820C-7EEEE9043E13}" destId="{311F2EC7-6EA5-4A04-BE71-F792332D4E98}" srcOrd="0" destOrd="0" presId="urn:microsoft.com/office/officeart/2005/8/layout/hierarchy1"/>
    <dgm:cxn modelId="{578DFA90-DE3E-4866-BDAC-09F53291A5CC}" type="presParOf" srcId="{311F2EC7-6EA5-4A04-BE71-F792332D4E98}" destId="{D2537A95-D538-4E50-84B0-A7B5B322AFB2}" srcOrd="0" destOrd="0" presId="urn:microsoft.com/office/officeart/2005/8/layout/hierarchy1"/>
    <dgm:cxn modelId="{DA060DC4-2DA2-4F87-83F3-E675B4A7AB33}" type="presParOf" srcId="{311F2EC7-6EA5-4A04-BE71-F792332D4E98}" destId="{96698A8B-A381-4D04-AFBC-C3D7B20914C4}" srcOrd="1" destOrd="0" presId="urn:microsoft.com/office/officeart/2005/8/layout/hierarchy1"/>
    <dgm:cxn modelId="{BB610284-EE63-4B37-B9E9-97AA15182773}" type="presParOf" srcId="{7696E89C-B134-4922-820C-7EEEE9043E13}" destId="{9600D900-3785-4E93-848D-88AC25B37F36}" srcOrd="1" destOrd="0" presId="urn:microsoft.com/office/officeart/2005/8/layout/hierarchy1"/>
    <dgm:cxn modelId="{94482CF7-F235-4437-9195-C1408AA6FDB6}" type="presParOf" srcId="{9600D900-3785-4E93-848D-88AC25B37F36}" destId="{7A30AC4A-E793-42D8-86D9-1CDD63123B05}" srcOrd="0" destOrd="0" presId="urn:microsoft.com/office/officeart/2005/8/layout/hierarchy1"/>
    <dgm:cxn modelId="{1D0B92EE-CBCF-4D71-9E79-50F4B23822B3}" type="presParOf" srcId="{9600D900-3785-4E93-848D-88AC25B37F36}" destId="{0415324C-0ACF-4075-88D7-0D919F4931D2}" srcOrd="1" destOrd="0" presId="urn:microsoft.com/office/officeart/2005/8/layout/hierarchy1"/>
    <dgm:cxn modelId="{E71FAAAA-4BFB-4FD9-AEB4-5E1638DA1E3D}" type="presParOf" srcId="{0415324C-0ACF-4075-88D7-0D919F4931D2}" destId="{3CE5F2FE-AC79-4DEF-959C-D59B37F8D4AD}" srcOrd="0" destOrd="0" presId="urn:microsoft.com/office/officeart/2005/8/layout/hierarchy1"/>
    <dgm:cxn modelId="{A871C656-4C1F-4551-9996-C7AEEB70101D}" type="presParOf" srcId="{3CE5F2FE-AC79-4DEF-959C-D59B37F8D4AD}" destId="{80C6AF8D-87CA-412D-8D80-A4484012E1F9}" srcOrd="0" destOrd="0" presId="urn:microsoft.com/office/officeart/2005/8/layout/hierarchy1"/>
    <dgm:cxn modelId="{1BCB1DF0-4AA1-4A92-B826-7042350186F0}" type="presParOf" srcId="{3CE5F2FE-AC79-4DEF-959C-D59B37F8D4AD}" destId="{A739D72B-1A6A-48B1-BBCF-511098FC9B51}" srcOrd="1" destOrd="0" presId="urn:microsoft.com/office/officeart/2005/8/layout/hierarchy1"/>
    <dgm:cxn modelId="{493B4893-3A12-40B0-A6D7-8A0F3734294C}" type="presParOf" srcId="{0415324C-0ACF-4075-88D7-0D919F4931D2}" destId="{854B7A74-DCDF-4D15-880C-4ED90595AB13}" srcOrd="1" destOrd="0" presId="urn:microsoft.com/office/officeart/2005/8/layout/hierarchy1"/>
    <dgm:cxn modelId="{331C2037-D014-446E-BEA1-88078D494EEE}" type="presParOf" srcId="{9600D900-3785-4E93-848D-88AC25B37F36}" destId="{8070249D-E6D0-4926-BAE0-CCB11BAD265A}" srcOrd="2" destOrd="0" presId="urn:microsoft.com/office/officeart/2005/8/layout/hierarchy1"/>
    <dgm:cxn modelId="{9E2E6420-D45B-45EE-917E-71A39E64842E}" type="presParOf" srcId="{9600D900-3785-4E93-848D-88AC25B37F36}" destId="{CA84FB75-47A9-44BC-AEBE-B859FD7FF167}" srcOrd="3" destOrd="0" presId="urn:microsoft.com/office/officeart/2005/8/layout/hierarchy1"/>
    <dgm:cxn modelId="{416B650F-7994-4B6C-8A39-9D78A63EFB4D}" type="presParOf" srcId="{CA84FB75-47A9-44BC-AEBE-B859FD7FF167}" destId="{D96C0D9F-D336-45D5-8640-EFD256D05063}" srcOrd="0" destOrd="0" presId="urn:microsoft.com/office/officeart/2005/8/layout/hierarchy1"/>
    <dgm:cxn modelId="{B8FE063A-FD37-4C1C-B616-67BA5F8A2F02}" type="presParOf" srcId="{D96C0D9F-D336-45D5-8640-EFD256D05063}" destId="{9B9D2B7D-03D6-4A7E-98ED-EBDCDF129A70}" srcOrd="0" destOrd="0" presId="urn:microsoft.com/office/officeart/2005/8/layout/hierarchy1"/>
    <dgm:cxn modelId="{4D74D535-751D-4EEB-9EE6-85146F1EFDDA}" type="presParOf" srcId="{D96C0D9F-D336-45D5-8640-EFD256D05063}" destId="{235ECE06-371C-41E8-AC19-B447D58645D3}" srcOrd="1" destOrd="0" presId="urn:microsoft.com/office/officeart/2005/8/layout/hierarchy1"/>
    <dgm:cxn modelId="{637E595D-607D-4818-85CC-0709BF365BCD}" type="presParOf" srcId="{CA84FB75-47A9-44BC-AEBE-B859FD7FF167}" destId="{4F62976A-1444-4774-97E5-46D7CC6E64A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70249D-E6D0-4926-BAE0-CCB11BAD265A}">
      <dsp:nvSpPr>
        <dsp:cNvPr id="0" name=""/>
        <dsp:cNvSpPr/>
      </dsp:nvSpPr>
      <dsp:spPr>
        <a:xfrm>
          <a:off x="3883421" y="2065121"/>
          <a:ext cx="1986359" cy="945326"/>
        </a:xfrm>
        <a:custGeom>
          <a:avLst/>
          <a:gdLst/>
          <a:ahLst/>
          <a:cxnLst/>
          <a:rect l="0" t="0" r="0" b="0"/>
          <a:pathLst>
            <a:path>
              <a:moveTo>
                <a:pt x="0" y="0"/>
              </a:moveTo>
              <a:lnTo>
                <a:pt x="0" y="644212"/>
              </a:lnTo>
              <a:lnTo>
                <a:pt x="1986359" y="644212"/>
              </a:lnTo>
              <a:lnTo>
                <a:pt x="1986359" y="945326"/>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30AC4A-E793-42D8-86D9-1CDD63123B05}">
      <dsp:nvSpPr>
        <dsp:cNvPr id="0" name=""/>
        <dsp:cNvSpPr/>
      </dsp:nvSpPr>
      <dsp:spPr>
        <a:xfrm>
          <a:off x="1897062" y="2065121"/>
          <a:ext cx="1986359" cy="945326"/>
        </a:xfrm>
        <a:custGeom>
          <a:avLst/>
          <a:gdLst/>
          <a:ahLst/>
          <a:cxnLst/>
          <a:rect l="0" t="0" r="0" b="0"/>
          <a:pathLst>
            <a:path>
              <a:moveTo>
                <a:pt x="1986359" y="0"/>
              </a:moveTo>
              <a:lnTo>
                <a:pt x="1986359" y="644212"/>
              </a:lnTo>
              <a:lnTo>
                <a:pt x="0" y="644212"/>
              </a:lnTo>
              <a:lnTo>
                <a:pt x="0" y="945326"/>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537A95-D538-4E50-84B0-A7B5B322AFB2}">
      <dsp:nvSpPr>
        <dsp:cNvPr id="0" name=""/>
        <dsp:cNvSpPr/>
      </dsp:nvSpPr>
      <dsp:spPr>
        <a:xfrm>
          <a:off x="2258218" y="1113"/>
          <a:ext cx="3250406" cy="2064007"/>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698A8B-A381-4D04-AFBC-C3D7B20914C4}">
      <dsp:nvSpPr>
        <dsp:cNvPr id="0" name=""/>
        <dsp:cNvSpPr/>
      </dsp:nvSpPr>
      <dsp:spPr>
        <a:xfrm>
          <a:off x="2619375" y="344211"/>
          <a:ext cx="3250406" cy="2064007"/>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a:solidFill>
                <a:schemeClr val="tx1">
                  <a:lumMod val="50000"/>
                  <a:lumOff val="50000"/>
                </a:schemeClr>
              </a:solidFill>
            </a:rPr>
            <a:t>sysinternals</a:t>
          </a:r>
        </a:p>
      </dsp:txBody>
      <dsp:txXfrm>
        <a:off x="2679828" y="404664"/>
        <a:ext cx="3129500" cy="1943101"/>
      </dsp:txXfrm>
    </dsp:sp>
    <dsp:sp modelId="{80C6AF8D-87CA-412D-8D80-A4484012E1F9}">
      <dsp:nvSpPr>
        <dsp:cNvPr id="0" name=""/>
        <dsp:cNvSpPr/>
      </dsp:nvSpPr>
      <dsp:spPr>
        <a:xfrm>
          <a:off x="271859" y="3010447"/>
          <a:ext cx="3250406" cy="2064007"/>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39D72B-1A6A-48B1-BBCF-511098FC9B51}">
      <dsp:nvSpPr>
        <dsp:cNvPr id="0" name=""/>
        <dsp:cNvSpPr/>
      </dsp:nvSpPr>
      <dsp:spPr>
        <a:xfrm>
          <a:off x="633015" y="3353545"/>
          <a:ext cx="3250406" cy="2064007"/>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a:solidFill>
                <a:schemeClr val="tx1">
                  <a:lumMod val="50000"/>
                  <a:lumOff val="50000"/>
                </a:schemeClr>
              </a:solidFill>
            </a:rPr>
            <a:t>Process Monitor</a:t>
          </a:r>
        </a:p>
      </dsp:txBody>
      <dsp:txXfrm>
        <a:off x="693468" y="3413998"/>
        <a:ext cx="3129500" cy="1943101"/>
      </dsp:txXfrm>
    </dsp:sp>
    <dsp:sp modelId="{9B9D2B7D-03D6-4A7E-98ED-EBDCDF129A70}">
      <dsp:nvSpPr>
        <dsp:cNvPr id="0" name=""/>
        <dsp:cNvSpPr/>
      </dsp:nvSpPr>
      <dsp:spPr>
        <a:xfrm>
          <a:off x="4244578" y="3010447"/>
          <a:ext cx="3250406" cy="2064007"/>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5ECE06-371C-41E8-AC19-B447D58645D3}">
      <dsp:nvSpPr>
        <dsp:cNvPr id="0" name=""/>
        <dsp:cNvSpPr/>
      </dsp:nvSpPr>
      <dsp:spPr>
        <a:xfrm>
          <a:off x="4605734" y="3353545"/>
          <a:ext cx="3250406" cy="2064007"/>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a:solidFill>
                <a:schemeClr val="tx1">
                  <a:lumMod val="50000"/>
                  <a:lumOff val="50000"/>
                </a:schemeClr>
              </a:solidFill>
            </a:rPr>
            <a:t>Process Explorer</a:t>
          </a:r>
        </a:p>
      </dsp:txBody>
      <dsp:txXfrm>
        <a:off x="4666187" y="3413998"/>
        <a:ext cx="3129500" cy="194310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5AD279-2F14-41AE-8D39-B3F75DA8FBC5}"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02137F-C5EB-4EB2-B2CF-64670757D284}" type="slidenum">
              <a:rPr lang="en-US" smtClean="0"/>
              <a:t>‹#›</a:t>
            </a:fld>
            <a:endParaRPr lang="en-US"/>
          </a:p>
        </p:txBody>
      </p:sp>
    </p:spTree>
    <p:extLst>
      <p:ext uri="{BB962C8B-B14F-4D97-AF65-F5344CB8AC3E}">
        <p14:creationId xmlns:p14="http://schemas.microsoft.com/office/powerpoint/2010/main" val="915015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C61FEB-055F-4EC3-88AD-37744766C02A}" type="slidenum">
              <a:rPr lang="en-US" smtClean="0">
                <a:solidFill>
                  <a:prstClr val="black"/>
                </a:solidFill>
              </a:rPr>
              <a:pPr/>
              <a:t>38</a:t>
            </a:fld>
            <a:endParaRPr lang="en-US">
              <a:solidFill>
                <a:prstClr val="black"/>
              </a:solidFill>
            </a:endParaRPr>
          </a:p>
        </p:txBody>
      </p:sp>
    </p:spTree>
    <p:extLst>
      <p:ext uri="{BB962C8B-B14F-4D97-AF65-F5344CB8AC3E}">
        <p14:creationId xmlns:p14="http://schemas.microsoft.com/office/powerpoint/2010/main" val="1607353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60E5FA6-3420-46C9-8B77-AD013BB1820D}"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039541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E5FA6-3420-46C9-8B77-AD013BB1820D}"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920623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0E5FA6-3420-46C9-8B77-AD013BB1820D}"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1726934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60E5FA6-3420-46C9-8B77-AD013BB1820D}"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449306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0E5FA6-3420-46C9-8B77-AD013BB1820D}"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1332696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0E5FA6-3420-46C9-8B77-AD013BB1820D}"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98921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719206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698454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618674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E5FA6-3420-46C9-8B77-AD013BB1820D}"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1377501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E5FA6-3420-46C9-8B77-AD013BB1820D}"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2930066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60E5FA6-3420-46C9-8B77-AD013BB1820D}" type="datetimeFigureOut">
              <a:rPr lang="en-US" smtClean="0"/>
              <a:t>5/24/2026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DB342A5-4CBE-4807-BFEF-CC88330B97D7}" type="slidenum">
              <a:rPr lang="en-US" smtClean="0"/>
              <a:t>‹#›</a:t>
            </a:fld>
            <a:endParaRPr lang="en-US"/>
          </a:p>
        </p:txBody>
      </p:sp>
    </p:spTree>
    <p:extLst>
      <p:ext uri="{BB962C8B-B14F-4D97-AF65-F5344CB8AC3E}">
        <p14:creationId xmlns:p14="http://schemas.microsoft.com/office/powerpoint/2010/main" val="513439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24652321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t>5/24/2026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t>‹#›</a:t>
            </a:fld>
            <a:endParaRPr lang="en-US"/>
          </a:p>
        </p:txBody>
      </p:sp>
    </p:spTree>
    <p:extLst>
      <p:ext uri="{BB962C8B-B14F-4D97-AF65-F5344CB8AC3E}">
        <p14:creationId xmlns:p14="http://schemas.microsoft.com/office/powerpoint/2010/main" val="41031429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438236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6111582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662755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6022362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t>5/24/2026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t>‹#›</a:t>
            </a:fld>
            <a:endParaRPr lang="en-US"/>
          </a:p>
        </p:txBody>
      </p:sp>
    </p:spTree>
    <p:extLst>
      <p:ext uri="{BB962C8B-B14F-4D97-AF65-F5344CB8AC3E}">
        <p14:creationId xmlns:p14="http://schemas.microsoft.com/office/powerpoint/2010/main" val="148492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5854092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28239219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60E5FA6-3420-46C9-8B77-AD013BB1820D}" type="datetimeFigureOut">
              <a:rPr lang="en-US" smtClean="0"/>
              <a:t>5/24/2026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DB342A5-4CBE-4807-BFEF-CC88330B97D7}" type="slidenum">
              <a:rPr lang="en-US" smtClean="0"/>
              <a:t>‹#›</a:t>
            </a:fld>
            <a:endParaRPr lang="en-US"/>
          </a:p>
        </p:txBody>
      </p:sp>
    </p:spTree>
    <p:extLst>
      <p:ext uri="{BB962C8B-B14F-4D97-AF65-F5344CB8AC3E}">
        <p14:creationId xmlns:p14="http://schemas.microsoft.com/office/powerpoint/2010/main" val="13641925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2">
                    <a:lumMod val="50000"/>
                  </a:schemeClr>
                </a:solidFill>
              </a:defRPr>
            </a:lvl1p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a:solidFill>
                <a:srgbClr val="629D7D">
                  <a:lumMod val="50000"/>
                </a:srgbClr>
              </a:solidFill>
            </a:endParaRPr>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5DB342A5-4CBE-4807-BFEF-CC88330B97D7}" type="slidenum">
              <a:rPr lang="en-US" smtClean="0">
                <a:solidFill>
                  <a:prstClr val="black">
                    <a:lumMod val="75000"/>
                    <a:lumOff val="25000"/>
                  </a:prstClr>
                </a:solidFill>
              </a:rPr>
              <a:pPr/>
              <a:t>‹#›</a:t>
            </a:fld>
            <a:endParaRPr lang="en-US">
              <a:solidFill>
                <a:prstClr val="black">
                  <a:lumMod val="75000"/>
                  <a:lumOff val="25000"/>
                </a:prstClr>
              </a:solidFill>
            </a:endParaRPr>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4274635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307892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723887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8763558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8" name="Footer Placeholder 7"/>
          <p:cNvSpPr>
            <a:spLocks noGrp="1"/>
          </p:cNvSpPr>
          <p:nvPr>
            <p:ph type="ftr" sz="quarter" idx="11"/>
          </p:nvPr>
        </p:nvSpPr>
        <p:spPr/>
        <p:txBody>
          <a:bodyPr/>
          <a:lstStyle/>
          <a:p>
            <a:endParaRPr lang="en-US">
              <a:solidFill>
                <a:srgbClr val="629D7D">
                  <a:lumMod val="50000"/>
                </a:srgbClr>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0919965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2450700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3" name="Footer Placeholder 2"/>
          <p:cNvSpPr>
            <a:spLocks noGrp="1"/>
          </p:cNvSpPr>
          <p:nvPr>
            <p:ph type="ftr" sz="quarter" idx="11"/>
          </p:nvPr>
        </p:nvSpPr>
        <p:spPr/>
        <p:txBody>
          <a:bodyPr/>
          <a:lstStyle/>
          <a:p>
            <a:endParaRPr lang="en-US">
              <a:solidFill>
                <a:srgbClr val="629D7D">
                  <a:lumMod val="50000"/>
                </a:srgbClr>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5183494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432050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446743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6472736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5313816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black"/>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black"/>
                </a:solidFill>
                <a:effectLst/>
              </a:rPr>
              <a:t>”</a:t>
            </a:r>
          </a:p>
        </p:txBody>
      </p:sp>
    </p:spTree>
    <p:extLst>
      <p:ext uri="{BB962C8B-B14F-4D97-AF65-F5344CB8AC3E}">
        <p14:creationId xmlns:p14="http://schemas.microsoft.com/office/powerpoint/2010/main" val="8362903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8390013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8167106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339175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1811125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4793024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3055338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558300" y="5956137"/>
            <a:ext cx="1052508" cy="365125"/>
          </a:xfrm>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10544600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618118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42267024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8" name="Footer Placeholder 7"/>
          <p:cNvSpPr>
            <a:spLocks noGrp="1"/>
          </p:cNvSpPr>
          <p:nvPr>
            <p:ph type="ftr" sz="quarter" idx="11"/>
          </p:nvPr>
        </p:nvSpPr>
        <p:spPr/>
        <p:txBody>
          <a:bodyPr/>
          <a:lstStyle/>
          <a:p>
            <a:endParaRPr lang="en-US">
              <a:solidFill>
                <a:srgbClr val="8CB64A"/>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0216774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4" name="Footer Placeholder 3"/>
          <p:cNvSpPr>
            <a:spLocks noGrp="1"/>
          </p:cNvSpPr>
          <p:nvPr>
            <p:ph type="ftr" sz="quarter" idx="11"/>
          </p:nvPr>
        </p:nvSpPr>
        <p:spPr/>
        <p:txBody>
          <a:bodyPr/>
          <a:lstStyle/>
          <a:p>
            <a:endParaRPr lang="en-US">
              <a:solidFill>
                <a:srgbClr val="8CB64A"/>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6197514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3" name="Footer Placeholder 2"/>
          <p:cNvSpPr>
            <a:spLocks noGrp="1"/>
          </p:cNvSpPr>
          <p:nvPr>
            <p:ph type="ftr" sz="quarter" idx="11"/>
          </p:nvPr>
        </p:nvSpPr>
        <p:spPr/>
        <p:txBody>
          <a:bodyPr/>
          <a:lstStyle/>
          <a:p>
            <a:endParaRPr lang="en-US">
              <a:solidFill>
                <a:srgbClr val="8CB64A"/>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786859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5312101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108765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16496174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774923" y="5951811"/>
            <a:ext cx="7896279" cy="365125"/>
          </a:xfrm>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15163694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58618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8205616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935495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9028607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978885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907751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040232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63726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343741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43778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41716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image" Target="../media/image3.jp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0E5FA6-3420-46C9-8B77-AD013BB1820D}" type="datetimeFigureOut">
              <a:rPr lang="en-US" smtClean="0"/>
              <a:t>5/24/2026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B342A5-4CBE-4807-BFEF-CC88330B97D7}" type="slidenum">
              <a:rPr lang="en-US" smtClean="0"/>
              <a:t>‹#›</a:t>
            </a:fld>
            <a:endParaRPr lang="en-US"/>
          </a:p>
        </p:txBody>
      </p:sp>
    </p:spTree>
    <p:extLst>
      <p:ext uri="{BB962C8B-B14F-4D97-AF65-F5344CB8AC3E}">
        <p14:creationId xmlns:p14="http://schemas.microsoft.com/office/powerpoint/2010/main" val="3730881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60E5FA6-3420-46C9-8B77-AD013BB1820D}" type="datetimeFigureOut">
              <a:rPr lang="en-US" smtClean="0"/>
              <a:t>5/24/2026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DB342A5-4CBE-4807-BFEF-CC88330B97D7}"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49344133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 name="Rectangle 12"/>
            <p:cNvSpPr/>
            <p:nvPr/>
          </p:nvSpPr>
          <p:spPr>
            <a:xfrm>
              <a:off x="1" y="5600215"/>
              <a:ext cx="11706512" cy="780581"/>
            </a:xfrm>
            <a:prstGeom prst="rect">
              <a:avLst/>
            </a:pr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2">
                    <a:lumMod val="50000"/>
                  </a:schemeClr>
                </a:solidFill>
              </a:defRPr>
            </a:lvl1p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2">
                    <a:lumMod val="50000"/>
                  </a:schemeClr>
                </a:solidFill>
              </a:defRPr>
            </a:lvl1pPr>
          </a:lstStyle>
          <a:p>
            <a:endParaRPr lang="en-US">
              <a:solidFill>
                <a:srgbClr val="629D7D">
                  <a:lumMod val="50000"/>
                </a:srgbClr>
              </a:solidFill>
            </a:endParaRPr>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2">
                    <a:lumMod val="50000"/>
                  </a:schemeClr>
                </a:solidFill>
              </a:defRPr>
            </a:lvl1p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55402032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solidFill>
                <a:srgbClr val="8CB64A"/>
              </a:solidFill>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DB342A5-4CBE-4807-BFEF-CC88330B97D7}" type="slidenum">
              <a:rPr lang="en-US" smtClean="0">
                <a:solidFill>
                  <a:srgbClr val="8CB64A"/>
                </a:solidFill>
              </a:rPr>
              <a:pPr/>
              <a:t>‹#›</a:t>
            </a:fld>
            <a:endParaRPr lang="en-US">
              <a:solidFill>
                <a:srgbClr val="8CB64A"/>
              </a:solidFill>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59111340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9ECB83-929A-4CA6-A594-AED74AD4E38F}"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2FDE35-50D1-4EEA-9CCA-035503219FC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39919152"/>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5.png"/><Relationship Id="rId2" Type="http://schemas.openxmlformats.org/officeDocument/2006/relationships/diagramData" Target="../diagrams/data1.xml"/><Relationship Id="rId1" Type="http://schemas.openxmlformats.org/officeDocument/2006/relationships/slideLayout" Target="../slideLayouts/slideLayout4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1.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1.xml"/></Relationships>
</file>

<file path=ppt/slides/_rels/slide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6.png"/><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xml"/><Relationship Id="rId1" Type="http://schemas.openxmlformats.org/officeDocument/2006/relationships/slideLayout" Target="../slideLayouts/slideLayout41.xml"/><Relationship Id="rId5" Type="http://schemas.openxmlformats.org/officeDocument/2006/relationships/image" Target="../media/image49.png"/><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8.xml.rels><?xml version="1.0" encoding="UTF-8" standalone="yes"?>
<Relationships xmlns="http://schemas.openxmlformats.org/package/2006/relationships"><Relationship Id="rId2" Type="http://schemas.openxmlformats.org/officeDocument/2006/relationships/hyperlink" Target="mailto:Worm.Win32.Kebede.H@mm" TargetMode="External"/><Relationship Id="rId1" Type="http://schemas.openxmlformats.org/officeDocument/2006/relationships/slideLayout" Target="../slideLayouts/slideLayout41.xml"/></Relationships>
</file>

<file path=ppt/slides/_rels/slide49.xml.rels><?xml version="1.0" encoding="UTF-8" standalone="yes"?>
<Relationships xmlns="http://schemas.openxmlformats.org/package/2006/relationships"><Relationship Id="rId8" Type="http://schemas.openxmlformats.org/officeDocument/2006/relationships/hyperlink" Target="https://www.virustotal.com/" TargetMode="External"/><Relationship Id="rId3" Type="http://schemas.openxmlformats.org/officeDocument/2006/relationships/hyperlink" Target="https://virusshare.com/" TargetMode="External"/><Relationship Id="rId7" Type="http://schemas.openxmlformats.org/officeDocument/2006/relationships/hyperlink" Target="https://polyswarm.io/" TargetMode="External"/><Relationship Id="rId2" Type="http://schemas.openxmlformats.org/officeDocument/2006/relationships/hyperlink" Target="https://virussamples.com/" TargetMode="External"/><Relationship Id="rId1" Type="http://schemas.openxmlformats.org/officeDocument/2006/relationships/slideLayout" Target="../slideLayouts/slideLayout41.xml"/><Relationship Id="rId6" Type="http://schemas.openxmlformats.org/officeDocument/2006/relationships/hyperlink" Target="http://contagiodump.blogspot.com/" TargetMode="External"/><Relationship Id="rId5" Type="http://schemas.openxmlformats.org/officeDocument/2006/relationships/hyperlink" Target="https://malshare.com/" TargetMode="External"/><Relationship Id="rId10" Type="http://schemas.openxmlformats.org/officeDocument/2006/relationships/hyperlink" Target="https://virussign.com/" TargetMode="External"/><Relationship Id="rId4" Type="http://schemas.openxmlformats.org/officeDocument/2006/relationships/hyperlink" Target="https://malquarium.org/" TargetMode="External"/><Relationship Id="rId9" Type="http://schemas.openxmlformats.org/officeDocument/2006/relationships/hyperlink" Target="https://beta.virusbay.io/"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7.xml.rels><?xml version="1.0" encoding="UTF-8" standalone="yes"?>
<Relationships xmlns="http://schemas.openxmlformats.org/package/2006/relationships"><Relationship Id="rId8" Type="http://schemas.openxmlformats.org/officeDocument/2006/relationships/hyperlink" Target="http://detux.org/" TargetMode="External"/><Relationship Id="rId13" Type="http://schemas.openxmlformats.org/officeDocument/2006/relationships/hyperlink" Target="https://www.hybrid-analysis.com/" TargetMode="External"/><Relationship Id="rId18" Type="http://schemas.openxmlformats.org/officeDocument/2006/relationships/hyperlink" Target="https://threatpoint.checkpoint.com/ThreatPortal/emulation" TargetMode="External"/><Relationship Id="rId3" Type="http://schemas.openxmlformats.org/officeDocument/2006/relationships/hyperlink" Target="https://any.run/" TargetMode="External"/><Relationship Id="rId21" Type="http://schemas.openxmlformats.org/officeDocument/2006/relationships/hyperlink" Target="https://app.threatconnect.com/" TargetMode="External"/><Relationship Id="rId7" Type="http://schemas.openxmlformats.org/officeDocument/2006/relationships/hyperlink" Target="http://valkyrie.comodo.com/" TargetMode="External"/><Relationship Id="rId12" Type="http://schemas.openxmlformats.org/officeDocument/2006/relationships/hyperlink" Target="https://iris-h.services/#/pages/dashboard" TargetMode="External"/><Relationship Id="rId17" Type="http://schemas.openxmlformats.org/officeDocument/2006/relationships/hyperlink" Target="http://sandbox.pikker.ee/" TargetMode="External"/><Relationship Id="rId2" Type="http://schemas.openxmlformats.org/officeDocument/2006/relationships/hyperlink" Target="https://amaaas.com/" TargetMode="External"/><Relationship Id="rId16" Type="http://schemas.openxmlformats.org/officeDocument/2006/relationships/hyperlink" Target="https://manalyzer.org/" TargetMode="External"/><Relationship Id="rId20" Type="http://schemas.openxmlformats.org/officeDocument/2006/relationships/hyperlink" Target="https://app.sndbox.com/" TargetMode="External"/><Relationship Id="rId1" Type="http://schemas.openxmlformats.org/officeDocument/2006/relationships/slideLayout" Target="../slideLayouts/slideLayout52.xml"/><Relationship Id="rId6" Type="http://schemas.openxmlformats.org/officeDocument/2006/relationships/hyperlink" Target="https://capesandbox.com/" TargetMode="External"/><Relationship Id="rId11" Type="http://schemas.openxmlformats.org/officeDocument/2006/relationships/hyperlink" Target="https://tria.ge/" TargetMode="External"/><Relationship Id="rId24" Type="http://schemas.openxmlformats.org/officeDocument/2006/relationships/hyperlink" Target="https://yomi.yoroi.company/" TargetMode="External"/><Relationship Id="rId5" Type="http://schemas.openxmlformats.org/officeDocument/2006/relationships/hyperlink" Target="https://analyze.intezer.com/" TargetMode="External"/><Relationship Id="rId15" Type="http://schemas.openxmlformats.org/officeDocument/2006/relationships/hyperlink" Target="https://www.joesandbox.com/" TargetMode="External"/><Relationship Id="rId23" Type="http://schemas.openxmlformats.org/officeDocument/2006/relationships/hyperlink" Target="https://virustotal.com/" TargetMode="External"/><Relationship Id="rId10" Type="http://schemas.openxmlformats.org/officeDocument/2006/relationships/hyperlink" Target="https://intelligence.gatewatcher.com/" TargetMode="External"/><Relationship Id="rId19" Type="http://schemas.openxmlformats.org/officeDocument/2006/relationships/hyperlink" Target="https://www.secondwrite.com/product/free-subscription/" TargetMode="External"/><Relationship Id="rId4" Type="http://schemas.openxmlformats.org/officeDocument/2006/relationships/hyperlink" Target="http://www.binaryguard.com/" TargetMode="External"/><Relationship Id="rId9" Type="http://schemas.openxmlformats.org/officeDocument/2006/relationships/hyperlink" Target="https://www.filescan.io/scan" TargetMode="External"/><Relationship Id="rId14" Type="http://schemas.openxmlformats.org/officeDocument/2006/relationships/hyperlink" Target="https://labs.inquest.net/dfi" TargetMode="External"/><Relationship Id="rId22" Type="http://schemas.openxmlformats.org/officeDocument/2006/relationships/hyperlink" Target="https://app.threat.zone/scan" TargetMode="External"/></Relationships>
</file>

<file path=ppt/slides/_rels/slide58.xml.rels><?xml version="1.0" encoding="UTF-8" standalone="yes"?>
<Relationships xmlns="http://schemas.openxmlformats.org/package/2006/relationships"><Relationship Id="rId3" Type="http://schemas.openxmlformats.org/officeDocument/2006/relationships/hyperlink" Target="https://tria.ge/dashboard" TargetMode="External"/><Relationship Id="rId2" Type="http://schemas.openxmlformats.org/officeDocument/2006/relationships/hyperlink" Target="https://app.any.run/" TargetMode="External"/><Relationship Id="rId1" Type="http://schemas.openxmlformats.org/officeDocument/2006/relationships/slideLayout" Target="../slideLayouts/slideLayout41.xml"/><Relationship Id="rId5" Type="http://schemas.openxmlformats.org/officeDocument/2006/relationships/hyperlink" Target="https://app.sndbox.com/" TargetMode="External"/><Relationship Id="rId4" Type="http://schemas.openxmlformats.org/officeDocument/2006/relationships/hyperlink" Target="https://www.hybrid-analysis.com/"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25069" y="760470"/>
            <a:ext cx="9755187" cy="2766528"/>
          </a:xfrm>
        </p:spPr>
        <p:txBody>
          <a:bodyPr>
            <a:normAutofit fontScale="90000"/>
          </a:bodyPr>
          <a:lstStyle/>
          <a:p>
            <a:r>
              <a:rPr lang="en-US" u="sng" dirty="0"/>
              <a:t>C.5</a:t>
            </a:r>
            <a:r>
              <a:rPr lang="en-US" dirty="0"/>
              <a:t> </a:t>
            </a:r>
            <a:r>
              <a:rPr lang="it-IT" dirty="0"/>
              <a:t>Materiale și metode în </a:t>
            </a:r>
            <a:r>
              <a:rPr lang="it-IT"/>
              <a:t>ingineria inversă (II) </a:t>
            </a:r>
            <a:endParaRPr lang="en-US" dirty="0"/>
          </a:p>
        </p:txBody>
      </p:sp>
      <p:sp>
        <p:nvSpPr>
          <p:cNvPr id="3" name="Subtitle 2"/>
          <p:cNvSpPr>
            <a:spLocks noGrp="1"/>
          </p:cNvSpPr>
          <p:nvPr>
            <p:ph type="subTitle" idx="1"/>
          </p:nvPr>
        </p:nvSpPr>
        <p:spPr/>
        <p:txBody>
          <a:bodyPr/>
          <a:lstStyle/>
          <a:p>
            <a:r>
              <a:rPr lang="en-US"/>
              <a:t>Paul A. Gagniuc</a:t>
            </a:r>
          </a:p>
        </p:txBody>
      </p:sp>
      <p:sp>
        <p:nvSpPr>
          <p:cNvPr id="4" name="Rectangle 3"/>
          <p:cNvSpPr/>
          <p:nvPr/>
        </p:nvSpPr>
        <p:spPr>
          <a:xfrm rot="21419859">
            <a:off x="7300616" y="4413841"/>
            <a:ext cx="3958071" cy="369332"/>
          </a:xfrm>
          <a:prstGeom prst="rect">
            <a:avLst/>
          </a:prstGeom>
        </p:spPr>
        <p:txBody>
          <a:bodyPr wrap="none">
            <a:spAutoFit/>
          </a:bodyPr>
          <a:lstStyle/>
          <a:p>
            <a:r>
              <a:rPr lang="en-US">
                <a:solidFill>
                  <a:srgbClr val="629D7D">
                    <a:lumMod val="20000"/>
                    <a:lumOff val="80000"/>
                  </a:srgbClr>
                </a:solidFill>
              </a:rPr>
              <a:t>Academia Tehnică Militară „Ferdinand I”</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425942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Principalele părți ale prezentării</a:t>
            </a:r>
          </a:p>
        </p:txBody>
      </p:sp>
      <p:sp>
        <p:nvSpPr>
          <p:cNvPr id="3" name="Content Placeholder 2"/>
          <p:cNvSpPr>
            <a:spLocks noGrp="1"/>
          </p:cNvSpPr>
          <p:nvPr>
            <p:ph sz="quarter" idx="13"/>
          </p:nvPr>
        </p:nvSpPr>
        <p:spPr>
          <a:xfrm>
            <a:off x="1126641" y="2385539"/>
            <a:ext cx="9956042" cy="2416435"/>
          </a:xfrm>
        </p:spPr>
        <p:txBody>
          <a:bodyPr>
            <a:normAutofit/>
          </a:bodyPr>
          <a:lstStyle/>
          <a:p>
            <a:r>
              <a:rPr lang="en-US" sz="2800" dirty="0">
                <a:solidFill>
                  <a:schemeClr val="tx1">
                    <a:lumMod val="50000"/>
                    <a:lumOff val="50000"/>
                  </a:schemeClr>
                </a:solidFill>
              </a:rPr>
              <a:t>C.5.2 </a:t>
            </a:r>
            <a:r>
              <a:rPr lang="en-US" sz="2800" dirty="0" err="1">
                <a:solidFill>
                  <a:schemeClr val="tx1">
                    <a:lumMod val="50000"/>
                    <a:lumOff val="50000"/>
                  </a:schemeClr>
                </a:solidFill>
              </a:rPr>
              <a:t>instrumentele</a:t>
            </a:r>
            <a:r>
              <a:rPr lang="en-US" sz="2800" dirty="0">
                <a:solidFill>
                  <a:schemeClr val="tx1">
                    <a:lumMod val="50000"/>
                    <a:lumOff val="50000"/>
                  </a:schemeClr>
                </a:solidFill>
              </a:rPr>
              <a:t> de </a:t>
            </a:r>
            <a:r>
              <a:rPr lang="en-US" sz="2800" dirty="0" err="1">
                <a:solidFill>
                  <a:schemeClr val="tx1">
                    <a:lumMod val="50000"/>
                    <a:lumOff val="50000"/>
                  </a:schemeClr>
                </a:solidFill>
              </a:rPr>
              <a:t>inginerie</a:t>
            </a:r>
            <a:r>
              <a:rPr lang="en-US" sz="2800" dirty="0">
                <a:solidFill>
                  <a:schemeClr val="tx1">
                    <a:lumMod val="50000"/>
                    <a:lumOff val="50000"/>
                  </a:schemeClr>
                </a:solidFill>
              </a:rPr>
              <a:t> </a:t>
            </a:r>
            <a:r>
              <a:rPr lang="en-US" sz="2800" dirty="0" err="1">
                <a:solidFill>
                  <a:schemeClr val="tx1">
                    <a:lumMod val="50000"/>
                    <a:lumOff val="50000"/>
                  </a:schemeClr>
                </a:solidFill>
              </a:rPr>
              <a:t>inversă</a:t>
            </a:r>
            <a:r>
              <a:rPr lang="en-US" sz="2800" dirty="0">
                <a:solidFill>
                  <a:schemeClr val="tx1">
                    <a:lumMod val="50000"/>
                    <a:lumOff val="50000"/>
                  </a:schemeClr>
                </a:solidFill>
              </a:rPr>
              <a:t> (II)</a:t>
            </a:r>
          </a:p>
          <a:p>
            <a:r>
              <a:rPr lang="en-US" sz="2800" dirty="0">
                <a:solidFill>
                  <a:schemeClr val="tx1">
                    <a:lumMod val="50000"/>
                    <a:lumOff val="50000"/>
                  </a:schemeClr>
                </a:solidFill>
              </a:rPr>
              <a:t>C.5.3 </a:t>
            </a:r>
            <a:r>
              <a:rPr lang="en-US" sz="2800" dirty="0" err="1">
                <a:solidFill>
                  <a:schemeClr val="tx1">
                    <a:lumMod val="50000"/>
                    <a:lumOff val="50000"/>
                  </a:schemeClr>
                </a:solidFill>
              </a:rPr>
              <a:t>Automatizarea</a:t>
            </a:r>
            <a:r>
              <a:rPr lang="en-US" sz="2800" dirty="0">
                <a:solidFill>
                  <a:schemeClr val="tx1">
                    <a:lumMod val="50000"/>
                    <a:lumOff val="50000"/>
                  </a:schemeClr>
                </a:solidFill>
              </a:rPr>
              <a:t> </a:t>
            </a:r>
            <a:r>
              <a:rPr lang="en-US" sz="2800" dirty="0" err="1">
                <a:solidFill>
                  <a:schemeClr val="tx1">
                    <a:lumMod val="50000"/>
                    <a:lumOff val="50000"/>
                  </a:schemeClr>
                </a:solidFill>
              </a:rPr>
              <a:t>mașinii</a:t>
            </a:r>
            <a:r>
              <a:rPr lang="en-US" sz="2800" dirty="0">
                <a:solidFill>
                  <a:schemeClr val="tx1">
                    <a:lumMod val="50000"/>
                    <a:lumOff val="50000"/>
                  </a:schemeClr>
                </a:solidFill>
              </a:rPr>
              <a:t> </a:t>
            </a:r>
            <a:r>
              <a:rPr lang="en-US" sz="2800" dirty="0" err="1">
                <a:solidFill>
                  <a:schemeClr val="tx1">
                    <a:lumMod val="50000"/>
                    <a:lumOff val="50000"/>
                  </a:schemeClr>
                </a:solidFill>
              </a:rPr>
              <a:t>virtuale</a:t>
            </a:r>
            <a:endParaRPr lang="en-US" sz="2800" dirty="0">
              <a:solidFill>
                <a:schemeClr val="tx1">
                  <a:lumMod val="50000"/>
                  <a:lumOff val="50000"/>
                </a:schemeClr>
              </a:solidFill>
            </a:endParaRPr>
          </a:p>
          <a:p>
            <a:r>
              <a:rPr lang="en-US" sz="2800" dirty="0">
                <a:solidFill>
                  <a:schemeClr val="tx1">
                    <a:lumMod val="50000"/>
                    <a:lumOff val="50000"/>
                  </a:schemeClr>
                </a:solidFill>
              </a:rPr>
              <a:t>C.5.4 </a:t>
            </a:r>
            <a:r>
              <a:rPr lang="en-US" sz="2800" dirty="0" err="1">
                <a:solidFill>
                  <a:schemeClr val="tx1">
                    <a:lumMod val="50000"/>
                    <a:lumOff val="50000"/>
                  </a:schemeClr>
                </a:solidFill>
              </a:rPr>
              <a:t>Mostre</a:t>
            </a:r>
            <a:r>
              <a:rPr lang="en-US" sz="2800" dirty="0">
                <a:solidFill>
                  <a:schemeClr val="tx1">
                    <a:lumMod val="50000"/>
                    <a:lumOff val="50000"/>
                  </a:schemeClr>
                </a:solidFill>
              </a:rPr>
              <a:t> Malware &amp; </a:t>
            </a:r>
            <a:r>
              <a:rPr lang="en-US" sz="2800" dirty="0" err="1">
                <a:solidFill>
                  <a:schemeClr val="tx1">
                    <a:lumMod val="50000"/>
                    <a:lumOff val="50000"/>
                  </a:schemeClr>
                </a:solidFill>
              </a:rPr>
              <a:t>protocoale</a:t>
            </a:r>
            <a:r>
              <a:rPr lang="en-US" sz="2800" dirty="0">
                <a:solidFill>
                  <a:schemeClr val="tx1">
                    <a:lumMod val="50000"/>
                    <a:lumOff val="50000"/>
                  </a:schemeClr>
                </a:solidFill>
              </a:rPr>
              <a:t> de </a:t>
            </a:r>
            <a:r>
              <a:rPr lang="en-US" sz="2800" dirty="0" err="1">
                <a:solidFill>
                  <a:schemeClr val="tx1">
                    <a:lumMod val="50000"/>
                    <a:lumOff val="50000"/>
                  </a:schemeClr>
                </a:solidFill>
              </a:rPr>
              <a:t>manipulare</a:t>
            </a:r>
            <a:endParaRPr lang="en-US" sz="2800" dirty="0">
              <a:solidFill>
                <a:schemeClr val="tx1">
                  <a:lumMod val="50000"/>
                  <a:lumOff val="50000"/>
                </a:schemeClr>
              </a:solidFill>
            </a:endParaRPr>
          </a:p>
        </p:txBody>
      </p:sp>
      <p:sp>
        <p:nvSpPr>
          <p:cNvPr id="4" name="Rectangle 3"/>
          <p:cNvSpPr/>
          <p:nvPr/>
        </p:nvSpPr>
        <p:spPr>
          <a:xfrm>
            <a:off x="685800" y="2039546"/>
            <a:ext cx="6689652" cy="523220"/>
          </a:xfrm>
          <a:prstGeom prst="rect">
            <a:avLst/>
          </a:prstGeom>
        </p:spPr>
        <p:txBody>
          <a:bodyPr wrap="none">
            <a:spAutoFit/>
          </a:bodyPr>
          <a:lstStyle/>
          <a:p>
            <a:r>
              <a:rPr lang="en-US" sz="2800" dirty="0">
                <a:solidFill>
                  <a:prstClr val="black">
                    <a:lumMod val="50000"/>
                    <a:lumOff val="50000"/>
                  </a:prstClr>
                </a:solidFill>
              </a:rPr>
              <a:t>C.5 </a:t>
            </a:r>
            <a:r>
              <a:rPr lang="it-IT" sz="2800" dirty="0">
                <a:solidFill>
                  <a:prstClr val="black">
                    <a:lumMod val="50000"/>
                    <a:lumOff val="50000"/>
                  </a:prstClr>
                </a:solidFill>
              </a:rPr>
              <a:t>Materiale și metode în ingineria inversă</a:t>
            </a:r>
            <a:r>
              <a:rPr lang="en-US" sz="2800" dirty="0">
                <a:solidFill>
                  <a:prstClr val="black">
                    <a:lumMod val="50000"/>
                    <a:lumOff val="50000"/>
                  </a:prstClr>
                </a:solidFill>
              </a:rPr>
              <a:t>:</a:t>
            </a:r>
          </a:p>
        </p:txBody>
      </p:sp>
      <p:sp>
        <p:nvSpPr>
          <p:cNvPr id="6" name="Rectangle 5"/>
          <p:cNvSpPr/>
          <p:nvPr/>
        </p:nvSpPr>
        <p:spPr>
          <a:xfrm>
            <a:off x="0" y="1775379"/>
            <a:ext cx="11769811" cy="62386"/>
          </a:xfrm>
          <a:prstGeom prst="rect">
            <a:avLst/>
          </a:pr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Tree>
    <p:extLst>
      <p:ext uri="{BB962C8B-B14F-4D97-AF65-F5344CB8AC3E}">
        <p14:creationId xmlns:p14="http://schemas.microsoft.com/office/powerpoint/2010/main" val="3575480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51104" y="3267456"/>
            <a:ext cx="11283696" cy="3201078"/>
          </a:xfrm>
          <a:prstGeom prst="flowChartProcess">
            <a:avLst/>
          </a:prstGeom>
          <a:solidFill>
            <a:schemeClr val="accent6">
              <a:lumMod val="50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000">
                <a:solidFill>
                  <a:schemeClr val="tx1">
                    <a:lumMod val="50000"/>
                    <a:lumOff val="50000"/>
                  </a:schemeClr>
                </a:solidFill>
                <a:latin typeface="Cambria Math" panose="02040503050406030204" pitchFamily="18" charset="0"/>
                <a:ea typeface="Cambria Math" panose="02040503050406030204" pitchFamily="18" charset="0"/>
              </a:rPr>
              <a:t>(Masina Virtuală)</a:t>
            </a:r>
          </a:p>
        </p:txBody>
      </p:sp>
      <p:sp>
        <p:nvSpPr>
          <p:cNvPr id="5" name="Flowchart: Process 4"/>
          <p:cNvSpPr/>
          <p:nvPr/>
        </p:nvSpPr>
        <p:spPr>
          <a:xfrm>
            <a:off x="451104" y="1993393"/>
            <a:ext cx="11283696" cy="1207008"/>
          </a:xfrm>
          <a:prstGeom prst="flowChartProcess">
            <a:avLst/>
          </a:prstGeom>
          <a:solidFill>
            <a:schemeClr val="accent2">
              <a:lumMod val="50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000">
                <a:solidFill>
                  <a:schemeClr val="tx1">
                    <a:lumMod val="50000"/>
                    <a:lumOff val="50000"/>
                  </a:schemeClr>
                </a:solidFill>
                <a:latin typeface="Cambria Math" panose="02040503050406030204" pitchFamily="18" charset="0"/>
                <a:ea typeface="Cambria Math" panose="02040503050406030204" pitchFamily="18" charset="0"/>
              </a:rPr>
              <a:t>(Gazdă)</a:t>
            </a:r>
          </a:p>
        </p:txBody>
      </p:sp>
      <p:sp>
        <p:nvSpPr>
          <p:cNvPr id="2" name="Title 1"/>
          <p:cNvSpPr>
            <a:spLocks noGrp="1"/>
          </p:cNvSpPr>
          <p:nvPr>
            <p:ph type="title"/>
          </p:nvPr>
        </p:nvSpPr>
        <p:spPr/>
        <p:txBody>
          <a:bodyPr>
            <a:normAutofit/>
          </a:bodyPr>
          <a:lstStyle/>
          <a:p>
            <a:r>
              <a:rPr lang="pt-BR" sz="3200"/>
              <a:t>Pachetul de fișiere </a:t>
            </a:r>
            <a:br>
              <a:rPr lang="pt-BR" sz="3200"/>
            </a:br>
            <a:r>
              <a:rPr lang="pt-BR" sz="2000"/>
              <a:t>pentru instrumente</a:t>
            </a:r>
            <a:endParaRPr lang="en-US" sz="2000"/>
          </a:p>
        </p:txBody>
      </p:sp>
      <p:sp>
        <p:nvSpPr>
          <p:cNvPr id="12" name="Content Placeholder 2"/>
          <p:cNvSpPr>
            <a:spLocks noGrp="1"/>
          </p:cNvSpPr>
          <p:nvPr>
            <p:ph idx="1"/>
          </p:nvPr>
        </p:nvSpPr>
        <p:spPr>
          <a:xfrm>
            <a:off x="581193" y="1993392"/>
            <a:ext cx="5667208" cy="4551457"/>
          </a:xfrm>
        </p:spPr>
        <p:txBody>
          <a:bodyPr>
            <a:normAutofit fontScale="92500" lnSpcReduction="20000"/>
          </a:bodyPr>
          <a:lstStyle/>
          <a:p>
            <a:r>
              <a:rPr lang="en-US" sz="2400">
                <a:solidFill>
                  <a:schemeClr val="tx1">
                    <a:lumMod val="50000"/>
                    <a:lumOff val="50000"/>
                  </a:schemeClr>
                </a:solidFill>
              </a:rPr>
              <a:t>kit\Gazda\VirtualBox.exe</a:t>
            </a:r>
          </a:p>
          <a:p>
            <a:r>
              <a:rPr lang="en-US" sz="2400">
                <a:solidFill>
                  <a:schemeClr val="tx1">
                    <a:lumMod val="50000"/>
                    <a:lumOff val="50000"/>
                  </a:schemeClr>
                </a:solidFill>
              </a:rPr>
              <a:t>kit\Gazda\win7.iso</a:t>
            </a:r>
          </a:p>
          <a:p>
            <a:r>
              <a:rPr lang="en-US" sz="2400">
                <a:solidFill>
                  <a:schemeClr val="tx1">
                    <a:lumMod val="50000"/>
                    <a:lumOff val="50000"/>
                  </a:schemeClr>
                </a:solidFill>
              </a:rPr>
              <a:t>kit\Gazda\IDA.zip</a:t>
            </a:r>
          </a:p>
          <a:p>
            <a:r>
              <a:rPr lang="en-US" sz="2400">
                <a:solidFill>
                  <a:schemeClr val="tx1">
                    <a:lumMod val="50000"/>
                    <a:lumOff val="50000"/>
                  </a:schemeClr>
                </a:solidFill>
              </a:rPr>
              <a:t>kit\Gazda\PEstudioX86.zip</a:t>
            </a:r>
          </a:p>
          <a:p>
            <a:r>
              <a:rPr lang="en-US" sz="2400">
                <a:solidFill>
                  <a:schemeClr val="tx1">
                    <a:lumMod val="50000"/>
                    <a:lumOff val="50000"/>
                  </a:schemeClr>
                </a:solidFill>
              </a:rPr>
              <a:t>kit\Gazda\Cutter.zip</a:t>
            </a:r>
          </a:p>
          <a:p>
            <a:r>
              <a:rPr lang="en-US" sz="2400">
                <a:solidFill>
                  <a:schemeClr val="tx1">
                    <a:lumMod val="50000"/>
                    <a:lumOff val="50000"/>
                  </a:schemeClr>
                </a:solidFill>
              </a:rPr>
              <a:t>kit\Gazda\x64dbg.zip</a:t>
            </a:r>
          </a:p>
          <a:p>
            <a:r>
              <a:rPr lang="en-US" sz="2400">
                <a:solidFill>
                  <a:schemeClr val="tx1">
                    <a:lumMod val="50000"/>
                    <a:lumOff val="50000"/>
                  </a:schemeClr>
                </a:solidFill>
              </a:rPr>
              <a:t>kit\Masina Virtuala\sysinternals.zip</a:t>
            </a:r>
          </a:p>
          <a:p>
            <a:r>
              <a:rPr lang="en-US" sz="2400">
                <a:solidFill>
                  <a:schemeClr val="tx1">
                    <a:lumMod val="50000"/>
                    <a:lumOff val="50000"/>
                  </a:schemeClr>
                </a:solidFill>
              </a:rPr>
              <a:t>kit\Masina Virtuala\wireshark.zip</a:t>
            </a:r>
          </a:p>
          <a:p>
            <a:r>
              <a:rPr lang="en-US" sz="2400">
                <a:solidFill>
                  <a:schemeClr val="tx1">
                    <a:lumMod val="50000"/>
                    <a:lumOff val="50000"/>
                  </a:schemeClr>
                </a:solidFill>
              </a:rPr>
              <a:t>kit\Masina Virtuala\procdot.zip</a:t>
            </a:r>
          </a:p>
          <a:p>
            <a:r>
              <a:rPr lang="en-US" sz="2400">
                <a:solidFill>
                  <a:schemeClr val="tx1">
                    <a:lumMod val="50000"/>
                    <a:lumOff val="50000"/>
                  </a:schemeClr>
                </a:solidFill>
              </a:rPr>
              <a:t>kit\Masina Virtuala\pestudio.zip</a:t>
            </a:r>
          </a:p>
          <a:p>
            <a:r>
              <a:rPr lang="en-US" sz="2400">
                <a:solidFill>
                  <a:schemeClr val="tx1">
                    <a:lumMod val="50000"/>
                    <a:lumOff val="50000"/>
                  </a:schemeClr>
                </a:solidFill>
              </a:rPr>
              <a:t>kit\Masina Virtuala\BCompare.exe</a:t>
            </a:r>
          </a:p>
        </p:txBody>
      </p:sp>
    </p:spTree>
    <p:extLst>
      <p:ext uri="{BB962C8B-B14F-4D97-AF65-F5344CB8AC3E}">
        <p14:creationId xmlns:p14="http://schemas.microsoft.com/office/powerpoint/2010/main" val="2361712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09489" y="1125952"/>
            <a:ext cx="9755187" cy="2766528"/>
          </a:xfrm>
        </p:spPr>
        <p:txBody>
          <a:bodyPr>
            <a:normAutofit fontScale="90000"/>
          </a:bodyPr>
          <a:lstStyle/>
          <a:p>
            <a:r>
              <a:rPr lang="it-IT" u="sng" dirty="0"/>
              <a:t>C.5.2</a:t>
            </a:r>
            <a:br>
              <a:rPr lang="it-IT" dirty="0"/>
            </a:br>
            <a:r>
              <a:rPr lang="it-IT" dirty="0"/>
              <a:t>instrumentele de inginerie inversă</a:t>
            </a:r>
            <a:endParaRPr lang="en-US" dirty="0"/>
          </a:p>
        </p:txBody>
      </p:sp>
      <p:sp>
        <p:nvSpPr>
          <p:cNvPr id="4" name="Rectangle 3"/>
          <p:cNvSpPr/>
          <p:nvPr/>
        </p:nvSpPr>
        <p:spPr>
          <a:xfrm>
            <a:off x="8187923" y="6419685"/>
            <a:ext cx="3958071" cy="369332"/>
          </a:xfrm>
          <a:prstGeom prst="rect">
            <a:avLst/>
          </a:prstGeom>
        </p:spPr>
        <p:txBody>
          <a:bodyPr wrap="none">
            <a:spAutoFit/>
          </a:bodyPr>
          <a:lstStyle/>
          <a:p>
            <a:r>
              <a:rPr lang="en-US">
                <a:solidFill>
                  <a:srgbClr val="629D7D">
                    <a:lumMod val="20000"/>
                    <a:lumOff val="80000"/>
                  </a:srgbClr>
                </a:solidFill>
              </a:rPr>
              <a:t>Academia Tehnică Militară „Ferdinand I”</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2870021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47080" y="329184"/>
            <a:ext cx="11165800" cy="1926002"/>
          </a:xfrm>
          <a:prstGeom prst="flowChartProcess">
            <a:avLst/>
          </a:prstGeom>
          <a:solidFill>
            <a:srgbClr val="C00000">
              <a:alpha val="8000"/>
            </a:srgb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Analiza Statică</a:t>
            </a:r>
          </a:p>
        </p:txBody>
      </p:sp>
      <p:sp>
        <p:nvSpPr>
          <p:cNvPr id="6" name="Flowchart: Process 5"/>
          <p:cNvSpPr/>
          <p:nvPr/>
        </p:nvSpPr>
        <p:spPr>
          <a:xfrm>
            <a:off x="447080" y="2484888"/>
            <a:ext cx="11165800" cy="2007863"/>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Analiza Dinamică</a:t>
            </a:r>
          </a:p>
        </p:txBody>
      </p:sp>
      <p:sp>
        <p:nvSpPr>
          <p:cNvPr id="7" name="Flowchart: Process 6"/>
          <p:cNvSpPr/>
          <p:nvPr/>
        </p:nvSpPr>
        <p:spPr>
          <a:xfrm>
            <a:off x="447080" y="4681728"/>
            <a:ext cx="11165800" cy="190195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Analiza Cloud</a:t>
            </a: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8396" y="2632096"/>
            <a:ext cx="2293883" cy="1720412"/>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046" y="2632096"/>
            <a:ext cx="1181349" cy="1720412"/>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49214" y="2632096"/>
            <a:ext cx="3629561" cy="1720412"/>
          </a:xfrm>
          <a:prstGeom prst="rect">
            <a:avLst/>
          </a:prstGeom>
        </p:spPr>
      </p:pic>
      <p:pic>
        <p:nvPicPr>
          <p:cNvPr id="22" name="Picture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58898" y="455065"/>
            <a:ext cx="2166012" cy="1626314"/>
          </a:xfrm>
          <a:prstGeom prst="rect">
            <a:avLst/>
          </a:prstGeom>
        </p:spPr>
      </p:pic>
      <p:sp>
        <p:nvSpPr>
          <p:cNvPr id="23" name="Rectangle 22"/>
          <p:cNvSpPr/>
          <p:nvPr/>
        </p:nvSpPr>
        <p:spPr>
          <a:xfrm>
            <a:off x="8173032" y="1461861"/>
            <a:ext cx="2074863" cy="369332"/>
          </a:xfrm>
          <a:prstGeom prst="rect">
            <a:avLst/>
          </a:prstGeom>
        </p:spPr>
        <p:txBody>
          <a:bodyPr wrap="none">
            <a:spAutoFit/>
          </a:bodyPr>
          <a:lstStyle/>
          <a:p>
            <a:r>
              <a:rPr lang="en-US">
                <a:solidFill>
                  <a:prstClr val="black"/>
                </a:solidFill>
              </a:rPr>
              <a:t>Măsoară potențialul</a:t>
            </a:r>
          </a:p>
        </p:txBody>
      </p:sp>
      <p:sp>
        <p:nvSpPr>
          <p:cNvPr id="24" name="Rectangle 23"/>
          <p:cNvSpPr/>
          <p:nvPr/>
        </p:nvSpPr>
        <p:spPr>
          <a:xfrm>
            <a:off x="7571231" y="3675974"/>
            <a:ext cx="2718821" cy="369332"/>
          </a:xfrm>
          <a:prstGeom prst="rect">
            <a:avLst/>
          </a:prstGeom>
        </p:spPr>
        <p:txBody>
          <a:bodyPr wrap="none">
            <a:spAutoFit/>
          </a:bodyPr>
          <a:lstStyle/>
          <a:p>
            <a:r>
              <a:rPr lang="en-US">
                <a:solidFill>
                  <a:prstClr val="black"/>
                </a:solidFill>
              </a:rPr>
              <a:t>Observați comportamentul</a:t>
            </a:r>
          </a:p>
        </p:txBody>
      </p:sp>
      <p:sp>
        <p:nvSpPr>
          <p:cNvPr id="26" name="Rectangle 25"/>
          <p:cNvSpPr/>
          <p:nvPr/>
        </p:nvSpPr>
        <p:spPr>
          <a:xfrm>
            <a:off x="8333428" y="5863087"/>
            <a:ext cx="2688813" cy="646331"/>
          </a:xfrm>
          <a:prstGeom prst="rect">
            <a:avLst/>
          </a:prstGeom>
        </p:spPr>
        <p:txBody>
          <a:bodyPr wrap="none">
            <a:spAutoFit/>
          </a:bodyPr>
          <a:lstStyle/>
          <a:p>
            <a:r>
              <a:rPr lang="it-IT">
                <a:solidFill>
                  <a:prstClr val="black"/>
                </a:solidFill>
              </a:rPr>
              <a:t>La distantă:</a:t>
            </a:r>
          </a:p>
          <a:p>
            <a:r>
              <a:rPr lang="it-IT">
                <a:solidFill>
                  <a:prstClr val="black"/>
                </a:solidFill>
              </a:rPr>
              <a:t>potenţial şi comportament</a:t>
            </a:r>
            <a:endParaRPr lang="en-US">
              <a:solidFill>
                <a:prstClr val="black"/>
              </a:solidFill>
            </a:endParaRPr>
          </a:p>
        </p:txBody>
      </p:sp>
      <p:pic>
        <p:nvPicPr>
          <p:cNvPr id="32" name="Picture 3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8804" y="447983"/>
            <a:ext cx="2450094" cy="1633396"/>
          </a:xfrm>
          <a:prstGeom prst="rect">
            <a:avLst/>
          </a:prstGeom>
        </p:spPr>
      </p:pic>
      <p:pic>
        <p:nvPicPr>
          <p:cNvPr id="34" name="Picture 3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9454" y="447984"/>
            <a:ext cx="2499350" cy="1633396"/>
          </a:xfrm>
          <a:prstGeom prst="rect">
            <a:avLst/>
          </a:prstGeom>
        </p:spPr>
      </p:pic>
      <p:pic>
        <p:nvPicPr>
          <p:cNvPr id="35" name="Picture 3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flipH="1">
            <a:off x="578592" y="4775475"/>
            <a:ext cx="2591717" cy="1714497"/>
          </a:xfrm>
          <a:prstGeom prst="rect">
            <a:avLst/>
          </a:prstGeom>
        </p:spPr>
      </p:pic>
      <p:pic>
        <p:nvPicPr>
          <p:cNvPr id="36" name="Picture 3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172081" y="4775475"/>
            <a:ext cx="2570376" cy="1713584"/>
          </a:xfrm>
          <a:prstGeom prst="rect">
            <a:avLst/>
          </a:prstGeom>
        </p:spPr>
      </p:pic>
      <p:pic>
        <p:nvPicPr>
          <p:cNvPr id="38" name="Picture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2459" y="4780941"/>
            <a:ext cx="2277491" cy="1708118"/>
          </a:xfrm>
          <a:prstGeom prst="rect">
            <a:avLst/>
          </a:prstGeom>
        </p:spPr>
      </p:pic>
      <p:sp>
        <p:nvSpPr>
          <p:cNvPr id="2" name="Rectangle 1"/>
          <p:cNvSpPr/>
          <p:nvPr/>
        </p:nvSpPr>
        <p:spPr>
          <a:xfrm>
            <a:off x="347981" y="-36200"/>
            <a:ext cx="1450782" cy="369332"/>
          </a:xfrm>
          <a:prstGeom prst="rect">
            <a:avLst/>
          </a:prstGeom>
        </p:spPr>
        <p:txBody>
          <a:bodyPr wrap="none">
            <a:spAutoFit/>
          </a:bodyPr>
          <a:lstStyle/>
          <a:p>
            <a:r>
              <a:rPr lang="en-US">
                <a:solidFill>
                  <a:prstClr val="black"/>
                </a:solidFill>
              </a:rPr>
              <a:t>Metodologie:</a:t>
            </a:r>
          </a:p>
        </p:txBody>
      </p:sp>
    </p:spTree>
    <p:extLst>
      <p:ext uri="{BB962C8B-B14F-4D97-AF65-F5344CB8AC3E}">
        <p14:creationId xmlns:p14="http://schemas.microsoft.com/office/powerpoint/2010/main" val="2132750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normAutofit/>
          </a:bodyPr>
          <a:lstStyle/>
          <a:p>
            <a:r>
              <a:rPr lang="en-US" sz="3200" dirty="0"/>
              <a:t>Analiza </a:t>
            </a:r>
            <a:r>
              <a:rPr lang="en-US" sz="3200" dirty="0" err="1"/>
              <a:t>dinamică</a:t>
            </a:r>
            <a:r>
              <a:rPr lang="en-US" sz="3200" dirty="0"/>
              <a:t>:</a:t>
            </a:r>
          </a:p>
        </p:txBody>
      </p:sp>
      <p:pic>
        <p:nvPicPr>
          <p:cNvPr id="3" name="Picture 2"/>
          <p:cNvPicPr>
            <a:picLocks noChangeAspect="1"/>
          </p:cNvPicPr>
          <p:nvPr/>
        </p:nvPicPr>
        <p:blipFill>
          <a:blip r:embed="rId2"/>
          <a:stretch>
            <a:fillRect/>
          </a:stretch>
        </p:blipFill>
        <p:spPr>
          <a:xfrm>
            <a:off x="780288" y="2359918"/>
            <a:ext cx="5382512" cy="3592827"/>
          </a:xfrm>
          <a:prstGeom prst="rect">
            <a:avLst/>
          </a:prstGeom>
        </p:spPr>
      </p:pic>
      <p:pic>
        <p:nvPicPr>
          <p:cNvPr id="4" name="Picture 3"/>
          <p:cNvPicPr>
            <a:picLocks noChangeAspect="1"/>
          </p:cNvPicPr>
          <p:nvPr/>
        </p:nvPicPr>
        <p:blipFill>
          <a:blip r:embed="rId3"/>
          <a:stretch>
            <a:fillRect/>
          </a:stretch>
        </p:blipFill>
        <p:spPr>
          <a:xfrm>
            <a:off x="6442710" y="2359917"/>
            <a:ext cx="4790436" cy="3592827"/>
          </a:xfrm>
          <a:prstGeom prst="rect">
            <a:avLst/>
          </a:prstGeom>
        </p:spPr>
      </p:pic>
      <p:sp>
        <p:nvSpPr>
          <p:cNvPr id="6" name="Rounded Rectangle 5"/>
          <p:cNvSpPr/>
          <p:nvPr/>
        </p:nvSpPr>
        <p:spPr>
          <a:xfrm>
            <a:off x="4708398" y="6133412"/>
            <a:ext cx="3468624" cy="46329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Observatie/Comportament</a:t>
            </a:r>
          </a:p>
        </p:txBody>
      </p:sp>
    </p:spTree>
    <p:extLst>
      <p:ext uri="{BB962C8B-B14F-4D97-AF65-F5344CB8AC3E}">
        <p14:creationId xmlns:p14="http://schemas.microsoft.com/office/powerpoint/2010/main" val="240405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581192" y="2011680"/>
            <a:ext cx="11165800" cy="192600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Statică</a:t>
            </a:r>
          </a:p>
        </p:txBody>
      </p:sp>
      <p:sp>
        <p:nvSpPr>
          <p:cNvPr id="6" name="Flowchart: Process 5"/>
          <p:cNvSpPr/>
          <p:nvPr/>
        </p:nvSpPr>
        <p:spPr>
          <a:xfrm>
            <a:off x="581192" y="4047410"/>
            <a:ext cx="11165800" cy="184742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Dinamică</a:t>
            </a:r>
          </a:p>
        </p:txBody>
      </p:sp>
      <p:sp>
        <p:nvSpPr>
          <p:cNvPr id="7" name="Flowchart: Process 6"/>
          <p:cNvSpPr/>
          <p:nvPr/>
        </p:nvSpPr>
        <p:spPr>
          <a:xfrm>
            <a:off x="581192" y="6004560"/>
            <a:ext cx="11165800" cy="60960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Cloud</a:t>
            </a:r>
          </a:p>
        </p:txBody>
      </p:sp>
      <p:sp>
        <p:nvSpPr>
          <p:cNvPr id="2" name="Title 1"/>
          <p:cNvSpPr>
            <a:spLocks noGrp="1"/>
          </p:cNvSpPr>
          <p:nvPr>
            <p:ph type="title"/>
          </p:nvPr>
        </p:nvSpPr>
        <p:spPr/>
        <p:txBody>
          <a:bodyPr>
            <a:normAutofit/>
          </a:bodyPr>
          <a:lstStyle/>
          <a:p>
            <a:r>
              <a:rPr lang="pt-BR" sz="3200"/>
              <a:t>cod malițios: Instrumente de analiză</a:t>
            </a:r>
            <a:endParaRPr lang="en-US" sz="3200"/>
          </a:p>
        </p:txBody>
      </p:sp>
      <p:sp>
        <p:nvSpPr>
          <p:cNvPr id="3" name="Content Placeholder 2"/>
          <p:cNvSpPr>
            <a:spLocks noGrp="1"/>
          </p:cNvSpPr>
          <p:nvPr>
            <p:ph idx="1"/>
          </p:nvPr>
        </p:nvSpPr>
        <p:spPr>
          <a:xfrm>
            <a:off x="581193" y="2305088"/>
            <a:ext cx="6276808" cy="3955504"/>
          </a:xfrm>
        </p:spPr>
        <p:txBody>
          <a:bodyPr>
            <a:noAutofit/>
          </a:bodyPr>
          <a:lstStyle/>
          <a:p>
            <a:r>
              <a:rPr lang="en-US" sz="3200">
                <a:solidFill>
                  <a:schemeClr val="tx1">
                    <a:lumMod val="50000"/>
                    <a:lumOff val="50000"/>
                  </a:schemeClr>
                </a:solidFill>
              </a:rPr>
              <a:t>PEstudio</a:t>
            </a:r>
          </a:p>
          <a:p>
            <a:r>
              <a:rPr lang="en-US" sz="3200">
                <a:solidFill>
                  <a:schemeClr val="tx1">
                    <a:lumMod val="50000"/>
                    <a:lumOff val="50000"/>
                  </a:schemeClr>
                </a:solidFill>
              </a:rPr>
              <a:t>Bcompare</a:t>
            </a:r>
          </a:p>
          <a:p>
            <a:r>
              <a:rPr lang="en-US" sz="3200">
                <a:solidFill>
                  <a:schemeClr val="tx1">
                    <a:lumMod val="50000"/>
                    <a:lumOff val="50000"/>
                  </a:schemeClr>
                </a:solidFill>
              </a:rPr>
              <a:t>Cutter &amp; IDA &amp; x64dbg</a:t>
            </a:r>
          </a:p>
          <a:p>
            <a:r>
              <a:rPr lang="en-US" sz="3200" b="1">
                <a:solidFill>
                  <a:schemeClr val="tx1"/>
                </a:solidFill>
              </a:rPr>
              <a:t>Sysinternals</a:t>
            </a:r>
          </a:p>
          <a:p>
            <a:r>
              <a:rPr lang="en-US" sz="3200">
                <a:solidFill>
                  <a:schemeClr val="tx1">
                    <a:lumMod val="50000"/>
                    <a:lumOff val="50000"/>
                  </a:schemeClr>
                </a:solidFill>
              </a:rPr>
              <a:t>Wireshark</a:t>
            </a:r>
          </a:p>
          <a:p>
            <a:r>
              <a:rPr lang="en-US" sz="3200">
                <a:solidFill>
                  <a:schemeClr val="tx1">
                    <a:lumMod val="50000"/>
                    <a:lumOff val="50000"/>
                  </a:schemeClr>
                </a:solidFill>
              </a:rPr>
              <a:t>procDOT</a:t>
            </a:r>
          </a:p>
          <a:p>
            <a:r>
              <a:rPr lang="en-US" sz="3200">
                <a:solidFill>
                  <a:schemeClr val="tx1">
                    <a:lumMod val="50000"/>
                    <a:lumOff val="50000"/>
                  </a:schemeClr>
                </a:solidFill>
              </a:rPr>
              <a:t>Analiza malware in Cloud </a:t>
            </a:r>
          </a:p>
        </p:txBody>
      </p:sp>
      <p:sp>
        <p:nvSpPr>
          <p:cNvPr id="4" name="Right Arrow 3"/>
          <p:cNvSpPr/>
          <p:nvPr/>
        </p:nvSpPr>
        <p:spPr>
          <a:xfrm>
            <a:off x="1" y="4164034"/>
            <a:ext cx="581192" cy="268343"/>
          </a:xfrm>
          <a:prstGeom prst="rightArrow">
            <a:avLst>
              <a:gd name="adj1" fmla="val 50000"/>
              <a:gd name="adj2" fmla="val 8034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Arrow: Bent 7">
            <a:extLst>
              <a:ext uri="{FF2B5EF4-FFF2-40B4-BE49-F238E27FC236}">
                <a16:creationId xmlns:a16="http://schemas.microsoft.com/office/drawing/2014/main" id="{1C39B95D-E3D9-6FBC-E520-B0518E532DF1}"/>
              </a:ext>
            </a:extLst>
          </p:cNvPr>
          <p:cNvSpPr/>
          <p:nvPr/>
        </p:nvSpPr>
        <p:spPr>
          <a:xfrm rot="5400000">
            <a:off x="4936434" y="3630762"/>
            <a:ext cx="1146313" cy="1007165"/>
          </a:xfrm>
          <a:prstGeom prst="ben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69768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System internals</a:t>
            </a:r>
            <a:br>
              <a:rPr lang="en-US"/>
            </a:br>
            <a:r>
              <a:rPr lang="en-US" sz="2000"/>
              <a:t>aplicatii critice</a:t>
            </a:r>
          </a:p>
        </p:txBody>
      </p:sp>
      <p:graphicFrame>
        <p:nvGraphicFramePr>
          <p:cNvPr id="5" name="Diagram 4"/>
          <p:cNvGraphicFramePr/>
          <p:nvPr>
            <p:extLst>
              <p:ext uri="{D42A27DB-BD31-4B8C-83A1-F6EECF244321}">
                <p14:modId xmlns:p14="http://schemas.microsoft.com/office/powerpoint/2010/main" val="1128564995"/>
              </p:ext>
            </p:extLst>
          </p:nvPr>
        </p:nvGraphicFramePr>
        <p:xfrm>
          <a:off x="3763264" y="1091522"/>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a:stretch>
            <a:fillRect/>
          </a:stretch>
        </p:blipFill>
        <p:spPr>
          <a:xfrm>
            <a:off x="1223200" y="3208594"/>
            <a:ext cx="1704975" cy="1895475"/>
          </a:xfrm>
          <a:prstGeom prst="rect">
            <a:avLst/>
          </a:prstGeom>
        </p:spPr>
      </p:pic>
      <p:sp>
        <p:nvSpPr>
          <p:cNvPr id="7" name="Flowchart: Process 6"/>
          <p:cNvSpPr/>
          <p:nvPr/>
        </p:nvSpPr>
        <p:spPr>
          <a:xfrm>
            <a:off x="403690" y="2057490"/>
            <a:ext cx="3249168"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1259216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normAutofit/>
          </a:bodyPr>
          <a:lstStyle/>
          <a:p>
            <a:r>
              <a:rPr lang="en-US"/>
              <a:t>Autoruns</a:t>
            </a:r>
            <a:br>
              <a:rPr lang="en-US"/>
            </a:br>
            <a:r>
              <a:rPr lang="en-US" sz="2000"/>
              <a:t>Principalele caracteristici ale Autoruns includ:</a:t>
            </a:r>
          </a:p>
        </p:txBody>
      </p:sp>
      <p:pic>
        <p:nvPicPr>
          <p:cNvPr id="6" name="Picture 5"/>
          <p:cNvPicPr>
            <a:picLocks noChangeAspect="1"/>
          </p:cNvPicPr>
          <p:nvPr/>
        </p:nvPicPr>
        <p:blipFill>
          <a:blip r:embed="rId2"/>
          <a:stretch>
            <a:fillRect/>
          </a:stretch>
        </p:blipFill>
        <p:spPr>
          <a:xfrm>
            <a:off x="719439" y="2260680"/>
            <a:ext cx="5707676" cy="3780456"/>
          </a:xfrm>
          <a:prstGeom prst="rect">
            <a:avLst/>
          </a:prstGeom>
          <a:ln>
            <a:noFill/>
          </a:ln>
          <a:effectLst>
            <a:outerShdw blurRad="190500" algn="tl" rotWithShape="0">
              <a:srgbClr val="000000">
                <a:alpha val="70000"/>
              </a:srgbClr>
            </a:outerShdw>
          </a:effectLst>
        </p:spPr>
      </p:pic>
      <p:sp>
        <p:nvSpPr>
          <p:cNvPr id="3" name="Rectangle 2"/>
          <p:cNvSpPr/>
          <p:nvPr/>
        </p:nvSpPr>
        <p:spPr>
          <a:xfrm>
            <a:off x="6538936" y="2327332"/>
            <a:ext cx="5071872" cy="3647152"/>
          </a:xfrm>
          <a:prstGeom prst="rect">
            <a:avLst/>
          </a:prstGeom>
        </p:spPr>
        <p:txBody>
          <a:bodyPr wrap="square">
            <a:spAutoFit/>
          </a:bodyPr>
          <a:lstStyle/>
          <a:p>
            <a:r>
              <a:rPr lang="en-US" sz="1100" b="1" dirty="0" err="1">
                <a:solidFill>
                  <a:prstClr val="black"/>
                </a:solidFill>
              </a:rPr>
              <a:t>Detalierea</a:t>
            </a:r>
            <a:r>
              <a:rPr lang="en-US" sz="1100" b="1" dirty="0">
                <a:solidFill>
                  <a:prstClr val="black"/>
                </a:solidFill>
              </a:rPr>
              <a:t> </a:t>
            </a:r>
            <a:r>
              <a:rPr lang="en-US" sz="1100" b="1" dirty="0" err="1">
                <a:solidFill>
                  <a:prstClr val="black"/>
                </a:solidFill>
              </a:rPr>
              <a:t>Extinsă</a:t>
            </a:r>
            <a:r>
              <a:rPr lang="en-US" sz="1100" b="1" dirty="0">
                <a:solidFill>
                  <a:prstClr val="black"/>
                </a:solidFill>
              </a:rPr>
              <a:t>. </a:t>
            </a:r>
            <a:r>
              <a:rPr lang="en-US" sz="1100" dirty="0">
                <a:solidFill>
                  <a:prstClr val="black"/>
                </a:solidFill>
              </a:rPr>
              <a:t>Autoruns </a:t>
            </a:r>
            <a:r>
              <a:rPr lang="en-US" sz="1100" dirty="0" err="1">
                <a:solidFill>
                  <a:prstClr val="black"/>
                </a:solidFill>
              </a:rPr>
              <a:t>identifică</a:t>
            </a:r>
            <a:r>
              <a:rPr lang="en-US" sz="1100" dirty="0">
                <a:solidFill>
                  <a:prstClr val="black"/>
                </a:solidFill>
              </a:rPr>
              <a:t> </a:t>
            </a:r>
            <a:r>
              <a:rPr lang="en-US" sz="1100" dirty="0" err="1">
                <a:solidFill>
                  <a:prstClr val="black"/>
                </a:solidFill>
              </a:rPr>
              <a:t>și</a:t>
            </a:r>
            <a:r>
              <a:rPr lang="en-US" sz="1100" dirty="0">
                <a:solidFill>
                  <a:prstClr val="black"/>
                </a:solidFill>
              </a:rPr>
              <a:t> </a:t>
            </a:r>
            <a:r>
              <a:rPr lang="en-US" sz="1100" dirty="0" err="1">
                <a:solidFill>
                  <a:prstClr val="black"/>
                </a:solidFill>
              </a:rPr>
              <a:t>afișează</a:t>
            </a:r>
            <a:r>
              <a:rPr lang="en-US" sz="1100" dirty="0">
                <a:solidFill>
                  <a:prstClr val="black"/>
                </a:solidFill>
              </a:rPr>
              <a:t> </a:t>
            </a:r>
            <a:r>
              <a:rPr lang="en-US" sz="1100" dirty="0" err="1">
                <a:solidFill>
                  <a:prstClr val="black"/>
                </a:solidFill>
              </a:rPr>
              <a:t>locațiile</a:t>
            </a:r>
            <a:r>
              <a:rPr lang="en-US" sz="1100" dirty="0">
                <a:solidFill>
                  <a:prstClr val="black"/>
                </a:solidFill>
              </a:rPr>
              <a:t> din care se </a:t>
            </a:r>
            <a:r>
              <a:rPr lang="en-US" sz="1100" dirty="0" err="1">
                <a:solidFill>
                  <a:prstClr val="black"/>
                </a:solidFill>
              </a:rPr>
              <a:t>lansează</a:t>
            </a:r>
            <a:r>
              <a:rPr lang="en-US" sz="1100" dirty="0">
                <a:solidFill>
                  <a:prstClr val="black"/>
                </a:solidFill>
              </a:rPr>
              <a:t> automat </a:t>
            </a:r>
            <a:r>
              <a:rPr lang="en-US" sz="1100" dirty="0" err="1">
                <a:solidFill>
                  <a:prstClr val="black"/>
                </a:solidFill>
              </a:rPr>
              <a:t>programe</a:t>
            </a:r>
            <a:r>
              <a:rPr lang="en-US" sz="1100" dirty="0">
                <a:solidFill>
                  <a:prstClr val="black"/>
                </a:solidFill>
              </a:rPr>
              <a:t>, </a:t>
            </a:r>
            <a:r>
              <a:rPr lang="en-US" sz="1100" dirty="0" err="1">
                <a:solidFill>
                  <a:prstClr val="black"/>
                </a:solidFill>
              </a:rPr>
              <a:t>inclusiv</a:t>
            </a:r>
            <a:r>
              <a:rPr lang="en-US" sz="1100" dirty="0">
                <a:solidFill>
                  <a:prstClr val="black"/>
                </a:solidFill>
              </a:rPr>
              <a:t> </a:t>
            </a:r>
            <a:r>
              <a:rPr lang="en-US" sz="1100" dirty="0" err="1">
                <a:solidFill>
                  <a:prstClr val="black"/>
                </a:solidFill>
              </a:rPr>
              <a:t>cheile</a:t>
            </a:r>
            <a:r>
              <a:rPr lang="en-US" sz="1100" dirty="0">
                <a:solidFill>
                  <a:prstClr val="black"/>
                </a:solidFill>
              </a:rPr>
              <a:t> de registry Run, Task Scheduler, </a:t>
            </a:r>
            <a:r>
              <a:rPr lang="en-US" sz="1100" dirty="0" err="1">
                <a:solidFill>
                  <a:prstClr val="black"/>
                </a:solidFill>
              </a:rPr>
              <a:t>serviciile</a:t>
            </a:r>
            <a:r>
              <a:rPr lang="en-US" sz="1100" dirty="0">
                <a:solidFill>
                  <a:prstClr val="black"/>
                </a:solidFill>
              </a:rPr>
              <a:t> Windows, </a:t>
            </a:r>
            <a:r>
              <a:rPr lang="en-US" sz="1100" dirty="0" err="1">
                <a:solidFill>
                  <a:prstClr val="black"/>
                </a:solidFill>
              </a:rPr>
              <a:t>driverele</a:t>
            </a:r>
            <a:r>
              <a:rPr lang="en-US" sz="1100" dirty="0">
                <a:solidFill>
                  <a:prstClr val="black"/>
                </a:solidFill>
              </a:rPr>
              <a:t> de </a:t>
            </a:r>
            <a:r>
              <a:rPr lang="en-US" sz="1100" dirty="0" err="1">
                <a:solidFill>
                  <a:prstClr val="black"/>
                </a:solidFill>
              </a:rPr>
              <a:t>dispozitiv</a:t>
            </a:r>
            <a:r>
              <a:rPr lang="en-US" sz="1100" dirty="0">
                <a:solidFill>
                  <a:prstClr val="black"/>
                </a:solidFill>
              </a:rPr>
              <a:t>, </a:t>
            </a:r>
            <a:r>
              <a:rPr lang="en-US" sz="1100" dirty="0" err="1">
                <a:solidFill>
                  <a:prstClr val="black"/>
                </a:solidFill>
              </a:rPr>
              <a:t>extensiile</a:t>
            </a:r>
            <a:r>
              <a:rPr lang="en-US" sz="1100" dirty="0">
                <a:solidFill>
                  <a:prstClr val="black"/>
                </a:solidFill>
              </a:rPr>
              <a:t> shell de browser, toolbar-</a:t>
            </a:r>
            <a:r>
              <a:rPr lang="en-US" sz="1100" dirty="0" err="1">
                <a:solidFill>
                  <a:prstClr val="black"/>
                </a:solidFill>
              </a:rPr>
              <a:t>uri</a:t>
            </a:r>
            <a:r>
              <a:rPr lang="en-US" sz="1100" dirty="0">
                <a:solidFill>
                  <a:prstClr val="black"/>
                </a:solidFill>
              </a:rPr>
              <a:t>, </a:t>
            </a:r>
            <a:r>
              <a:rPr lang="en-US" sz="1100" dirty="0" err="1">
                <a:solidFill>
                  <a:prstClr val="black"/>
                </a:solidFill>
              </a:rPr>
              <a:t>obiecte</a:t>
            </a:r>
            <a:r>
              <a:rPr lang="en-US" sz="1100" dirty="0">
                <a:solidFill>
                  <a:prstClr val="black"/>
                </a:solidFill>
              </a:rPr>
              <a:t> de </a:t>
            </a:r>
            <a:r>
              <a:rPr lang="en-US" sz="1100" dirty="0" err="1">
                <a:solidFill>
                  <a:prstClr val="black"/>
                </a:solidFill>
              </a:rPr>
              <a:t>ajutor</a:t>
            </a:r>
            <a:r>
              <a:rPr lang="en-US" sz="1100" dirty="0">
                <a:solidFill>
                  <a:prstClr val="black"/>
                </a:solidFill>
              </a:rPr>
              <a:t> </a:t>
            </a:r>
            <a:r>
              <a:rPr lang="en-US" sz="1100" dirty="0" err="1">
                <a:solidFill>
                  <a:prstClr val="black"/>
                </a:solidFill>
              </a:rPr>
              <a:t>pentru</a:t>
            </a:r>
            <a:r>
              <a:rPr lang="en-US" sz="1100" dirty="0">
                <a:solidFill>
                  <a:prstClr val="black"/>
                </a:solidFill>
              </a:rPr>
              <a:t> browser, </a:t>
            </a:r>
            <a:r>
              <a:rPr lang="en-US" sz="1100" dirty="0" err="1">
                <a:solidFill>
                  <a:prstClr val="black"/>
                </a:solidFill>
              </a:rPr>
              <a:t>programe</a:t>
            </a:r>
            <a:r>
              <a:rPr lang="en-US" sz="1100" dirty="0">
                <a:solidFill>
                  <a:prstClr val="black"/>
                </a:solidFill>
              </a:rPr>
              <a:t> de start din </a:t>
            </a:r>
            <a:r>
              <a:rPr lang="en-US" sz="1100" dirty="0" err="1">
                <a:solidFill>
                  <a:prstClr val="black"/>
                </a:solidFill>
              </a:rPr>
              <a:t>folderele</a:t>
            </a:r>
            <a:r>
              <a:rPr lang="en-US" sz="1100" dirty="0">
                <a:solidFill>
                  <a:prstClr val="black"/>
                </a:solidFill>
              </a:rPr>
              <a:t> de </a:t>
            </a:r>
            <a:r>
              <a:rPr lang="en-US" sz="1100" dirty="0" err="1">
                <a:solidFill>
                  <a:prstClr val="black"/>
                </a:solidFill>
              </a:rPr>
              <a:t>pornire</a:t>
            </a:r>
            <a:r>
              <a:rPr lang="en-US" sz="1100" dirty="0">
                <a:solidFill>
                  <a:prstClr val="black"/>
                </a:solidFill>
              </a:rPr>
              <a:t> </a:t>
            </a:r>
            <a:r>
              <a:rPr lang="en-US" sz="1100" dirty="0" err="1">
                <a:solidFill>
                  <a:prstClr val="black"/>
                </a:solidFill>
              </a:rPr>
              <a:t>și</a:t>
            </a:r>
            <a:r>
              <a:rPr lang="en-US" sz="1100" dirty="0">
                <a:solidFill>
                  <a:prstClr val="black"/>
                </a:solidFill>
              </a:rPr>
              <a:t> </a:t>
            </a:r>
            <a:r>
              <a:rPr lang="en-US" sz="1100" dirty="0" err="1">
                <a:solidFill>
                  <a:prstClr val="black"/>
                </a:solidFill>
              </a:rPr>
              <a:t>multe</a:t>
            </a:r>
            <a:r>
              <a:rPr lang="en-US" sz="1100" dirty="0">
                <a:solidFill>
                  <a:prstClr val="black"/>
                </a:solidFill>
              </a:rPr>
              <a:t> </a:t>
            </a:r>
            <a:r>
              <a:rPr lang="en-US" sz="1100" dirty="0" err="1">
                <a:solidFill>
                  <a:prstClr val="black"/>
                </a:solidFill>
              </a:rPr>
              <a:t>altele</a:t>
            </a:r>
            <a:r>
              <a:rPr lang="en-US" sz="1100" dirty="0">
                <a:solidFill>
                  <a:prstClr val="black"/>
                </a:solidFill>
              </a:rPr>
              <a:t>.</a:t>
            </a:r>
          </a:p>
          <a:p>
            <a:endParaRPr lang="en-US" sz="1100" dirty="0">
              <a:solidFill>
                <a:prstClr val="black"/>
              </a:solidFill>
            </a:endParaRPr>
          </a:p>
          <a:p>
            <a:r>
              <a:rPr lang="en-US" sz="1100" b="1" dirty="0" err="1">
                <a:solidFill>
                  <a:prstClr val="black"/>
                </a:solidFill>
              </a:rPr>
              <a:t>Filtrarea</a:t>
            </a:r>
            <a:r>
              <a:rPr lang="en-US" sz="1100" b="1" dirty="0">
                <a:solidFill>
                  <a:prstClr val="black"/>
                </a:solidFill>
              </a:rPr>
              <a:t> </a:t>
            </a:r>
            <a:r>
              <a:rPr lang="en-US" sz="1100" b="1" dirty="0" err="1">
                <a:solidFill>
                  <a:prstClr val="black"/>
                </a:solidFill>
              </a:rPr>
              <a:t>și</a:t>
            </a:r>
            <a:r>
              <a:rPr lang="en-US" sz="1100" b="1" dirty="0">
                <a:solidFill>
                  <a:prstClr val="black"/>
                </a:solidFill>
              </a:rPr>
              <a:t> </a:t>
            </a:r>
            <a:r>
              <a:rPr lang="en-US" sz="1100" b="1" dirty="0" err="1">
                <a:solidFill>
                  <a:prstClr val="black"/>
                </a:solidFill>
              </a:rPr>
              <a:t>Căutarea</a:t>
            </a:r>
            <a:r>
              <a:rPr lang="en-US" sz="1100" b="1" dirty="0">
                <a:solidFill>
                  <a:prstClr val="black"/>
                </a:solidFill>
              </a:rPr>
              <a:t>. </a:t>
            </a:r>
            <a:r>
              <a:rPr lang="en-US" sz="1100" dirty="0" err="1">
                <a:solidFill>
                  <a:prstClr val="black"/>
                </a:solidFill>
              </a:rPr>
              <a:t>Utilitarul</a:t>
            </a:r>
            <a:r>
              <a:rPr lang="en-US" sz="1100" dirty="0">
                <a:solidFill>
                  <a:prstClr val="black"/>
                </a:solidFill>
              </a:rPr>
              <a:t> </a:t>
            </a:r>
            <a:r>
              <a:rPr lang="en-US" sz="1100" dirty="0" err="1">
                <a:solidFill>
                  <a:prstClr val="black"/>
                </a:solidFill>
              </a:rPr>
              <a:t>permite</a:t>
            </a:r>
            <a:r>
              <a:rPr lang="en-US" sz="1100" dirty="0">
                <a:solidFill>
                  <a:prstClr val="black"/>
                </a:solidFill>
              </a:rPr>
              <a:t> </a:t>
            </a:r>
            <a:r>
              <a:rPr lang="en-US" sz="1100" dirty="0" err="1">
                <a:solidFill>
                  <a:prstClr val="black"/>
                </a:solidFill>
              </a:rPr>
              <a:t>utilizatorilor</a:t>
            </a:r>
            <a:r>
              <a:rPr lang="en-US" sz="1100" dirty="0">
                <a:solidFill>
                  <a:prstClr val="black"/>
                </a:solidFill>
              </a:rPr>
              <a:t> </a:t>
            </a:r>
            <a:r>
              <a:rPr lang="en-US" sz="1100" dirty="0" err="1">
                <a:solidFill>
                  <a:prstClr val="black"/>
                </a:solidFill>
              </a:rPr>
              <a:t>să</a:t>
            </a:r>
            <a:r>
              <a:rPr lang="en-US" sz="1100" dirty="0">
                <a:solidFill>
                  <a:prstClr val="black"/>
                </a:solidFill>
              </a:rPr>
              <a:t> </a:t>
            </a:r>
            <a:r>
              <a:rPr lang="en-US" sz="1100" dirty="0" err="1">
                <a:solidFill>
                  <a:prstClr val="black"/>
                </a:solidFill>
              </a:rPr>
              <a:t>filtreze</a:t>
            </a:r>
            <a:r>
              <a:rPr lang="en-US" sz="1100" dirty="0">
                <a:solidFill>
                  <a:prstClr val="black"/>
                </a:solidFill>
              </a:rPr>
              <a:t> </a:t>
            </a:r>
            <a:r>
              <a:rPr lang="en-US" sz="1100" dirty="0" err="1">
                <a:solidFill>
                  <a:prstClr val="black"/>
                </a:solidFill>
              </a:rPr>
              <a:t>intrările</a:t>
            </a:r>
            <a:r>
              <a:rPr lang="en-US" sz="1100" dirty="0">
                <a:solidFill>
                  <a:prstClr val="black"/>
                </a:solidFill>
              </a:rPr>
              <a:t> pe care nu </a:t>
            </a:r>
            <a:r>
              <a:rPr lang="en-US" sz="1100" dirty="0" err="1">
                <a:solidFill>
                  <a:prstClr val="black"/>
                </a:solidFill>
              </a:rPr>
              <a:t>doresc</a:t>
            </a:r>
            <a:r>
              <a:rPr lang="en-US" sz="1100" dirty="0">
                <a:solidFill>
                  <a:prstClr val="black"/>
                </a:solidFill>
              </a:rPr>
              <a:t> </a:t>
            </a:r>
            <a:r>
              <a:rPr lang="en-US" sz="1100" dirty="0" err="1">
                <a:solidFill>
                  <a:prstClr val="black"/>
                </a:solidFill>
              </a:rPr>
              <a:t>să</a:t>
            </a:r>
            <a:r>
              <a:rPr lang="en-US" sz="1100" dirty="0">
                <a:solidFill>
                  <a:prstClr val="black"/>
                </a:solidFill>
              </a:rPr>
              <a:t> le </a:t>
            </a:r>
            <a:r>
              <a:rPr lang="en-US" sz="1100" dirty="0" err="1">
                <a:solidFill>
                  <a:prstClr val="black"/>
                </a:solidFill>
              </a:rPr>
              <a:t>vadă</a:t>
            </a:r>
            <a:r>
              <a:rPr lang="en-US" sz="1100" dirty="0">
                <a:solidFill>
                  <a:prstClr val="black"/>
                </a:solidFill>
              </a:rPr>
              <a:t> </a:t>
            </a:r>
            <a:r>
              <a:rPr lang="en-US" sz="1100" dirty="0" err="1">
                <a:solidFill>
                  <a:prstClr val="black"/>
                </a:solidFill>
              </a:rPr>
              <a:t>sau</a:t>
            </a:r>
            <a:r>
              <a:rPr lang="en-US" sz="1100" dirty="0">
                <a:solidFill>
                  <a:prstClr val="black"/>
                </a:solidFill>
              </a:rPr>
              <a:t> </a:t>
            </a:r>
            <a:r>
              <a:rPr lang="en-US" sz="1100" dirty="0" err="1">
                <a:solidFill>
                  <a:prstClr val="black"/>
                </a:solidFill>
              </a:rPr>
              <a:t>să</a:t>
            </a:r>
            <a:r>
              <a:rPr lang="en-US" sz="1100" dirty="0">
                <a:solidFill>
                  <a:prstClr val="black"/>
                </a:solidFill>
              </a:rPr>
              <a:t> </a:t>
            </a:r>
            <a:r>
              <a:rPr lang="en-US" sz="1100" dirty="0" err="1">
                <a:solidFill>
                  <a:prstClr val="black"/>
                </a:solidFill>
              </a:rPr>
              <a:t>caute</a:t>
            </a:r>
            <a:r>
              <a:rPr lang="en-US" sz="1100" dirty="0">
                <a:solidFill>
                  <a:prstClr val="black"/>
                </a:solidFill>
              </a:rPr>
              <a:t> </a:t>
            </a:r>
            <a:r>
              <a:rPr lang="en-US" sz="1100" dirty="0" err="1">
                <a:solidFill>
                  <a:prstClr val="black"/>
                </a:solidFill>
              </a:rPr>
              <a:t>anumite</a:t>
            </a:r>
            <a:r>
              <a:rPr lang="en-US" sz="1100" dirty="0">
                <a:solidFill>
                  <a:prstClr val="black"/>
                </a:solidFill>
              </a:rPr>
              <a:t> </a:t>
            </a:r>
            <a:r>
              <a:rPr lang="en-US" sz="1100" dirty="0" err="1">
                <a:solidFill>
                  <a:prstClr val="black"/>
                </a:solidFill>
              </a:rPr>
              <a:t>programe</a:t>
            </a:r>
            <a:r>
              <a:rPr lang="en-US" sz="1100" dirty="0">
                <a:solidFill>
                  <a:prstClr val="black"/>
                </a:solidFill>
              </a:rPr>
              <a:t> care se </a:t>
            </a:r>
            <a:r>
              <a:rPr lang="en-US" sz="1100" dirty="0" err="1">
                <a:solidFill>
                  <a:prstClr val="black"/>
                </a:solidFill>
              </a:rPr>
              <a:t>execută</a:t>
            </a:r>
            <a:r>
              <a:rPr lang="en-US" sz="1100" dirty="0">
                <a:solidFill>
                  <a:prstClr val="black"/>
                </a:solidFill>
              </a:rPr>
              <a:t> la start-up, </a:t>
            </a:r>
            <a:r>
              <a:rPr lang="en-US" sz="1100" dirty="0" err="1">
                <a:solidFill>
                  <a:prstClr val="black"/>
                </a:solidFill>
              </a:rPr>
              <a:t>făcând</a:t>
            </a:r>
            <a:r>
              <a:rPr lang="en-US" sz="1100" dirty="0">
                <a:solidFill>
                  <a:prstClr val="black"/>
                </a:solidFill>
              </a:rPr>
              <a:t> </a:t>
            </a:r>
            <a:r>
              <a:rPr lang="en-US" sz="1100" dirty="0" err="1">
                <a:solidFill>
                  <a:prstClr val="black"/>
                </a:solidFill>
              </a:rPr>
              <a:t>mai</a:t>
            </a:r>
            <a:r>
              <a:rPr lang="en-US" sz="1100" dirty="0">
                <a:solidFill>
                  <a:prstClr val="black"/>
                </a:solidFill>
              </a:rPr>
              <a:t> </a:t>
            </a:r>
            <a:r>
              <a:rPr lang="en-US" sz="1100" dirty="0" err="1">
                <a:solidFill>
                  <a:prstClr val="black"/>
                </a:solidFill>
              </a:rPr>
              <a:t>ușoară</a:t>
            </a:r>
            <a:r>
              <a:rPr lang="en-US" sz="1100" dirty="0">
                <a:solidFill>
                  <a:prstClr val="black"/>
                </a:solidFill>
              </a:rPr>
              <a:t> </a:t>
            </a:r>
            <a:r>
              <a:rPr lang="en-US" sz="1100" dirty="0" err="1">
                <a:solidFill>
                  <a:prstClr val="black"/>
                </a:solidFill>
              </a:rPr>
              <a:t>identificarea</a:t>
            </a:r>
            <a:r>
              <a:rPr lang="en-US" sz="1100" dirty="0">
                <a:solidFill>
                  <a:prstClr val="black"/>
                </a:solidFill>
              </a:rPr>
              <a:t> </a:t>
            </a:r>
            <a:r>
              <a:rPr lang="en-US" sz="1100" dirty="0" err="1">
                <a:solidFill>
                  <a:prstClr val="black"/>
                </a:solidFill>
              </a:rPr>
              <a:t>și</a:t>
            </a:r>
            <a:r>
              <a:rPr lang="en-US" sz="1100" dirty="0">
                <a:solidFill>
                  <a:prstClr val="black"/>
                </a:solidFill>
              </a:rPr>
              <a:t> </a:t>
            </a:r>
            <a:r>
              <a:rPr lang="en-US" sz="1100" dirty="0" err="1">
                <a:solidFill>
                  <a:prstClr val="black"/>
                </a:solidFill>
              </a:rPr>
              <a:t>gestionarea</a:t>
            </a:r>
            <a:r>
              <a:rPr lang="en-US" sz="1100" dirty="0">
                <a:solidFill>
                  <a:prstClr val="black"/>
                </a:solidFill>
              </a:rPr>
              <a:t> </a:t>
            </a:r>
            <a:r>
              <a:rPr lang="en-US" sz="1100" dirty="0" err="1">
                <a:solidFill>
                  <a:prstClr val="black"/>
                </a:solidFill>
              </a:rPr>
              <a:t>elementelor</a:t>
            </a:r>
            <a:r>
              <a:rPr lang="en-US" sz="1100" dirty="0">
                <a:solidFill>
                  <a:prstClr val="black"/>
                </a:solidFill>
              </a:rPr>
              <a:t> </a:t>
            </a:r>
            <a:r>
              <a:rPr lang="en-US" sz="1100" dirty="0" err="1">
                <a:solidFill>
                  <a:prstClr val="black"/>
                </a:solidFill>
              </a:rPr>
              <a:t>nedorite</a:t>
            </a:r>
            <a:r>
              <a:rPr lang="en-US" sz="1100" dirty="0">
                <a:solidFill>
                  <a:prstClr val="black"/>
                </a:solidFill>
              </a:rPr>
              <a:t> </a:t>
            </a:r>
            <a:r>
              <a:rPr lang="en-US" sz="1100" dirty="0" err="1">
                <a:solidFill>
                  <a:prstClr val="black"/>
                </a:solidFill>
              </a:rPr>
              <a:t>sau</a:t>
            </a:r>
            <a:r>
              <a:rPr lang="en-US" sz="1100" dirty="0">
                <a:solidFill>
                  <a:prstClr val="black"/>
                </a:solidFill>
              </a:rPr>
              <a:t> </a:t>
            </a:r>
            <a:r>
              <a:rPr lang="en-US" sz="1100" dirty="0" err="1">
                <a:solidFill>
                  <a:prstClr val="black"/>
                </a:solidFill>
              </a:rPr>
              <a:t>suspecte</a:t>
            </a:r>
            <a:r>
              <a:rPr lang="en-US" sz="1100" dirty="0">
                <a:solidFill>
                  <a:prstClr val="black"/>
                </a:solidFill>
              </a:rPr>
              <a:t>.</a:t>
            </a:r>
          </a:p>
          <a:p>
            <a:endParaRPr lang="en-US" sz="1100" dirty="0">
              <a:solidFill>
                <a:prstClr val="black"/>
              </a:solidFill>
            </a:endParaRPr>
          </a:p>
          <a:p>
            <a:r>
              <a:rPr lang="en-US" sz="1100" b="1" dirty="0" err="1">
                <a:solidFill>
                  <a:prstClr val="black"/>
                </a:solidFill>
              </a:rPr>
              <a:t>Dezactivarea</a:t>
            </a:r>
            <a:r>
              <a:rPr lang="en-US" sz="1100" b="1" dirty="0">
                <a:solidFill>
                  <a:prstClr val="black"/>
                </a:solidFill>
              </a:rPr>
              <a:t> </a:t>
            </a:r>
            <a:r>
              <a:rPr lang="en-US" sz="1100" b="1" dirty="0" err="1">
                <a:solidFill>
                  <a:prstClr val="black"/>
                </a:solidFill>
              </a:rPr>
              <a:t>sau</a:t>
            </a:r>
            <a:r>
              <a:rPr lang="en-US" sz="1100" b="1" dirty="0">
                <a:solidFill>
                  <a:prstClr val="black"/>
                </a:solidFill>
              </a:rPr>
              <a:t> </a:t>
            </a:r>
            <a:r>
              <a:rPr lang="en-US" sz="1100" b="1" dirty="0" err="1">
                <a:solidFill>
                  <a:prstClr val="black"/>
                </a:solidFill>
              </a:rPr>
              <a:t>Ștergerea</a:t>
            </a:r>
            <a:r>
              <a:rPr lang="en-US" sz="1100" b="1" dirty="0">
                <a:solidFill>
                  <a:prstClr val="black"/>
                </a:solidFill>
              </a:rPr>
              <a:t> </a:t>
            </a:r>
            <a:r>
              <a:rPr lang="en-US" sz="1100" b="1" dirty="0" err="1">
                <a:solidFill>
                  <a:prstClr val="black"/>
                </a:solidFill>
              </a:rPr>
              <a:t>Elementelor</a:t>
            </a:r>
            <a:r>
              <a:rPr lang="en-US" sz="1100" b="1" dirty="0">
                <a:solidFill>
                  <a:prstClr val="black"/>
                </a:solidFill>
              </a:rPr>
              <a:t>. </a:t>
            </a:r>
            <a:r>
              <a:rPr lang="en-US" sz="1100" dirty="0">
                <a:solidFill>
                  <a:prstClr val="black"/>
                </a:solidFill>
              </a:rPr>
              <a:t>Autoruns nu </a:t>
            </a:r>
            <a:r>
              <a:rPr lang="en-US" sz="1100" dirty="0" err="1">
                <a:solidFill>
                  <a:prstClr val="black"/>
                </a:solidFill>
              </a:rPr>
              <a:t>doar</a:t>
            </a:r>
            <a:r>
              <a:rPr lang="en-US" sz="1100" dirty="0">
                <a:solidFill>
                  <a:prstClr val="black"/>
                </a:solidFill>
              </a:rPr>
              <a:t> </a:t>
            </a:r>
            <a:r>
              <a:rPr lang="en-US" sz="1100" dirty="0" err="1">
                <a:solidFill>
                  <a:prstClr val="black"/>
                </a:solidFill>
              </a:rPr>
              <a:t>că</a:t>
            </a:r>
            <a:r>
              <a:rPr lang="en-US" sz="1100" dirty="0">
                <a:solidFill>
                  <a:prstClr val="black"/>
                </a:solidFill>
              </a:rPr>
              <a:t> </a:t>
            </a:r>
            <a:r>
              <a:rPr lang="en-US" sz="1100" dirty="0" err="1">
                <a:solidFill>
                  <a:prstClr val="black"/>
                </a:solidFill>
              </a:rPr>
              <a:t>afișează</a:t>
            </a:r>
            <a:r>
              <a:rPr lang="en-US" sz="1100" dirty="0">
                <a:solidFill>
                  <a:prstClr val="black"/>
                </a:solidFill>
              </a:rPr>
              <a:t> </a:t>
            </a:r>
            <a:r>
              <a:rPr lang="en-US" sz="1100" dirty="0" err="1">
                <a:solidFill>
                  <a:prstClr val="black"/>
                </a:solidFill>
              </a:rPr>
              <a:t>programele</a:t>
            </a:r>
            <a:r>
              <a:rPr lang="en-US" sz="1100" dirty="0">
                <a:solidFill>
                  <a:prstClr val="black"/>
                </a:solidFill>
              </a:rPr>
              <a:t> </a:t>
            </a:r>
            <a:r>
              <a:rPr lang="en-US" sz="1100" dirty="0" err="1">
                <a:solidFill>
                  <a:prstClr val="black"/>
                </a:solidFill>
              </a:rPr>
              <a:t>și</a:t>
            </a:r>
            <a:r>
              <a:rPr lang="en-US" sz="1100" dirty="0">
                <a:solidFill>
                  <a:prstClr val="black"/>
                </a:solidFill>
              </a:rPr>
              <a:t> </a:t>
            </a:r>
            <a:r>
              <a:rPr lang="en-US" sz="1100" dirty="0" err="1">
                <a:solidFill>
                  <a:prstClr val="black"/>
                </a:solidFill>
              </a:rPr>
              <a:t>serviciile</a:t>
            </a:r>
            <a:r>
              <a:rPr lang="en-US" sz="1100" dirty="0">
                <a:solidFill>
                  <a:prstClr val="black"/>
                </a:solidFill>
              </a:rPr>
              <a:t> care se </a:t>
            </a:r>
            <a:r>
              <a:rPr lang="en-US" sz="1100" dirty="0" err="1">
                <a:solidFill>
                  <a:prstClr val="black"/>
                </a:solidFill>
              </a:rPr>
              <a:t>execută</a:t>
            </a:r>
            <a:r>
              <a:rPr lang="en-US" sz="1100" dirty="0">
                <a:solidFill>
                  <a:prstClr val="black"/>
                </a:solidFill>
              </a:rPr>
              <a:t> automat, </a:t>
            </a:r>
            <a:r>
              <a:rPr lang="en-US" sz="1100" dirty="0" err="1">
                <a:solidFill>
                  <a:prstClr val="black"/>
                </a:solidFill>
              </a:rPr>
              <a:t>dar</a:t>
            </a:r>
            <a:r>
              <a:rPr lang="en-US" sz="1100" dirty="0">
                <a:solidFill>
                  <a:prstClr val="black"/>
                </a:solidFill>
              </a:rPr>
              <a:t> </a:t>
            </a:r>
            <a:r>
              <a:rPr lang="en-US" sz="1100" dirty="0" err="1">
                <a:solidFill>
                  <a:prstClr val="black"/>
                </a:solidFill>
              </a:rPr>
              <a:t>oferă</a:t>
            </a:r>
            <a:r>
              <a:rPr lang="en-US" sz="1100" dirty="0">
                <a:solidFill>
                  <a:prstClr val="black"/>
                </a:solidFill>
              </a:rPr>
              <a:t> </a:t>
            </a:r>
            <a:r>
              <a:rPr lang="en-US" sz="1100" dirty="0" err="1">
                <a:solidFill>
                  <a:prstClr val="black"/>
                </a:solidFill>
              </a:rPr>
              <a:t>și</a:t>
            </a:r>
            <a:r>
              <a:rPr lang="en-US" sz="1100" dirty="0">
                <a:solidFill>
                  <a:prstClr val="black"/>
                </a:solidFill>
              </a:rPr>
              <a:t> </a:t>
            </a:r>
            <a:r>
              <a:rPr lang="en-US" sz="1100" dirty="0" err="1">
                <a:solidFill>
                  <a:prstClr val="black"/>
                </a:solidFill>
              </a:rPr>
              <a:t>posibilitatea</a:t>
            </a:r>
            <a:r>
              <a:rPr lang="en-US" sz="1100" dirty="0">
                <a:solidFill>
                  <a:prstClr val="black"/>
                </a:solidFill>
              </a:rPr>
              <a:t> de a </a:t>
            </a:r>
            <a:r>
              <a:rPr lang="en-US" sz="1100" dirty="0" err="1">
                <a:solidFill>
                  <a:prstClr val="black"/>
                </a:solidFill>
              </a:rPr>
              <a:t>dezactiva</a:t>
            </a:r>
            <a:r>
              <a:rPr lang="en-US" sz="1100" dirty="0">
                <a:solidFill>
                  <a:prstClr val="black"/>
                </a:solidFill>
              </a:rPr>
              <a:t> </a:t>
            </a:r>
            <a:r>
              <a:rPr lang="en-US" sz="1100" dirty="0" err="1">
                <a:solidFill>
                  <a:prstClr val="black"/>
                </a:solidFill>
              </a:rPr>
              <a:t>sau</a:t>
            </a:r>
            <a:r>
              <a:rPr lang="en-US" sz="1100" dirty="0">
                <a:solidFill>
                  <a:prstClr val="black"/>
                </a:solidFill>
              </a:rPr>
              <a:t> </a:t>
            </a:r>
            <a:r>
              <a:rPr lang="en-US" sz="1100" dirty="0" err="1">
                <a:solidFill>
                  <a:prstClr val="black"/>
                </a:solidFill>
              </a:rPr>
              <a:t>elimina</a:t>
            </a:r>
            <a:r>
              <a:rPr lang="en-US" sz="1100" dirty="0">
                <a:solidFill>
                  <a:prstClr val="black"/>
                </a:solidFill>
              </a:rPr>
              <a:t> </a:t>
            </a:r>
            <a:r>
              <a:rPr lang="en-US" sz="1100" dirty="0" err="1">
                <a:solidFill>
                  <a:prstClr val="black"/>
                </a:solidFill>
              </a:rPr>
              <a:t>intrările</a:t>
            </a:r>
            <a:r>
              <a:rPr lang="en-US" sz="1100" dirty="0">
                <a:solidFill>
                  <a:prstClr val="black"/>
                </a:solidFill>
              </a:rPr>
              <a:t>, </a:t>
            </a:r>
            <a:r>
              <a:rPr lang="en-US" sz="1100" dirty="0" err="1">
                <a:solidFill>
                  <a:prstClr val="black"/>
                </a:solidFill>
              </a:rPr>
              <a:t>ajutând</a:t>
            </a:r>
            <a:r>
              <a:rPr lang="en-US" sz="1100" dirty="0">
                <a:solidFill>
                  <a:prstClr val="black"/>
                </a:solidFill>
              </a:rPr>
              <a:t> </a:t>
            </a:r>
            <a:r>
              <a:rPr lang="en-US" sz="1100" dirty="0" err="1">
                <a:solidFill>
                  <a:prstClr val="black"/>
                </a:solidFill>
              </a:rPr>
              <a:t>în</a:t>
            </a:r>
            <a:r>
              <a:rPr lang="en-US" sz="1100" dirty="0">
                <a:solidFill>
                  <a:prstClr val="black"/>
                </a:solidFill>
              </a:rPr>
              <a:t> </a:t>
            </a:r>
            <a:r>
              <a:rPr lang="en-US" sz="1100" dirty="0" err="1">
                <a:solidFill>
                  <a:prstClr val="black"/>
                </a:solidFill>
              </a:rPr>
              <a:t>optimizarea</a:t>
            </a:r>
            <a:r>
              <a:rPr lang="en-US" sz="1100" dirty="0">
                <a:solidFill>
                  <a:prstClr val="black"/>
                </a:solidFill>
              </a:rPr>
              <a:t> start-up-</a:t>
            </a:r>
            <a:r>
              <a:rPr lang="en-US" sz="1100" dirty="0" err="1">
                <a:solidFill>
                  <a:prstClr val="black"/>
                </a:solidFill>
              </a:rPr>
              <a:t>ului</a:t>
            </a:r>
            <a:r>
              <a:rPr lang="en-US" sz="1100" dirty="0">
                <a:solidFill>
                  <a:prstClr val="black"/>
                </a:solidFill>
              </a:rPr>
              <a:t> </a:t>
            </a:r>
            <a:r>
              <a:rPr lang="en-US" sz="1100" dirty="0" err="1">
                <a:solidFill>
                  <a:prstClr val="black"/>
                </a:solidFill>
              </a:rPr>
              <a:t>și</a:t>
            </a:r>
            <a:r>
              <a:rPr lang="en-US" sz="1100" dirty="0">
                <a:solidFill>
                  <a:prstClr val="black"/>
                </a:solidFill>
              </a:rPr>
              <a:t> </a:t>
            </a:r>
            <a:r>
              <a:rPr lang="en-US" sz="1100" dirty="0" err="1">
                <a:solidFill>
                  <a:prstClr val="black"/>
                </a:solidFill>
              </a:rPr>
              <a:t>îmbunătățirea</a:t>
            </a:r>
            <a:r>
              <a:rPr lang="en-US" sz="1100" dirty="0">
                <a:solidFill>
                  <a:prstClr val="black"/>
                </a:solidFill>
              </a:rPr>
              <a:t> </a:t>
            </a:r>
            <a:r>
              <a:rPr lang="en-US" sz="1100" dirty="0" err="1">
                <a:solidFill>
                  <a:prstClr val="black"/>
                </a:solidFill>
              </a:rPr>
              <a:t>performanței</a:t>
            </a:r>
            <a:r>
              <a:rPr lang="en-US" sz="1100" dirty="0">
                <a:solidFill>
                  <a:prstClr val="black"/>
                </a:solidFill>
              </a:rPr>
              <a:t> generale a </a:t>
            </a:r>
            <a:r>
              <a:rPr lang="en-US" sz="1100" dirty="0" err="1">
                <a:solidFill>
                  <a:prstClr val="black"/>
                </a:solidFill>
              </a:rPr>
              <a:t>sistemului</a:t>
            </a:r>
            <a:r>
              <a:rPr lang="en-US" sz="1100" dirty="0">
                <a:solidFill>
                  <a:prstClr val="black"/>
                </a:solidFill>
              </a:rPr>
              <a:t>.</a:t>
            </a:r>
          </a:p>
          <a:p>
            <a:endParaRPr lang="en-US" sz="1100" dirty="0">
              <a:solidFill>
                <a:prstClr val="black"/>
              </a:solidFill>
            </a:endParaRPr>
          </a:p>
          <a:p>
            <a:r>
              <a:rPr lang="en-US" sz="1100" b="1" dirty="0" err="1">
                <a:solidFill>
                  <a:prstClr val="black"/>
                </a:solidFill>
              </a:rPr>
              <a:t>Identificarea</a:t>
            </a:r>
            <a:r>
              <a:rPr lang="en-US" sz="1100" b="1" dirty="0">
                <a:solidFill>
                  <a:prstClr val="black"/>
                </a:solidFill>
              </a:rPr>
              <a:t> Malware-</a:t>
            </a:r>
            <a:r>
              <a:rPr lang="en-US" sz="1100" b="1" dirty="0" err="1">
                <a:solidFill>
                  <a:prstClr val="black"/>
                </a:solidFill>
              </a:rPr>
              <a:t>ului</a:t>
            </a:r>
            <a:r>
              <a:rPr lang="en-US" sz="1100" b="1" dirty="0">
                <a:solidFill>
                  <a:prstClr val="black"/>
                </a:solidFill>
              </a:rPr>
              <a:t>. </a:t>
            </a:r>
            <a:r>
              <a:rPr lang="en-US" sz="1100" dirty="0">
                <a:solidFill>
                  <a:prstClr val="black"/>
                </a:solidFill>
              </a:rPr>
              <a:t>Este </a:t>
            </a:r>
            <a:r>
              <a:rPr lang="en-US" sz="1100" dirty="0" err="1">
                <a:solidFill>
                  <a:prstClr val="black"/>
                </a:solidFill>
              </a:rPr>
              <a:t>frecvent</a:t>
            </a:r>
            <a:r>
              <a:rPr lang="en-US" sz="1100" dirty="0">
                <a:solidFill>
                  <a:prstClr val="black"/>
                </a:solidFill>
              </a:rPr>
              <a:t> </a:t>
            </a:r>
            <a:r>
              <a:rPr lang="en-US" sz="1100" dirty="0" err="1">
                <a:solidFill>
                  <a:prstClr val="black"/>
                </a:solidFill>
              </a:rPr>
              <a:t>utilizat</a:t>
            </a:r>
            <a:r>
              <a:rPr lang="en-US" sz="1100" dirty="0">
                <a:solidFill>
                  <a:prstClr val="black"/>
                </a:solidFill>
              </a:rPr>
              <a:t> </a:t>
            </a:r>
            <a:r>
              <a:rPr lang="en-US" sz="1100" dirty="0" err="1">
                <a:solidFill>
                  <a:prstClr val="black"/>
                </a:solidFill>
              </a:rPr>
              <a:t>în</a:t>
            </a:r>
            <a:r>
              <a:rPr lang="en-US" sz="1100" dirty="0">
                <a:solidFill>
                  <a:prstClr val="black"/>
                </a:solidFill>
              </a:rPr>
              <a:t> </a:t>
            </a:r>
            <a:r>
              <a:rPr lang="en-US" sz="1100" dirty="0" err="1">
                <a:solidFill>
                  <a:prstClr val="black"/>
                </a:solidFill>
              </a:rPr>
              <a:t>depanarea</a:t>
            </a:r>
            <a:r>
              <a:rPr lang="en-US" sz="1100" dirty="0">
                <a:solidFill>
                  <a:prstClr val="black"/>
                </a:solidFill>
              </a:rPr>
              <a:t> </a:t>
            </a:r>
            <a:r>
              <a:rPr lang="en-US" sz="1100" dirty="0" err="1">
                <a:solidFill>
                  <a:prstClr val="black"/>
                </a:solidFill>
              </a:rPr>
              <a:t>sistemelor</a:t>
            </a:r>
            <a:r>
              <a:rPr lang="en-US" sz="1100" dirty="0">
                <a:solidFill>
                  <a:prstClr val="black"/>
                </a:solidFill>
              </a:rPr>
              <a:t> </a:t>
            </a:r>
            <a:r>
              <a:rPr lang="en-US" sz="1100" dirty="0" err="1">
                <a:solidFill>
                  <a:prstClr val="black"/>
                </a:solidFill>
              </a:rPr>
              <a:t>și</a:t>
            </a:r>
            <a:r>
              <a:rPr lang="en-US" sz="1100" dirty="0">
                <a:solidFill>
                  <a:prstClr val="black"/>
                </a:solidFill>
              </a:rPr>
              <a:t> </a:t>
            </a:r>
            <a:r>
              <a:rPr lang="en-US" sz="1100" dirty="0" err="1">
                <a:solidFill>
                  <a:prstClr val="black"/>
                </a:solidFill>
              </a:rPr>
              <a:t>identificarea</a:t>
            </a:r>
            <a:r>
              <a:rPr lang="en-US" sz="1100" dirty="0">
                <a:solidFill>
                  <a:prstClr val="black"/>
                </a:solidFill>
              </a:rPr>
              <a:t> software-</a:t>
            </a:r>
            <a:r>
              <a:rPr lang="en-US" sz="1100" dirty="0" err="1">
                <a:solidFill>
                  <a:prstClr val="black"/>
                </a:solidFill>
              </a:rPr>
              <a:t>ului</a:t>
            </a:r>
            <a:r>
              <a:rPr lang="en-US" sz="1100" dirty="0">
                <a:solidFill>
                  <a:prstClr val="black"/>
                </a:solidFill>
              </a:rPr>
              <a:t> </a:t>
            </a:r>
            <a:r>
              <a:rPr lang="en-US" sz="1100" dirty="0" err="1">
                <a:solidFill>
                  <a:prstClr val="black"/>
                </a:solidFill>
              </a:rPr>
              <a:t>rău</a:t>
            </a:r>
            <a:r>
              <a:rPr lang="en-US" sz="1100" dirty="0">
                <a:solidFill>
                  <a:prstClr val="black"/>
                </a:solidFill>
              </a:rPr>
              <a:t> </a:t>
            </a:r>
            <a:r>
              <a:rPr lang="en-US" sz="1100" dirty="0" err="1">
                <a:solidFill>
                  <a:prstClr val="black"/>
                </a:solidFill>
              </a:rPr>
              <a:t>intenționat</a:t>
            </a:r>
            <a:r>
              <a:rPr lang="en-US" sz="1100" dirty="0">
                <a:solidFill>
                  <a:prstClr val="black"/>
                </a:solidFill>
              </a:rPr>
              <a:t> </a:t>
            </a:r>
            <a:r>
              <a:rPr lang="en-US" sz="1100" dirty="0" err="1">
                <a:solidFill>
                  <a:prstClr val="black"/>
                </a:solidFill>
              </a:rPr>
              <a:t>sau</a:t>
            </a:r>
            <a:r>
              <a:rPr lang="en-US" sz="1100" dirty="0">
                <a:solidFill>
                  <a:prstClr val="black"/>
                </a:solidFill>
              </a:rPr>
              <a:t> a </a:t>
            </a:r>
            <a:r>
              <a:rPr lang="en-US" sz="1100" dirty="0" err="1">
                <a:solidFill>
                  <a:prstClr val="black"/>
                </a:solidFill>
              </a:rPr>
              <a:t>programelor</a:t>
            </a:r>
            <a:r>
              <a:rPr lang="en-US" sz="1100" dirty="0">
                <a:solidFill>
                  <a:prstClr val="black"/>
                </a:solidFill>
              </a:rPr>
              <a:t> </a:t>
            </a:r>
            <a:r>
              <a:rPr lang="en-US" sz="1100" dirty="0" err="1">
                <a:solidFill>
                  <a:prstClr val="black"/>
                </a:solidFill>
              </a:rPr>
              <a:t>nedorite</a:t>
            </a:r>
            <a:r>
              <a:rPr lang="en-US" sz="1100" dirty="0">
                <a:solidFill>
                  <a:prstClr val="black"/>
                </a:solidFill>
              </a:rPr>
              <a:t> care se </a:t>
            </a:r>
            <a:r>
              <a:rPr lang="en-US" sz="1100" dirty="0" err="1">
                <a:solidFill>
                  <a:prstClr val="black"/>
                </a:solidFill>
              </a:rPr>
              <a:t>execută</a:t>
            </a:r>
            <a:r>
              <a:rPr lang="en-US" sz="1100" dirty="0">
                <a:solidFill>
                  <a:prstClr val="black"/>
                </a:solidFill>
              </a:rPr>
              <a:t> automat, </a:t>
            </a:r>
            <a:r>
              <a:rPr lang="en-US" sz="1100" dirty="0" err="1">
                <a:solidFill>
                  <a:prstClr val="black"/>
                </a:solidFill>
              </a:rPr>
              <a:t>adesea</a:t>
            </a:r>
            <a:r>
              <a:rPr lang="en-US" sz="1100" dirty="0">
                <a:solidFill>
                  <a:prstClr val="black"/>
                </a:solidFill>
              </a:rPr>
              <a:t> </a:t>
            </a:r>
            <a:r>
              <a:rPr lang="en-US" sz="1100" dirty="0" err="1">
                <a:solidFill>
                  <a:prstClr val="black"/>
                </a:solidFill>
              </a:rPr>
              <a:t>fără</a:t>
            </a:r>
            <a:r>
              <a:rPr lang="en-US" sz="1100" dirty="0">
                <a:solidFill>
                  <a:prstClr val="black"/>
                </a:solidFill>
              </a:rPr>
              <a:t> </a:t>
            </a:r>
            <a:r>
              <a:rPr lang="en-US" sz="1100" dirty="0" err="1">
                <a:solidFill>
                  <a:prstClr val="black"/>
                </a:solidFill>
              </a:rPr>
              <a:t>știrea</a:t>
            </a:r>
            <a:r>
              <a:rPr lang="en-US" sz="1100" dirty="0">
                <a:solidFill>
                  <a:prstClr val="black"/>
                </a:solidFill>
              </a:rPr>
              <a:t> </a:t>
            </a:r>
            <a:r>
              <a:rPr lang="en-US" sz="1100" dirty="0" err="1">
                <a:solidFill>
                  <a:prstClr val="black"/>
                </a:solidFill>
              </a:rPr>
              <a:t>utilizatorului</a:t>
            </a:r>
            <a:r>
              <a:rPr lang="en-US" sz="1100" dirty="0">
                <a:solidFill>
                  <a:prstClr val="black"/>
                </a:solidFill>
              </a:rPr>
              <a:t>.</a:t>
            </a:r>
          </a:p>
          <a:p>
            <a:endParaRPr lang="en-US" sz="1100" dirty="0">
              <a:solidFill>
                <a:prstClr val="black"/>
              </a:solidFill>
            </a:endParaRPr>
          </a:p>
          <a:p>
            <a:r>
              <a:rPr lang="en-US" sz="1100" b="1" dirty="0" err="1">
                <a:solidFill>
                  <a:prstClr val="black"/>
                </a:solidFill>
              </a:rPr>
              <a:t>Verificarea</a:t>
            </a:r>
            <a:r>
              <a:rPr lang="en-US" sz="1100" b="1" dirty="0">
                <a:solidFill>
                  <a:prstClr val="black"/>
                </a:solidFill>
              </a:rPr>
              <a:t> </a:t>
            </a:r>
            <a:r>
              <a:rPr lang="en-US" sz="1100" b="1" dirty="0" err="1">
                <a:solidFill>
                  <a:prstClr val="black"/>
                </a:solidFill>
              </a:rPr>
              <a:t>Semnăturilor</a:t>
            </a:r>
            <a:r>
              <a:rPr lang="en-US" sz="1100" b="1" dirty="0">
                <a:solidFill>
                  <a:prstClr val="black"/>
                </a:solidFill>
              </a:rPr>
              <a:t> </a:t>
            </a:r>
            <a:r>
              <a:rPr lang="en-US" sz="1100" b="1" dirty="0" err="1">
                <a:solidFill>
                  <a:prstClr val="black"/>
                </a:solidFill>
              </a:rPr>
              <a:t>Digitale</a:t>
            </a:r>
            <a:r>
              <a:rPr lang="en-US" sz="1100" b="1" dirty="0">
                <a:solidFill>
                  <a:prstClr val="black"/>
                </a:solidFill>
              </a:rPr>
              <a:t>. </a:t>
            </a:r>
            <a:r>
              <a:rPr lang="en-US" sz="1100" dirty="0">
                <a:solidFill>
                  <a:prstClr val="black"/>
                </a:solidFill>
              </a:rPr>
              <a:t>Autoruns </a:t>
            </a:r>
            <a:r>
              <a:rPr lang="en-US" sz="1100" dirty="0" err="1">
                <a:solidFill>
                  <a:prstClr val="black"/>
                </a:solidFill>
              </a:rPr>
              <a:t>poate</a:t>
            </a:r>
            <a:r>
              <a:rPr lang="en-US" sz="1100" dirty="0">
                <a:solidFill>
                  <a:prstClr val="black"/>
                </a:solidFill>
              </a:rPr>
              <a:t> </a:t>
            </a:r>
            <a:r>
              <a:rPr lang="en-US" sz="1100" dirty="0" err="1">
                <a:solidFill>
                  <a:prstClr val="black"/>
                </a:solidFill>
              </a:rPr>
              <a:t>verifica</a:t>
            </a:r>
            <a:r>
              <a:rPr lang="en-US" sz="1100" dirty="0">
                <a:solidFill>
                  <a:prstClr val="black"/>
                </a:solidFill>
              </a:rPr>
              <a:t> </a:t>
            </a:r>
            <a:r>
              <a:rPr lang="en-US" sz="1100" dirty="0" err="1">
                <a:solidFill>
                  <a:prstClr val="black"/>
                </a:solidFill>
              </a:rPr>
              <a:t>semnăturile</a:t>
            </a:r>
            <a:r>
              <a:rPr lang="en-US" sz="1100" dirty="0">
                <a:solidFill>
                  <a:prstClr val="black"/>
                </a:solidFill>
              </a:rPr>
              <a:t> </a:t>
            </a:r>
            <a:r>
              <a:rPr lang="en-US" sz="1100" dirty="0" err="1">
                <a:solidFill>
                  <a:prstClr val="black"/>
                </a:solidFill>
              </a:rPr>
              <a:t>digitale</a:t>
            </a:r>
            <a:r>
              <a:rPr lang="en-US" sz="1100" dirty="0">
                <a:solidFill>
                  <a:prstClr val="black"/>
                </a:solidFill>
              </a:rPr>
              <a:t> ale </a:t>
            </a:r>
            <a:r>
              <a:rPr lang="en-US" sz="1100" dirty="0" err="1">
                <a:solidFill>
                  <a:prstClr val="black"/>
                </a:solidFill>
              </a:rPr>
              <a:t>fișierelor</a:t>
            </a:r>
            <a:r>
              <a:rPr lang="en-US" sz="1100" dirty="0">
                <a:solidFill>
                  <a:prstClr val="black"/>
                </a:solidFill>
              </a:rPr>
              <a:t> </a:t>
            </a:r>
            <a:r>
              <a:rPr lang="en-US" sz="1100" dirty="0" err="1">
                <a:solidFill>
                  <a:prstClr val="black"/>
                </a:solidFill>
              </a:rPr>
              <a:t>executabile</a:t>
            </a:r>
            <a:r>
              <a:rPr lang="en-US" sz="1100" dirty="0">
                <a:solidFill>
                  <a:prstClr val="black"/>
                </a:solidFill>
              </a:rPr>
              <a:t>, </a:t>
            </a:r>
            <a:r>
              <a:rPr lang="en-US" sz="1100" dirty="0" err="1">
                <a:solidFill>
                  <a:prstClr val="black"/>
                </a:solidFill>
              </a:rPr>
              <a:t>ajutând</a:t>
            </a:r>
            <a:r>
              <a:rPr lang="en-US" sz="1100" dirty="0">
                <a:solidFill>
                  <a:prstClr val="black"/>
                </a:solidFill>
              </a:rPr>
              <a:t> la </a:t>
            </a:r>
            <a:r>
              <a:rPr lang="en-US" sz="1100" dirty="0" err="1">
                <a:solidFill>
                  <a:prstClr val="black"/>
                </a:solidFill>
              </a:rPr>
              <a:t>distingerea</a:t>
            </a:r>
            <a:r>
              <a:rPr lang="en-US" sz="1100" dirty="0">
                <a:solidFill>
                  <a:prstClr val="black"/>
                </a:solidFill>
              </a:rPr>
              <a:t> </a:t>
            </a:r>
            <a:r>
              <a:rPr lang="en-US" sz="1100" dirty="0" err="1">
                <a:solidFill>
                  <a:prstClr val="black"/>
                </a:solidFill>
              </a:rPr>
              <a:t>între</a:t>
            </a:r>
            <a:r>
              <a:rPr lang="en-US" sz="1100" dirty="0">
                <a:solidFill>
                  <a:prstClr val="black"/>
                </a:solidFill>
              </a:rPr>
              <a:t> software-ul legitim </a:t>
            </a:r>
            <a:r>
              <a:rPr lang="en-US" sz="1100" dirty="0" err="1">
                <a:solidFill>
                  <a:prstClr val="black"/>
                </a:solidFill>
              </a:rPr>
              <a:t>și</a:t>
            </a:r>
            <a:r>
              <a:rPr lang="en-US" sz="1100" dirty="0">
                <a:solidFill>
                  <a:prstClr val="black"/>
                </a:solidFill>
              </a:rPr>
              <a:t> cel </a:t>
            </a:r>
            <a:r>
              <a:rPr lang="en-US" sz="1100" dirty="0" err="1">
                <a:solidFill>
                  <a:prstClr val="black"/>
                </a:solidFill>
              </a:rPr>
              <a:t>potențial</a:t>
            </a:r>
            <a:r>
              <a:rPr lang="en-US" sz="1100" dirty="0">
                <a:solidFill>
                  <a:prstClr val="black"/>
                </a:solidFill>
              </a:rPr>
              <a:t> </a:t>
            </a:r>
            <a:r>
              <a:rPr lang="en-US" sz="1100" dirty="0" err="1">
                <a:solidFill>
                  <a:prstClr val="black"/>
                </a:solidFill>
              </a:rPr>
              <a:t>nesigur</a:t>
            </a:r>
            <a:r>
              <a:rPr lang="en-US" sz="1100" dirty="0">
                <a:solidFill>
                  <a:prstClr val="black"/>
                </a:solidFill>
              </a:rPr>
              <a:t> </a:t>
            </a:r>
            <a:r>
              <a:rPr lang="en-US" sz="1100" dirty="0" err="1">
                <a:solidFill>
                  <a:prstClr val="black"/>
                </a:solidFill>
              </a:rPr>
              <a:t>sau</a:t>
            </a:r>
            <a:r>
              <a:rPr lang="en-US" sz="1100" dirty="0">
                <a:solidFill>
                  <a:prstClr val="black"/>
                </a:solidFill>
              </a:rPr>
              <a:t> </a:t>
            </a:r>
            <a:r>
              <a:rPr lang="en-US" sz="1100" dirty="0" err="1">
                <a:solidFill>
                  <a:prstClr val="black"/>
                </a:solidFill>
              </a:rPr>
              <a:t>neautorizat</a:t>
            </a:r>
            <a:r>
              <a:rPr lang="en-US" sz="1100" dirty="0">
                <a:solidFill>
                  <a:prstClr val="black"/>
                </a:solidFill>
              </a:rPr>
              <a:t>.</a:t>
            </a:r>
          </a:p>
        </p:txBody>
      </p:sp>
    </p:spTree>
    <p:extLst>
      <p:ext uri="{BB962C8B-B14F-4D97-AF65-F5344CB8AC3E}">
        <p14:creationId xmlns:p14="http://schemas.microsoft.com/office/powerpoint/2010/main" val="1086189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0AB6B-C0D1-6E75-995A-B4A6B5E064F6}"/>
            </a:ext>
          </a:extLst>
        </p:cNvPr>
        <p:cNvGrpSpPr/>
        <p:nvPr/>
      </p:nvGrpSpPr>
      <p:grpSpPr>
        <a:xfrm>
          <a:off x="0" y="0"/>
          <a:ext cx="0" cy="0"/>
          <a:chOff x="0" y="0"/>
          <a:chExt cx="0" cy="0"/>
        </a:xfrm>
      </p:grpSpPr>
      <p:sp>
        <p:nvSpPr>
          <p:cNvPr id="9" name="Flowchart: Process 8">
            <a:extLst>
              <a:ext uri="{FF2B5EF4-FFF2-40B4-BE49-F238E27FC236}">
                <a16:creationId xmlns:a16="http://schemas.microsoft.com/office/drawing/2014/main" id="{8EF272F0-75C5-F842-8DD8-510CA7CC1C86}"/>
              </a:ext>
            </a:extLst>
          </p:cNvPr>
          <p:cNvSpPr/>
          <p:nvPr/>
        </p:nvSpPr>
        <p:spPr>
          <a:xfrm>
            <a:off x="451104" y="1871472"/>
            <a:ext cx="11289792" cy="4870704"/>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16C268-055D-26F8-C3D9-13B33AC8DFF2}"/>
              </a:ext>
            </a:extLst>
          </p:cNvPr>
          <p:cNvSpPr>
            <a:spLocks noGrp="1"/>
          </p:cNvSpPr>
          <p:nvPr>
            <p:ph type="title"/>
          </p:nvPr>
        </p:nvSpPr>
        <p:spPr>
          <a:xfrm>
            <a:off x="581192" y="702156"/>
            <a:ext cx="6143458" cy="1013800"/>
          </a:xfrm>
        </p:spPr>
        <p:txBody>
          <a:bodyPr>
            <a:normAutofit/>
          </a:bodyPr>
          <a:lstStyle/>
          <a:p>
            <a:r>
              <a:rPr lang="pt-BR" sz="1600" dirty="0"/>
              <a:t>Exemplu de monitorizare a conexiunilor de rețea</a:t>
            </a:r>
            <a:br>
              <a:rPr lang="en-US" sz="1600" dirty="0"/>
            </a:br>
            <a:r>
              <a:rPr lang="en-US" dirty="0" err="1"/>
              <a:t>tcpview</a:t>
            </a:r>
            <a:r>
              <a:rPr lang="en-US" dirty="0"/>
              <a:t> (I)</a:t>
            </a:r>
            <a:br>
              <a:rPr lang="en-US" dirty="0"/>
            </a:br>
            <a:endParaRPr lang="en-US" sz="1600" dirty="0"/>
          </a:p>
        </p:txBody>
      </p:sp>
      <p:pic>
        <p:nvPicPr>
          <p:cNvPr id="7" name="Picture 6">
            <a:extLst>
              <a:ext uri="{FF2B5EF4-FFF2-40B4-BE49-F238E27FC236}">
                <a16:creationId xmlns:a16="http://schemas.microsoft.com/office/drawing/2014/main" id="{EDD21007-79FF-279C-E1B4-0F564FF90A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7568" y="2083793"/>
            <a:ext cx="6294321" cy="4446062"/>
          </a:xfrm>
          <a:prstGeom prst="rect">
            <a:avLst/>
          </a:prstGeom>
          <a:ln>
            <a:noFill/>
          </a:ln>
          <a:effectLst>
            <a:outerShdw blurRad="190500" algn="tl" rotWithShape="0">
              <a:srgbClr val="000000">
                <a:alpha val="70000"/>
              </a:srgbClr>
            </a:outerShdw>
          </a:effectLst>
        </p:spPr>
      </p:pic>
      <p:sp>
        <p:nvSpPr>
          <p:cNvPr id="20" name="TextBox 19">
            <a:extLst>
              <a:ext uri="{FF2B5EF4-FFF2-40B4-BE49-F238E27FC236}">
                <a16:creationId xmlns:a16="http://schemas.microsoft.com/office/drawing/2014/main" id="{37FEE9F1-09C0-8FD2-0E09-EFB93DB6C968}"/>
              </a:ext>
            </a:extLst>
          </p:cNvPr>
          <p:cNvSpPr txBox="1"/>
          <p:nvPr/>
        </p:nvSpPr>
        <p:spPr>
          <a:xfrm>
            <a:off x="750971" y="2040336"/>
            <a:ext cx="4133850" cy="4524315"/>
          </a:xfrm>
          <a:prstGeom prst="rect">
            <a:avLst/>
          </a:prstGeom>
          <a:noFill/>
        </p:spPr>
        <p:txBody>
          <a:bodyPr wrap="square">
            <a:spAutoFit/>
          </a:bodyPr>
          <a:lstStyle/>
          <a:p>
            <a:pPr>
              <a:buNone/>
            </a:pPr>
            <a:r>
              <a:rPr lang="en-GB" dirty="0" err="1">
                <a:solidFill>
                  <a:schemeClr val="tx1">
                    <a:lumMod val="65000"/>
                    <a:lumOff val="35000"/>
                  </a:schemeClr>
                </a:solidFill>
              </a:rPr>
              <a:t>Captura</a:t>
            </a:r>
            <a:r>
              <a:rPr lang="en-GB" dirty="0">
                <a:solidFill>
                  <a:schemeClr val="tx1">
                    <a:lumMod val="65000"/>
                    <a:lumOff val="35000"/>
                  </a:schemeClr>
                </a:solidFill>
              </a:rPr>
              <a:t> de </a:t>
            </a:r>
            <a:r>
              <a:rPr lang="en-GB" dirty="0" err="1">
                <a:solidFill>
                  <a:schemeClr val="tx1">
                    <a:lumMod val="65000"/>
                    <a:lumOff val="35000"/>
                  </a:schemeClr>
                </a:solidFill>
              </a:rPr>
              <a:t>ecran</a:t>
            </a:r>
            <a:r>
              <a:rPr lang="en-GB" dirty="0">
                <a:solidFill>
                  <a:schemeClr val="tx1">
                    <a:lumMod val="65000"/>
                    <a:lumOff val="35000"/>
                  </a:schemeClr>
                </a:solidFill>
              </a:rPr>
              <a:t> </a:t>
            </a:r>
            <a:r>
              <a:rPr lang="en-GB" dirty="0" err="1">
                <a:solidFill>
                  <a:schemeClr val="tx1">
                    <a:lumMod val="65000"/>
                    <a:lumOff val="35000"/>
                  </a:schemeClr>
                </a:solidFill>
              </a:rPr>
              <a:t>ilustrează</a:t>
            </a:r>
            <a:r>
              <a:rPr lang="en-GB" dirty="0">
                <a:solidFill>
                  <a:schemeClr val="tx1">
                    <a:lumMod val="65000"/>
                    <a:lumOff val="35000"/>
                  </a:schemeClr>
                </a:solidFill>
              </a:rPr>
              <a:t> </a:t>
            </a:r>
            <a:r>
              <a:rPr lang="en-GB" dirty="0" err="1">
                <a:solidFill>
                  <a:schemeClr val="tx1">
                    <a:lumMod val="65000"/>
                    <a:lumOff val="35000"/>
                  </a:schemeClr>
                </a:solidFill>
              </a:rPr>
              <a:t>utilizarea</a:t>
            </a:r>
            <a:r>
              <a:rPr lang="en-GB" dirty="0">
                <a:solidFill>
                  <a:schemeClr val="tx1">
                    <a:lumMod val="65000"/>
                    <a:lumOff val="35000"/>
                  </a:schemeClr>
                </a:solidFill>
              </a:rPr>
              <a:t> </a:t>
            </a:r>
            <a:r>
              <a:rPr lang="en-GB" dirty="0" err="1">
                <a:solidFill>
                  <a:schemeClr val="tx1">
                    <a:lumMod val="65000"/>
                    <a:lumOff val="35000"/>
                  </a:schemeClr>
                </a:solidFill>
              </a:rPr>
              <a:t>instrumentului</a:t>
            </a:r>
            <a:r>
              <a:rPr lang="en-GB" dirty="0">
                <a:solidFill>
                  <a:schemeClr val="tx1">
                    <a:lumMod val="65000"/>
                    <a:lumOff val="35000"/>
                  </a:schemeClr>
                </a:solidFill>
              </a:rPr>
              <a:t> </a:t>
            </a:r>
            <a:r>
              <a:rPr lang="en-GB" b="1" dirty="0" err="1">
                <a:solidFill>
                  <a:schemeClr val="tx1">
                    <a:lumMod val="65000"/>
                    <a:lumOff val="35000"/>
                  </a:schemeClr>
                </a:solidFill>
              </a:rPr>
              <a:t>TCPView</a:t>
            </a:r>
            <a:r>
              <a:rPr lang="en-GB" b="1" dirty="0">
                <a:solidFill>
                  <a:schemeClr val="tx1">
                    <a:lumMod val="65000"/>
                    <a:lumOff val="35000"/>
                  </a:schemeClr>
                </a:solidFill>
              </a:rPr>
              <a:t> (</a:t>
            </a:r>
            <a:r>
              <a:rPr lang="en-GB" b="1" dirty="0" err="1">
                <a:solidFill>
                  <a:schemeClr val="tx1">
                    <a:lumMod val="65000"/>
                    <a:lumOff val="35000"/>
                  </a:schemeClr>
                </a:solidFill>
              </a:rPr>
              <a:t>Sysinternals</a:t>
            </a:r>
            <a:r>
              <a:rPr lang="en-GB" b="1" dirty="0">
                <a:solidFill>
                  <a:schemeClr val="tx1">
                    <a:lumMod val="65000"/>
                    <a:lumOff val="35000"/>
                  </a:schemeClr>
                </a:solidFill>
              </a:rPr>
              <a:t>)</a:t>
            </a:r>
            <a:r>
              <a:rPr lang="en-GB" dirty="0">
                <a:solidFill>
                  <a:schemeClr val="tx1">
                    <a:lumMod val="65000"/>
                    <a:lumOff val="35000"/>
                  </a:schemeClr>
                </a:solidFill>
              </a:rPr>
              <a:t> </a:t>
            </a:r>
            <a:r>
              <a:rPr lang="en-GB" dirty="0" err="1">
                <a:solidFill>
                  <a:schemeClr val="tx1">
                    <a:lumMod val="65000"/>
                    <a:lumOff val="35000"/>
                  </a:schemeClr>
                </a:solidFill>
              </a:rPr>
              <a:t>pentru</a:t>
            </a:r>
            <a:r>
              <a:rPr lang="en-GB" dirty="0">
                <a:solidFill>
                  <a:schemeClr val="tx1">
                    <a:lumMod val="65000"/>
                    <a:lumOff val="35000"/>
                  </a:schemeClr>
                </a:solidFill>
              </a:rPr>
              <a:t> </a:t>
            </a:r>
            <a:r>
              <a:rPr lang="en-GB" dirty="0" err="1">
                <a:solidFill>
                  <a:schemeClr val="tx1">
                    <a:lumMod val="65000"/>
                    <a:lumOff val="35000"/>
                  </a:schemeClr>
                </a:solidFill>
              </a:rPr>
              <a:t>analizarea</a:t>
            </a:r>
            <a:r>
              <a:rPr lang="en-GB" dirty="0">
                <a:solidFill>
                  <a:schemeClr val="tx1">
                    <a:lumMod val="65000"/>
                    <a:lumOff val="35000"/>
                  </a:schemeClr>
                </a:solidFill>
              </a:rPr>
              <a:t> </a:t>
            </a:r>
            <a:r>
              <a:rPr lang="en-GB" dirty="0" err="1">
                <a:solidFill>
                  <a:schemeClr val="tx1">
                    <a:lumMod val="65000"/>
                    <a:lumOff val="35000"/>
                  </a:schemeClr>
                </a:solidFill>
              </a:rPr>
              <a:t>conexiunilor</a:t>
            </a:r>
            <a:r>
              <a:rPr lang="en-GB" dirty="0">
                <a:solidFill>
                  <a:schemeClr val="tx1">
                    <a:lumMod val="65000"/>
                    <a:lumOff val="35000"/>
                  </a:schemeClr>
                </a:solidFill>
              </a:rPr>
              <a:t> de </a:t>
            </a:r>
            <a:r>
              <a:rPr lang="en-GB" dirty="0" err="1">
                <a:solidFill>
                  <a:schemeClr val="tx1">
                    <a:lumMod val="65000"/>
                    <a:lumOff val="35000"/>
                  </a:schemeClr>
                </a:solidFill>
              </a:rPr>
              <a:t>rețea</a:t>
            </a:r>
            <a:r>
              <a:rPr lang="en-GB" dirty="0">
                <a:solidFill>
                  <a:schemeClr val="tx1">
                    <a:lumMod val="65000"/>
                    <a:lumOff val="35000"/>
                  </a:schemeClr>
                </a:solidFill>
              </a:rPr>
              <a:t> active </a:t>
            </a:r>
            <a:r>
              <a:rPr lang="en-GB" dirty="0" err="1">
                <a:solidFill>
                  <a:schemeClr val="tx1">
                    <a:lumMod val="65000"/>
                    <a:lumOff val="35000"/>
                  </a:schemeClr>
                </a:solidFill>
              </a:rPr>
              <a:t>într</a:t>
            </a:r>
            <a:r>
              <a:rPr lang="en-GB" dirty="0">
                <a:solidFill>
                  <a:schemeClr val="tx1">
                    <a:lumMod val="65000"/>
                    <a:lumOff val="35000"/>
                  </a:schemeClr>
                </a:solidFill>
              </a:rPr>
              <a:t>-un </a:t>
            </a:r>
            <a:r>
              <a:rPr lang="en-GB" dirty="0" err="1">
                <a:solidFill>
                  <a:schemeClr val="tx1">
                    <a:lumMod val="65000"/>
                    <a:lumOff val="35000"/>
                  </a:schemeClr>
                </a:solidFill>
              </a:rPr>
              <a:t>sistem</a:t>
            </a:r>
            <a:r>
              <a:rPr lang="en-GB" dirty="0">
                <a:solidFill>
                  <a:schemeClr val="tx1">
                    <a:lumMod val="65000"/>
                    <a:lumOff val="35000"/>
                  </a:schemeClr>
                </a:solidFill>
              </a:rPr>
              <a:t> Windows.</a:t>
            </a:r>
            <a:br>
              <a:rPr lang="en-GB" dirty="0">
                <a:solidFill>
                  <a:schemeClr val="tx1">
                    <a:lumMod val="65000"/>
                    <a:lumOff val="35000"/>
                  </a:schemeClr>
                </a:solidFill>
              </a:rPr>
            </a:br>
            <a:endParaRPr lang="en-GB" dirty="0">
              <a:solidFill>
                <a:schemeClr val="tx1">
                  <a:lumMod val="65000"/>
                  <a:lumOff val="35000"/>
                </a:schemeClr>
              </a:solidFill>
            </a:endParaRPr>
          </a:p>
          <a:p>
            <a:pPr>
              <a:buNone/>
            </a:pPr>
            <a:r>
              <a:rPr lang="en-GB" dirty="0" err="1">
                <a:solidFill>
                  <a:schemeClr val="tx1">
                    <a:lumMod val="65000"/>
                    <a:lumOff val="35000"/>
                  </a:schemeClr>
                </a:solidFill>
              </a:rPr>
              <a:t>Aplicația</a:t>
            </a:r>
            <a:r>
              <a:rPr lang="en-GB" dirty="0">
                <a:solidFill>
                  <a:schemeClr val="tx1">
                    <a:lumMod val="65000"/>
                    <a:lumOff val="35000"/>
                  </a:schemeClr>
                </a:solidFill>
              </a:rPr>
              <a:t> </a:t>
            </a:r>
            <a:r>
              <a:rPr lang="en-GB" dirty="0" err="1">
                <a:solidFill>
                  <a:schemeClr val="tx1">
                    <a:lumMod val="65000"/>
                    <a:lumOff val="35000"/>
                  </a:schemeClr>
                </a:solidFill>
              </a:rPr>
              <a:t>afișează</a:t>
            </a:r>
            <a:r>
              <a:rPr lang="en-GB" dirty="0">
                <a:solidFill>
                  <a:schemeClr val="tx1">
                    <a:lumMod val="65000"/>
                    <a:lumOff val="35000"/>
                  </a:schemeClr>
                </a:solidFill>
              </a:rPr>
              <a:t> </a:t>
            </a:r>
            <a:r>
              <a:rPr lang="en-GB" dirty="0" err="1">
                <a:solidFill>
                  <a:schemeClr val="tx1">
                    <a:lumMod val="65000"/>
                    <a:lumOff val="35000"/>
                  </a:schemeClr>
                </a:solidFill>
              </a:rPr>
              <a:t>procesele</a:t>
            </a:r>
            <a:r>
              <a:rPr lang="en-GB" dirty="0">
                <a:solidFill>
                  <a:schemeClr val="tx1">
                    <a:lumMod val="65000"/>
                    <a:lumOff val="35000"/>
                  </a:schemeClr>
                </a:solidFill>
              </a:rPr>
              <a:t> active, </a:t>
            </a:r>
            <a:r>
              <a:rPr lang="en-GB" dirty="0" err="1">
                <a:solidFill>
                  <a:schemeClr val="tx1">
                    <a:lumMod val="65000"/>
                    <a:lumOff val="35000"/>
                  </a:schemeClr>
                </a:solidFill>
              </a:rPr>
              <a:t>adresele</a:t>
            </a:r>
            <a:r>
              <a:rPr lang="en-GB" dirty="0">
                <a:solidFill>
                  <a:schemeClr val="tx1">
                    <a:lumMod val="65000"/>
                    <a:lumOff val="35000"/>
                  </a:schemeClr>
                </a:solidFill>
              </a:rPr>
              <a:t> locale </a:t>
            </a:r>
            <a:r>
              <a:rPr lang="en-GB" dirty="0" err="1">
                <a:solidFill>
                  <a:schemeClr val="tx1">
                    <a:lumMod val="65000"/>
                    <a:lumOff val="35000"/>
                  </a:schemeClr>
                </a:solidFill>
              </a:rPr>
              <a:t>și</a:t>
            </a:r>
            <a:r>
              <a:rPr lang="en-GB" dirty="0">
                <a:solidFill>
                  <a:schemeClr val="tx1">
                    <a:lumMod val="65000"/>
                    <a:lumOff val="35000"/>
                  </a:schemeClr>
                </a:solidFill>
              </a:rPr>
              <a:t> remote, </a:t>
            </a:r>
            <a:r>
              <a:rPr lang="en-GB" dirty="0" err="1">
                <a:solidFill>
                  <a:schemeClr val="tx1">
                    <a:lumMod val="65000"/>
                    <a:lumOff val="35000"/>
                  </a:schemeClr>
                </a:solidFill>
              </a:rPr>
              <a:t>porturile</a:t>
            </a:r>
            <a:r>
              <a:rPr lang="en-GB" dirty="0">
                <a:solidFill>
                  <a:schemeClr val="tx1">
                    <a:lumMod val="65000"/>
                    <a:lumOff val="35000"/>
                  </a:schemeClr>
                </a:solidFill>
              </a:rPr>
              <a:t> </a:t>
            </a:r>
            <a:r>
              <a:rPr lang="en-GB" dirty="0" err="1">
                <a:solidFill>
                  <a:schemeClr val="tx1">
                    <a:lumMod val="65000"/>
                    <a:lumOff val="35000"/>
                  </a:schemeClr>
                </a:solidFill>
              </a:rPr>
              <a:t>și</a:t>
            </a:r>
            <a:r>
              <a:rPr lang="en-GB" dirty="0">
                <a:solidFill>
                  <a:schemeClr val="tx1">
                    <a:lumMod val="65000"/>
                    <a:lumOff val="35000"/>
                  </a:schemeClr>
                </a:solidFill>
              </a:rPr>
              <a:t> </a:t>
            </a:r>
            <a:r>
              <a:rPr lang="en-GB" dirty="0" err="1">
                <a:solidFill>
                  <a:schemeClr val="tx1">
                    <a:lumMod val="65000"/>
                    <a:lumOff val="35000"/>
                  </a:schemeClr>
                </a:solidFill>
              </a:rPr>
              <a:t>starea</a:t>
            </a:r>
            <a:r>
              <a:rPr lang="en-GB" dirty="0">
                <a:solidFill>
                  <a:schemeClr val="tx1">
                    <a:lumMod val="65000"/>
                    <a:lumOff val="35000"/>
                  </a:schemeClr>
                </a:solidFill>
              </a:rPr>
              <a:t> </a:t>
            </a:r>
            <a:r>
              <a:rPr lang="en-GB" dirty="0" err="1">
                <a:solidFill>
                  <a:schemeClr val="tx1">
                    <a:lumMod val="65000"/>
                    <a:lumOff val="35000"/>
                  </a:schemeClr>
                </a:solidFill>
              </a:rPr>
              <a:t>conexiunilor</a:t>
            </a:r>
            <a:r>
              <a:rPr lang="en-GB" dirty="0">
                <a:solidFill>
                  <a:schemeClr val="tx1">
                    <a:lumMod val="65000"/>
                    <a:lumOff val="35000"/>
                  </a:schemeClr>
                </a:solidFill>
              </a:rPr>
              <a:t> (</a:t>
            </a:r>
            <a:r>
              <a:rPr lang="en-GB" i="1" dirty="0">
                <a:solidFill>
                  <a:schemeClr val="tx1">
                    <a:lumMod val="65000"/>
                    <a:lumOff val="35000"/>
                  </a:schemeClr>
                </a:solidFill>
              </a:rPr>
              <a:t>LISTEN</a:t>
            </a:r>
            <a:r>
              <a:rPr lang="en-GB" dirty="0">
                <a:solidFill>
                  <a:schemeClr val="tx1">
                    <a:lumMod val="65000"/>
                    <a:lumOff val="35000"/>
                  </a:schemeClr>
                </a:solidFill>
              </a:rPr>
              <a:t>, </a:t>
            </a:r>
            <a:r>
              <a:rPr lang="en-GB" i="1" dirty="0">
                <a:solidFill>
                  <a:schemeClr val="tx1">
                    <a:lumMod val="65000"/>
                    <a:lumOff val="35000"/>
                  </a:schemeClr>
                </a:solidFill>
              </a:rPr>
              <a:t>ESTABLISHED</a:t>
            </a:r>
            <a:r>
              <a:rPr lang="en-GB" dirty="0">
                <a:solidFill>
                  <a:schemeClr val="tx1">
                    <a:lumMod val="65000"/>
                    <a:lumOff val="35000"/>
                  </a:schemeClr>
                </a:solidFill>
              </a:rPr>
              <a:t>), </a:t>
            </a:r>
            <a:r>
              <a:rPr lang="en-GB" dirty="0" err="1">
                <a:solidFill>
                  <a:schemeClr val="tx1">
                    <a:lumMod val="65000"/>
                    <a:lumOff val="35000"/>
                  </a:schemeClr>
                </a:solidFill>
              </a:rPr>
              <a:t>permițând</a:t>
            </a:r>
            <a:r>
              <a:rPr lang="en-GB" dirty="0">
                <a:solidFill>
                  <a:schemeClr val="tx1">
                    <a:lumMod val="65000"/>
                    <a:lumOff val="35000"/>
                  </a:schemeClr>
                </a:solidFill>
              </a:rPr>
              <a:t> </a:t>
            </a:r>
            <a:r>
              <a:rPr lang="en-GB" dirty="0" err="1">
                <a:solidFill>
                  <a:schemeClr val="tx1">
                    <a:lumMod val="65000"/>
                    <a:lumOff val="35000"/>
                  </a:schemeClr>
                </a:solidFill>
              </a:rPr>
              <a:t>identificarea</a:t>
            </a:r>
            <a:r>
              <a:rPr lang="en-GB" dirty="0">
                <a:solidFill>
                  <a:schemeClr val="tx1">
                    <a:lumMod val="65000"/>
                    <a:lumOff val="35000"/>
                  </a:schemeClr>
                </a:solidFill>
              </a:rPr>
              <a:t> </a:t>
            </a:r>
            <a:r>
              <a:rPr lang="en-GB" dirty="0" err="1">
                <a:solidFill>
                  <a:schemeClr val="tx1">
                    <a:lumMod val="65000"/>
                    <a:lumOff val="35000"/>
                  </a:schemeClr>
                </a:solidFill>
              </a:rPr>
              <a:t>aplicațiilor</a:t>
            </a:r>
            <a:r>
              <a:rPr lang="en-GB" dirty="0">
                <a:solidFill>
                  <a:schemeClr val="tx1">
                    <a:lumMod val="65000"/>
                    <a:lumOff val="35000"/>
                  </a:schemeClr>
                </a:solidFill>
              </a:rPr>
              <a:t> care </a:t>
            </a:r>
            <a:r>
              <a:rPr lang="en-GB" dirty="0" err="1">
                <a:solidFill>
                  <a:schemeClr val="tx1">
                    <a:lumMod val="65000"/>
                    <a:lumOff val="35000"/>
                  </a:schemeClr>
                </a:solidFill>
              </a:rPr>
              <a:t>comunică</a:t>
            </a:r>
            <a:r>
              <a:rPr lang="en-GB" dirty="0">
                <a:solidFill>
                  <a:schemeClr val="tx1">
                    <a:lumMod val="65000"/>
                    <a:lumOff val="35000"/>
                  </a:schemeClr>
                </a:solidFill>
              </a:rPr>
              <a:t> </a:t>
            </a:r>
            <a:r>
              <a:rPr lang="en-GB" dirty="0" err="1">
                <a:solidFill>
                  <a:schemeClr val="tx1">
                    <a:lumMod val="65000"/>
                    <a:lumOff val="35000"/>
                  </a:schemeClr>
                </a:solidFill>
              </a:rPr>
              <a:t>prin</a:t>
            </a:r>
            <a:r>
              <a:rPr lang="en-GB" dirty="0">
                <a:solidFill>
                  <a:schemeClr val="tx1">
                    <a:lumMod val="65000"/>
                    <a:lumOff val="35000"/>
                  </a:schemeClr>
                </a:solidFill>
              </a:rPr>
              <a:t> </a:t>
            </a:r>
            <a:r>
              <a:rPr lang="en-GB" dirty="0" err="1">
                <a:solidFill>
                  <a:schemeClr val="tx1">
                    <a:lumMod val="65000"/>
                    <a:lumOff val="35000"/>
                  </a:schemeClr>
                </a:solidFill>
              </a:rPr>
              <a:t>rețea</a:t>
            </a:r>
            <a:r>
              <a:rPr lang="en-GB" dirty="0">
                <a:solidFill>
                  <a:schemeClr val="tx1">
                    <a:lumMod val="65000"/>
                    <a:lumOff val="35000"/>
                  </a:schemeClr>
                </a:solidFill>
              </a:rPr>
              <a:t>.</a:t>
            </a:r>
          </a:p>
          <a:p>
            <a:pPr>
              <a:buNone/>
            </a:pPr>
            <a:endParaRPr lang="en-GB" dirty="0">
              <a:solidFill>
                <a:schemeClr val="tx1">
                  <a:lumMod val="65000"/>
                  <a:lumOff val="35000"/>
                </a:schemeClr>
              </a:solidFill>
            </a:endParaRPr>
          </a:p>
          <a:p>
            <a:pPr>
              <a:buNone/>
            </a:pPr>
            <a:r>
              <a:rPr lang="en-GB" dirty="0" err="1">
                <a:solidFill>
                  <a:schemeClr val="tx1">
                    <a:lumMod val="65000"/>
                    <a:lumOff val="35000"/>
                  </a:schemeClr>
                </a:solidFill>
              </a:rPr>
              <a:t>Această</a:t>
            </a:r>
            <a:r>
              <a:rPr lang="en-GB" dirty="0">
                <a:solidFill>
                  <a:schemeClr val="tx1">
                    <a:lumMod val="65000"/>
                    <a:lumOff val="35000"/>
                  </a:schemeClr>
                </a:solidFill>
              </a:rPr>
              <a:t> </a:t>
            </a:r>
            <a:r>
              <a:rPr lang="en-GB" dirty="0" err="1">
                <a:solidFill>
                  <a:schemeClr val="tx1">
                    <a:lumMod val="65000"/>
                    <a:lumOff val="35000"/>
                  </a:schemeClr>
                </a:solidFill>
              </a:rPr>
              <a:t>monitorizare</a:t>
            </a:r>
            <a:r>
              <a:rPr lang="en-GB" dirty="0">
                <a:solidFill>
                  <a:schemeClr val="tx1">
                    <a:lumMod val="65000"/>
                    <a:lumOff val="35000"/>
                  </a:schemeClr>
                </a:solidFill>
              </a:rPr>
              <a:t> </a:t>
            </a:r>
            <a:r>
              <a:rPr lang="en-GB" dirty="0" err="1">
                <a:solidFill>
                  <a:schemeClr val="tx1">
                    <a:lumMod val="65000"/>
                    <a:lumOff val="35000"/>
                  </a:schemeClr>
                </a:solidFill>
              </a:rPr>
              <a:t>este</a:t>
            </a:r>
            <a:r>
              <a:rPr lang="en-GB" dirty="0">
                <a:solidFill>
                  <a:schemeClr val="tx1">
                    <a:lumMod val="65000"/>
                    <a:lumOff val="35000"/>
                  </a:schemeClr>
                </a:solidFill>
              </a:rPr>
              <a:t> </a:t>
            </a:r>
            <a:r>
              <a:rPr lang="en-GB" dirty="0" err="1">
                <a:solidFill>
                  <a:schemeClr val="tx1">
                    <a:lumMod val="65000"/>
                    <a:lumOff val="35000"/>
                  </a:schemeClr>
                </a:solidFill>
              </a:rPr>
              <a:t>esențială</a:t>
            </a:r>
            <a:r>
              <a:rPr lang="en-GB" dirty="0">
                <a:solidFill>
                  <a:schemeClr val="tx1">
                    <a:lumMod val="65000"/>
                    <a:lumOff val="35000"/>
                  </a:schemeClr>
                </a:solidFill>
              </a:rPr>
              <a:t> </a:t>
            </a:r>
            <a:r>
              <a:rPr lang="en-GB" dirty="0" err="1">
                <a:solidFill>
                  <a:schemeClr val="tx1">
                    <a:lumMod val="65000"/>
                    <a:lumOff val="35000"/>
                  </a:schemeClr>
                </a:solidFill>
              </a:rPr>
              <a:t>în</a:t>
            </a:r>
            <a:r>
              <a:rPr lang="en-GB" dirty="0">
                <a:solidFill>
                  <a:schemeClr val="tx1">
                    <a:lumMod val="65000"/>
                    <a:lumOff val="35000"/>
                  </a:schemeClr>
                </a:solidFill>
              </a:rPr>
              <a:t> </a:t>
            </a:r>
            <a:r>
              <a:rPr lang="en-GB" b="1" dirty="0" err="1">
                <a:solidFill>
                  <a:schemeClr val="tx1">
                    <a:lumMod val="65000"/>
                    <a:lumOff val="35000"/>
                  </a:schemeClr>
                </a:solidFill>
              </a:rPr>
              <a:t>securitate</a:t>
            </a:r>
            <a:r>
              <a:rPr lang="en-GB" b="1" dirty="0">
                <a:solidFill>
                  <a:schemeClr val="tx1">
                    <a:lumMod val="65000"/>
                    <a:lumOff val="35000"/>
                  </a:schemeClr>
                </a:solidFill>
              </a:rPr>
              <a:t> </a:t>
            </a:r>
            <a:r>
              <a:rPr lang="en-GB" b="1" dirty="0" err="1">
                <a:solidFill>
                  <a:schemeClr val="tx1">
                    <a:lumMod val="65000"/>
                    <a:lumOff val="35000"/>
                  </a:schemeClr>
                </a:solidFill>
              </a:rPr>
              <a:t>cibernetică</a:t>
            </a:r>
            <a:r>
              <a:rPr lang="en-GB" b="1" dirty="0">
                <a:solidFill>
                  <a:schemeClr val="tx1">
                    <a:lumMod val="65000"/>
                    <a:lumOff val="35000"/>
                  </a:schemeClr>
                </a:solidFill>
              </a:rPr>
              <a:t> </a:t>
            </a:r>
            <a:r>
              <a:rPr lang="en-GB" b="1" dirty="0" err="1">
                <a:solidFill>
                  <a:schemeClr val="tx1">
                    <a:lumMod val="65000"/>
                    <a:lumOff val="35000"/>
                  </a:schemeClr>
                </a:solidFill>
              </a:rPr>
              <a:t>și</a:t>
            </a:r>
            <a:r>
              <a:rPr lang="en-GB" b="1" dirty="0">
                <a:solidFill>
                  <a:schemeClr val="tx1">
                    <a:lumMod val="65000"/>
                    <a:lumOff val="35000"/>
                  </a:schemeClr>
                </a:solidFill>
              </a:rPr>
              <a:t> </a:t>
            </a:r>
            <a:r>
              <a:rPr lang="en-GB" b="1" dirty="0" err="1">
                <a:solidFill>
                  <a:schemeClr val="tx1">
                    <a:lumMod val="65000"/>
                    <a:lumOff val="35000"/>
                  </a:schemeClr>
                </a:solidFill>
              </a:rPr>
              <a:t>analiza</a:t>
            </a:r>
            <a:r>
              <a:rPr lang="en-GB" b="1" dirty="0">
                <a:solidFill>
                  <a:schemeClr val="tx1">
                    <a:lumMod val="65000"/>
                    <a:lumOff val="35000"/>
                  </a:schemeClr>
                </a:solidFill>
              </a:rPr>
              <a:t> malware</a:t>
            </a:r>
            <a:r>
              <a:rPr lang="en-GB" dirty="0">
                <a:solidFill>
                  <a:schemeClr val="tx1">
                    <a:lumMod val="65000"/>
                    <a:lumOff val="35000"/>
                  </a:schemeClr>
                </a:solidFill>
              </a:rPr>
              <a:t>, </a:t>
            </a:r>
            <a:r>
              <a:rPr lang="en-GB" dirty="0" err="1">
                <a:solidFill>
                  <a:schemeClr val="tx1">
                    <a:lumMod val="65000"/>
                    <a:lumOff val="35000"/>
                  </a:schemeClr>
                </a:solidFill>
              </a:rPr>
              <a:t>deoarece</a:t>
            </a:r>
            <a:r>
              <a:rPr lang="en-GB" dirty="0">
                <a:solidFill>
                  <a:schemeClr val="tx1">
                    <a:lumMod val="65000"/>
                    <a:lumOff val="35000"/>
                  </a:schemeClr>
                </a:solidFill>
              </a:rPr>
              <a:t> </a:t>
            </a:r>
            <a:r>
              <a:rPr lang="en-GB" dirty="0" err="1">
                <a:solidFill>
                  <a:schemeClr val="tx1">
                    <a:lumMod val="65000"/>
                    <a:lumOff val="35000"/>
                  </a:schemeClr>
                </a:solidFill>
              </a:rPr>
              <a:t>ajută</a:t>
            </a:r>
            <a:r>
              <a:rPr lang="en-GB" dirty="0">
                <a:solidFill>
                  <a:schemeClr val="tx1">
                    <a:lumMod val="65000"/>
                    <a:lumOff val="35000"/>
                  </a:schemeClr>
                </a:solidFill>
              </a:rPr>
              <a:t> la </a:t>
            </a:r>
            <a:r>
              <a:rPr lang="en-GB" dirty="0" err="1">
                <a:solidFill>
                  <a:schemeClr val="tx1">
                    <a:lumMod val="65000"/>
                    <a:lumOff val="35000"/>
                  </a:schemeClr>
                </a:solidFill>
              </a:rPr>
              <a:t>detectarea</a:t>
            </a:r>
            <a:r>
              <a:rPr lang="en-GB" dirty="0">
                <a:solidFill>
                  <a:schemeClr val="tx1">
                    <a:lumMod val="65000"/>
                    <a:lumOff val="35000"/>
                  </a:schemeClr>
                </a:solidFill>
              </a:rPr>
              <a:t> </a:t>
            </a:r>
            <a:r>
              <a:rPr lang="en-GB" dirty="0" err="1">
                <a:solidFill>
                  <a:schemeClr val="tx1">
                    <a:lumMod val="65000"/>
                    <a:lumOff val="35000"/>
                  </a:schemeClr>
                </a:solidFill>
              </a:rPr>
              <a:t>proceselor</a:t>
            </a:r>
            <a:r>
              <a:rPr lang="en-GB" dirty="0">
                <a:solidFill>
                  <a:schemeClr val="tx1">
                    <a:lumMod val="65000"/>
                    <a:lumOff val="35000"/>
                  </a:schemeClr>
                </a:solidFill>
              </a:rPr>
              <a:t> </a:t>
            </a:r>
            <a:r>
              <a:rPr lang="en-GB" dirty="0" err="1">
                <a:solidFill>
                  <a:schemeClr val="tx1">
                    <a:lumMod val="65000"/>
                    <a:lumOff val="35000"/>
                  </a:schemeClr>
                </a:solidFill>
              </a:rPr>
              <a:t>suspecte</a:t>
            </a:r>
            <a:r>
              <a:rPr lang="en-GB" dirty="0">
                <a:solidFill>
                  <a:schemeClr val="tx1">
                    <a:lumMod val="65000"/>
                    <a:lumOff val="35000"/>
                  </a:schemeClr>
                </a:solidFill>
              </a:rPr>
              <a:t> care </a:t>
            </a:r>
            <a:r>
              <a:rPr lang="en-GB" dirty="0" err="1">
                <a:solidFill>
                  <a:schemeClr val="tx1">
                    <a:lumMod val="65000"/>
                    <a:lumOff val="35000"/>
                  </a:schemeClr>
                </a:solidFill>
              </a:rPr>
              <a:t>inițiază</a:t>
            </a:r>
            <a:r>
              <a:rPr lang="en-GB" dirty="0">
                <a:solidFill>
                  <a:schemeClr val="tx1">
                    <a:lumMod val="65000"/>
                    <a:lumOff val="35000"/>
                  </a:schemeClr>
                </a:solidFill>
              </a:rPr>
              <a:t> </a:t>
            </a:r>
            <a:r>
              <a:rPr lang="en-GB" dirty="0" err="1">
                <a:solidFill>
                  <a:schemeClr val="tx1">
                    <a:lumMod val="65000"/>
                    <a:lumOff val="35000"/>
                  </a:schemeClr>
                </a:solidFill>
              </a:rPr>
              <a:t>conexiuni</a:t>
            </a:r>
            <a:r>
              <a:rPr lang="en-GB" dirty="0">
                <a:solidFill>
                  <a:schemeClr val="tx1">
                    <a:lumMod val="65000"/>
                    <a:lumOff val="35000"/>
                  </a:schemeClr>
                </a:solidFill>
              </a:rPr>
              <a:t> externe </a:t>
            </a:r>
            <a:r>
              <a:rPr lang="en-GB" dirty="0" err="1">
                <a:solidFill>
                  <a:schemeClr val="tx1">
                    <a:lumMod val="65000"/>
                    <a:lumOff val="35000"/>
                  </a:schemeClr>
                </a:solidFill>
              </a:rPr>
              <a:t>neașteptate</a:t>
            </a:r>
            <a:r>
              <a:rPr lang="en-GB" dirty="0">
                <a:solidFill>
                  <a:schemeClr val="tx1">
                    <a:lumMod val="65000"/>
                    <a:lumOff val="35000"/>
                  </a:schemeClr>
                </a:solidFill>
              </a:rPr>
              <a:t>.</a:t>
            </a:r>
          </a:p>
        </p:txBody>
      </p:sp>
      <p:sp>
        <p:nvSpPr>
          <p:cNvPr id="22" name="TextBox 21">
            <a:extLst>
              <a:ext uri="{FF2B5EF4-FFF2-40B4-BE49-F238E27FC236}">
                <a16:creationId xmlns:a16="http://schemas.microsoft.com/office/drawing/2014/main" id="{762A5EF3-D733-6376-E759-3FC1B2ADC654}"/>
              </a:ext>
            </a:extLst>
          </p:cNvPr>
          <p:cNvSpPr txBox="1"/>
          <p:nvPr/>
        </p:nvSpPr>
        <p:spPr>
          <a:xfrm>
            <a:off x="10047117" y="735821"/>
            <a:ext cx="1693779" cy="923330"/>
          </a:xfrm>
          <a:prstGeom prst="rect">
            <a:avLst/>
          </a:prstGeom>
          <a:noFill/>
        </p:spPr>
        <p:txBody>
          <a:bodyPr wrap="square">
            <a:spAutoFit/>
          </a:bodyPr>
          <a:lstStyle/>
          <a:p>
            <a:r>
              <a:rPr lang="en-GB" dirty="0">
                <a:solidFill>
                  <a:schemeClr val="bg1">
                    <a:lumMod val="95000"/>
                  </a:schemeClr>
                </a:solidFill>
              </a:rPr>
              <a:t>tcpview.exe</a:t>
            </a:r>
          </a:p>
          <a:p>
            <a:r>
              <a:rPr lang="en-GB" dirty="0">
                <a:solidFill>
                  <a:schemeClr val="bg1">
                    <a:lumMod val="95000"/>
                  </a:schemeClr>
                </a:solidFill>
              </a:rPr>
              <a:t>tcpview64.exe</a:t>
            </a:r>
          </a:p>
          <a:p>
            <a:r>
              <a:rPr lang="en-GB" dirty="0">
                <a:solidFill>
                  <a:schemeClr val="bg1">
                    <a:lumMod val="95000"/>
                  </a:schemeClr>
                </a:solidFill>
              </a:rPr>
              <a:t>tcpview64a.exe</a:t>
            </a:r>
          </a:p>
        </p:txBody>
      </p:sp>
      <p:grpSp>
        <p:nvGrpSpPr>
          <p:cNvPr id="25" name="Group 24">
            <a:extLst>
              <a:ext uri="{FF2B5EF4-FFF2-40B4-BE49-F238E27FC236}">
                <a16:creationId xmlns:a16="http://schemas.microsoft.com/office/drawing/2014/main" id="{172F5EDE-3B8E-4531-DADE-A9C39170412A}"/>
              </a:ext>
            </a:extLst>
          </p:cNvPr>
          <p:cNvGrpSpPr/>
          <p:nvPr/>
        </p:nvGrpSpPr>
        <p:grpSpPr>
          <a:xfrm rot="18716474">
            <a:off x="6059885" y="1808357"/>
            <a:ext cx="894645" cy="463958"/>
            <a:chOff x="7314482" y="2750399"/>
            <a:chExt cx="894645" cy="463958"/>
          </a:xfrm>
        </p:grpSpPr>
        <p:sp>
          <p:nvSpPr>
            <p:cNvPr id="23" name="Right Arrow 6">
              <a:extLst>
                <a:ext uri="{FF2B5EF4-FFF2-40B4-BE49-F238E27FC236}">
                  <a16:creationId xmlns:a16="http://schemas.microsoft.com/office/drawing/2014/main" id="{8272CF37-1059-2F8F-AA5B-B8DAAD38E45E}"/>
                </a:ext>
              </a:extLst>
            </p:cNvPr>
            <p:cNvSpPr/>
            <p:nvPr/>
          </p:nvSpPr>
          <p:spPr>
            <a:xfrm rot="10800000">
              <a:off x="7314482" y="2848207"/>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4" name="Oval 23">
              <a:extLst>
                <a:ext uri="{FF2B5EF4-FFF2-40B4-BE49-F238E27FC236}">
                  <a16:creationId xmlns:a16="http://schemas.microsoft.com/office/drawing/2014/main" id="{2E5FEC3A-BD87-4B90-6815-E2A4DC7B515C}"/>
                </a:ext>
              </a:extLst>
            </p:cNvPr>
            <p:cNvSpPr/>
            <p:nvPr/>
          </p:nvSpPr>
          <p:spPr>
            <a:xfrm rot="2883526">
              <a:off x="7755524" y="276075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29" name="Group 28">
            <a:extLst>
              <a:ext uri="{FF2B5EF4-FFF2-40B4-BE49-F238E27FC236}">
                <a16:creationId xmlns:a16="http://schemas.microsoft.com/office/drawing/2014/main" id="{FB8D23BC-0DDB-5992-C94A-87EEC9F684B0}"/>
              </a:ext>
            </a:extLst>
          </p:cNvPr>
          <p:cNvGrpSpPr/>
          <p:nvPr/>
        </p:nvGrpSpPr>
        <p:grpSpPr>
          <a:xfrm rot="8271384">
            <a:off x="4946070" y="2642459"/>
            <a:ext cx="905000" cy="443249"/>
            <a:chOff x="7314482" y="2760753"/>
            <a:chExt cx="905000" cy="443249"/>
          </a:xfrm>
        </p:grpSpPr>
        <p:sp>
          <p:nvSpPr>
            <p:cNvPr id="30" name="Right Arrow 6">
              <a:extLst>
                <a:ext uri="{FF2B5EF4-FFF2-40B4-BE49-F238E27FC236}">
                  <a16:creationId xmlns:a16="http://schemas.microsoft.com/office/drawing/2014/main" id="{7CCC1315-977E-2C65-AFBF-7568A4030EE7}"/>
                </a:ext>
              </a:extLst>
            </p:cNvPr>
            <p:cNvSpPr/>
            <p:nvPr/>
          </p:nvSpPr>
          <p:spPr>
            <a:xfrm rot="10800000">
              <a:off x="7314482" y="2848207"/>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Oval 30">
              <a:extLst>
                <a:ext uri="{FF2B5EF4-FFF2-40B4-BE49-F238E27FC236}">
                  <a16:creationId xmlns:a16="http://schemas.microsoft.com/office/drawing/2014/main" id="{5E6CB94F-E284-03B2-C5C6-772F62652285}"/>
                </a:ext>
              </a:extLst>
            </p:cNvPr>
            <p:cNvSpPr/>
            <p:nvPr/>
          </p:nvSpPr>
          <p:spPr>
            <a:xfrm rot="13328616">
              <a:off x="7755524" y="276075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dirty="0">
                  <a:solidFill>
                    <a:prstClr val="white"/>
                  </a:solidFill>
                  <a:latin typeface="Calibri" panose="020F0502020204030204"/>
                </a:rPr>
                <a:t>3</a:t>
              </a:r>
            </a:p>
          </p:txBody>
        </p:sp>
      </p:grpSp>
      <p:grpSp>
        <p:nvGrpSpPr>
          <p:cNvPr id="38" name="Group 37">
            <a:extLst>
              <a:ext uri="{FF2B5EF4-FFF2-40B4-BE49-F238E27FC236}">
                <a16:creationId xmlns:a16="http://schemas.microsoft.com/office/drawing/2014/main" id="{67932540-AF3C-8595-87CD-5BCBE52C792B}"/>
              </a:ext>
            </a:extLst>
          </p:cNvPr>
          <p:cNvGrpSpPr/>
          <p:nvPr/>
        </p:nvGrpSpPr>
        <p:grpSpPr>
          <a:xfrm rot="18716474">
            <a:off x="6760362" y="1808357"/>
            <a:ext cx="894645" cy="463958"/>
            <a:chOff x="7314482" y="2750399"/>
            <a:chExt cx="894645" cy="463958"/>
          </a:xfrm>
        </p:grpSpPr>
        <p:sp>
          <p:nvSpPr>
            <p:cNvPr id="39" name="Right Arrow 6">
              <a:extLst>
                <a:ext uri="{FF2B5EF4-FFF2-40B4-BE49-F238E27FC236}">
                  <a16:creationId xmlns:a16="http://schemas.microsoft.com/office/drawing/2014/main" id="{17E19B0E-8E20-30A2-A69F-30D869143FB9}"/>
                </a:ext>
              </a:extLst>
            </p:cNvPr>
            <p:cNvSpPr/>
            <p:nvPr/>
          </p:nvSpPr>
          <p:spPr>
            <a:xfrm rot="10800000">
              <a:off x="7314482" y="2848207"/>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0" name="Oval 39">
              <a:extLst>
                <a:ext uri="{FF2B5EF4-FFF2-40B4-BE49-F238E27FC236}">
                  <a16:creationId xmlns:a16="http://schemas.microsoft.com/office/drawing/2014/main" id="{0491D1A3-B205-BAA7-39D0-CE00796F383B}"/>
                </a:ext>
              </a:extLst>
            </p:cNvPr>
            <p:cNvSpPr/>
            <p:nvPr/>
          </p:nvSpPr>
          <p:spPr>
            <a:xfrm rot="2883526">
              <a:off x="7755524" y="276075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dirty="0">
                  <a:solidFill>
                    <a:prstClr val="white"/>
                  </a:solidFill>
                  <a:latin typeface="Calibri" panose="020F0502020204030204"/>
                </a:rPr>
                <a:t>2</a:t>
              </a:r>
            </a:p>
          </p:txBody>
        </p:sp>
      </p:grpSp>
    </p:spTree>
    <p:extLst>
      <p:ext uri="{BB962C8B-B14F-4D97-AF65-F5344CB8AC3E}">
        <p14:creationId xmlns:p14="http://schemas.microsoft.com/office/powerpoint/2010/main" val="165644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2F2FC-274F-139F-E7CB-7CE461D5C145}"/>
            </a:ext>
          </a:extLst>
        </p:cNvPr>
        <p:cNvGrpSpPr/>
        <p:nvPr/>
      </p:nvGrpSpPr>
      <p:grpSpPr>
        <a:xfrm>
          <a:off x="0" y="0"/>
          <a:ext cx="0" cy="0"/>
          <a:chOff x="0" y="0"/>
          <a:chExt cx="0" cy="0"/>
        </a:xfrm>
      </p:grpSpPr>
      <p:sp>
        <p:nvSpPr>
          <p:cNvPr id="9" name="Flowchart: Process 8">
            <a:extLst>
              <a:ext uri="{FF2B5EF4-FFF2-40B4-BE49-F238E27FC236}">
                <a16:creationId xmlns:a16="http://schemas.microsoft.com/office/drawing/2014/main" id="{A6E40804-C37D-DEB4-903F-5276AC85AB04}"/>
              </a:ext>
            </a:extLst>
          </p:cNvPr>
          <p:cNvSpPr/>
          <p:nvPr/>
        </p:nvSpPr>
        <p:spPr>
          <a:xfrm>
            <a:off x="451104" y="1871472"/>
            <a:ext cx="11289792" cy="4870704"/>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65C595-9C77-CBAB-9B05-9190ACE8B7FB}"/>
              </a:ext>
            </a:extLst>
          </p:cNvPr>
          <p:cNvSpPr>
            <a:spLocks noGrp="1"/>
          </p:cNvSpPr>
          <p:nvPr>
            <p:ph type="title"/>
          </p:nvPr>
        </p:nvSpPr>
        <p:spPr>
          <a:xfrm>
            <a:off x="581192" y="702156"/>
            <a:ext cx="11071058" cy="1013800"/>
          </a:xfrm>
        </p:spPr>
        <p:txBody>
          <a:bodyPr>
            <a:normAutofit/>
          </a:bodyPr>
          <a:lstStyle/>
          <a:p>
            <a:r>
              <a:rPr lang="pt-BR" sz="1600" dirty="0"/>
              <a:t>Exemplu de monitorizare a conexiunilor de rețea</a:t>
            </a:r>
            <a:br>
              <a:rPr lang="en-US" sz="1600" dirty="0"/>
            </a:br>
            <a:r>
              <a:rPr lang="en-US" dirty="0" err="1"/>
              <a:t>tcpview</a:t>
            </a:r>
            <a:r>
              <a:rPr lang="en-US" dirty="0"/>
              <a:t> (II)</a:t>
            </a:r>
            <a:br>
              <a:rPr lang="en-US" dirty="0"/>
            </a:br>
            <a:endParaRPr lang="en-US" sz="1600" dirty="0"/>
          </a:p>
        </p:txBody>
      </p:sp>
      <p:pic>
        <p:nvPicPr>
          <p:cNvPr id="14" name="Picture 13">
            <a:extLst>
              <a:ext uri="{FF2B5EF4-FFF2-40B4-BE49-F238E27FC236}">
                <a16:creationId xmlns:a16="http://schemas.microsoft.com/office/drawing/2014/main" id="{F2ADD93C-9581-BA48-E538-20F71AC619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594" y="2042541"/>
            <a:ext cx="6376782" cy="4504309"/>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9D7CEC91-487B-24DF-A1A2-19847B01DA79}"/>
              </a:ext>
            </a:extLst>
          </p:cNvPr>
          <p:cNvSpPr txBox="1"/>
          <p:nvPr/>
        </p:nvSpPr>
        <p:spPr>
          <a:xfrm>
            <a:off x="7277578" y="1404425"/>
            <a:ext cx="4417698" cy="4832092"/>
          </a:xfrm>
          <a:prstGeom prst="rect">
            <a:avLst/>
          </a:prstGeom>
          <a:noFill/>
        </p:spPr>
        <p:txBody>
          <a:bodyPr wrap="square">
            <a:spAutoFit/>
          </a:bodyPr>
          <a:lstStyle/>
          <a:p>
            <a:pPr>
              <a:buNone/>
            </a:pPr>
            <a:r>
              <a:rPr lang="en-GB" dirty="0" err="1">
                <a:solidFill>
                  <a:schemeClr val="bg1"/>
                </a:solidFill>
              </a:rPr>
              <a:t>Instrumentul</a:t>
            </a:r>
            <a:r>
              <a:rPr lang="en-GB" dirty="0">
                <a:solidFill>
                  <a:schemeClr val="bg1"/>
                </a:solidFill>
              </a:rPr>
              <a:t> </a:t>
            </a:r>
            <a:r>
              <a:rPr lang="en-GB" b="1" dirty="0" err="1">
                <a:solidFill>
                  <a:schemeClr val="bg1"/>
                </a:solidFill>
              </a:rPr>
              <a:t>TCPView</a:t>
            </a:r>
            <a:r>
              <a:rPr lang="en-GB" b="1" dirty="0">
                <a:solidFill>
                  <a:schemeClr val="bg1"/>
                </a:solidFill>
              </a:rPr>
              <a:t> (</a:t>
            </a:r>
            <a:r>
              <a:rPr lang="en-GB" b="1" dirty="0" err="1">
                <a:solidFill>
                  <a:schemeClr val="bg1"/>
                </a:solidFill>
              </a:rPr>
              <a:t>Sysinternals</a:t>
            </a:r>
            <a:r>
              <a:rPr lang="en-GB" b="1" dirty="0">
                <a:solidFill>
                  <a:schemeClr val="bg1"/>
                </a:solidFill>
              </a:rPr>
              <a:t>)</a:t>
            </a:r>
            <a:r>
              <a:rPr lang="en-GB" dirty="0">
                <a:solidFill>
                  <a:schemeClr val="bg1"/>
                </a:solidFill>
              </a:rPr>
              <a:t> </a:t>
            </a:r>
          </a:p>
          <a:p>
            <a:pPr>
              <a:buNone/>
            </a:pPr>
            <a:endParaRPr lang="en-GB" dirty="0">
              <a:solidFill>
                <a:schemeClr val="bg1"/>
              </a:solidFill>
            </a:endParaRPr>
          </a:p>
          <a:p>
            <a:pPr>
              <a:buNone/>
            </a:pPr>
            <a:r>
              <a:rPr lang="en-GB" dirty="0" err="1">
                <a:solidFill>
                  <a:schemeClr val="tx1">
                    <a:lumMod val="75000"/>
                    <a:lumOff val="25000"/>
                  </a:schemeClr>
                </a:solidFill>
              </a:rPr>
              <a:t>permite</a:t>
            </a:r>
            <a:r>
              <a:rPr lang="en-GB" dirty="0">
                <a:solidFill>
                  <a:schemeClr val="tx1">
                    <a:lumMod val="75000"/>
                    <a:lumOff val="25000"/>
                  </a:schemeClr>
                </a:solidFill>
              </a:rPr>
              <a:t> </a:t>
            </a:r>
            <a:r>
              <a:rPr lang="en-GB" dirty="0" err="1">
                <a:solidFill>
                  <a:schemeClr val="tx1">
                    <a:lumMod val="75000"/>
                    <a:lumOff val="25000"/>
                  </a:schemeClr>
                </a:solidFill>
              </a:rPr>
              <a:t>monitorizarea</a:t>
            </a:r>
            <a:r>
              <a:rPr lang="en-GB" dirty="0">
                <a:solidFill>
                  <a:schemeClr val="tx1">
                    <a:lumMod val="75000"/>
                    <a:lumOff val="25000"/>
                  </a:schemeClr>
                </a:solidFill>
              </a:rPr>
              <a:t> </a:t>
            </a:r>
            <a:r>
              <a:rPr lang="en-GB" dirty="0" err="1">
                <a:solidFill>
                  <a:schemeClr val="tx1">
                    <a:lumMod val="75000"/>
                    <a:lumOff val="25000"/>
                  </a:schemeClr>
                </a:solidFill>
              </a:rPr>
              <a:t>în</a:t>
            </a:r>
            <a:r>
              <a:rPr lang="en-GB" dirty="0">
                <a:solidFill>
                  <a:schemeClr val="tx1">
                    <a:lumMod val="75000"/>
                    <a:lumOff val="25000"/>
                  </a:schemeClr>
                </a:solidFill>
              </a:rPr>
              <a:t> </a:t>
            </a:r>
            <a:r>
              <a:rPr lang="en-GB" dirty="0" err="1">
                <a:solidFill>
                  <a:schemeClr val="tx1">
                    <a:lumMod val="75000"/>
                    <a:lumOff val="25000"/>
                  </a:schemeClr>
                </a:solidFill>
              </a:rPr>
              <a:t>timp</a:t>
            </a:r>
            <a:r>
              <a:rPr lang="en-GB" dirty="0">
                <a:solidFill>
                  <a:schemeClr val="tx1">
                    <a:lumMod val="75000"/>
                    <a:lumOff val="25000"/>
                  </a:schemeClr>
                </a:solidFill>
              </a:rPr>
              <a:t> real a </a:t>
            </a:r>
            <a:r>
              <a:rPr lang="en-GB" dirty="0" err="1">
                <a:solidFill>
                  <a:schemeClr val="tx1">
                    <a:lumMod val="75000"/>
                    <a:lumOff val="25000"/>
                  </a:schemeClr>
                </a:solidFill>
              </a:rPr>
              <a:t>conexiunilor</a:t>
            </a:r>
            <a:r>
              <a:rPr lang="en-GB" dirty="0">
                <a:solidFill>
                  <a:schemeClr val="tx1">
                    <a:lumMod val="75000"/>
                    <a:lumOff val="25000"/>
                  </a:schemeClr>
                </a:solidFill>
              </a:rPr>
              <a:t> TCP </a:t>
            </a:r>
            <a:r>
              <a:rPr lang="en-GB" dirty="0" err="1">
                <a:solidFill>
                  <a:schemeClr val="tx1">
                    <a:lumMod val="75000"/>
                    <a:lumOff val="25000"/>
                  </a:schemeClr>
                </a:solidFill>
              </a:rPr>
              <a:t>și</a:t>
            </a:r>
            <a:r>
              <a:rPr lang="en-GB" dirty="0">
                <a:solidFill>
                  <a:schemeClr val="tx1">
                    <a:lumMod val="75000"/>
                    <a:lumOff val="25000"/>
                  </a:schemeClr>
                </a:solidFill>
              </a:rPr>
              <a:t> UDP </a:t>
            </a:r>
            <a:r>
              <a:rPr lang="en-GB" dirty="0" err="1">
                <a:solidFill>
                  <a:schemeClr val="tx1">
                    <a:lumMod val="75000"/>
                    <a:lumOff val="25000"/>
                  </a:schemeClr>
                </a:solidFill>
              </a:rPr>
              <a:t>dintr</a:t>
            </a:r>
            <a:r>
              <a:rPr lang="en-GB" dirty="0">
                <a:solidFill>
                  <a:schemeClr val="tx1">
                    <a:lumMod val="75000"/>
                    <a:lumOff val="25000"/>
                  </a:schemeClr>
                </a:solidFill>
              </a:rPr>
              <a:t>-un </a:t>
            </a:r>
            <a:r>
              <a:rPr lang="en-GB" dirty="0" err="1">
                <a:solidFill>
                  <a:schemeClr val="tx1">
                    <a:lumMod val="75000"/>
                    <a:lumOff val="25000"/>
                  </a:schemeClr>
                </a:solidFill>
              </a:rPr>
              <a:t>sistem</a:t>
            </a:r>
            <a:r>
              <a:rPr lang="en-GB" dirty="0">
                <a:solidFill>
                  <a:schemeClr val="tx1">
                    <a:lumMod val="75000"/>
                    <a:lumOff val="25000"/>
                  </a:schemeClr>
                </a:solidFill>
              </a:rPr>
              <a:t> Windows. </a:t>
            </a:r>
            <a:r>
              <a:rPr lang="en-GB" dirty="0" err="1">
                <a:solidFill>
                  <a:schemeClr val="tx1">
                    <a:lumMod val="75000"/>
                    <a:lumOff val="25000"/>
                  </a:schemeClr>
                </a:solidFill>
              </a:rPr>
              <a:t>În</a:t>
            </a:r>
            <a:r>
              <a:rPr lang="en-GB" dirty="0">
                <a:solidFill>
                  <a:schemeClr val="tx1">
                    <a:lumMod val="75000"/>
                    <a:lumOff val="25000"/>
                  </a:schemeClr>
                </a:solidFill>
              </a:rPr>
              <a:t> </a:t>
            </a:r>
            <a:r>
              <a:rPr lang="en-GB" dirty="0" err="1">
                <a:solidFill>
                  <a:schemeClr val="tx1">
                    <a:lumMod val="75000"/>
                    <a:lumOff val="25000"/>
                  </a:schemeClr>
                </a:solidFill>
              </a:rPr>
              <a:t>această</a:t>
            </a:r>
            <a:r>
              <a:rPr lang="en-GB" dirty="0">
                <a:solidFill>
                  <a:schemeClr val="tx1">
                    <a:lumMod val="75000"/>
                    <a:lumOff val="25000"/>
                  </a:schemeClr>
                </a:solidFill>
              </a:rPr>
              <a:t> </a:t>
            </a:r>
            <a:r>
              <a:rPr lang="en-GB" dirty="0" err="1">
                <a:solidFill>
                  <a:schemeClr val="tx1">
                    <a:lumMod val="75000"/>
                    <a:lumOff val="25000"/>
                  </a:schemeClr>
                </a:solidFill>
              </a:rPr>
              <a:t>captură</a:t>
            </a:r>
            <a:r>
              <a:rPr lang="en-GB" dirty="0">
                <a:solidFill>
                  <a:schemeClr val="tx1">
                    <a:lumMod val="75000"/>
                    <a:lumOff val="25000"/>
                  </a:schemeClr>
                </a:solidFill>
              </a:rPr>
              <a:t> se pot </a:t>
            </a:r>
            <a:r>
              <a:rPr lang="en-GB" dirty="0" err="1">
                <a:solidFill>
                  <a:schemeClr val="tx1">
                    <a:lumMod val="75000"/>
                    <a:lumOff val="25000"/>
                  </a:schemeClr>
                </a:solidFill>
              </a:rPr>
              <a:t>observa</a:t>
            </a:r>
            <a:r>
              <a:rPr lang="en-GB" dirty="0">
                <a:solidFill>
                  <a:schemeClr val="tx1">
                    <a:lumMod val="75000"/>
                    <a:lumOff val="25000"/>
                  </a:schemeClr>
                </a:solidFill>
              </a:rPr>
              <a:t>:</a:t>
            </a:r>
          </a:p>
          <a:p>
            <a:pPr>
              <a:buNone/>
            </a:pPr>
            <a:endParaRPr lang="en-GB" dirty="0">
              <a:solidFill>
                <a:schemeClr val="tx1">
                  <a:lumMod val="75000"/>
                  <a:lumOff val="25000"/>
                </a:schemeClr>
              </a:solidFill>
            </a:endParaRPr>
          </a:p>
          <a:p>
            <a:pPr marL="285750" indent="-285750">
              <a:buFont typeface="Wingdings" panose="05000000000000000000" pitchFamily="2" charset="2"/>
              <a:buChar char="Ø"/>
            </a:pPr>
            <a:r>
              <a:rPr lang="en-GB" sz="1600" dirty="0" err="1">
                <a:solidFill>
                  <a:schemeClr val="tx1">
                    <a:lumMod val="75000"/>
                    <a:lumOff val="25000"/>
                  </a:schemeClr>
                </a:solidFill>
              </a:rPr>
              <a:t>procesele</a:t>
            </a:r>
            <a:r>
              <a:rPr lang="en-GB" sz="1600" dirty="0">
                <a:solidFill>
                  <a:schemeClr val="tx1">
                    <a:lumMod val="75000"/>
                    <a:lumOff val="25000"/>
                  </a:schemeClr>
                </a:solidFill>
              </a:rPr>
              <a:t> active care </a:t>
            </a:r>
            <a:r>
              <a:rPr lang="en-GB" sz="1600" dirty="0" err="1">
                <a:solidFill>
                  <a:schemeClr val="tx1">
                    <a:lumMod val="75000"/>
                    <a:lumOff val="25000"/>
                  </a:schemeClr>
                </a:solidFill>
              </a:rPr>
              <a:t>comunică</a:t>
            </a:r>
            <a:r>
              <a:rPr lang="en-GB" sz="1600" dirty="0">
                <a:solidFill>
                  <a:schemeClr val="tx1">
                    <a:lumMod val="75000"/>
                    <a:lumOff val="25000"/>
                  </a:schemeClr>
                </a:solidFill>
              </a:rPr>
              <a:t> </a:t>
            </a:r>
            <a:r>
              <a:rPr lang="en-GB" sz="1600" dirty="0" err="1">
                <a:solidFill>
                  <a:schemeClr val="tx1">
                    <a:lumMod val="75000"/>
                    <a:lumOff val="25000"/>
                  </a:schemeClr>
                </a:solidFill>
              </a:rPr>
              <a:t>prin</a:t>
            </a:r>
            <a:r>
              <a:rPr lang="en-GB" sz="1600" dirty="0">
                <a:solidFill>
                  <a:schemeClr val="tx1">
                    <a:lumMod val="75000"/>
                    <a:lumOff val="25000"/>
                  </a:schemeClr>
                </a:solidFill>
              </a:rPr>
              <a:t> </a:t>
            </a:r>
            <a:r>
              <a:rPr lang="en-GB" sz="1600" dirty="0" err="1">
                <a:solidFill>
                  <a:schemeClr val="tx1">
                    <a:lumMod val="75000"/>
                    <a:lumOff val="25000"/>
                  </a:schemeClr>
                </a:solidFill>
              </a:rPr>
              <a:t>rețea</a:t>
            </a:r>
            <a:r>
              <a:rPr lang="en-GB" sz="1600" dirty="0">
                <a:solidFill>
                  <a:schemeClr val="tx1">
                    <a:lumMod val="75000"/>
                    <a:lumOff val="25000"/>
                  </a:schemeClr>
                </a:solidFill>
              </a:rPr>
              <a:t> (ex. </a:t>
            </a:r>
            <a:r>
              <a:rPr lang="en-GB" sz="1600" i="1" dirty="0">
                <a:solidFill>
                  <a:schemeClr val="tx1">
                    <a:lumMod val="75000"/>
                    <a:lumOff val="25000"/>
                  </a:schemeClr>
                </a:solidFill>
              </a:rPr>
              <a:t>opera.exe</a:t>
            </a:r>
            <a:r>
              <a:rPr lang="en-GB" sz="1600" dirty="0">
                <a:solidFill>
                  <a:schemeClr val="tx1">
                    <a:lumMod val="75000"/>
                    <a:lumOff val="25000"/>
                  </a:schemeClr>
                </a:solidFill>
              </a:rPr>
              <a:t>, </a:t>
            </a:r>
            <a:r>
              <a:rPr lang="en-GB" sz="1600" i="1" dirty="0">
                <a:solidFill>
                  <a:schemeClr val="tx1">
                    <a:lumMod val="75000"/>
                    <a:lumOff val="25000"/>
                  </a:schemeClr>
                </a:solidFill>
              </a:rPr>
              <a:t>svchost.exe</a:t>
            </a:r>
            <a:r>
              <a:rPr lang="en-GB" sz="1600" dirty="0">
                <a:solidFill>
                  <a:schemeClr val="tx1">
                    <a:lumMod val="75000"/>
                    <a:lumOff val="25000"/>
                  </a:schemeClr>
                </a:solidFill>
              </a:rPr>
              <a:t>, </a:t>
            </a:r>
            <a:r>
              <a:rPr lang="en-GB" sz="1600" i="1" dirty="0">
                <a:solidFill>
                  <a:schemeClr val="tx1">
                    <a:lumMod val="75000"/>
                    <a:lumOff val="25000"/>
                  </a:schemeClr>
                </a:solidFill>
              </a:rPr>
              <a:t>msedgewebview.exe</a:t>
            </a:r>
            <a:r>
              <a:rPr lang="en-GB" sz="1600" dirty="0">
                <a:solidFill>
                  <a:schemeClr val="tx1">
                    <a:lumMod val="75000"/>
                    <a:lumOff val="25000"/>
                  </a:schemeClr>
                </a:solidFill>
              </a:rPr>
              <a:t>);</a:t>
            </a:r>
          </a:p>
          <a:p>
            <a:pPr marL="285750" indent="-285750">
              <a:buFont typeface="Wingdings" panose="05000000000000000000" pitchFamily="2" charset="2"/>
              <a:buChar char="Ø"/>
            </a:pPr>
            <a:r>
              <a:rPr lang="en-GB" sz="1600" dirty="0" err="1">
                <a:solidFill>
                  <a:schemeClr val="tx1">
                    <a:lumMod val="75000"/>
                    <a:lumOff val="25000"/>
                  </a:schemeClr>
                </a:solidFill>
              </a:rPr>
              <a:t>adresele</a:t>
            </a:r>
            <a:r>
              <a:rPr lang="en-GB" sz="1600" dirty="0">
                <a:solidFill>
                  <a:schemeClr val="tx1">
                    <a:lumMod val="75000"/>
                    <a:lumOff val="25000"/>
                  </a:schemeClr>
                </a:solidFill>
              </a:rPr>
              <a:t> locale </a:t>
            </a:r>
            <a:r>
              <a:rPr lang="en-GB" sz="1600" dirty="0" err="1">
                <a:solidFill>
                  <a:schemeClr val="tx1">
                    <a:lumMod val="75000"/>
                    <a:lumOff val="25000"/>
                  </a:schemeClr>
                </a:solidFill>
              </a:rPr>
              <a:t>și</a:t>
            </a:r>
            <a:r>
              <a:rPr lang="en-GB" sz="1600" dirty="0">
                <a:solidFill>
                  <a:schemeClr val="tx1">
                    <a:lumMod val="75000"/>
                    <a:lumOff val="25000"/>
                  </a:schemeClr>
                </a:solidFill>
              </a:rPr>
              <a:t> remote </a:t>
            </a:r>
            <a:r>
              <a:rPr lang="en-GB" sz="1600" dirty="0" err="1">
                <a:solidFill>
                  <a:schemeClr val="tx1">
                    <a:lumMod val="75000"/>
                    <a:lumOff val="25000"/>
                  </a:schemeClr>
                </a:solidFill>
              </a:rPr>
              <a:t>asociate</a:t>
            </a:r>
            <a:r>
              <a:rPr lang="en-GB" sz="1600" dirty="0">
                <a:solidFill>
                  <a:schemeClr val="tx1">
                    <a:lumMod val="75000"/>
                    <a:lumOff val="25000"/>
                  </a:schemeClr>
                </a:solidFill>
              </a:rPr>
              <a:t> </a:t>
            </a:r>
            <a:r>
              <a:rPr lang="en-GB" sz="1600" dirty="0" err="1">
                <a:solidFill>
                  <a:schemeClr val="tx1">
                    <a:lumMod val="75000"/>
                    <a:lumOff val="25000"/>
                  </a:schemeClr>
                </a:solidFill>
              </a:rPr>
              <a:t>fiecărei</a:t>
            </a:r>
            <a:r>
              <a:rPr lang="en-GB" sz="1600" dirty="0">
                <a:solidFill>
                  <a:schemeClr val="tx1">
                    <a:lumMod val="75000"/>
                    <a:lumOff val="25000"/>
                  </a:schemeClr>
                </a:solidFill>
              </a:rPr>
              <a:t> </a:t>
            </a:r>
            <a:r>
              <a:rPr lang="en-GB" sz="1600" dirty="0" err="1">
                <a:solidFill>
                  <a:schemeClr val="tx1">
                    <a:lumMod val="75000"/>
                    <a:lumOff val="25000"/>
                  </a:schemeClr>
                </a:solidFill>
              </a:rPr>
              <a:t>conexiuni</a:t>
            </a:r>
            <a:r>
              <a:rPr lang="en-GB" sz="1600" dirty="0">
                <a:solidFill>
                  <a:schemeClr val="tx1">
                    <a:lumMod val="75000"/>
                    <a:lumOff val="25000"/>
                  </a:schemeClr>
                </a:solidFill>
              </a:rPr>
              <a:t>;</a:t>
            </a:r>
          </a:p>
          <a:p>
            <a:pPr marL="285750" indent="-285750">
              <a:buFont typeface="Wingdings" panose="05000000000000000000" pitchFamily="2" charset="2"/>
              <a:buChar char="Ø"/>
            </a:pPr>
            <a:r>
              <a:rPr lang="en-GB" sz="1600" dirty="0" err="1">
                <a:solidFill>
                  <a:schemeClr val="tx1">
                    <a:lumMod val="75000"/>
                    <a:lumOff val="25000"/>
                  </a:schemeClr>
                </a:solidFill>
              </a:rPr>
              <a:t>porturile</a:t>
            </a:r>
            <a:r>
              <a:rPr lang="en-GB" sz="1600" dirty="0">
                <a:solidFill>
                  <a:schemeClr val="tx1">
                    <a:lumMod val="75000"/>
                    <a:lumOff val="25000"/>
                  </a:schemeClr>
                </a:solidFill>
              </a:rPr>
              <a:t> </a:t>
            </a:r>
            <a:r>
              <a:rPr lang="en-GB" sz="1600" dirty="0" err="1">
                <a:solidFill>
                  <a:schemeClr val="tx1">
                    <a:lumMod val="75000"/>
                    <a:lumOff val="25000"/>
                  </a:schemeClr>
                </a:solidFill>
              </a:rPr>
              <a:t>utilizate</a:t>
            </a:r>
            <a:r>
              <a:rPr lang="en-GB" sz="1600" dirty="0">
                <a:solidFill>
                  <a:schemeClr val="tx1">
                    <a:lumMod val="75000"/>
                    <a:lumOff val="25000"/>
                  </a:schemeClr>
                </a:solidFill>
              </a:rPr>
              <a:t> </a:t>
            </a:r>
            <a:r>
              <a:rPr lang="en-GB" sz="1600" dirty="0" err="1">
                <a:solidFill>
                  <a:schemeClr val="tx1">
                    <a:lumMod val="75000"/>
                    <a:lumOff val="25000"/>
                  </a:schemeClr>
                </a:solidFill>
              </a:rPr>
              <a:t>și</a:t>
            </a:r>
            <a:r>
              <a:rPr lang="en-GB" sz="1600" dirty="0">
                <a:solidFill>
                  <a:schemeClr val="tx1">
                    <a:lumMod val="75000"/>
                    <a:lumOff val="25000"/>
                  </a:schemeClr>
                </a:solidFill>
              </a:rPr>
              <a:t> </a:t>
            </a:r>
            <a:r>
              <a:rPr lang="en-GB" sz="1600" dirty="0" err="1">
                <a:solidFill>
                  <a:schemeClr val="tx1">
                    <a:lumMod val="75000"/>
                    <a:lumOff val="25000"/>
                  </a:schemeClr>
                </a:solidFill>
              </a:rPr>
              <a:t>starea</a:t>
            </a:r>
            <a:r>
              <a:rPr lang="en-GB" sz="1600" dirty="0">
                <a:solidFill>
                  <a:schemeClr val="tx1">
                    <a:lumMod val="75000"/>
                    <a:lumOff val="25000"/>
                  </a:schemeClr>
                </a:solidFill>
              </a:rPr>
              <a:t> </a:t>
            </a:r>
            <a:r>
              <a:rPr lang="en-GB" sz="1600" dirty="0" err="1">
                <a:solidFill>
                  <a:schemeClr val="tx1">
                    <a:lumMod val="75000"/>
                    <a:lumOff val="25000"/>
                  </a:schemeClr>
                </a:solidFill>
              </a:rPr>
              <a:t>conexiunii</a:t>
            </a:r>
            <a:r>
              <a:rPr lang="en-GB" sz="1600" dirty="0">
                <a:solidFill>
                  <a:schemeClr val="tx1">
                    <a:lumMod val="75000"/>
                    <a:lumOff val="25000"/>
                  </a:schemeClr>
                </a:solidFill>
              </a:rPr>
              <a:t> (</a:t>
            </a:r>
            <a:r>
              <a:rPr lang="en-GB" sz="1600" i="1" dirty="0">
                <a:solidFill>
                  <a:schemeClr val="tx1">
                    <a:lumMod val="75000"/>
                    <a:lumOff val="25000"/>
                  </a:schemeClr>
                </a:solidFill>
              </a:rPr>
              <a:t>LISTEN</a:t>
            </a:r>
            <a:r>
              <a:rPr lang="en-GB" sz="1600" dirty="0">
                <a:solidFill>
                  <a:schemeClr val="tx1">
                    <a:lumMod val="75000"/>
                    <a:lumOff val="25000"/>
                  </a:schemeClr>
                </a:solidFill>
              </a:rPr>
              <a:t>, </a:t>
            </a:r>
            <a:r>
              <a:rPr lang="en-GB" sz="1600" i="1" dirty="0">
                <a:solidFill>
                  <a:schemeClr val="tx1">
                    <a:lumMod val="75000"/>
                    <a:lumOff val="25000"/>
                  </a:schemeClr>
                </a:solidFill>
              </a:rPr>
              <a:t>ESTABLISHED</a:t>
            </a:r>
            <a:r>
              <a:rPr lang="en-GB" sz="1600" dirty="0">
                <a:solidFill>
                  <a:schemeClr val="tx1">
                    <a:lumMod val="75000"/>
                    <a:lumOff val="25000"/>
                  </a:schemeClr>
                </a:solidFill>
              </a:rPr>
              <a:t>, </a:t>
            </a:r>
            <a:r>
              <a:rPr lang="en-GB" sz="1600" i="1" dirty="0">
                <a:solidFill>
                  <a:schemeClr val="tx1">
                    <a:lumMod val="75000"/>
                    <a:lumOff val="25000"/>
                  </a:schemeClr>
                </a:solidFill>
              </a:rPr>
              <a:t>TIME_WAIT</a:t>
            </a:r>
            <a:r>
              <a:rPr lang="en-GB" sz="1600" dirty="0">
                <a:solidFill>
                  <a:schemeClr val="tx1">
                    <a:lumMod val="75000"/>
                    <a:lumOff val="25000"/>
                  </a:schemeClr>
                </a:solidFill>
              </a:rPr>
              <a:t>);</a:t>
            </a:r>
          </a:p>
          <a:p>
            <a:pPr marL="285750" indent="-285750">
              <a:buFont typeface="Wingdings" panose="05000000000000000000" pitchFamily="2" charset="2"/>
              <a:buChar char="Ø"/>
            </a:pPr>
            <a:r>
              <a:rPr lang="en-GB" sz="1600" dirty="0" err="1">
                <a:solidFill>
                  <a:schemeClr val="tx1">
                    <a:lumMod val="75000"/>
                    <a:lumOff val="25000"/>
                  </a:schemeClr>
                </a:solidFill>
              </a:rPr>
              <a:t>traficul</a:t>
            </a:r>
            <a:r>
              <a:rPr lang="en-GB" sz="1600" dirty="0">
                <a:solidFill>
                  <a:schemeClr val="tx1">
                    <a:lumMod val="75000"/>
                    <a:lumOff val="25000"/>
                  </a:schemeClr>
                </a:solidFill>
              </a:rPr>
              <a:t> </a:t>
            </a:r>
            <a:r>
              <a:rPr lang="en-GB" sz="1600" dirty="0" err="1">
                <a:solidFill>
                  <a:schemeClr val="tx1">
                    <a:lumMod val="75000"/>
                    <a:lumOff val="25000"/>
                  </a:schemeClr>
                </a:solidFill>
              </a:rPr>
              <a:t>transmis</a:t>
            </a:r>
            <a:r>
              <a:rPr lang="en-GB" sz="1600" dirty="0">
                <a:solidFill>
                  <a:schemeClr val="tx1">
                    <a:lumMod val="75000"/>
                    <a:lumOff val="25000"/>
                  </a:schemeClr>
                </a:solidFill>
              </a:rPr>
              <a:t> </a:t>
            </a:r>
            <a:r>
              <a:rPr lang="en-GB" sz="1600" dirty="0" err="1">
                <a:solidFill>
                  <a:schemeClr val="tx1">
                    <a:lumMod val="75000"/>
                    <a:lumOff val="25000"/>
                  </a:schemeClr>
                </a:solidFill>
              </a:rPr>
              <a:t>și</a:t>
            </a:r>
            <a:r>
              <a:rPr lang="en-GB" sz="1600" dirty="0">
                <a:solidFill>
                  <a:schemeClr val="tx1">
                    <a:lumMod val="75000"/>
                    <a:lumOff val="25000"/>
                  </a:schemeClr>
                </a:solidFill>
              </a:rPr>
              <a:t> </a:t>
            </a:r>
            <a:r>
              <a:rPr lang="en-GB" sz="1600" dirty="0" err="1">
                <a:solidFill>
                  <a:schemeClr val="tx1">
                    <a:lumMod val="75000"/>
                    <a:lumOff val="25000"/>
                  </a:schemeClr>
                </a:solidFill>
              </a:rPr>
              <a:t>recepționat</a:t>
            </a:r>
            <a:r>
              <a:rPr lang="en-GB" sz="1600" dirty="0">
                <a:solidFill>
                  <a:schemeClr val="tx1">
                    <a:lumMod val="75000"/>
                    <a:lumOff val="25000"/>
                  </a:schemeClr>
                </a:solidFill>
              </a:rPr>
              <a:t> (</a:t>
            </a:r>
            <a:r>
              <a:rPr lang="en-GB" sz="1600" dirty="0" err="1">
                <a:solidFill>
                  <a:schemeClr val="tx1">
                    <a:lumMod val="75000"/>
                    <a:lumOff val="25000"/>
                  </a:schemeClr>
                </a:solidFill>
              </a:rPr>
              <a:t>pachete</a:t>
            </a:r>
            <a:r>
              <a:rPr lang="en-GB" sz="1600" dirty="0">
                <a:solidFill>
                  <a:schemeClr val="tx1">
                    <a:lumMod val="75000"/>
                    <a:lumOff val="25000"/>
                  </a:schemeClr>
                </a:solidFill>
              </a:rPr>
              <a:t> </a:t>
            </a:r>
            <a:r>
              <a:rPr lang="en-GB" sz="1600" dirty="0" err="1">
                <a:solidFill>
                  <a:schemeClr val="tx1">
                    <a:lumMod val="75000"/>
                    <a:lumOff val="25000"/>
                  </a:schemeClr>
                </a:solidFill>
              </a:rPr>
              <a:t>și</a:t>
            </a:r>
            <a:r>
              <a:rPr lang="en-GB" sz="1600" dirty="0">
                <a:solidFill>
                  <a:schemeClr val="tx1">
                    <a:lumMod val="75000"/>
                    <a:lumOff val="25000"/>
                  </a:schemeClr>
                </a:solidFill>
              </a:rPr>
              <a:t> </a:t>
            </a:r>
            <a:r>
              <a:rPr lang="en-GB" sz="1600" dirty="0" err="1">
                <a:solidFill>
                  <a:schemeClr val="tx1">
                    <a:lumMod val="75000"/>
                    <a:lumOff val="25000"/>
                  </a:schemeClr>
                </a:solidFill>
              </a:rPr>
              <a:t>octeți</a:t>
            </a:r>
            <a:r>
              <a:rPr lang="en-GB" sz="1600" dirty="0">
                <a:solidFill>
                  <a:schemeClr val="tx1">
                    <a:lumMod val="75000"/>
                    <a:lumOff val="25000"/>
                  </a:schemeClr>
                </a:solidFill>
              </a:rPr>
              <a:t>).</a:t>
            </a:r>
          </a:p>
          <a:p>
            <a:pPr>
              <a:buFont typeface="Arial" panose="020B0604020202020204" pitchFamily="34" charset="0"/>
              <a:buChar char="•"/>
            </a:pPr>
            <a:endParaRPr lang="en-GB" dirty="0">
              <a:solidFill>
                <a:schemeClr val="tx1">
                  <a:lumMod val="75000"/>
                  <a:lumOff val="25000"/>
                </a:schemeClr>
              </a:solidFill>
            </a:endParaRPr>
          </a:p>
          <a:p>
            <a:pPr>
              <a:buNone/>
            </a:pPr>
            <a:r>
              <a:rPr lang="en-GB" dirty="0" err="1">
                <a:solidFill>
                  <a:schemeClr val="tx1">
                    <a:lumMod val="75000"/>
                    <a:lumOff val="25000"/>
                  </a:schemeClr>
                </a:solidFill>
              </a:rPr>
              <a:t>Majoritatea</a:t>
            </a:r>
            <a:r>
              <a:rPr lang="en-GB" dirty="0">
                <a:solidFill>
                  <a:schemeClr val="tx1">
                    <a:lumMod val="75000"/>
                    <a:lumOff val="25000"/>
                  </a:schemeClr>
                </a:solidFill>
              </a:rPr>
              <a:t> </a:t>
            </a:r>
            <a:r>
              <a:rPr lang="en-GB" dirty="0" err="1">
                <a:solidFill>
                  <a:schemeClr val="tx1">
                    <a:lumMod val="75000"/>
                    <a:lumOff val="25000"/>
                  </a:schemeClr>
                </a:solidFill>
              </a:rPr>
              <a:t>conexiunilor</a:t>
            </a:r>
            <a:r>
              <a:rPr lang="en-GB" dirty="0">
                <a:solidFill>
                  <a:schemeClr val="tx1">
                    <a:lumMod val="75000"/>
                    <a:lumOff val="25000"/>
                  </a:schemeClr>
                </a:solidFill>
              </a:rPr>
              <a:t> externe </a:t>
            </a:r>
            <a:r>
              <a:rPr lang="en-GB" dirty="0" err="1">
                <a:solidFill>
                  <a:schemeClr val="tx1">
                    <a:lumMod val="75000"/>
                    <a:lumOff val="25000"/>
                  </a:schemeClr>
                </a:solidFill>
              </a:rPr>
              <a:t>folosesc</a:t>
            </a:r>
            <a:r>
              <a:rPr lang="en-GB" dirty="0">
                <a:solidFill>
                  <a:schemeClr val="tx1">
                    <a:lumMod val="75000"/>
                    <a:lumOff val="25000"/>
                  </a:schemeClr>
                </a:solidFill>
              </a:rPr>
              <a:t> </a:t>
            </a:r>
            <a:r>
              <a:rPr lang="en-GB" b="1" dirty="0" err="1">
                <a:solidFill>
                  <a:schemeClr val="tx1">
                    <a:lumMod val="75000"/>
                    <a:lumOff val="25000"/>
                  </a:schemeClr>
                </a:solidFill>
              </a:rPr>
              <a:t>portul</a:t>
            </a:r>
            <a:r>
              <a:rPr lang="en-GB" b="1" dirty="0">
                <a:solidFill>
                  <a:schemeClr val="tx1">
                    <a:lumMod val="75000"/>
                    <a:lumOff val="25000"/>
                  </a:schemeClr>
                </a:solidFill>
              </a:rPr>
              <a:t> 443 (HTTPS)</a:t>
            </a:r>
            <a:r>
              <a:rPr lang="en-GB" dirty="0">
                <a:solidFill>
                  <a:schemeClr val="tx1">
                    <a:lumMod val="75000"/>
                    <a:lumOff val="25000"/>
                  </a:schemeClr>
                </a:solidFill>
              </a:rPr>
              <a:t>, </a:t>
            </a:r>
            <a:r>
              <a:rPr lang="en-GB" dirty="0" err="1">
                <a:solidFill>
                  <a:schemeClr val="tx1">
                    <a:lumMod val="75000"/>
                    <a:lumOff val="25000"/>
                  </a:schemeClr>
                </a:solidFill>
              </a:rPr>
              <a:t>ceea</a:t>
            </a:r>
            <a:r>
              <a:rPr lang="en-GB" dirty="0">
                <a:solidFill>
                  <a:schemeClr val="tx1">
                    <a:lumMod val="75000"/>
                    <a:lumOff val="25000"/>
                  </a:schemeClr>
                </a:solidFill>
              </a:rPr>
              <a:t> </a:t>
            </a:r>
            <a:r>
              <a:rPr lang="en-GB" dirty="0" err="1">
                <a:solidFill>
                  <a:schemeClr val="tx1">
                    <a:lumMod val="75000"/>
                    <a:lumOff val="25000"/>
                  </a:schemeClr>
                </a:solidFill>
              </a:rPr>
              <a:t>ce</a:t>
            </a:r>
            <a:r>
              <a:rPr lang="en-GB" dirty="0">
                <a:solidFill>
                  <a:schemeClr val="tx1">
                    <a:lumMod val="75000"/>
                    <a:lumOff val="25000"/>
                  </a:schemeClr>
                </a:solidFill>
              </a:rPr>
              <a:t> </a:t>
            </a:r>
            <a:r>
              <a:rPr lang="en-GB" dirty="0" err="1">
                <a:solidFill>
                  <a:schemeClr val="tx1">
                    <a:lumMod val="75000"/>
                    <a:lumOff val="25000"/>
                  </a:schemeClr>
                </a:solidFill>
              </a:rPr>
              <a:t>indică</a:t>
            </a:r>
            <a:r>
              <a:rPr lang="en-GB" dirty="0">
                <a:solidFill>
                  <a:schemeClr val="tx1">
                    <a:lumMod val="75000"/>
                    <a:lumOff val="25000"/>
                  </a:schemeClr>
                </a:solidFill>
              </a:rPr>
              <a:t> </a:t>
            </a:r>
            <a:r>
              <a:rPr lang="en-GB" dirty="0" err="1">
                <a:solidFill>
                  <a:schemeClr val="tx1">
                    <a:lumMod val="75000"/>
                    <a:lumOff val="25000"/>
                  </a:schemeClr>
                </a:solidFill>
              </a:rPr>
              <a:t>trafic</a:t>
            </a:r>
            <a:r>
              <a:rPr lang="en-GB" dirty="0">
                <a:solidFill>
                  <a:schemeClr val="tx1">
                    <a:lumMod val="75000"/>
                    <a:lumOff val="25000"/>
                  </a:schemeClr>
                </a:solidFill>
              </a:rPr>
              <a:t> web </a:t>
            </a:r>
            <a:r>
              <a:rPr lang="en-GB" dirty="0" err="1">
                <a:solidFill>
                  <a:schemeClr val="tx1">
                    <a:lumMod val="75000"/>
                    <a:lumOff val="25000"/>
                  </a:schemeClr>
                </a:solidFill>
              </a:rPr>
              <a:t>securizat</a:t>
            </a:r>
            <a:r>
              <a:rPr lang="en-GB" dirty="0">
                <a:solidFill>
                  <a:schemeClr val="tx1">
                    <a:lumMod val="75000"/>
                    <a:lumOff val="25000"/>
                  </a:schemeClr>
                </a:solidFill>
              </a:rPr>
              <a:t> </a:t>
            </a:r>
            <a:r>
              <a:rPr lang="en-GB" dirty="0" err="1">
                <a:solidFill>
                  <a:schemeClr val="tx1">
                    <a:lumMod val="75000"/>
                    <a:lumOff val="25000"/>
                  </a:schemeClr>
                </a:solidFill>
              </a:rPr>
              <a:t>către</a:t>
            </a:r>
            <a:r>
              <a:rPr lang="en-GB" dirty="0">
                <a:solidFill>
                  <a:schemeClr val="tx1">
                    <a:lumMod val="75000"/>
                    <a:lumOff val="25000"/>
                  </a:schemeClr>
                </a:solidFill>
              </a:rPr>
              <a:t> </a:t>
            </a:r>
            <a:r>
              <a:rPr lang="en-GB" dirty="0" err="1">
                <a:solidFill>
                  <a:schemeClr val="tx1">
                    <a:lumMod val="75000"/>
                    <a:lumOff val="25000"/>
                  </a:schemeClr>
                </a:solidFill>
              </a:rPr>
              <a:t>servere</a:t>
            </a:r>
            <a:r>
              <a:rPr lang="en-GB" dirty="0">
                <a:solidFill>
                  <a:schemeClr val="tx1">
                    <a:lumMod val="75000"/>
                    <a:lumOff val="25000"/>
                  </a:schemeClr>
                </a:solidFill>
              </a:rPr>
              <a:t> externe.</a:t>
            </a:r>
          </a:p>
        </p:txBody>
      </p:sp>
    </p:spTree>
    <p:extLst>
      <p:ext uri="{BB962C8B-B14F-4D97-AF65-F5344CB8AC3E}">
        <p14:creationId xmlns:p14="http://schemas.microsoft.com/office/powerpoint/2010/main" val="2640132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normAutofit/>
          </a:bodyPr>
          <a:lstStyle/>
          <a:p>
            <a:r>
              <a:rPr lang="en-US"/>
              <a:t>Process Monitor </a:t>
            </a:r>
            <a:br>
              <a:rPr lang="en-US"/>
            </a:br>
            <a:r>
              <a:rPr lang="en-US" sz="2000"/>
              <a:t>analiza unui malware într-o mașină virtuală (VM)</a:t>
            </a:r>
          </a:p>
        </p:txBody>
      </p:sp>
      <p:sp>
        <p:nvSpPr>
          <p:cNvPr id="3" name="Content Placeholder 2"/>
          <p:cNvSpPr>
            <a:spLocks noGrp="1"/>
          </p:cNvSpPr>
          <p:nvPr>
            <p:ph idx="1"/>
          </p:nvPr>
        </p:nvSpPr>
        <p:spPr>
          <a:xfrm>
            <a:off x="581192" y="2048256"/>
            <a:ext cx="11029615" cy="4450080"/>
          </a:xfrm>
        </p:spPr>
        <p:txBody>
          <a:bodyPr>
            <a:normAutofit fontScale="47500" lnSpcReduction="20000"/>
          </a:bodyPr>
          <a:lstStyle/>
          <a:p>
            <a:pPr marL="0" indent="0">
              <a:buNone/>
            </a:pPr>
            <a:r>
              <a:rPr lang="en-US" u="sng"/>
              <a:t>1. Activitatea Proceselor</a:t>
            </a:r>
          </a:p>
          <a:p>
            <a:r>
              <a:rPr lang="en-US" b="1"/>
              <a:t>Crearea și terminarea proceselor.</a:t>
            </a:r>
            <a:r>
              <a:rPr lang="en-US"/>
              <a:t> Observați procesele create de malware. Anumite malware-uri pot lansa noi procese, fie pentru a executa sarcini specifice, fie pentru a se masca.</a:t>
            </a:r>
          </a:p>
          <a:p>
            <a:r>
              <a:rPr lang="en-US" b="1"/>
              <a:t>Relațiile între procese. </a:t>
            </a:r>
            <a:r>
              <a:rPr lang="en-US"/>
              <a:t>Identificați dacă malware-ul creează procese copil sau dacă interacționează cu alte procese existente.</a:t>
            </a:r>
          </a:p>
          <a:p>
            <a:pPr marL="0" indent="0">
              <a:buNone/>
            </a:pPr>
            <a:endParaRPr lang="en-US"/>
          </a:p>
          <a:p>
            <a:pPr marL="0" indent="0">
              <a:buNone/>
            </a:pPr>
            <a:r>
              <a:rPr lang="en-US" u="sng"/>
              <a:t>2. Modificări în Sistemul de Fișiere</a:t>
            </a:r>
          </a:p>
          <a:p>
            <a:r>
              <a:rPr lang="en-US" b="1"/>
              <a:t>Crearea, modificarea și ștergerea fișierelor. </a:t>
            </a:r>
            <a:r>
              <a:rPr lang="en-US"/>
              <a:t>Fiți atenți la fișierele create sau modificate de malware, deoarece acestea pot indica activități precum extracția de date, instalarea de componente suplimentare sau încercări de persistență.</a:t>
            </a:r>
          </a:p>
          <a:p>
            <a:r>
              <a:rPr lang="en-US" b="1"/>
              <a:t>Accesări suspecte de fișiere. </a:t>
            </a:r>
            <a:r>
              <a:rPr lang="en-US"/>
              <a:t>Monitorizați accesul la fișiere de configurare sau sistem, care ar putea sugera încercări de modificare a setărilor sistemului.</a:t>
            </a:r>
          </a:p>
          <a:p>
            <a:endParaRPr lang="en-US"/>
          </a:p>
          <a:p>
            <a:pPr marL="0" indent="0">
              <a:buNone/>
            </a:pPr>
            <a:r>
              <a:rPr lang="en-US" u="sng"/>
              <a:t>3. Modificări în Registri</a:t>
            </a:r>
          </a:p>
          <a:p>
            <a:r>
              <a:rPr lang="en-US" b="1"/>
              <a:t>Crearea, modificarea și ștergerea cheilor de registru. </a:t>
            </a:r>
            <a:r>
              <a:rPr lang="en-US"/>
              <a:t>Malware-ul adesea modifică registrii pentru a asigura persistența, a modifica setările sistemului sau a dezactiva funcții de securitate.</a:t>
            </a:r>
          </a:p>
          <a:p>
            <a:r>
              <a:rPr lang="en-US" b="1"/>
              <a:t>Acces la registri specifici. </a:t>
            </a:r>
            <a:r>
              <a:rPr lang="en-US"/>
              <a:t>Observați accesul la chei de registru ce controlează autorun, servicii, sau setări de rețea.</a:t>
            </a:r>
          </a:p>
          <a:p>
            <a:endParaRPr lang="en-US"/>
          </a:p>
          <a:p>
            <a:pPr marL="0" indent="0">
              <a:buNone/>
            </a:pPr>
            <a:r>
              <a:rPr lang="en-US" u="sng"/>
              <a:t>4. Activitatea de Rețea</a:t>
            </a:r>
          </a:p>
          <a:p>
            <a:r>
              <a:rPr lang="en-US" b="1"/>
              <a:t>Conexiuni de rețea. </a:t>
            </a:r>
            <a:r>
              <a:rPr lang="en-US"/>
              <a:t>Monitorizați orice încercare de conexiune la adrese IP sau domenii externe, ceea ce poate indica comunicații cu un server de comandă și control (C&amp;C) sau încercări de exfiltrare a datelor.</a:t>
            </a:r>
          </a:p>
          <a:p>
            <a:r>
              <a:rPr lang="en-US" b="1"/>
              <a:t>Modificări ale setărilor de rețea. </a:t>
            </a:r>
            <a:r>
              <a:rPr lang="en-US"/>
              <a:t>Verificați dacă malware-ul modifică setările de rețea, cum ar fi proxy-uri sau DNS.</a:t>
            </a:r>
          </a:p>
          <a:p>
            <a:endParaRPr lang="en-US"/>
          </a:p>
          <a:p>
            <a:pPr marL="0" indent="0">
              <a:buNone/>
            </a:pPr>
            <a:r>
              <a:rPr lang="en-US" u="sng"/>
              <a:t>5. Hook-uri și DLL-uri Injectate</a:t>
            </a:r>
          </a:p>
          <a:p>
            <a:r>
              <a:rPr lang="en-US" b="1"/>
              <a:t>Injectarea de cod. </a:t>
            </a:r>
            <a:r>
              <a:rPr lang="en-US"/>
              <a:t>Multe tipuri de malware injectează cod în alte procese pentru a executa operațiuni în mod ascuns sau pentru a obține drepturi de acces mai mari.</a:t>
            </a:r>
          </a:p>
          <a:p>
            <a:r>
              <a:rPr lang="en-US" b="1"/>
              <a:t>Modificări ale DLL-urilor. </a:t>
            </a:r>
            <a:r>
              <a:rPr lang="en-US"/>
              <a:t>Atunci când un malware adaugă sau modifică DLL-uri, poate afecta funcționalitatea sistemului sau poate obține funcționalități suplimentare.</a:t>
            </a:r>
          </a:p>
        </p:txBody>
      </p:sp>
    </p:spTree>
    <p:extLst>
      <p:ext uri="{BB962C8B-B14F-4D97-AF65-F5344CB8AC3E}">
        <p14:creationId xmlns:p14="http://schemas.microsoft.com/office/powerpoint/2010/main" val="4102397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Sfaturi Generale</a:t>
            </a:r>
            <a:br>
              <a:rPr lang="en-US"/>
            </a:br>
            <a:r>
              <a:rPr lang="en-US"/>
              <a:t>                                        Process Monitor</a:t>
            </a:r>
          </a:p>
        </p:txBody>
      </p:sp>
      <p:sp>
        <p:nvSpPr>
          <p:cNvPr id="3" name="Content Placeholder 2"/>
          <p:cNvSpPr>
            <a:spLocks noGrp="1"/>
          </p:cNvSpPr>
          <p:nvPr>
            <p:ph idx="1"/>
          </p:nvPr>
        </p:nvSpPr>
        <p:spPr>
          <a:xfrm>
            <a:off x="581192" y="2180496"/>
            <a:ext cx="11029615" cy="4202016"/>
          </a:xfrm>
        </p:spPr>
        <p:txBody>
          <a:bodyPr>
            <a:normAutofit/>
          </a:bodyPr>
          <a:lstStyle/>
          <a:p>
            <a:r>
              <a:rPr lang="en-US" b="1"/>
              <a:t>Filtrați și sortați datele. </a:t>
            </a:r>
            <a:r>
              <a:rPr lang="en-US"/>
              <a:t>Utilizați filtrele Process Monitor pentru a izola activitățile suspecte și a reduce zgomotul de fundal al activităților sistemului normal.</a:t>
            </a:r>
          </a:p>
          <a:p>
            <a:endParaRPr lang="en-US"/>
          </a:p>
          <a:p>
            <a:r>
              <a:rPr lang="en-US" b="1"/>
              <a:t>Exportați și salvați logurile. </a:t>
            </a:r>
            <a:r>
              <a:rPr lang="en-US"/>
              <a:t>Salvați logurile de monitorizare pentru analiză ulterioară și pentru a avea un punct de referință.</a:t>
            </a:r>
          </a:p>
          <a:p>
            <a:endParaRPr lang="en-US"/>
          </a:p>
          <a:p>
            <a:r>
              <a:rPr lang="en-US" b="1"/>
              <a:t>Utilizați snapshot-uri ale VM-ului. </a:t>
            </a:r>
            <a:r>
              <a:rPr lang="en-US"/>
              <a:t>Faceți snapshot-uri înainte și după detonarea malware-ului pentru a putea reveni rapid la o stare cunoscută și curată.</a:t>
            </a:r>
          </a:p>
          <a:p>
            <a:endParaRPr lang="en-US"/>
          </a:p>
          <a:p>
            <a:r>
              <a:rPr lang="en-US" b="1"/>
              <a:t>Folosiți alte unelte de analiză. </a:t>
            </a:r>
            <a:r>
              <a:rPr lang="en-US"/>
              <a:t>Complementați analiza cu alte unelte de securitate, cum ar fi antivirus, analizor de trafic de rețea, și unelte de analiză de malware pentru o imagine de ansamblu completă.</a:t>
            </a:r>
          </a:p>
        </p:txBody>
      </p:sp>
      <p:sp>
        <p:nvSpPr>
          <p:cNvPr id="6" name="Flowchart: Process 5"/>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4" name="Rectangle 3"/>
          <p:cNvSpPr/>
          <p:nvPr/>
        </p:nvSpPr>
        <p:spPr>
          <a:xfrm>
            <a:off x="694944" y="1213104"/>
            <a:ext cx="7053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0564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Process Monitor</a:t>
            </a:r>
            <a:br>
              <a:rPr lang="en-US"/>
            </a:br>
            <a:r>
              <a:rPr lang="en-US" sz="2000"/>
              <a:t>Setup pentru salvarea jurnalului (ordinea coloanelor)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4" y="2296385"/>
            <a:ext cx="5353907" cy="3653312"/>
          </a:xfrm>
          <a:prstGeom prst="rect">
            <a:avLst/>
          </a:prstGeom>
          <a:ln>
            <a:noFill/>
          </a:ln>
          <a:effectLst>
            <a:outerShdw blurRad="190500" algn="tl" rotWithShape="0">
              <a:srgbClr val="000000">
                <a:alpha val="70000"/>
              </a:srgbClr>
            </a:outerShdw>
          </a:effectLst>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9726" y="2296385"/>
            <a:ext cx="5353905" cy="3653311"/>
          </a:xfrm>
          <a:prstGeom prst="rect">
            <a:avLst/>
          </a:prstGeom>
          <a:ln>
            <a:noFill/>
          </a:ln>
          <a:effectLst>
            <a:outerShdw blurRad="190500" algn="tl" rotWithShape="0">
              <a:srgbClr val="000000">
                <a:alpha val="70000"/>
              </a:srgbClr>
            </a:outerShdw>
          </a:effectLst>
        </p:spPr>
      </p:pic>
      <p:sp>
        <p:nvSpPr>
          <p:cNvPr id="6" name="Right Arrow 5"/>
          <p:cNvSpPr/>
          <p:nvPr/>
        </p:nvSpPr>
        <p:spPr>
          <a:xfrm rot="19892808">
            <a:off x="853441" y="2713186"/>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ight Arrow 6"/>
          <p:cNvSpPr/>
          <p:nvPr/>
        </p:nvSpPr>
        <p:spPr>
          <a:xfrm rot="19892808">
            <a:off x="6906770" y="402216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640673" y="2774299"/>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sp>
        <p:nvSpPr>
          <p:cNvPr id="11" name="Oval 10"/>
          <p:cNvSpPr/>
          <p:nvPr/>
        </p:nvSpPr>
        <p:spPr>
          <a:xfrm>
            <a:off x="6710279" y="4066651"/>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spTree>
    <p:extLst>
      <p:ext uri="{BB962C8B-B14F-4D97-AF65-F5344CB8AC3E}">
        <p14:creationId xmlns:p14="http://schemas.microsoft.com/office/powerpoint/2010/main" val="3000182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Process Monitor</a:t>
            </a:r>
            <a:br>
              <a:rPr lang="en-US"/>
            </a:br>
            <a:r>
              <a:rPr lang="en-US"/>
              <a:t>Setup</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704" y="2169395"/>
            <a:ext cx="5843992" cy="3987729"/>
          </a:xfrm>
          <a:prstGeom prst="rect">
            <a:avLst/>
          </a:prstGeom>
          <a:ln>
            <a:noFill/>
          </a:ln>
          <a:effectLst>
            <a:outerShdw blurRad="190500" algn="tl" rotWithShape="0">
              <a:srgbClr val="000000">
                <a:alpha val="70000"/>
              </a:srgbClr>
            </a:out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4599" y="1061819"/>
            <a:ext cx="2741728" cy="4875685"/>
          </a:xfrm>
          <a:prstGeom prst="rect">
            <a:avLst/>
          </a:prstGeom>
          <a:ln>
            <a:noFill/>
          </a:ln>
          <a:effectLst>
            <a:outerShdw blurRad="190500" algn="tl" rotWithShape="0">
              <a:srgbClr val="000000">
                <a:alpha val="70000"/>
              </a:srgbClr>
            </a:outerShdw>
          </a:effectLst>
        </p:spPr>
      </p:pic>
      <p:sp>
        <p:nvSpPr>
          <p:cNvPr id="7" name="Right Arrow 6"/>
          <p:cNvSpPr/>
          <p:nvPr/>
        </p:nvSpPr>
        <p:spPr>
          <a:xfrm rot="19892808">
            <a:off x="9006184" y="488336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ight Arrow 7"/>
          <p:cNvSpPr/>
          <p:nvPr/>
        </p:nvSpPr>
        <p:spPr>
          <a:xfrm rot="19892808">
            <a:off x="7684002" y="3109074"/>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ight Arrow 8"/>
          <p:cNvSpPr/>
          <p:nvPr/>
        </p:nvSpPr>
        <p:spPr>
          <a:xfrm rot="19892808">
            <a:off x="1704965" y="336548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1531603" y="3388945"/>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sp>
        <p:nvSpPr>
          <p:cNvPr id="11" name="Oval 10"/>
          <p:cNvSpPr/>
          <p:nvPr/>
        </p:nvSpPr>
        <p:spPr>
          <a:xfrm>
            <a:off x="7423200" y="324324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sp>
        <p:nvSpPr>
          <p:cNvPr id="12" name="Oval 11"/>
          <p:cNvSpPr/>
          <p:nvPr/>
        </p:nvSpPr>
        <p:spPr>
          <a:xfrm>
            <a:off x="8832822" y="494085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spTree>
    <p:extLst>
      <p:ext uri="{BB962C8B-B14F-4D97-AF65-F5344CB8AC3E}">
        <p14:creationId xmlns:p14="http://schemas.microsoft.com/office/powerpoint/2010/main" val="407942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normAutofit/>
          </a:bodyPr>
          <a:lstStyle/>
          <a:p>
            <a:r>
              <a:rPr lang="en-US"/>
              <a:t>Process Explorer</a:t>
            </a:r>
            <a:br>
              <a:rPr lang="en-US"/>
            </a:br>
            <a:r>
              <a:rPr lang="en-US" sz="2000"/>
              <a:t>oferă o vedere detaliată a proceselor care rulează pe un sistem </a:t>
            </a:r>
          </a:p>
        </p:txBody>
      </p:sp>
      <p:sp>
        <p:nvSpPr>
          <p:cNvPr id="3" name="Content Placeholder 2"/>
          <p:cNvSpPr>
            <a:spLocks noGrp="1"/>
          </p:cNvSpPr>
          <p:nvPr>
            <p:ph idx="1"/>
          </p:nvPr>
        </p:nvSpPr>
        <p:spPr>
          <a:xfrm>
            <a:off x="581192" y="2180496"/>
            <a:ext cx="11029615" cy="4323936"/>
          </a:xfrm>
        </p:spPr>
        <p:txBody>
          <a:bodyPr>
            <a:normAutofit fontScale="85000" lnSpcReduction="20000"/>
          </a:bodyPr>
          <a:lstStyle/>
          <a:p>
            <a:r>
              <a:rPr lang="en-US" b="1"/>
              <a:t>Identificarea Proceselor Malware. </a:t>
            </a:r>
            <a:r>
              <a:rPr lang="en-US"/>
              <a:t>Urmăriți procesele noi sau necunoscute care apar după detonarea malware-ului. Malware-ul adesea lansează procese care pot avea nume similare cu procesele de sistem legitime, dar se execută din locații neobișnuite.</a:t>
            </a:r>
          </a:p>
          <a:p>
            <a:r>
              <a:rPr lang="en-US" b="1"/>
              <a:t>Verificarea Lanțurilor de Procese. </a:t>
            </a:r>
            <a:r>
              <a:rPr lang="en-US"/>
              <a:t>Process Explorer afișează procesele într-o structură ierarhică, care poate fi folosită pentru a identifica relațiile dintre procese. Verificați dacă procesele suspecte sunt lansate de alte aplicații sau servicii.</a:t>
            </a:r>
          </a:p>
          <a:p>
            <a:r>
              <a:rPr lang="en-US" b="1"/>
              <a:t>Analiza Detaliilor Procesului. </a:t>
            </a:r>
            <a:r>
              <a:rPr lang="en-US"/>
              <a:t>Faceți clic dreapta pe un proces pentru a accesa opțiuni precum "Properties" pentru a vedea detaliile, inclusiv locația fișierului executabil, firul de execuție, DLL-urile încărcate și cheile de registru asociate. Acest lucru poate ajuta la identificarea activității suspecte și a metodelor de persistență.</a:t>
            </a:r>
          </a:p>
          <a:p>
            <a:r>
              <a:rPr lang="en-US" b="1"/>
              <a:t>Monitorizarea Utilizării Resurselor. </a:t>
            </a:r>
            <a:r>
              <a:rPr lang="en-US"/>
              <a:t>Un malware poate consuma resurse semnificative, cum ar fi CPU, memorie sau accesul la rețea. Folosiți coloanele din Process Explorer pentru a urmări utilizarea resurselor și pentru a identifica procesele care se comportă anormal.</a:t>
            </a:r>
          </a:p>
          <a:p>
            <a:r>
              <a:rPr lang="en-US" b="1"/>
              <a:t>Verificarea Conexiunilor de Rețea. </a:t>
            </a:r>
            <a:r>
              <a:rPr lang="en-US"/>
              <a:t>Malware-ul poate încerca să comunice cu serverele de comandă și control (C&amp;C) sau să transmită date sensibile. Verificați secțiunea "TCP/IP" în proprietățile procesului pentru a vedea activitatea rețelei.</a:t>
            </a:r>
          </a:p>
          <a:p>
            <a:r>
              <a:rPr lang="en-US" b="1"/>
              <a:t>Analiza DLL-urilor Încărcate. </a:t>
            </a:r>
            <a:r>
              <a:rPr lang="en-US"/>
              <a:t>Malware-ul poate injecta DLL-uri rele în procesele legitime pentru a ascunde activitatea sa. Verificați DLL-urile încărcate de procese pentru orice fișiere necunoscute sau suspecte.</a:t>
            </a:r>
          </a:p>
          <a:p>
            <a:r>
              <a:rPr lang="en-US" b="1"/>
              <a:t>Utilizarea Culorilor pentru Identificare. </a:t>
            </a:r>
            <a:r>
              <a:rPr lang="en-US"/>
              <a:t>Process Explorer folosește culori diferite pentru a marca diferite tipuri de procese (de exemplu, procesele de sistem, procesele de rețea, etc.). Aceasta poate fi o modalitate rapidă de a identifica procesele care merită investigații suplimentare.</a:t>
            </a:r>
          </a:p>
          <a:p>
            <a:r>
              <a:rPr lang="en-US" b="1"/>
              <a:t>Scanarea Online a Proceselor. </a:t>
            </a:r>
            <a:r>
              <a:rPr lang="en-US"/>
              <a:t>Process Explorer permite utilizatorilor să scaneze procesele cu </a:t>
            </a:r>
            <a:r>
              <a:rPr lang="en-US" i="1"/>
              <a:t>VirusTotal</a:t>
            </a:r>
            <a:r>
              <a:rPr lang="en-US"/>
              <a:t> direct din interfață. Aceasta este o modalitate excelentă de a verifica rapid dacă un proces este recunoscut ca fiind malware de către multiple motoare antivirus.</a:t>
            </a:r>
          </a:p>
        </p:txBody>
      </p:sp>
    </p:spTree>
    <p:extLst>
      <p:ext uri="{BB962C8B-B14F-4D97-AF65-F5344CB8AC3E}">
        <p14:creationId xmlns:p14="http://schemas.microsoft.com/office/powerpoint/2010/main" val="2225902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Process Explorer</a:t>
            </a:r>
            <a:br>
              <a:rPr lang="en-US"/>
            </a:br>
            <a:r>
              <a:rPr lang="en-US" sz="2000"/>
              <a:t>Un task manager avansat</a:t>
            </a:r>
          </a:p>
        </p:txBody>
      </p:sp>
      <p:pic>
        <p:nvPicPr>
          <p:cNvPr id="4" name="Picture 3"/>
          <p:cNvPicPr>
            <a:picLocks noChangeAspect="1"/>
          </p:cNvPicPr>
          <p:nvPr/>
        </p:nvPicPr>
        <p:blipFill>
          <a:blip r:embed="rId2"/>
          <a:stretch>
            <a:fillRect/>
          </a:stretch>
        </p:blipFill>
        <p:spPr>
          <a:xfrm>
            <a:off x="877443" y="2351185"/>
            <a:ext cx="4986909" cy="3762388"/>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a:stretch>
            <a:fillRect/>
          </a:stretch>
        </p:blipFill>
        <p:spPr>
          <a:xfrm>
            <a:off x="6369938" y="2351184"/>
            <a:ext cx="4986911" cy="3762389"/>
          </a:xfrm>
          <a:prstGeom prst="rect">
            <a:avLst/>
          </a:prstGeom>
          <a:ln>
            <a:noFill/>
          </a:ln>
          <a:effectLst>
            <a:outerShdw blurRad="190500" algn="tl" rotWithShape="0">
              <a:srgbClr val="000000">
                <a:alpha val="70000"/>
              </a:srgbClr>
            </a:outerShdw>
          </a:effectLst>
        </p:spPr>
      </p:pic>
      <p:sp>
        <p:nvSpPr>
          <p:cNvPr id="6" name="Right Arrow 5"/>
          <p:cNvSpPr/>
          <p:nvPr/>
        </p:nvSpPr>
        <p:spPr>
          <a:xfrm rot="19859067">
            <a:off x="8572798" y="4280444"/>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ight Arrow 7"/>
          <p:cNvSpPr/>
          <p:nvPr/>
        </p:nvSpPr>
        <p:spPr>
          <a:xfrm rot="7393257">
            <a:off x="3979126" y="2533623"/>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Flowchart: Process 8">
            <a:extLst>
              <a:ext uri="{FF2B5EF4-FFF2-40B4-BE49-F238E27FC236}">
                <a16:creationId xmlns:a16="http://schemas.microsoft.com/office/drawing/2014/main" id="{D699F5CF-5C2F-21AA-7C8B-CBFD5BCBCC88}"/>
              </a:ext>
            </a:extLst>
          </p:cNvPr>
          <p:cNvSpPr/>
          <p:nvPr/>
        </p:nvSpPr>
        <p:spPr>
          <a:xfrm>
            <a:off x="451104" y="2003304"/>
            <a:ext cx="11289792" cy="441019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dirty="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2450017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Process Explorer</a:t>
            </a:r>
            <a:br>
              <a:rPr lang="en-US"/>
            </a:br>
            <a:r>
              <a:rPr lang="en-US" sz="2400"/>
              <a:t>colaborarea cu virustotal</a:t>
            </a:r>
          </a:p>
        </p:txBody>
      </p:sp>
      <p:pic>
        <p:nvPicPr>
          <p:cNvPr id="4" name="Picture 3"/>
          <p:cNvPicPr>
            <a:picLocks noChangeAspect="1"/>
          </p:cNvPicPr>
          <p:nvPr/>
        </p:nvPicPr>
        <p:blipFill>
          <a:blip r:embed="rId2"/>
          <a:stretch>
            <a:fillRect/>
          </a:stretch>
        </p:blipFill>
        <p:spPr>
          <a:xfrm>
            <a:off x="794552" y="2286215"/>
            <a:ext cx="5170930" cy="3901223"/>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a:stretch>
            <a:fillRect/>
          </a:stretch>
        </p:blipFill>
        <p:spPr>
          <a:xfrm>
            <a:off x="6565392" y="2286216"/>
            <a:ext cx="4683656" cy="3901223"/>
          </a:xfrm>
          <a:prstGeom prst="rect">
            <a:avLst/>
          </a:prstGeom>
          <a:ln>
            <a:noFill/>
          </a:ln>
          <a:effectLst>
            <a:outerShdw blurRad="190500" algn="tl" rotWithShape="0">
              <a:srgbClr val="000000">
                <a:alpha val="70000"/>
              </a:srgbClr>
            </a:outerShdw>
          </a:effectLst>
        </p:spPr>
      </p:pic>
      <p:sp>
        <p:nvSpPr>
          <p:cNvPr id="7" name="Right Arrow 6"/>
          <p:cNvSpPr/>
          <p:nvPr/>
        </p:nvSpPr>
        <p:spPr>
          <a:xfrm rot="13364303">
            <a:off x="3393909" y="3103914"/>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Flowchart: Process 8">
            <a:extLst>
              <a:ext uri="{FF2B5EF4-FFF2-40B4-BE49-F238E27FC236}">
                <a16:creationId xmlns:a16="http://schemas.microsoft.com/office/drawing/2014/main" id="{BBE8867A-8786-A6AA-CA39-B5A18AEC3C7E}"/>
              </a:ext>
            </a:extLst>
          </p:cNvPr>
          <p:cNvSpPr/>
          <p:nvPr/>
        </p:nvSpPr>
        <p:spPr>
          <a:xfrm>
            <a:off x="451104" y="2003304"/>
            <a:ext cx="11289792" cy="441019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dirty="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385426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8416" y="2434451"/>
            <a:ext cx="3299852" cy="3499972"/>
          </a:xfrm>
          <a:prstGeom prst="rect">
            <a:avLst/>
          </a:prstGeom>
        </p:spPr>
      </p:pic>
      <p:sp>
        <p:nvSpPr>
          <p:cNvPr id="2" name="Title 1"/>
          <p:cNvSpPr>
            <a:spLocks noGrp="1"/>
          </p:cNvSpPr>
          <p:nvPr>
            <p:ph type="title"/>
          </p:nvPr>
        </p:nvSpPr>
        <p:spPr/>
        <p:txBody>
          <a:bodyPr>
            <a:normAutofit/>
          </a:bodyPr>
          <a:lstStyle/>
          <a:p>
            <a:r>
              <a:rPr lang="en-US"/>
              <a:t>Process Hacker</a:t>
            </a:r>
            <a:br>
              <a:rPr lang="en-US"/>
            </a:br>
            <a:r>
              <a:rPr lang="en-US" sz="2200"/>
              <a:t>Rulare (vizualizarea secțiunilor EXE (PE) încărcate în memorie)</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9181" y="2216542"/>
            <a:ext cx="5219432" cy="3935791"/>
          </a:xfrm>
          <a:prstGeom prst="rect">
            <a:avLst/>
          </a:prstGeom>
          <a:ln>
            <a:noFill/>
          </a:ln>
          <a:effectLst>
            <a:outerShdw blurRad="190500" algn="tl" rotWithShape="0">
              <a:srgbClr val="000000">
                <a:alpha val="70000"/>
              </a:srgbClr>
            </a:outerShdw>
          </a:effectLst>
        </p:spPr>
      </p:pic>
      <p:sp>
        <p:nvSpPr>
          <p:cNvPr id="7" name="Right Arrow 6"/>
          <p:cNvSpPr/>
          <p:nvPr/>
        </p:nvSpPr>
        <p:spPr>
          <a:xfrm rot="19892808">
            <a:off x="1558844" y="3075996"/>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Rectangle 2"/>
          <p:cNvSpPr/>
          <p:nvPr/>
        </p:nvSpPr>
        <p:spPr>
          <a:xfrm>
            <a:off x="5678085" y="2742084"/>
            <a:ext cx="5378668" cy="286512"/>
          </a:xfrm>
          <a:prstGeom prst="rect">
            <a:avLst/>
          </a:prstGeom>
          <a:solidFill>
            <a:schemeClr val="accent1">
              <a:alpha val="12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Process 3">
            <a:extLst>
              <a:ext uri="{FF2B5EF4-FFF2-40B4-BE49-F238E27FC236}">
                <a16:creationId xmlns:a16="http://schemas.microsoft.com/office/drawing/2014/main" id="{A1F4C6E8-2AD0-184C-B1C6-2EAAF9074EC4}"/>
              </a:ext>
            </a:extLst>
          </p:cNvPr>
          <p:cNvSpPr/>
          <p:nvPr/>
        </p:nvSpPr>
        <p:spPr>
          <a:xfrm>
            <a:off x="451104" y="2003304"/>
            <a:ext cx="11289792" cy="441019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dirty="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839352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normAutofit/>
          </a:bodyPr>
          <a:lstStyle/>
          <a:p>
            <a:r>
              <a:rPr lang="en-US"/>
              <a:t>process hacker</a:t>
            </a:r>
            <a:br>
              <a:rPr lang="en-US"/>
            </a:br>
            <a:r>
              <a:rPr lang="en-US"/>
              <a:t>                                                 Ce urmarim?</a:t>
            </a:r>
          </a:p>
        </p:txBody>
      </p:sp>
      <p:sp>
        <p:nvSpPr>
          <p:cNvPr id="3" name="Content Placeholder 2"/>
          <p:cNvSpPr>
            <a:spLocks noGrp="1"/>
          </p:cNvSpPr>
          <p:nvPr>
            <p:ph idx="1"/>
          </p:nvPr>
        </p:nvSpPr>
        <p:spPr>
          <a:xfrm>
            <a:off x="581192" y="2116284"/>
            <a:ext cx="11029615" cy="4360512"/>
          </a:xfrm>
        </p:spPr>
        <p:txBody>
          <a:bodyPr>
            <a:normAutofit fontScale="85000" lnSpcReduction="10000"/>
          </a:bodyPr>
          <a:lstStyle/>
          <a:p>
            <a:r>
              <a:rPr lang="en-US" b="1"/>
              <a:t>Procese neobișnuite sau suspecte. </a:t>
            </a:r>
            <a:r>
              <a:rPr lang="en-US"/>
              <a:t>Urmăriți procesele noi sau neașteptate care apar după executarea malware-ului. Process Hacker oferă detalii extinse despre fiecare proces, inclusiv PID-ul, utilizarea resurselor și parent process. Analizați procesele care nu au o semnătură digitală validă sau care sunt ascunse.</a:t>
            </a:r>
          </a:p>
          <a:p>
            <a:r>
              <a:rPr lang="en-US" b="1"/>
              <a:t>Modificări ale registrelor. </a:t>
            </a:r>
            <a:r>
              <a:rPr lang="en-US"/>
              <a:t>Monitorizați modificările efectuate în registrul sistemului. Multe tipuri de malware își modifică înregistrările pentru a asigura persistența sau pentru a schimba setările de securitate.</a:t>
            </a:r>
          </a:p>
          <a:p>
            <a:r>
              <a:rPr lang="en-US" b="1"/>
              <a:t>Conexiuni de rețea. </a:t>
            </a:r>
            <a:r>
              <a:rPr lang="en-US"/>
              <a:t>Verificați tab-ul de rețea pentru a observa orice conexiune neobișnuită sau neautorizată. Malware-ul poate încerca să comunice cu servere de comandă și control sau să descarce payload-uri suplimentare.</a:t>
            </a:r>
          </a:p>
          <a:p>
            <a:r>
              <a:rPr lang="en-US" b="1"/>
              <a:t>Servicii și driver. </a:t>
            </a:r>
            <a:r>
              <a:rPr lang="en-US"/>
              <a:t>Fiți atenți la orice serviciu sau driver nou instalat de malware. Unele malware-uri instalează drivere pentru a obține acces la nivel scăzut la sistemul de operare.</a:t>
            </a:r>
          </a:p>
          <a:p>
            <a:r>
              <a:rPr lang="en-US" b="1"/>
              <a:t>Manipularea memoriei. </a:t>
            </a:r>
            <a:r>
              <a:rPr lang="en-US"/>
              <a:t>Observați orice proces care pare să manipuleze memoria altor procese. Multe tipuri de malware încearcă să se injecteze în procese legitime pentru a evita detectarea.</a:t>
            </a:r>
          </a:p>
          <a:p>
            <a:r>
              <a:rPr lang="en-US" b="1"/>
              <a:t>Chei de autostart. </a:t>
            </a:r>
            <a:r>
              <a:rPr lang="en-US"/>
              <a:t>Examinati modificările aduse cheilor de autostart în registrul sistemului pentru a identifica metodele de persistență ale malware-ului.</a:t>
            </a:r>
          </a:p>
          <a:p>
            <a:r>
              <a:rPr lang="en-US" b="1"/>
              <a:t>Utilizarea resurselor. </a:t>
            </a:r>
            <a:r>
              <a:rPr lang="en-US"/>
              <a:t>Monitorizați utilizarea excesivă a CPU-ului, memoriei sau a discului, deoarece acest lucru poate indica activitatea malware-ului.</a:t>
            </a:r>
          </a:p>
          <a:p>
            <a:r>
              <a:rPr lang="en-US" b="1"/>
              <a:t>Fișiere și directoare. </a:t>
            </a:r>
            <a:r>
              <a:rPr lang="en-US"/>
              <a:t>Fiți atenți la orice modificare a sistemului de fișiere, inclusiv </a:t>
            </a:r>
            <a:r>
              <a:rPr lang="en-US" u="sng"/>
              <a:t>fișiere create</a:t>
            </a:r>
            <a:r>
              <a:rPr lang="en-US"/>
              <a:t>, modificate sau </a:t>
            </a:r>
            <a:r>
              <a:rPr lang="en-US" u="sng"/>
              <a:t>șterse</a:t>
            </a:r>
            <a:r>
              <a:rPr lang="en-US"/>
              <a:t> de malware.</a:t>
            </a:r>
          </a:p>
        </p:txBody>
      </p:sp>
      <p:sp>
        <p:nvSpPr>
          <p:cNvPr id="5" name="Rectangle 4"/>
          <p:cNvSpPr/>
          <p:nvPr/>
        </p:nvSpPr>
        <p:spPr>
          <a:xfrm>
            <a:off x="694944" y="1213104"/>
            <a:ext cx="7053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9269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Process Hacker</a:t>
            </a:r>
            <a:br>
              <a:rPr lang="en-US"/>
            </a:br>
            <a:r>
              <a:rPr lang="en-US" sz="2000"/>
              <a:t>Codul culorilor</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8044" y="2598280"/>
            <a:ext cx="3125861" cy="3125861"/>
          </a:xfrm>
          <a:prstGeom prst="rect">
            <a:avLst/>
          </a:prstGeom>
          <a:ln>
            <a:noFill/>
          </a:ln>
          <a:effectLst>
            <a:outerShdw blurRad="190500" algn="tl" rotWithShape="0">
              <a:srgbClr val="000000">
                <a:alpha val="70000"/>
              </a:srgbClr>
            </a:outerShdw>
          </a:effectLst>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856" y="2193316"/>
            <a:ext cx="5219432" cy="3935791"/>
          </a:xfrm>
          <a:prstGeom prst="rect">
            <a:avLst/>
          </a:prstGeom>
          <a:ln>
            <a:noFill/>
          </a:ln>
          <a:effectLst>
            <a:outerShdw blurRad="190500" algn="tl" rotWithShape="0">
              <a:srgbClr val="000000">
                <a:alpha val="70000"/>
              </a:srgbClr>
            </a:outerShdw>
          </a:effectLst>
        </p:spPr>
      </p:pic>
      <p:grpSp>
        <p:nvGrpSpPr>
          <p:cNvPr id="17" name="Group 16"/>
          <p:cNvGrpSpPr/>
          <p:nvPr/>
        </p:nvGrpSpPr>
        <p:grpSpPr>
          <a:xfrm>
            <a:off x="1393643" y="1887680"/>
            <a:ext cx="463958" cy="678729"/>
            <a:chOff x="7148267" y="1995277"/>
            <a:chExt cx="463958" cy="678729"/>
          </a:xfrm>
        </p:grpSpPr>
        <p:sp>
          <p:nvSpPr>
            <p:cNvPr id="18" name="Right Arrow 17"/>
            <p:cNvSpPr/>
            <p:nvPr/>
          </p:nvSpPr>
          <p:spPr>
            <a:xfrm rot="5400000">
              <a:off x="7089650" y="224923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Oval 18"/>
            <p:cNvSpPr/>
            <p:nvPr/>
          </p:nvSpPr>
          <p:spPr>
            <a:xfrm>
              <a:off x="7148267" y="1995277"/>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
        <p:nvSpPr>
          <p:cNvPr id="20" name="Rectangle 19"/>
          <p:cNvSpPr/>
          <p:nvPr/>
        </p:nvSpPr>
        <p:spPr>
          <a:xfrm>
            <a:off x="6813446" y="2193316"/>
            <a:ext cx="50650" cy="393579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7466881" y="2193316"/>
            <a:ext cx="1689501" cy="369332"/>
          </a:xfrm>
          <a:prstGeom prst="rect">
            <a:avLst/>
          </a:prstGeom>
        </p:spPr>
        <p:txBody>
          <a:bodyPr wrap="none">
            <a:spAutoFit/>
          </a:bodyPr>
          <a:lstStyle/>
          <a:p>
            <a:r>
              <a:rPr lang="en-US"/>
              <a:t>Codul culorilor:</a:t>
            </a:r>
          </a:p>
        </p:txBody>
      </p:sp>
      <p:sp>
        <p:nvSpPr>
          <p:cNvPr id="3" name="Flowchart: Process 2"/>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2197850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Process Hacker</a:t>
            </a:r>
            <a:br>
              <a:rPr lang="en-US"/>
            </a:br>
            <a:r>
              <a:rPr lang="en-US" sz="2000"/>
              <a:t>visualizare memorie (încărcarea secțiunilor)</a:t>
            </a:r>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2982" y="2206455"/>
            <a:ext cx="3055753" cy="3919455"/>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301" y="2206456"/>
            <a:ext cx="5197768" cy="3919455"/>
          </a:xfrm>
          <a:prstGeom prst="rect">
            <a:avLst/>
          </a:prstGeom>
          <a:ln>
            <a:noFill/>
          </a:ln>
          <a:effectLst>
            <a:outerShdw blurRad="190500" algn="tl" rotWithShape="0">
              <a:srgbClr val="000000">
                <a:alpha val="70000"/>
              </a:srgbClr>
            </a:outerShdw>
          </a:effectLst>
        </p:spPr>
      </p:pic>
      <p:sp>
        <p:nvSpPr>
          <p:cNvPr id="6" name="Right Arrow 5"/>
          <p:cNvSpPr/>
          <p:nvPr/>
        </p:nvSpPr>
        <p:spPr>
          <a:xfrm rot="19892808">
            <a:off x="2040245" y="4874314"/>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9" name="Rectangle 8"/>
          <p:cNvSpPr/>
          <p:nvPr/>
        </p:nvSpPr>
        <p:spPr>
          <a:xfrm>
            <a:off x="6703200" y="2206455"/>
            <a:ext cx="50650" cy="393579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Process 2"/>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3617385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Process Hacker</a:t>
            </a:r>
            <a:br>
              <a:rPr lang="en-US"/>
            </a:br>
            <a:r>
              <a:rPr lang="en-US" sz="2000"/>
              <a:t>visualizare memorie (încărcarea secțiunilor)</a:t>
            </a: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296851" y="2190513"/>
            <a:ext cx="4667832" cy="3923775"/>
          </a:xfrm>
          <a:prstGeom prst="rect">
            <a:avLst/>
          </a:prstGeom>
          <a:ln>
            <a:noFill/>
          </a:ln>
          <a:effectLst>
            <a:outerShdw blurRad="190500" algn="tl" rotWithShape="0">
              <a:srgbClr val="000000">
                <a:alpha val="70000"/>
              </a:srgbClr>
            </a:out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7058" y="2190512"/>
            <a:ext cx="4520276" cy="3923775"/>
          </a:xfrm>
          <a:prstGeom prst="rect">
            <a:avLst/>
          </a:prstGeom>
          <a:ln>
            <a:noFill/>
          </a:ln>
          <a:effectLst>
            <a:outerShdw blurRad="190500" algn="tl" rotWithShape="0">
              <a:srgbClr val="000000">
                <a:alpha val="70000"/>
              </a:srgbClr>
            </a:outerShdw>
          </a:effectLst>
        </p:spPr>
      </p:pic>
      <p:grpSp>
        <p:nvGrpSpPr>
          <p:cNvPr id="8" name="Group 7"/>
          <p:cNvGrpSpPr/>
          <p:nvPr/>
        </p:nvGrpSpPr>
        <p:grpSpPr>
          <a:xfrm>
            <a:off x="2108596" y="4497803"/>
            <a:ext cx="754554" cy="477830"/>
            <a:chOff x="2774286" y="5611932"/>
            <a:chExt cx="754554" cy="477830"/>
          </a:xfrm>
        </p:grpSpPr>
        <p:sp>
          <p:nvSpPr>
            <p:cNvPr id="9" name="Right Arrow 8"/>
            <p:cNvSpPr/>
            <p:nvPr/>
          </p:nvSpPr>
          <p:spPr>
            <a:xfrm rot="19892808">
              <a:off x="2947648" y="561193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2774286" y="564651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1" name="Group 10"/>
          <p:cNvGrpSpPr/>
          <p:nvPr/>
        </p:nvGrpSpPr>
        <p:grpSpPr>
          <a:xfrm>
            <a:off x="6126011" y="2638523"/>
            <a:ext cx="754554" cy="477830"/>
            <a:chOff x="2774286" y="5611932"/>
            <a:chExt cx="754554" cy="477830"/>
          </a:xfrm>
        </p:grpSpPr>
        <p:sp>
          <p:nvSpPr>
            <p:cNvPr id="12" name="Right Arrow 11"/>
            <p:cNvSpPr/>
            <p:nvPr/>
          </p:nvSpPr>
          <p:spPr>
            <a:xfrm rot="19892808">
              <a:off x="2947648" y="561193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Oval 12"/>
            <p:cNvSpPr/>
            <p:nvPr/>
          </p:nvSpPr>
          <p:spPr>
            <a:xfrm>
              <a:off x="2774286" y="564651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sp>
        <p:nvSpPr>
          <p:cNvPr id="3" name="Rectangle 2"/>
          <p:cNvSpPr/>
          <p:nvPr/>
        </p:nvSpPr>
        <p:spPr>
          <a:xfrm>
            <a:off x="3623562" y="6378179"/>
            <a:ext cx="5007205" cy="369332"/>
          </a:xfrm>
          <a:prstGeom prst="rect">
            <a:avLst/>
          </a:prstGeom>
        </p:spPr>
        <p:txBody>
          <a:bodyPr wrap="none">
            <a:spAutoFit/>
          </a:bodyPr>
          <a:lstStyle/>
          <a:p>
            <a:r>
              <a:rPr lang="pt-BR"/>
              <a:t>Exemplu de executabil compilat și rulat în laborator</a:t>
            </a:r>
            <a:endParaRPr lang="en-US"/>
          </a:p>
        </p:txBody>
      </p:sp>
      <p:sp>
        <p:nvSpPr>
          <p:cNvPr id="6" name="Flowchart: Process 5">
            <a:extLst>
              <a:ext uri="{FF2B5EF4-FFF2-40B4-BE49-F238E27FC236}">
                <a16:creationId xmlns:a16="http://schemas.microsoft.com/office/drawing/2014/main" id="{20DB6BF0-48FE-B924-9248-44846937CC63}"/>
              </a:ext>
            </a:extLst>
          </p:cNvPr>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3993532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Process Hacker</a:t>
            </a:r>
            <a:br>
              <a:rPr lang="en-US"/>
            </a:br>
            <a:r>
              <a:rPr lang="en-US" sz="2000"/>
              <a:t>Procese și acces la disc în timp real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91" y="2145752"/>
            <a:ext cx="5392205" cy="4066073"/>
          </a:xfrm>
          <a:prstGeom prst="rect">
            <a:avLst/>
          </a:prstGeom>
          <a:ln>
            <a:noFill/>
          </a:ln>
          <a:effectLst>
            <a:outerShdw blurRad="190500" algn="tl" rotWithShape="0">
              <a:srgbClr val="000000">
                <a:alpha val="70000"/>
              </a:srgbClr>
            </a:outerShdw>
          </a:effectLst>
        </p:spPr>
      </p:pic>
      <p:pic>
        <p:nvPicPr>
          <p:cNvPr id="5"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52937" y="2145752"/>
            <a:ext cx="5392204" cy="4066072"/>
          </a:xfrm>
          <a:prstGeom prst="rect">
            <a:avLst/>
          </a:prstGeom>
          <a:ln>
            <a:noFill/>
          </a:ln>
          <a:effectLst>
            <a:outerShdw blurRad="190500" algn="tl" rotWithShape="0">
              <a:srgbClr val="000000">
                <a:alpha val="70000"/>
              </a:srgbClr>
            </a:outerShdw>
          </a:effectLst>
        </p:spPr>
      </p:pic>
      <p:grpSp>
        <p:nvGrpSpPr>
          <p:cNvPr id="13" name="Group 12"/>
          <p:cNvGrpSpPr/>
          <p:nvPr/>
        </p:nvGrpSpPr>
        <p:grpSpPr>
          <a:xfrm>
            <a:off x="4144269" y="5248159"/>
            <a:ext cx="518212" cy="674956"/>
            <a:chOff x="4741677" y="5807261"/>
            <a:chExt cx="518212" cy="674956"/>
          </a:xfrm>
        </p:grpSpPr>
        <p:sp>
          <p:nvSpPr>
            <p:cNvPr id="11" name="Right Arrow 10"/>
            <p:cNvSpPr/>
            <p:nvPr/>
          </p:nvSpPr>
          <p:spPr>
            <a:xfrm rot="13676910">
              <a:off x="4585253" y="5963685"/>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Oval 11"/>
            <p:cNvSpPr/>
            <p:nvPr/>
          </p:nvSpPr>
          <p:spPr>
            <a:xfrm>
              <a:off x="4795931" y="6038968"/>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7" name="Group 16"/>
          <p:cNvGrpSpPr/>
          <p:nvPr/>
        </p:nvGrpSpPr>
        <p:grpSpPr>
          <a:xfrm>
            <a:off x="7148267" y="1995277"/>
            <a:ext cx="463958" cy="678729"/>
            <a:chOff x="7148267" y="1995277"/>
            <a:chExt cx="463958" cy="678729"/>
          </a:xfrm>
        </p:grpSpPr>
        <p:sp>
          <p:nvSpPr>
            <p:cNvPr id="15" name="Right Arrow 14"/>
            <p:cNvSpPr/>
            <p:nvPr/>
          </p:nvSpPr>
          <p:spPr>
            <a:xfrm rot="5400000">
              <a:off x="7089650" y="224923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Oval 15"/>
            <p:cNvSpPr/>
            <p:nvPr/>
          </p:nvSpPr>
          <p:spPr>
            <a:xfrm>
              <a:off x="7148267" y="1995277"/>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nvGrpSpPr>
          <p:cNvPr id="18" name="Group 17"/>
          <p:cNvGrpSpPr/>
          <p:nvPr/>
        </p:nvGrpSpPr>
        <p:grpSpPr>
          <a:xfrm>
            <a:off x="560893" y="1982878"/>
            <a:ext cx="463958" cy="678729"/>
            <a:chOff x="7148267" y="1995277"/>
            <a:chExt cx="463958" cy="678729"/>
          </a:xfrm>
        </p:grpSpPr>
        <p:sp>
          <p:nvSpPr>
            <p:cNvPr id="19" name="Right Arrow 18"/>
            <p:cNvSpPr/>
            <p:nvPr/>
          </p:nvSpPr>
          <p:spPr>
            <a:xfrm rot="5400000">
              <a:off x="7089650" y="224923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Oval 19"/>
            <p:cNvSpPr/>
            <p:nvPr/>
          </p:nvSpPr>
          <p:spPr>
            <a:xfrm>
              <a:off x="7148267" y="1995277"/>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
        <p:nvSpPr>
          <p:cNvPr id="21" name="Rectangle 20"/>
          <p:cNvSpPr/>
          <p:nvPr/>
        </p:nvSpPr>
        <p:spPr>
          <a:xfrm>
            <a:off x="560893" y="6386470"/>
            <a:ext cx="5412502" cy="369332"/>
          </a:xfrm>
          <a:prstGeom prst="rect">
            <a:avLst/>
          </a:prstGeom>
        </p:spPr>
        <p:txBody>
          <a:bodyPr wrap="square">
            <a:spAutoFit/>
          </a:bodyPr>
          <a:lstStyle/>
          <a:p>
            <a:pPr algn="ctr"/>
            <a:r>
              <a:rPr lang="pt-BR"/>
              <a:t>Procese</a:t>
            </a:r>
            <a:endParaRPr lang="en-US"/>
          </a:p>
        </p:txBody>
      </p:sp>
      <p:sp>
        <p:nvSpPr>
          <p:cNvPr id="22" name="Rectangle 21"/>
          <p:cNvSpPr/>
          <p:nvPr/>
        </p:nvSpPr>
        <p:spPr>
          <a:xfrm>
            <a:off x="6152936" y="6396731"/>
            <a:ext cx="5587959" cy="369332"/>
          </a:xfrm>
          <a:prstGeom prst="rect">
            <a:avLst/>
          </a:prstGeom>
        </p:spPr>
        <p:txBody>
          <a:bodyPr wrap="square">
            <a:spAutoFit/>
          </a:bodyPr>
          <a:lstStyle/>
          <a:p>
            <a:pPr algn="ctr"/>
            <a:r>
              <a:rPr lang="pt-BR"/>
              <a:t>Access la disc</a:t>
            </a:r>
            <a:endParaRPr lang="en-US"/>
          </a:p>
        </p:txBody>
      </p:sp>
      <p:sp>
        <p:nvSpPr>
          <p:cNvPr id="3" name="Flowchart: Process 2"/>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1829422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Process Hacker</a:t>
            </a:r>
            <a:br>
              <a:rPr lang="en-US"/>
            </a:br>
            <a:r>
              <a:rPr lang="en-US" sz="2000"/>
              <a:t>Servicii și rețea</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92" y="2145752"/>
            <a:ext cx="5392204" cy="4066073"/>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2937" y="2145752"/>
            <a:ext cx="5392204" cy="4066073"/>
          </a:xfrm>
          <a:prstGeom prst="rect">
            <a:avLst/>
          </a:prstGeom>
          <a:ln>
            <a:noFill/>
          </a:ln>
          <a:effectLst>
            <a:outerShdw blurRad="190500" algn="tl" rotWithShape="0">
              <a:srgbClr val="000000">
                <a:alpha val="70000"/>
              </a:srgbClr>
            </a:outerShdw>
          </a:effectLst>
        </p:spPr>
      </p:pic>
      <p:grpSp>
        <p:nvGrpSpPr>
          <p:cNvPr id="11" name="Group 10"/>
          <p:cNvGrpSpPr/>
          <p:nvPr/>
        </p:nvGrpSpPr>
        <p:grpSpPr>
          <a:xfrm>
            <a:off x="6873947" y="1991112"/>
            <a:ext cx="463958" cy="678729"/>
            <a:chOff x="7148267" y="1995277"/>
            <a:chExt cx="463958" cy="678729"/>
          </a:xfrm>
        </p:grpSpPr>
        <p:sp>
          <p:nvSpPr>
            <p:cNvPr id="12" name="Right Arrow 11"/>
            <p:cNvSpPr/>
            <p:nvPr/>
          </p:nvSpPr>
          <p:spPr>
            <a:xfrm rot="5400000">
              <a:off x="7089650" y="224923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Oval 12"/>
            <p:cNvSpPr/>
            <p:nvPr/>
          </p:nvSpPr>
          <p:spPr>
            <a:xfrm>
              <a:off x="7148267" y="1995277"/>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4" name="Group 13"/>
          <p:cNvGrpSpPr/>
          <p:nvPr/>
        </p:nvGrpSpPr>
        <p:grpSpPr>
          <a:xfrm>
            <a:off x="936443" y="1991112"/>
            <a:ext cx="463958" cy="678729"/>
            <a:chOff x="7148267" y="1995277"/>
            <a:chExt cx="463958" cy="678729"/>
          </a:xfrm>
        </p:grpSpPr>
        <p:sp>
          <p:nvSpPr>
            <p:cNvPr id="15" name="Right Arrow 14"/>
            <p:cNvSpPr/>
            <p:nvPr/>
          </p:nvSpPr>
          <p:spPr>
            <a:xfrm rot="5400000">
              <a:off x="7089650" y="224923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Oval 15"/>
            <p:cNvSpPr/>
            <p:nvPr/>
          </p:nvSpPr>
          <p:spPr>
            <a:xfrm>
              <a:off x="7148267" y="1995277"/>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
        <p:nvSpPr>
          <p:cNvPr id="17" name="Rectangle 16"/>
          <p:cNvSpPr/>
          <p:nvPr/>
        </p:nvSpPr>
        <p:spPr>
          <a:xfrm>
            <a:off x="560893" y="6386470"/>
            <a:ext cx="5412502" cy="369332"/>
          </a:xfrm>
          <a:prstGeom prst="rect">
            <a:avLst/>
          </a:prstGeom>
        </p:spPr>
        <p:txBody>
          <a:bodyPr wrap="square">
            <a:spAutoFit/>
          </a:bodyPr>
          <a:lstStyle/>
          <a:p>
            <a:pPr algn="ctr"/>
            <a:r>
              <a:rPr lang="pt-BR"/>
              <a:t>Servicii</a:t>
            </a:r>
            <a:endParaRPr lang="en-US"/>
          </a:p>
        </p:txBody>
      </p:sp>
      <p:sp>
        <p:nvSpPr>
          <p:cNvPr id="18" name="Rectangle 17"/>
          <p:cNvSpPr/>
          <p:nvPr/>
        </p:nvSpPr>
        <p:spPr>
          <a:xfrm>
            <a:off x="6152936" y="6396731"/>
            <a:ext cx="5587959" cy="369332"/>
          </a:xfrm>
          <a:prstGeom prst="rect">
            <a:avLst/>
          </a:prstGeom>
        </p:spPr>
        <p:txBody>
          <a:bodyPr wrap="square">
            <a:spAutoFit/>
          </a:bodyPr>
          <a:lstStyle/>
          <a:p>
            <a:pPr algn="ctr"/>
            <a:r>
              <a:rPr lang="pt-BR"/>
              <a:t>Rețea</a:t>
            </a:r>
            <a:endParaRPr lang="en-US"/>
          </a:p>
        </p:txBody>
      </p:sp>
      <p:sp>
        <p:nvSpPr>
          <p:cNvPr id="3" name="Flowchart: Process 2"/>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36266326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care este diferenta dintre </a:t>
            </a:r>
            <a:br>
              <a:rPr lang="en-US"/>
            </a:br>
            <a:r>
              <a:rPr lang="en-US" sz="2000"/>
              <a:t>process monitor, process explorer si process hacker?</a:t>
            </a:r>
          </a:p>
        </p:txBody>
      </p:sp>
      <p:sp>
        <p:nvSpPr>
          <p:cNvPr id="3" name="Content Placeholder 2"/>
          <p:cNvSpPr>
            <a:spLocks noGrp="1"/>
          </p:cNvSpPr>
          <p:nvPr>
            <p:ph idx="1"/>
          </p:nvPr>
        </p:nvSpPr>
        <p:spPr>
          <a:xfrm>
            <a:off x="581192" y="2180496"/>
            <a:ext cx="11029615" cy="4281264"/>
          </a:xfrm>
        </p:spPr>
        <p:txBody>
          <a:bodyPr>
            <a:normAutofit fontScale="70000" lnSpcReduction="20000"/>
          </a:bodyPr>
          <a:lstStyle/>
          <a:p>
            <a:pPr marL="0" indent="0">
              <a:buNone/>
            </a:pPr>
            <a:r>
              <a:rPr lang="en-US" b="1" u="sng"/>
              <a:t>Process Monitor</a:t>
            </a:r>
          </a:p>
          <a:p>
            <a:r>
              <a:rPr lang="en-US"/>
              <a:t>Funcționalitate. Process Monitor este o unealtă avansată de monitorizare care combină caracteristicile de la două unelte mai vechi, Filemon și Regmon. Oferă o monitorizare în timp real a activității sistemului de fișiere, a registrului și a proceselor/thread-urilor, inclusiv a activității de rețea. Este util pentru captarea unei imagini cuprinzătoare a tuturor activităților care au loc pe sistem.</a:t>
            </a:r>
          </a:p>
          <a:p>
            <a:r>
              <a:rPr lang="en-US"/>
              <a:t>Cazuri de utilizare. Ideal pentru depistarea problemelor complexe de sistem, inclusiv probleme de performanță, erori de aplicații și probleme de înregistrare.</a:t>
            </a:r>
          </a:p>
          <a:p>
            <a:endParaRPr lang="en-US"/>
          </a:p>
          <a:p>
            <a:pPr marL="0" indent="0">
              <a:buNone/>
            </a:pPr>
            <a:r>
              <a:rPr lang="en-US" b="1" u="sng"/>
              <a:t>Process Explorer</a:t>
            </a:r>
          </a:p>
          <a:p>
            <a:r>
              <a:rPr lang="en-US"/>
              <a:t>Funcționalitate. Process Explorer oferă o vedere mai detaliată asupra proceselor care rulează decât Managerul de sarcini Windows standard. Afișează informații despre procesele active, inclusiv mapele de manipulare și DLL-urile încărcate. Oferă, de asemenea, o reprezentare vizuală a relațiilor dintre procese, permițând utilizatorilor să vadă rapid care procese sunt legate.</a:t>
            </a:r>
          </a:p>
          <a:p>
            <a:r>
              <a:rPr lang="en-US"/>
              <a:t>Cazuri de utilizare. Foarte util pentru identificarea proceselor care consumă resurse și pentru analiza relațiilor dintre procese. Este adesea folosit pentru troubleshooting și analiză preliminară a malware-ului.</a:t>
            </a:r>
          </a:p>
          <a:p>
            <a:endParaRPr lang="en-US"/>
          </a:p>
          <a:p>
            <a:pPr marL="0" indent="0">
              <a:buNone/>
            </a:pPr>
            <a:r>
              <a:rPr lang="en-US" b="1" u="sng"/>
              <a:t>Process Hacker</a:t>
            </a:r>
          </a:p>
          <a:p>
            <a:r>
              <a:rPr lang="en-US"/>
              <a:t>Funcționalitate. Process Hacker este o unealtă open-source care oferă funcționalități similare cu Process Explorer, dar cu caracteristici suplimentare avansate. Include o vedere detaliată a serviciilor, conexiunilor de rețea, sesiunilor de utilizator, și permite utilizatorilor să manipuleze procese, thread-uri și multe altele. Oferă, de asemenea, un monitorizor de sistem care poate afișa activitatea în timp real.</a:t>
            </a:r>
          </a:p>
          <a:p>
            <a:r>
              <a:rPr lang="en-US"/>
              <a:t>Cazuri de utilizare. Recomandat pentru utilizatori tehnici sau analiști de securitate care au nevoie de funcții avansate pentru depanare, analiza malware-ului și optimizarea performanței sistemului.</a:t>
            </a:r>
          </a:p>
        </p:txBody>
      </p:sp>
    </p:spTree>
    <p:extLst>
      <p:ext uri="{BB962C8B-B14F-4D97-AF65-F5344CB8AC3E}">
        <p14:creationId xmlns:p14="http://schemas.microsoft.com/office/powerpoint/2010/main" val="3174837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Diferențe Cheie</a:t>
            </a:r>
            <a:br>
              <a:rPr lang="en-US"/>
            </a:br>
            <a:endParaRPr lang="en-US"/>
          </a:p>
        </p:txBody>
      </p:sp>
      <p:sp>
        <p:nvSpPr>
          <p:cNvPr id="3" name="Content Placeholder 2"/>
          <p:cNvSpPr>
            <a:spLocks noGrp="1"/>
          </p:cNvSpPr>
          <p:nvPr>
            <p:ph idx="1"/>
          </p:nvPr>
        </p:nvSpPr>
        <p:spPr>
          <a:xfrm>
            <a:off x="581192" y="2180496"/>
            <a:ext cx="11029615" cy="4269072"/>
          </a:xfrm>
        </p:spPr>
        <p:txBody>
          <a:bodyPr>
            <a:normAutofit/>
          </a:bodyPr>
          <a:lstStyle/>
          <a:p>
            <a:r>
              <a:rPr lang="en-US" b="1"/>
              <a:t>Complexitate și Public Țintă: </a:t>
            </a:r>
            <a:r>
              <a:rPr lang="en-US"/>
              <a:t>Process Monitor este cel mai bun pentru captarea unui flux de date detaliat despre activitatea sistemului, ideal pentru analiza profundă. Process Explorer este mai ușor de utilizat pentru o privire generală asupra proceselor și DLL-urilor. Process Hacker oferă cele mai avansate funcționalități, fiind preferat de profesioniștii în IT și de analiștii de securitate pentru analize detaliate și intervenții.</a:t>
            </a:r>
          </a:p>
          <a:p>
            <a:endParaRPr lang="en-US"/>
          </a:p>
          <a:p>
            <a:r>
              <a:rPr lang="en-US" b="1"/>
              <a:t>Funcționalități Unice: </a:t>
            </a:r>
            <a:r>
              <a:rPr lang="en-US"/>
              <a:t>Deși toate trei pot fi utilizate pentru monitorizarea proceselor și a activității sistemului, Process Hacker și Process Explorer oferă o analiză mai profundă a relațiilor dintre procese, în timp ce Process Monitor se concentrează pe evenimentele sistemului în timp real.</a:t>
            </a:r>
          </a:p>
          <a:p>
            <a:endParaRPr lang="en-US"/>
          </a:p>
          <a:p>
            <a:r>
              <a:rPr lang="en-US" b="1"/>
              <a:t>Interfață și Ușurința de Utilizare: </a:t>
            </a:r>
            <a:r>
              <a:rPr lang="en-US"/>
              <a:t>Process Explorer are o interfață relativ simplă și ușor de înțeles, comparativ cu Process Hacker care oferă mai multe opțiuni avansate și o personalizare mai detaliată, ceea ce poate fi intimidant pentru utilizatorii noi sau neexperimentați. Process Monitor are o abordare unică, concentrându-se pe monitorizarea evenimentelor și oferind filtre puternice pentru analiza datelor.</a:t>
            </a:r>
          </a:p>
        </p:txBody>
      </p:sp>
      <p:sp>
        <p:nvSpPr>
          <p:cNvPr id="4" name="Flowchart: Process 3"/>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3333636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581192" y="2011680"/>
            <a:ext cx="11165800" cy="192600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Statică</a:t>
            </a:r>
          </a:p>
        </p:txBody>
      </p:sp>
      <p:sp>
        <p:nvSpPr>
          <p:cNvPr id="6" name="Flowchart: Process 5"/>
          <p:cNvSpPr/>
          <p:nvPr/>
        </p:nvSpPr>
        <p:spPr>
          <a:xfrm>
            <a:off x="581192" y="4047410"/>
            <a:ext cx="11165800" cy="184742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Dinamică</a:t>
            </a:r>
          </a:p>
        </p:txBody>
      </p:sp>
      <p:sp>
        <p:nvSpPr>
          <p:cNvPr id="7" name="Flowchart: Process 6"/>
          <p:cNvSpPr/>
          <p:nvPr/>
        </p:nvSpPr>
        <p:spPr>
          <a:xfrm>
            <a:off x="581192" y="6004560"/>
            <a:ext cx="11165800" cy="60960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Cloud</a:t>
            </a:r>
          </a:p>
        </p:txBody>
      </p:sp>
      <p:sp>
        <p:nvSpPr>
          <p:cNvPr id="2" name="Title 1"/>
          <p:cNvSpPr>
            <a:spLocks noGrp="1"/>
          </p:cNvSpPr>
          <p:nvPr>
            <p:ph type="title"/>
          </p:nvPr>
        </p:nvSpPr>
        <p:spPr/>
        <p:txBody>
          <a:bodyPr>
            <a:normAutofit/>
          </a:bodyPr>
          <a:lstStyle/>
          <a:p>
            <a:r>
              <a:rPr lang="pt-BR" sz="3200"/>
              <a:t>cod malițios: Instrumente de analiză</a:t>
            </a:r>
            <a:endParaRPr lang="en-US" sz="3200"/>
          </a:p>
        </p:txBody>
      </p:sp>
      <p:sp>
        <p:nvSpPr>
          <p:cNvPr id="3" name="Content Placeholder 2"/>
          <p:cNvSpPr>
            <a:spLocks noGrp="1"/>
          </p:cNvSpPr>
          <p:nvPr>
            <p:ph idx="1"/>
          </p:nvPr>
        </p:nvSpPr>
        <p:spPr>
          <a:xfrm>
            <a:off x="581193" y="2305088"/>
            <a:ext cx="6063448" cy="3955504"/>
          </a:xfrm>
        </p:spPr>
        <p:txBody>
          <a:bodyPr>
            <a:noAutofit/>
          </a:bodyPr>
          <a:lstStyle/>
          <a:p>
            <a:r>
              <a:rPr lang="en-US" sz="3200">
                <a:solidFill>
                  <a:schemeClr val="tx1">
                    <a:lumMod val="50000"/>
                    <a:lumOff val="50000"/>
                  </a:schemeClr>
                </a:solidFill>
              </a:rPr>
              <a:t>PEstudio</a:t>
            </a:r>
          </a:p>
          <a:p>
            <a:r>
              <a:rPr lang="en-US" sz="3200">
                <a:solidFill>
                  <a:schemeClr val="tx1">
                    <a:lumMod val="50000"/>
                    <a:lumOff val="50000"/>
                  </a:schemeClr>
                </a:solidFill>
              </a:rPr>
              <a:t>Bcompare</a:t>
            </a:r>
          </a:p>
          <a:p>
            <a:r>
              <a:rPr lang="en-US" sz="3200">
                <a:solidFill>
                  <a:schemeClr val="tx1">
                    <a:lumMod val="50000"/>
                    <a:lumOff val="50000"/>
                  </a:schemeClr>
                </a:solidFill>
              </a:rPr>
              <a:t>Cutter &amp; IDA &amp; x64dbg</a:t>
            </a:r>
          </a:p>
          <a:p>
            <a:r>
              <a:rPr lang="en-US" sz="3200">
                <a:solidFill>
                  <a:schemeClr val="tx1">
                    <a:lumMod val="50000"/>
                    <a:lumOff val="50000"/>
                  </a:schemeClr>
                </a:solidFill>
              </a:rPr>
              <a:t>Sysinternals</a:t>
            </a:r>
          </a:p>
          <a:p>
            <a:r>
              <a:rPr lang="en-US" sz="3200" b="1">
                <a:solidFill>
                  <a:schemeClr val="tx1"/>
                </a:solidFill>
              </a:rPr>
              <a:t>Wireshark</a:t>
            </a:r>
          </a:p>
          <a:p>
            <a:r>
              <a:rPr lang="en-US" sz="3200">
                <a:solidFill>
                  <a:schemeClr val="tx1">
                    <a:lumMod val="50000"/>
                    <a:lumOff val="50000"/>
                  </a:schemeClr>
                </a:solidFill>
              </a:rPr>
              <a:t>procDOT</a:t>
            </a:r>
          </a:p>
          <a:p>
            <a:r>
              <a:rPr lang="en-US" sz="3200">
                <a:solidFill>
                  <a:schemeClr val="tx1">
                    <a:lumMod val="50000"/>
                    <a:lumOff val="50000"/>
                  </a:schemeClr>
                </a:solidFill>
              </a:rPr>
              <a:t>Analiza malware in Cloud </a:t>
            </a:r>
          </a:p>
        </p:txBody>
      </p:sp>
      <p:sp>
        <p:nvSpPr>
          <p:cNvPr id="4" name="Right Arrow 3"/>
          <p:cNvSpPr/>
          <p:nvPr/>
        </p:nvSpPr>
        <p:spPr>
          <a:xfrm>
            <a:off x="1" y="4810210"/>
            <a:ext cx="581192" cy="268343"/>
          </a:xfrm>
          <a:prstGeom prst="rightArrow">
            <a:avLst>
              <a:gd name="adj1" fmla="val 50000"/>
              <a:gd name="adj2" fmla="val 8034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Arrow: Bent 7">
            <a:extLst>
              <a:ext uri="{FF2B5EF4-FFF2-40B4-BE49-F238E27FC236}">
                <a16:creationId xmlns:a16="http://schemas.microsoft.com/office/drawing/2014/main" id="{D054D39E-4244-0423-A984-A89807B8576E}"/>
              </a:ext>
            </a:extLst>
          </p:cNvPr>
          <p:cNvSpPr/>
          <p:nvPr/>
        </p:nvSpPr>
        <p:spPr>
          <a:xfrm rot="5400000">
            <a:off x="4936434" y="3630762"/>
            <a:ext cx="1146313" cy="1007165"/>
          </a:xfrm>
          <a:prstGeom prst="ben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372125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Wireshark</a:t>
            </a:r>
            <a:br>
              <a:rPr lang="en-US" dirty="0"/>
            </a:br>
            <a:r>
              <a:rPr lang="en-US" dirty="0"/>
              <a:t>                       Pornire (</a:t>
            </a:r>
            <a:r>
              <a:rPr lang="en-US" dirty="0" err="1"/>
              <a:t>filtru</a:t>
            </a:r>
            <a:r>
              <a:rPr lang="en-US" dirty="0"/>
              <a:t>; </a:t>
            </a:r>
            <a:r>
              <a:rPr lang="en-US" dirty="0" err="1"/>
              <a:t>smtp;http</a:t>
            </a:r>
            <a:r>
              <a:rPr lang="en-US" dirty="0"/>
              <a:t>)</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353" y="2246480"/>
            <a:ext cx="4834308" cy="4023880"/>
          </a:xfrm>
          <a:prstGeom prst="rect">
            <a:avLst/>
          </a:prstGeom>
          <a:ln>
            <a:noFill/>
          </a:ln>
          <a:effectLst>
            <a:outerShdw blurRad="190500" algn="tl" rotWithShape="0">
              <a:srgbClr val="000000">
                <a:alpha val="70000"/>
              </a:srgbClr>
            </a:outerShdw>
          </a:effectLst>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1280" y="2246479"/>
            <a:ext cx="4824941" cy="4016080"/>
          </a:xfrm>
          <a:prstGeom prst="rect">
            <a:avLst/>
          </a:prstGeom>
          <a:ln>
            <a:noFill/>
          </a:ln>
          <a:effectLst>
            <a:outerShdw blurRad="190500" algn="tl" rotWithShape="0">
              <a:srgbClr val="000000">
                <a:alpha val="70000"/>
              </a:srgbClr>
            </a:outerShdw>
          </a:effectLst>
        </p:spPr>
      </p:pic>
      <p:sp>
        <p:nvSpPr>
          <p:cNvPr id="9" name="Right Arrow 8"/>
          <p:cNvSpPr/>
          <p:nvPr/>
        </p:nvSpPr>
        <p:spPr>
          <a:xfrm rot="19892808">
            <a:off x="1192899" y="4052257"/>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Right Arrow 9"/>
          <p:cNvSpPr/>
          <p:nvPr/>
        </p:nvSpPr>
        <p:spPr>
          <a:xfrm rot="19892808">
            <a:off x="656452" y="2954074"/>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ight Arrow 10"/>
          <p:cNvSpPr/>
          <p:nvPr/>
        </p:nvSpPr>
        <p:spPr>
          <a:xfrm rot="12398349">
            <a:off x="6787345" y="3034873"/>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Oval 11"/>
          <p:cNvSpPr/>
          <p:nvPr/>
        </p:nvSpPr>
        <p:spPr>
          <a:xfrm>
            <a:off x="392019" y="3043338"/>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sp>
        <p:nvSpPr>
          <p:cNvPr id="13" name="Oval 12"/>
          <p:cNvSpPr/>
          <p:nvPr/>
        </p:nvSpPr>
        <p:spPr>
          <a:xfrm>
            <a:off x="950053" y="4128824"/>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sp>
        <p:nvSpPr>
          <p:cNvPr id="14" name="Oval 13"/>
          <p:cNvSpPr/>
          <p:nvPr/>
        </p:nvSpPr>
        <p:spPr>
          <a:xfrm>
            <a:off x="7086910" y="3109147"/>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sp>
        <p:nvSpPr>
          <p:cNvPr id="3" name="Rectangle 2"/>
          <p:cNvSpPr/>
          <p:nvPr/>
        </p:nvSpPr>
        <p:spPr>
          <a:xfrm>
            <a:off x="8669830" y="747391"/>
            <a:ext cx="3005695" cy="923330"/>
          </a:xfrm>
          <a:prstGeom prst="rect">
            <a:avLst/>
          </a:prstGeom>
        </p:spPr>
        <p:txBody>
          <a:bodyPr wrap="none">
            <a:spAutoFit/>
          </a:bodyPr>
          <a:lstStyle/>
          <a:p>
            <a:pPr marL="342900" indent="-342900">
              <a:buFontTx/>
              <a:buAutoNum type="arabicParenR"/>
            </a:pPr>
            <a:r>
              <a:rPr lang="en-US" dirty="0" err="1">
                <a:solidFill>
                  <a:prstClr val="white"/>
                </a:solidFill>
              </a:rPr>
              <a:t>Selectare</a:t>
            </a:r>
            <a:r>
              <a:rPr lang="en-US" dirty="0">
                <a:solidFill>
                  <a:prstClr val="white"/>
                </a:solidFill>
              </a:rPr>
              <a:t> adaptor de </a:t>
            </a:r>
            <a:r>
              <a:rPr lang="en-US" dirty="0" err="1">
                <a:solidFill>
                  <a:prstClr val="white"/>
                </a:solidFill>
              </a:rPr>
              <a:t>rețea</a:t>
            </a:r>
            <a:endParaRPr lang="en-US" dirty="0">
              <a:solidFill>
                <a:prstClr val="white"/>
              </a:solidFill>
            </a:endParaRPr>
          </a:p>
          <a:p>
            <a:pPr marL="342900" indent="-342900">
              <a:buFontTx/>
              <a:buAutoNum type="arabicParenR"/>
            </a:pPr>
            <a:r>
              <a:rPr lang="en-US" dirty="0">
                <a:solidFill>
                  <a:prstClr val="white"/>
                </a:solidFill>
              </a:rPr>
              <a:t>Pornire </a:t>
            </a:r>
            <a:r>
              <a:rPr lang="en-US" dirty="0" err="1">
                <a:solidFill>
                  <a:prstClr val="white"/>
                </a:solidFill>
              </a:rPr>
              <a:t>wireshark</a:t>
            </a:r>
            <a:endParaRPr lang="en-US" dirty="0">
              <a:solidFill>
                <a:prstClr val="white"/>
              </a:solidFill>
            </a:endParaRPr>
          </a:p>
          <a:p>
            <a:pPr marL="342900" indent="-342900">
              <a:buFontTx/>
              <a:buAutoNum type="arabicParenR"/>
            </a:pPr>
            <a:r>
              <a:rPr lang="en-US" dirty="0" err="1">
                <a:solidFill>
                  <a:prstClr val="white"/>
                </a:solidFill>
              </a:rPr>
              <a:t>Aplicare</a:t>
            </a:r>
            <a:r>
              <a:rPr lang="en-US" dirty="0">
                <a:solidFill>
                  <a:prstClr val="white"/>
                </a:solidFill>
              </a:rPr>
              <a:t> de </a:t>
            </a:r>
            <a:r>
              <a:rPr lang="en-US" dirty="0" err="1">
                <a:solidFill>
                  <a:prstClr val="white"/>
                </a:solidFill>
              </a:rPr>
              <a:t>filtre</a:t>
            </a:r>
            <a:r>
              <a:rPr lang="en-US" dirty="0">
                <a:solidFill>
                  <a:prstClr val="white"/>
                </a:solidFill>
              </a:rPr>
              <a:t> </a:t>
            </a:r>
          </a:p>
        </p:txBody>
      </p:sp>
      <p:sp>
        <p:nvSpPr>
          <p:cNvPr id="15" name="Rectangle 14"/>
          <p:cNvSpPr/>
          <p:nvPr/>
        </p:nvSpPr>
        <p:spPr>
          <a:xfrm>
            <a:off x="694944" y="1213104"/>
            <a:ext cx="7053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Process 3"/>
          <p:cNvSpPr/>
          <p:nvPr/>
        </p:nvSpPr>
        <p:spPr>
          <a:xfrm>
            <a:off x="451104" y="2003304"/>
            <a:ext cx="11289792" cy="452551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5" name="Picture 4" descr="File:Wireshark icon new.png - Wikimedia Commons">
            <a:extLst>
              <a:ext uri="{FF2B5EF4-FFF2-40B4-BE49-F238E27FC236}">
                <a16:creationId xmlns:a16="http://schemas.microsoft.com/office/drawing/2014/main" id="{8BC4EBDF-356E-831C-F84B-1AD7569378ED}"/>
              </a:ext>
            </a:extLst>
          </p:cNvPr>
          <p:cNvPicPr>
            <a:picLocks noChangeAspect="1"/>
          </p:cNvPicPr>
          <p:nvPr/>
        </p:nvPicPr>
        <p:blipFill>
          <a:blip r:embed="rId4"/>
          <a:stretch>
            <a:fillRect/>
          </a:stretch>
        </p:blipFill>
        <p:spPr>
          <a:xfrm>
            <a:off x="7932013" y="872067"/>
            <a:ext cx="673100" cy="673100"/>
          </a:xfrm>
          <a:prstGeom prst="rect">
            <a:avLst/>
          </a:prstGeom>
        </p:spPr>
      </p:pic>
    </p:spTree>
    <p:extLst>
      <p:ext uri="{BB962C8B-B14F-4D97-AF65-F5344CB8AC3E}">
        <p14:creationId xmlns:p14="http://schemas.microsoft.com/office/powerpoint/2010/main" val="4074961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A95D9-E775-3A81-8109-86747EBE4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7B85B-C0BB-8A09-EDD4-9042F9F9F168}"/>
              </a:ext>
            </a:extLst>
          </p:cNvPr>
          <p:cNvSpPr>
            <a:spLocks noGrp="1"/>
          </p:cNvSpPr>
          <p:nvPr>
            <p:ph type="title"/>
          </p:nvPr>
        </p:nvSpPr>
        <p:spPr/>
        <p:txBody>
          <a:bodyPr>
            <a:normAutofit fontScale="90000"/>
          </a:bodyPr>
          <a:lstStyle/>
          <a:p>
            <a:r>
              <a:rPr lang="en-US" dirty="0"/>
              <a:t>Wireshark                  </a:t>
            </a:r>
            <a:br>
              <a:rPr lang="en-US" dirty="0"/>
            </a:br>
            <a:br>
              <a:rPr lang="en-US" dirty="0"/>
            </a:br>
            <a:r>
              <a:rPr lang="en-GB" sz="1800" dirty="0" err="1"/>
              <a:t>filtre</a:t>
            </a:r>
            <a:r>
              <a:rPr lang="en-GB" sz="1800" dirty="0"/>
              <a:t> Wireshark care </a:t>
            </a:r>
            <a:r>
              <a:rPr lang="en-GB" sz="1800" dirty="0" err="1"/>
              <a:t>dezvăluie</a:t>
            </a:r>
            <a:r>
              <a:rPr lang="en-GB" sz="1800" dirty="0"/>
              <a:t> </a:t>
            </a:r>
            <a:r>
              <a:rPr lang="en-GB" sz="1800" dirty="0" err="1"/>
              <a:t>lucruri</a:t>
            </a:r>
            <a:r>
              <a:rPr lang="en-GB" sz="1800" dirty="0"/>
              <a:t> </a:t>
            </a:r>
            <a:r>
              <a:rPr lang="en-GB" sz="1800" dirty="0" err="1"/>
              <a:t>interesante</a:t>
            </a:r>
            <a:r>
              <a:rPr lang="en-GB" sz="1800" dirty="0"/>
              <a:t> </a:t>
            </a:r>
            <a:r>
              <a:rPr lang="en-GB" sz="1800" dirty="0" err="1"/>
              <a:t>în</a:t>
            </a:r>
            <a:r>
              <a:rPr lang="en-GB" sz="1800" dirty="0"/>
              <a:t> </a:t>
            </a:r>
            <a:r>
              <a:rPr lang="en-GB" sz="1800" dirty="0" err="1"/>
              <a:t>trafic</a:t>
            </a:r>
            <a:endParaRPr lang="en-US" sz="1800" dirty="0"/>
          </a:p>
        </p:txBody>
      </p:sp>
      <p:sp>
        <p:nvSpPr>
          <p:cNvPr id="15" name="Rectangle 14">
            <a:extLst>
              <a:ext uri="{FF2B5EF4-FFF2-40B4-BE49-F238E27FC236}">
                <a16:creationId xmlns:a16="http://schemas.microsoft.com/office/drawing/2014/main" id="{B72D3DB2-82B9-6F65-DD68-463C59D629F6}"/>
              </a:ext>
            </a:extLst>
          </p:cNvPr>
          <p:cNvSpPr/>
          <p:nvPr/>
        </p:nvSpPr>
        <p:spPr>
          <a:xfrm>
            <a:off x="694944" y="1213104"/>
            <a:ext cx="7053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Table 16">
            <a:extLst>
              <a:ext uri="{FF2B5EF4-FFF2-40B4-BE49-F238E27FC236}">
                <a16:creationId xmlns:a16="http://schemas.microsoft.com/office/drawing/2014/main" id="{AD322935-2B06-5E98-B207-2C3A333A023D}"/>
              </a:ext>
            </a:extLst>
          </p:cNvPr>
          <p:cNvGraphicFramePr>
            <a:graphicFrameLocks noGrp="1"/>
          </p:cNvGraphicFramePr>
          <p:nvPr>
            <p:extLst>
              <p:ext uri="{D42A27DB-BD31-4B8C-83A1-F6EECF244321}">
                <p14:modId xmlns:p14="http://schemas.microsoft.com/office/powerpoint/2010/main" val="134253329"/>
              </p:ext>
            </p:extLst>
          </p:nvPr>
        </p:nvGraphicFramePr>
        <p:xfrm>
          <a:off x="694944" y="2439988"/>
          <a:ext cx="7337426" cy="1645920"/>
        </p:xfrm>
        <a:graphic>
          <a:graphicData uri="http://schemas.openxmlformats.org/drawingml/2006/table">
            <a:tbl>
              <a:tblPr>
                <a:tableStyleId>{125E5076-3810-47DD-B79F-674D7AD40C01}</a:tableStyleId>
              </a:tblPr>
              <a:tblGrid>
                <a:gridCol w="2204763">
                  <a:extLst>
                    <a:ext uri="{9D8B030D-6E8A-4147-A177-3AD203B41FA5}">
                      <a16:colId xmlns:a16="http://schemas.microsoft.com/office/drawing/2014/main" val="632853487"/>
                    </a:ext>
                  </a:extLst>
                </a:gridCol>
                <a:gridCol w="1887813">
                  <a:extLst>
                    <a:ext uri="{9D8B030D-6E8A-4147-A177-3AD203B41FA5}">
                      <a16:colId xmlns:a16="http://schemas.microsoft.com/office/drawing/2014/main" val="2888783792"/>
                    </a:ext>
                  </a:extLst>
                </a:gridCol>
                <a:gridCol w="3244850">
                  <a:extLst>
                    <a:ext uri="{9D8B030D-6E8A-4147-A177-3AD203B41FA5}">
                      <a16:colId xmlns:a16="http://schemas.microsoft.com/office/drawing/2014/main" val="1268140635"/>
                    </a:ext>
                  </a:extLst>
                </a:gridCol>
              </a:tblGrid>
              <a:tr h="0">
                <a:tc>
                  <a:txBody>
                    <a:bodyPr/>
                    <a:lstStyle/>
                    <a:p>
                      <a:pPr>
                        <a:buNone/>
                      </a:pPr>
                      <a:r>
                        <a:rPr lang="en-GB" sz="1200"/>
                        <a:t>Filtru Wireshark</a:t>
                      </a:r>
                    </a:p>
                  </a:txBody>
                  <a:tcPr anchor="ctr">
                    <a:solidFill>
                      <a:schemeClr val="tx1">
                        <a:lumMod val="75000"/>
                        <a:lumOff val="25000"/>
                      </a:schemeClr>
                    </a:solidFill>
                  </a:tcPr>
                </a:tc>
                <a:tc>
                  <a:txBody>
                    <a:bodyPr/>
                    <a:lstStyle/>
                    <a:p>
                      <a:pPr>
                        <a:buNone/>
                      </a:pPr>
                      <a:r>
                        <a:rPr lang="en-GB" sz="1200"/>
                        <a:t>Ce afișează</a:t>
                      </a:r>
                    </a:p>
                  </a:txBody>
                  <a:tcPr anchor="ctr">
                    <a:solidFill>
                      <a:schemeClr val="tx1">
                        <a:lumMod val="75000"/>
                        <a:lumOff val="25000"/>
                      </a:schemeClr>
                    </a:solidFill>
                  </a:tcPr>
                </a:tc>
                <a:tc>
                  <a:txBody>
                    <a:bodyPr/>
                    <a:lstStyle/>
                    <a:p>
                      <a:pPr>
                        <a:buNone/>
                      </a:pPr>
                      <a:r>
                        <a:rPr lang="en-GB" sz="1200" dirty="0" err="1"/>
                        <a:t>Utilitate</a:t>
                      </a:r>
                      <a:endParaRPr lang="en-GB" sz="1200" dirty="0"/>
                    </a:p>
                  </a:txBody>
                  <a:tcPr anchor="ctr">
                    <a:solidFill>
                      <a:schemeClr val="tx1">
                        <a:lumMod val="75000"/>
                        <a:lumOff val="25000"/>
                      </a:schemeClr>
                    </a:solidFill>
                  </a:tcPr>
                </a:tc>
                <a:extLst>
                  <a:ext uri="{0D108BD9-81ED-4DB2-BD59-A6C34878D82A}">
                    <a16:rowId xmlns:a16="http://schemas.microsoft.com/office/drawing/2014/main" val="1027376613"/>
                  </a:ext>
                </a:extLst>
              </a:tr>
              <a:tr h="0">
                <a:tc>
                  <a:txBody>
                    <a:bodyPr/>
                    <a:lstStyle/>
                    <a:p>
                      <a:pPr>
                        <a:buNone/>
                      </a:pPr>
                      <a:r>
                        <a:rPr lang="en-GB" sz="1200"/>
                        <a:t>tcp.port == 80</a:t>
                      </a:r>
                    </a:p>
                  </a:txBody>
                  <a:tcPr anchor="ctr"/>
                </a:tc>
                <a:tc>
                  <a:txBody>
                    <a:bodyPr/>
                    <a:lstStyle/>
                    <a:p>
                      <a:pPr>
                        <a:buNone/>
                      </a:pPr>
                      <a:r>
                        <a:rPr lang="en-GB" sz="1200" dirty="0" err="1"/>
                        <a:t>Trafic</a:t>
                      </a:r>
                      <a:r>
                        <a:rPr lang="en-GB" sz="1200" dirty="0"/>
                        <a:t> HTTP</a:t>
                      </a:r>
                    </a:p>
                  </a:txBody>
                  <a:tcPr anchor="ctr"/>
                </a:tc>
                <a:tc>
                  <a:txBody>
                    <a:bodyPr/>
                    <a:lstStyle/>
                    <a:p>
                      <a:pPr>
                        <a:buNone/>
                      </a:pPr>
                      <a:r>
                        <a:rPr lang="en-GB" sz="1200"/>
                        <a:t>Permite observarea cererilor web necriptate</a:t>
                      </a:r>
                    </a:p>
                  </a:txBody>
                  <a:tcPr anchor="ctr"/>
                </a:tc>
                <a:extLst>
                  <a:ext uri="{0D108BD9-81ED-4DB2-BD59-A6C34878D82A}">
                    <a16:rowId xmlns:a16="http://schemas.microsoft.com/office/drawing/2014/main" val="1816338592"/>
                  </a:ext>
                </a:extLst>
              </a:tr>
              <a:tr h="0">
                <a:tc>
                  <a:txBody>
                    <a:bodyPr/>
                    <a:lstStyle/>
                    <a:p>
                      <a:pPr>
                        <a:buNone/>
                      </a:pPr>
                      <a:r>
                        <a:rPr lang="en-GB" sz="1200"/>
                        <a:t>tcp.port == 443</a:t>
                      </a:r>
                    </a:p>
                  </a:txBody>
                  <a:tcPr anchor="ctr"/>
                </a:tc>
                <a:tc>
                  <a:txBody>
                    <a:bodyPr/>
                    <a:lstStyle/>
                    <a:p>
                      <a:pPr>
                        <a:buNone/>
                      </a:pPr>
                      <a:r>
                        <a:rPr lang="en-GB" sz="1200"/>
                        <a:t>Trafic HTTPS</a:t>
                      </a:r>
                    </a:p>
                  </a:txBody>
                  <a:tcPr anchor="ctr"/>
                </a:tc>
                <a:tc>
                  <a:txBody>
                    <a:bodyPr/>
                    <a:lstStyle/>
                    <a:p>
                      <a:pPr>
                        <a:buNone/>
                      </a:pPr>
                      <a:r>
                        <a:rPr lang="en-GB" sz="1200"/>
                        <a:t>Arată conexiunile web criptate</a:t>
                      </a:r>
                    </a:p>
                  </a:txBody>
                  <a:tcPr anchor="ctr"/>
                </a:tc>
                <a:extLst>
                  <a:ext uri="{0D108BD9-81ED-4DB2-BD59-A6C34878D82A}">
                    <a16:rowId xmlns:a16="http://schemas.microsoft.com/office/drawing/2014/main" val="3020665904"/>
                  </a:ext>
                </a:extLst>
              </a:tr>
              <a:tr h="0">
                <a:tc>
                  <a:txBody>
                    <a:bodyPr/>
                    <a:lstStyle/>
                    <a:p>
                      <a:pPr>
                        <a:buNone/>
                      </a:pPr>
                      <a:r>
                        <a:rPr lang="en-GB" sz="1200"/>
                        <a:t>http.request.method == "POST"</a:t>
                      </a:r>
                    </a:p>
                  </a:txBody>
                  <a:tcPr anchor="ctr"/>
                </a:tc>
                <a:tc>
                  <a:txBody>
                    <a:bodyPr/>
                    <a:lstStyle/>
                    <a:p>
                      <a:pPr>
                        <a:buNone/>
                      </a:pPr>
                      <a:r>
                        <a:rPr lang="en-GB" sz="1200"/>
                        <a:t>Cereri HTTP POST</a:t>
                      </a:r>
                    </a:p>
                  </a:txBody>
                  <a:tcPr anchor="ctr"/>
                </a:tc>
                <a:tc>
                  <a:txBody>
                    <a:bodyPr/>
                    <a:lstStyle/>
                    <a:p>
                      <a:pPr>
                        <a:buNone/>
                      </a:pPr>
                      <a:r>
                        <a:rPr lang="en-GB" sz="1200"/>
                        <a:t>De obicei folosite în formulare web</a:t>
                      </a:r>
                    </a:p>
                  </a:txBody>
                  <a:tcPr anchor="ctr"/>
                </a:tc>
                <a:extLst>
                  <a:ext uri="{0D108BD9-81ED-4DB2-BD59-A6C34878D82A}">
                    <a16:rowId xmlns:a16="http://schemas.microsoft.com/office/drawing/2014/main" val="1882824812"/>
                  </a:ext>
                </a:extLst>
              </a:tr>
              <a:tr h="0">
                <a:tc>
                  <a:txBody>
                    <a:bodyPr/>
                    <a:lstStyle/>
                    <a:p>
                      <a:pPr>
                        <a:buNone/>
                      </a:pPr>
                      <a:r>
                        <a:rPr lang="en-GB" sz="1200"/>
                        <a:t>http.response.code == 200</a:t>
                      </a:r>
                    </a:p>
                  </a:txBody>
                  <a:tcPr anchor="ctr"/>
                </a:tc>
                <a:tc>
                  <a:txBody>
                    <a:bodyPr/>
                    <a:lstStyle/>
                    <a:p>
                      <a:pPr>
                        <a:buNone/>
                      </a:pPr>
                      <a:r>
                        <a:rPr lang="en-GB" sz="1200"/>
                        <a:t>Răspunsuri HTTP reușite</a:t>
                      </a:r>
                    </a:p>
                  </a:txBody>
                  <a:tcPr anchor="ctr"/>
                </a:tc>
                <a:tc>
                  <a:txBody>
                    <a:bodyPr/>
                    <a:lstStyle/>
                    <a:p>
                      <a:pPr>
                        <a:buNone/>
                      </a:pPr>
                      <a:r>
                        <a:rPr lang="en-GB" sz="1200"/>
                        <a:t>Identificarea descărcărilor de conținut</a:t>
                      </a:r>
                    </a:p>
                  </a:txBody>
                  <a:tcPr anchor="ctr"/>
                </a:tc>
                <a:extLst>
                  <a:ext uri="{0D108BD9-81ED-4DB2-BD59-A6C34878D82A}">
                    <a16:rowId xmlns:a16="http://schemas.microsoft.com/office/drawing/2014/main" val="3366937249"/>
                  </a:ext>
                </a:extLst>
              </a:tr>
              <a:tr h="0">
                <a:tc>
                  <a:txBody>
                    <a:bodyPr/>
                    <a:lstStyle/>
                    <a:p>
                      <a:pPr>
                        <a:buNone/>
                      </a:pPr>
                      <a:r>
                        <a:rPr lang="en-GB" sz="1200"/>
                        <a:t>http contains ".exe"</a:t>
                      </a:r>
                    </a:p>
                  </a:txBody>
                  <a:tcPr anchor="ctr"/>
                </a:tc>
                <a:tc>
                  <a:txBody>
                    <a:bodyPr/>
                    <a:lstStyle/>
                    <a:p>
                      <a:pPr>
                        <a:buNone/>
                      </a:pPr>
                      <a:r>
                        <a:rPr lang="en-GB" sz="1200"/>
                        <a:t>Descărcări de executabile</a:t>
                      </a:r>
                    </a:p>
                  </a:txBody>
                  <a:tcPr anchor="ctr"/>
                </a:tc>
                <a:tc>
                  <a:txBody>
                    <a:bodyPr/>
                    <a:lstStyle/>
                    <a:p>
                      <a:pPr>
                        <a:buNone/>
                      </a:pPr>
                      <a:r>
                        <a:rPr lang="en-GB" sz="1200" dirty="0" err="1"/>
                        <a:t>Posibile</a:t>
                      </a:r>
                      <a:r>
                        <a:rPr lang="en-GB" sz="1200" dirty="0"/>
                        <a:t> </a:t>
                      </a:r>
                      <a:r>
                        <a:rPr lang="en-GB" sz="1200" dirty="0" err="1"/>
                        <a:t>descărcări</a:t>
                      </a:r>
                      <a:r>
                        <a:rPr lang="en-GB" sz="1200" dirty="0"/>
                        <a:t> de malware</a:t>
                      </a:r>
                    </a:p>
                  </a:txBody>
                  <a:tcPr anchor="ctr"/>
                </a:tc>
                <a:extLst>
                  <a:ext uri="{0D108BD9-81ED-4DB2-BD59-A6C34878D82A}">
                    <a16:rowId xmlns:a16="http://schemas.microsoft.com/office/drawing/2014/main" val="2704266169"/>
                  </a:ext>
                </a:extLst>
              </a:tr>
            </a:tbl>
          </a:graphicData>
        </a:graphic>
      </p:graphicFrame>
      <p:graphicFrame>
        <p:nvGraphicFramePr>
          <p:cNvPr id="18" name="Table 17">
            <a:extLst>
              <a:ext uri="{FF2B5EF4-FFF2-40B4-BE49-F238E27FC236}">
                <a16:creationId xmlns:a16="http://schemas.microsoft.com/office/drawing/2014/main" id="{6D182D1B-C360-8415-F72C-42E21D27AB11}"/>
              </a:ext>
            </a:extLst>
          </p:cNvPr>
          <p:cNvGraphicFramePr>
            <a:graphicFrameLocks noGrp="1"/>
          </p:cNvGraphicFramePr>
          <p:nvPr>
            <p:extLst>
              <p:ext uri="{D42A27DB-BD31-4B8C-83A1-F6EECF244321}">
                <p14:modId xmlns:p14="http://schemas.microsoft.com/office/powerpoint/2010/main" val="1456730062"/>
              </p:ext>
            </p:extLst>
          </p:nvPr>
        </p:nvGraphicFramePr>
        <p:xfrm>
          <a:off x="694944" y="4668335"/>
          <a:ext cx="7337427" cy="1645920"/>
        </p:xfrm>
        <a:graphic>
          <a:graphicData uri="http://schemas.openxmlformats.org/drawingml/2006/table">
            <a:tbl>
              <a:tblPr>
                <a:tableStyleId>{125E5076-3810-47DD-B79F-674D7AD40C01}</a:tableStyleId>
              </a:tblPr>
              <a:tblGrid>
                <a:gridCol w="2445809">
                  <a:extLst>
                    <a:ext uri="{9D8B030D-6E8A-4147-A177-3AD203B41FA5}">
                      <a16:colId xmlns:a16="http://schemas.microsoft.com/office/drawing/2014/main" val="2981875566"/>
                    </a:ext>
                  </a:extLst>
                </a:gridCol>
                <a:gridCol w="2445809">
                  <a:extLst>
                    <a:ext uri="{9D8B030D-6E8A-4147-A177-3AD203B41FA5}">
                      <a16:colId xmlns:a16="http://schemas.microsoft.com/office/drawing/2014/main" val="3274749156"/>
                    </a:ext>
                  </a:extLst>
                </a:gridCol>
                <a:gridCol w="2445809">
                  <a:extLst>
                    <a:ext uri="{9D8B030D-6E8A-4147-A177-3AD203B41FA5}">
                      <a16:colId xmlns:a16="http://schemas.microsoft.com/office/drawing/2014/main" val="1021887665"/>
                    </a:ext>
                  </a:extLst>
                </a:gridCol>
              </a:tblGrid>
              <a:tr h="0">
                <a:tc>
                  <a:txBody>
                    <a:bodyPr/>
                    <a:lstStyle/>
                    <a:p>
                      <a:pPr>
                        <a:buNone/>
                      </a:pPr>
                      <a:r>
                        <a:rPr lang="en-GB" sz="1200" dirty="0" err="1"/>
                        <a:t>Filtru</a:t>
                      </a:r>
                      <a:r>
                        <a:rPr lang="en-GB" sz="1200" dirty="0"/>
                        <a:t> Wireshark</a:t>
                      </a:r>
                    </a:p>
                  </a:txBody>
                  <a:tcPr anchor="ctr">
                    <a:solidFill>
                      <a:schemeClr val="tx1">
                        <a:lumMod val="75000"/>
                        <a:lumOff val="25000"/>
                      </a:schemeClr>
                    </a:solidFill>
                  </a:tcPr>
                </a:tc>
                <a:tc>
                  <a:txBody>
                    <a:bodyPr/>
                    <a:lstStyle/>
                    <a:p>
                      <a:pPr>
                        <a:buNone/>
                      </a:pPr>
                      <a:r>
                        <a:rPr lang="en-GB" sz="1200" dirty="0"/>
                        <a:t>Ce </a:t>
                      </a:r>
                      <a:r>
                        <a:rPr lang="en-GB" sz="1200" dirty="0" err="1"/>
                        <a:t>afișează</a:t>
                      </a:r>
                      <a:endParaRPr lang="en-GB" sz="1200" dirty="0"/>
                    </a:p>
                  </a:txBody>
                  <a:tcPr anchor="ctr">
                    <a:solidFill>
                      <a:schemeClr val="tx1">
                        <a:lumMod val="75000"/>
                        <a:lumOff val="25000"/>
                      </a:schemeClr>
                    </a:solidFill>
                  </a:tcPr>
                </a:tc>
                <a:tc>
                  <a:txBody>
                    <a:bodyPr/>
                    <a:lstStyle/>
                    <a:p>
                      <a:pPr>
                        <a:buNone/>
                      </a:pPr>
                      <a:r>
                        <a:rPr lang="en-GB" sz="1200" dirty="0" err="1"/>
                        <a:t>Utilitate</a:t>
                      </a:r>
                      <a:endParaRPr lang="en-GB" sz="1200" dirty="0"/>
                    </a:p>
                  </a:txBody>
                  <a:tcPr anchor="ctr">
                    <a:solidFill>
                      <a:schemeClr val="tx1">
                        <a:lumMod val="75000"/>
                        <a:lumOff val="25000"/>
                      </a:schemeClr>
                    </a:solidFill>
                  </a:tcPr>
                </a:tc>
                <a:extLst>
                  <a:ext uri="{0D108BD9-81ED-4DB2-BD59-A6C34878D82A}">
                    <a16:rowId xmlns:a16="http://schemas.microsoft.com/office/drawing/2014/main" val="3462796688"/>
                  </a:ext>
                </a:extLst>
              </a:tr>
              <a:tr h="0">
                <a:tc>
                  <a:txBody>
                    <a:bodyPr/>
                    <a:lstStyle/>
                    <a:p>
                      <a:pPr>
                        <a:buNone/>
                      </a:pPr>
                      <a:r>
                        <a:rPr lang="en-GB" sz="1200"/>
                        <a:t>dns</a:t>
                      </a:r>
                    </a:p>
                  </a:txBody>
                  <a:tcPr anchor="ctr"/>
                </a:tc>
                <a:tc>
                  <a:txBody>
                    <a:bodyPr/>
                    <a:lstStyle/>
                    <a:p>
                      <a:pPr>
                        <a:buNone/>
                      </a:pPr>
                      <a:r>
                        <a:rPr lang="en-GB" sz="1200"/>
                        <a:t>Toate pachetele DNS</a:t>
                      </a:r>
                    </a:p>
                  </a:txBody>
                  <a:tcPr anchor="ctr"/>
                </a:tc>
                <a:tc>
                  <a:txBody>
                    <a:bodyPr/>
                    <a:lstStyle/>
                    <a:p>
                      <a:pPr>
                        <a:buNone/>
                      </a:pPr>
                      <a:r>
                        <a:rPr lang="it-IT" sz="1200"/>
                        <a:t>Arată toate interogările de domenii</a:t>
                      </a:r>
                    </a:p>
                  </a:txBody>
                  <a:tcPr anchor="ctr"/>
                </a:tc>
                <a:extLst>
                  <a:ext uri="{0D108BD9-81ED-4DB2-BD59-A6C34878D82A}">
                    <a16:rowId xmlns:a16="http://schemas.microsoft.com/office/drawing/2014/main" val="1856251382"/>
                  </a:ext>
                </a:extLst>
              </a:tr>
              <a:tr h="0">
                <a:tc>
                  <a:txBody>
                    <a:bodyPr/>
                    <a:lstStyle/>
                    <a:p>
                      <a:pPr>
                        <a:buNone/>
                      </a:pPr>
                      <a:r>
                        <a:rPr lang="en-GB" sz="1200"/>
                        <a:t>dns.flags.response == 0</a:t>
                      </a:r>
                    </a:p>
                  </a:txBody>
                  <a:tcPr anchor="ctr"/>
                </a:tc>
                <a:tc>
                  <a:txBody>
                    <a:bodyPr/>
                    <a:lstStyle/>
                    <a:p>
                      <a:pPr>
                        <a:buNone/>
                      </a:pPr>
                      <a:r>
                        <a:rPr lang="en-GB" sz="1200"/>
                        <a:t>Cereri DNS</a:t>
                      </a:r>
                    </a:p>
                  </a:txBody>
                  <a:tcPr anchor="ctr"/>
                </a:tc>
                <a:tc>
                  <a:txBody>
                    <a:bodyPr/>
                    <a:lstStyle/>
                    <a:p>
                      <a:pPr>
                        <a:buNone/>
                      </a:pPr>
                      <a:r>
                        <a:rPr lang="en-GB" sz="1200"/>
                        <a:t>Interogările trimise către server</a:t>
                      </a:r>
                    </a:p>
                  </a:txBody>
                  <a:tcPr anchor="ctr"/>
                </a:tc>
                <a:extLst>
                  <a:ext uri="{0D108BD9-81ED-4DB2-BD59-A6C34878D82A}">
                    <a16:rowId xmlns:a16="http://schemas.microsoft.com/office/drawing/2014/main" val="3605677811"/>
                  </a:ext>
                </a:extLst>
              </a:tr>
              <a:tr h="0">
                <a:tc>
                  <a:txBody>
                    <a:bodyPr/>
                    <a:lstStyle/>
                    <a:p>
                      <a:pPr>
                        <a:buNone/>
                      </a:pPr>
                      <a:r>
                        <a:rPr lang="en-GB" sz="1200"/>
                        <a:t>dns.flags.response == 1</a:t>
                      </a:r>
                    </a:p>
                  </a:txBody>
                  <a:tcPr anchor="ctr"/>
                </a:tc>
                <a:tc>
                  <a:txBody>
                    <a:bodyPr/>
                    <a:lstStyle/>
                    <a:p>
                      <a:pPr>
                        <a:buNone/>
                      </a:pPr>
                      <a:r>
                        <a:rPr lang="en-GB" sz="1200"/>
                        <a:t>Răspunsuri DNS</a:t>
                      </a:r>
                    </a:p>
                  </a:txBody>
                  <a:tcPr anchor="ctr"/>
                </a:tc>
                <a:tc>
                  <a:txBody>
                    <a:bodyPr/>
                    <a:lstStyle/>
                    <a:p>
                      <a:pPr>
                        <a:buNone/>
                      </a:pPr>
                      <a:r>
                        <a:rPr lang="en-GB" sz="1200"/>
                        <a:t>Domeniile rezolvate de server</a:t>
                      </a:r>
                    </a:p>
                  </a:txBody>
                  <a:tcPr anchor="ctr"/>
                </a:tc>
                <a:extLst>
                  <a:ext uri="{0D108BD9-81ED-4DB2-BD59-A6C34878D82A}">
                    <a16:rowId xmlns:a16="http://schemas.microsoft.com/office/drawing/2014/main" val="4259228150"/>
                  </a:ext>
                </a:extLst>
              </a:tr>
              <a:tr h="0">
                <a:tc>
                  <a:txBody>
                    <a:bodyPr/>
                    <a:lstStyle/>
                    <a:p>
                      <a:pPr>
                        <a:buNone/>
                      </a:pPr>
                      <a:r>
                        <a:rPr lang="en-GB" sz="1200"/>
                        <a:t>dns.qry.name contains "update"</a:t>
                      </a:r>
                    </a:p>
                  </a:txBody>
                  <a:tcPr anchor="ctr"/>
                </a:tc>
                <a:tc>
                  <a:txBody>
                    <a:bodyPr/>
                    <a:lstStyle/>
                    <a:p>
                      <a:pPr>
                        <a:buNone/>
                      </a:pPr>
                      <a:r>
                        <a:rPr lang="en-GB" sz="1200"/>
                        <a:t>Domenii ce conțin „update”</a:t>
                      </a:r>
                    </a:p>
                  </a:txBody>
                  <a:tcPr anchor="ctr"/>
                </a:tc>
                <a:tc>
                  <a:txBody>
                    <a:bodyPr/>
                    <a:lstStyle/>
                    <a:p>
                      <a:pPr>
                        <a:buNone/>
                      </a:pPr>
                      <a:r>
                        <a:rPr lang="en-GB" sz="1200"/>
                        <a:t>Uneori folosite de malware</a:t>
                      </a:r>
                    </a:p>
                  </a:txBody>
                  <a:tcPr anchor="ctr"/>
                </a:tc>
                <a:extLst>
                  <a:ext uri="{0D108BD9-81ED-4DB2-BD59-A6C34878D82A}">
                    <a16:rowId xmlns:a16="http://schemas.microsoft.com/office/drawing/2014/main" val="3472030958"/>
                  </a:ext>
                </a:extLst>
              </a:tr>
              <a:tr h="0">
                <a:tc>
                  <a:txBody>
                    <a:bodyPr/>
                    <a:lstStyle/>
                    <a:p>
                      <a:pPr>
                        <a:buNone/>
                      </a:pPr>
                      <a:r>
                        <a:rPr lang="en-GB" sz="1200"/>
                        <a:t>dns and udp.length &gt; 512</a:t>
                      </a:r>
                    </a:p>
                  </a:txBody>
                  <a:tcPr anchor="ctr"/>
                </a:tc>
                <a:tc>
                  <a:txBody>
                    <a:bodyPr/>
                    <a:lstStyle/>
                    <a:p>
                      <a:pPr>
                        <a:buNone/>
                      </a:pPr>
                      <a:r>
                        <a:rPr lang="en-GB" sz="1200"/>
                        <a:t>Răspunsuri DNS mari</a:t>
                      </a:r>
                    </a:p>
                  </a:txBody>
                  <a:tcPr anchor="ctr"/>
                </a:tc>
                <a:tc>
                  <a:txBody>
                    <a:bodyPr/>
                    <a:lstStyle/>
                    <a:p>
                      <a:pPr>
                        <a:buNone/>
                      </a:pPr>
                      <a:r>
                        <a:rPr lang="en-GB" sz="1200" dirty="0" err="1"/>
                        <a:t>Posibile</a:t>
                      </a:r>
                      <a:r>
                        <a:rPr lang="en-GB" sz="1200" dirty="0"/>
                        <a:t> </a:t>
                      </a:r>
                      <a:r>
                        <a:rPr lang="en-GB" sz="1200" dirty="0" err="1"/>
                        <a:t>atacuri</a:t>
                      </a:r>
                      <a:r>
                        <a:rPr lang="en-GB" sz="1200" dirty="0"/>
                        <a:t> de </a:t>
                      </a:r>
                      <a:r>
                        <a:rPr lang="en-GB" sz="1200" dirty="0" err="1"/>
                        <a:t>amplificare</a:t>
                      </a:r>
                      <a:r>
                        <a:rPr lang="en-GB" sz="1200" dirty="0"/>
                        <a:t> DNS</a:t>
                      </a:r>
                    </a:p>
                  </a:txBody>
                  <a:tcPr anchor="ctr"/>
                </a:tc>
                <a:extLst>
                  <a:ext uri="{0D108BD9-81ED-4DB2-BD59-A6C34878D82A}">
                    <a16:rowId xmlns:a16="http://schemas.microsoft.com/office/drawing/2014/main" val="2534349945"/>
                  </a:ext>
                </a:extLst>
              </a:tr>
            </a:tbl>
          </a:graphicData>
        </a:graphic>
      </p:graphicFrame>
      <p:sp>
        <p:nvSpPr>
          <p:cNvPr id="20" name="TextBox 19">
            <a:extLst>
              <a:ext uri="{FF2B5EF4-FFF2-40B4-BE49-F238E27FC236}">
                <a16:creationId xmlns:a16="http://schemas.microsoft.com/office/drawing/2014/main" id="{FA08D5E3-BF49-29F1-F4BE-4558AAD1B83E}"/>
              </a:ext>
            </a:extLst>
          </p:cNvPr>
          <p:cNvSpPr txBox="1"/>
          <p:nvPr/>
        </p:nvSpPr>
        <p:spPr>
          <a:xfrm>
            <a:off x="631993" y="4299003"/>
            <a:ext cx="3000208" cy="369332"/>
          </a:xfrm>
          <a:prstGeom prst="rect">
            <a:avLst/>
          </a:prstGeom>
          <a:noFill/>
        </p:spPr>
        <p:txBody>
          <a:bodyPr wrap="square">
            <a:spAutoFit/>
          </a:bodyPr>
          <a:lstStyle/>
          <a:p>
            <a:r>
              <a:rPr lang="en-GB" dirty="0" err="1">
                <a:solidFill>
                  <a:schemeClr val="tx1">
                    <a:lumMod val="75000"/>
                    <a:lumOff val="25000"/>
                  </a:schemeClr>
                </a:solidFill>
              </a:rPr>
              <a:t>Filtre</a:t>
            </a:r>
            <a:r>
              <a:rPr lang="en-GB" dirty="0">
                <a:solidFill>
                  <a:schemeClr val="tx1">
                    <a:lumMod val="75000"/>
                    <a:lumOff val="25000"/>
                  </a:schemeClr>
                </a:solidFill>
              </a:rPr>
              <a:t> </a:t>
            </a:r>
            <a:r>
              <a:rPr lang="en-GB" dirty="0" err="1">
                <a:solidFill>
                  <a:schemeClr val="tx1">
                    <a:lumMod val="75000"/>
                    <a:lumOff val="25000"/>
                  </a:schemeClr>
                </a:solidFill>
              </a:rPr>
              <a:t>pentru</a:t>
            </a:r>
            <a:r>
              <a:rPr lang="en-GB" dirty="0">
                <a:solidFill>
                  <a:schemeClr val="tx1">
                    <a:lumMod val="75000"/>
                    <a:lumOff val="25000"/>
                  </a:schemeClr>
                </a:solidFill>
              </a:rPr>
              <a:t> </a:t>
            </a:r>
            <a:r>
              <a:rPr lang="en-GB" dirty="0" err="1">
                <a:solidFill>
                  <a:schemeClr val="tx1">
                    <a:lumMod val="75000"/>
                    <a:lumOff val="25000"/>
                  </a:schemeClr>
                </a:solidFill>
              </a:rPr>
              <a:t>analiza</a:t>
            </a:r>
            <a:r>
              <a:rPr lang="en-GB" dirty="0">
                <a:solidFill>
                  <a:schemeClr val="tx1">
                    <a:lumMod val="75000"/>
                    <a:lumOff val="25000"/>
                  </a:schemeClr>
                </a:solidFill>
              </a:rPr>
              <a:t> DNS:</a:t>
            </a:r>
          </a:p>
        </p:txBody>
      </p:sp>
      <p:sp>
        <p:nvSpPr>
          <p:cNvPr id="22" name="TextBox 21">
            <a:extLst>
              <a:ext uri="{FF2B5EF4-FFF2-40B4-BE49-F238E27FC236}">
                <a16:creationId xmlns:a16="http://schemas.microsoft.com/office/drawing/2014/main" id="{D55DBCF6-2734-C7E2-6A5E-0E80F36DEAD2}"/>
              </a:ext>
            </a:extLst>
          </p:cNvPr>
          <p:cNvSpPr txBox="1"/>
          <p:nvPr/>
        </p:nvSpPr>
        <p:spPr>
          <a:xfrm>
            <a:off x="584200" y="2008572"/>
            <a:ext cx="3956050" cy="369332"/>
          </a:xfrm>
          <a:prstGeom prst="rect">
            <a:avLst/>
          </a:prstGeom>
          <a:noFill/>
        </p:spPr>
        <p:txBody>
          <a:bodyPr wrap="square">
            <a:spAutoFit/>
          </a:bodyPr>
          <a:lstStyle/>
          <a:p>
            <a:r>
              <a:rPr lang="en-GB" dirty="0" err="1">
                <a:solidFill>
                  <a:schemeClr val="tx1">
                    <a:lumMod val="75000"/>
                    <a:lumOff val="25000"/>
                  </a:schemeClr>
                </a:solidFill>
              </a:rPr>
              <a:t>Filtre</a:t>
            </a:r>
            <a:r>
              <a:rPr lang="en-GB" dirty="0">
                <a:solidFill>
                  <a:schemeClr val="tx1">
                    <a:lumMod val="75000"/>
                    <a:lumOff val="25000"/>
                  </a:schemeClr>
                </a:solidFill>
              </a:rPr>
              <a:t> </a:t>
            </a:r>
            <a:r>
              <a:rPr lang="en-GB" dirty="0" err="1">
                <a:solidFill>
                  <a:schemeClr val="tx1">
                    <a:lumMod val="75000"/>
                    <a:lumOff val="25000"/>
                  </a:schemeClr>
                </a:solidFill>
              </a:rPr>
              <a:t>pentru</a:t>
            </a:r>
            <a:r>
              <a:rPr lang="en-GB" dirty="0">
                <a:solidFill>
                  <a:schemeClr val="tx1">
                    <a:lumMod val="75000"/>
                    <a:lumOff val="25000"/>
                  </a:schemeClr>
                </a:solidFill>
              </a:rPr>
              <a:t> </a:t>
            </a:r>
            <a:r>
              <a:rPr lang="en-GB" dirty="0" err="1">
                <a:solidFill>
                  <a:schemeClr val="tx1">
                    <a:lumMod val="75000"/>
                    <a:lumOff val="25000"/>
                  </a:schemeClr>
                </a:solidFill>
              </a:rPr>
              <a:t>explorarea</a:t>
            </a:r>
            <a:r>
              <a:rPr lang="en-GB" dirty="0">
                <a:solidFill>
                  <a:schemeClr val="tx1">
                    <a:lumMod val="75000"/>
                    <a:lumOff val="25000"/>
                  </a:schemeClr>
                </a:solidFill>
              </a:rPr>
              <a:t> </a:t>
            </a:r>
            <a:r>
              <a:rPr lang="en-GB" dirty="0" err="1">
                <a:solidFill>
                  <a:schemeClr val="tx1">
                    <a:lumMod val="75000"/>
                    <a:lumOff val="25000"/>
                  </a:schemeClr>
                </a:solidFill>
              </a:rPr>
              <a:t>traficului</a:t>
            </a:r>
            <a:r>
              <a:rPr lang="en-GB" dirty="0">
                <a:solidFill>
                  <a:schemeClr val="tx1">
                    <a:lumMod val="75000"/>
                    <a:lumOff val="25000"/>
                  </a:schemeClr>
                </a:solidFill>
              </a:rPr>
              <a:t> web:</a:t>
            </a:r>
          </a:p>
        </p:txBody>
      </p:sp>
      <p:pic>
        <p:nvPicPr>
          <p:cNvPr id="4" name="Picture 3">
            <a:extLst>
              <a:ext uri="{FF2B5EF4-FFF2-40B4-BE49-F238E27FC236}">
                <a16:creationId xmlns:a16="http://schemas.microsoft.com/office/drawing/2014/main" id="{90343DE1-70E2-84C1-CE2A-CEDBAC8DB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9801" y="2439988"/>
            <a:ext cx="2732157" cy="2106612"/>
          </a:xfrm>
          <a:prstGeom prst="rect">
            <a:avLst/>
          </a:prstGeom>
        </p:spPr>
      </p:pic>
      <p:pic>
        <p:nvPicPr>
          <p:cNvPr id="8" name="Picture 7" descr="File:Wireshark Logo.svg - Wikimedia Commons">
            <a:extLst>
              <a:ext uri="{FF2B5EF4-FFF2-40B4-BE49-F238E27FC236}">
                <a16:creationId xmlns:a16="http://schemas.microsoft.com/office/drawing/2014/main" id="{19A7F7B8-6F99-1FCD-F8BF-3116F409AA71}"/>
              </a:ext>
            </a:extLst>
          </p:cNvPr>
          <p:cNvPicPr>
            <a:picLocks noChangeAspect="1"/>
          </p:cNvPicPr>
          <p:nvPr/>
        </p:nvPicPr>
        <p:blipFill>
          <a:blip r:embed="rId3"/>
          <a:stretch>
            <a:fillRect/>
          </a:stretch>
        </p:blipFill>
        <p:spPr>
          <a:xfrm>
            <a:off x="8915896" y="5337549"/>
            <a:ext cx="2223165" cy="611949"/>
          </a:xfrm>
          <a:prstGeom prst="rect">
            <a:avLst/>
          </a:prstGeom>
        </p:spPr>
      </p:pic>
      <p:sp>
        <p:nvSpPr>
          <p:cNvPr id="10" name="Flowchart: Process 9">
            <a:extLst>
              <a:ext uri="{FF2B5EF4-FFF2-40B4-BE49-F238E27FC236}">
                <a16:creationId xmlns:a16="http://schemas.microsoft.com/office/drawing/2014/main" id="{784592A1-4401-9F93-4E18-4F5B31753F68}"/>
              </a:ext>
            </a:extLst>
          </p:cNvPr>
          <p:cNvSpPr/>
          <p:nvPr/>
        </p:nvSpPr>
        <p:spPr>
          <a:xfrm>
            <a:off x="451104" y="2003304"/>
            <a:ext cx="11289792" cy="452551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315408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6BEE-5484-D6AB-9F64-1434B69C57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C2588-BB27-80CC-AD60-4AED6D47B6F7}"/>
              </a:ext>
            </a:extLst>
          </p:cNvPr>
          <p:cNvSpPr>
            <a:spLocks noGrp="1"/>
          </p:cNvSpPr>
          <p:nvPr>
            <p:ph type="title"/>
          </p:nvPr>
        </p:nvSpPr>
        <p:spPr/>
        <p:txBody>
          <a:bodyPr>
            <a:normAutofit fontScale="90000"/>
          </a:bodyPr>
          <a:lstStyle/>
          <a:p>
            <a:r>
              <a:rPr lang="en-US" dirty="0"/>
              <a:t>Wireshark                  </a:t>
            </a:r>
            <a:br>
              <a:rPr lang="en-US" dirty="0"/>
            </a:br>
            <a:br>
              <a:rPr lang="en-US" dirty="0"/>
            </a:br>
            <a:r>
              <a:rPr lang="en-GB" sz="1800" dirty="0" err="1"/>
              <a:t>filtre</a:t>
            </a:r>
            <a:r>
              <a:rPr lang="en-GB" sz="1800" dirty="0"/>
              <a:t> Wireshark care </a:t>
            </a:r>
            <a:r>
              <a:rPr lang="en-GB" sz="1800" dirty="0" err="1"/>
              <a:t>dezvăluie</a:t>
            </a:r>
            <a:r>
              <a:rPr lang="en-GB" sz="1800" dirty="0"/>
              <a:t> </a:t>
            </a:r>
            <a:r>
              <a:rPr lang="en-GB" sz="1800" dirty="0" err="1"/>
              <a:t>lucruri</a:t>
            </a:r>
            <a:r>
              <a:rPr lang="en-GB" sz="1800" dirty="0"/>
              <a:t> </a:t>
            </a:r>
            <a:r>
              <a:rPr lang="en-GB" sz="1800" dirty="0" err="1"/>
              <a:t>interesante</a:t>
            </a:r>
            <a:r>
              <a:rPr lang="en-GB" sz="1800" dirty="0"/>
              <a:t> </a:t>
            </a:r>
            <a:r>
              <a:rPr lang="en-GB" sz="1800" dirty="0" err="1"/>
              <a:t>în</a:t>
            </a:r>
            <a:r>
              <a:rPr lang="en-GB" sz="1800" dirty="0"/>
              <a:t> </a:t>
            </a:r>
            <a:r>
              <a:rPr lang="en-GB" sz="1800" dirty="0" err="1"/>
              <a:t>trafic</a:t>
            </a:r>
            <a:endParaRPr lang="en-US" sz="1800" dirty="0"/>
          </a:p>
        </p:txBody>
      </p:sp>
      <p:sp>
        <p:nvSpPr>
          <p:cNvPr id="15" name="Rectangle 14">
            <a:extLst>
              <a:ext uri="{FF2B5EF4-FFF2-40B4-BE49-F238E27FC236}">
                <a16:creationId xmlns:a16="http://schemas.microsoft.com/office/drawing/2014/main" id="{DDEA49C0-2737-65E3-B5CB-E753F41605DF}"/>
              </a:ext>
            </a:extLst>
          </p:cNvPr>
          <p:cNvSpPr/>
          <p:nvPr/>
        </p:nvSpPr>
        <p:spPr>
          <a:xfrm>
            <a:off x="694944" y="1213104"/>
            <a:ext cx="7053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graphicFrame>
        <p:nvGraphicFramePr>
          <p:cNvPr id="3" name="Table 2">
            <a:extLst>
              <a:ext uri="{FF2B5EF4-FFF2-40B4-BE49-F238E27FC236}">
                <a16:creationId xmlns:a16="http://schemas.microsoft.com/office/drawing/2014/main" id="{5EE0DF9A-5C00-3A40-B099-DB8C4D328739}"/>
              </a:ext>
            </a:extLst>
          </p:cNvPr>
          <p:cNvGraphicFramePr>
            <a:graphicFrameLocks noGrp="1"/>
          </p:cNvGraphicFramePr>
          <p:nvPr>
            <p:extLst>
              <p:ext uri="{D42A27DB-BD31-4B8C-83A1-F6EECF244321}">
                <p14:modId xmlns:p14="http://schemas.microsoft.com/office/powerpoint/2010/main" val="2482633053"/>
              </p:ext>
            </p:extLst>
          </p:nvPr>
        </p:nvGraphicFramePr>
        <p:xfrm>
          <a:off x="580858" y="2362280"/>
          <a:ext cx="8245641" cy="1645920"/>
        </p:xfrm>
        <a:graphic>
          <a:graphicData uri="http://schemas.openxmlformats.org/drawingml/2006/table">
            <a:tbl>
              <a:tblPr>
                <a:tableStyleId>{125E5076-3810-47DD-B79F-674D7AD40C01}</a:tableStyleId>
              </a:tblPr>
              <a:tblGrid>
                <a:gridCol w="2748547">
                  <a:extLst>
                    <a:ext uri="{9D8B030D-6E8A-4147-A177-3AD203B41FA5}">
                      <a16:colId xmlns:a16="http://schemas.microsoft.com/office/drawing/2014/main" val="2912112508"/>
                    </a:ext>
                  </a:extLst>
                </a:gridCol>
                <a:gridCol w="2748547">
                  <a:extLst>
                    <a:ext uri="{9D8B030D-6E8A-4147-A177-3AD203B41FA5}">
                      <a16:colId xmlns:a16="http://schemas.microsoft.com/office/drawing/2014/main" val="3032251554"/>
                    </a:ext>
                  </a:extLst>
                </a:gridCol>
                <a:gridCol w="2748547">
                  <a:extLst>
                    <a:ext uri="{9D8B030D-6E8A-4147-A177-3AD203B41FA5}">
                      <a16:colId xmlns:a16="http://schemas.microsoft.com/office/drawing/2014/main" val="3366107684"/>
                    </a:ext>
                  </a:extLst>
                </a:gridCol>
              </a:tblGrid>
              <a:tr h="0">
                <a:tc>
                  <a:txBody>
                    <a:bodyPr/>
                    <a:lstStyle/>
                    <a:p>
                      <a:pPr>
                        <a:buNone/>
                      </a:pPr>
                      <a:r>
                        <a:rPr lang="en-GB" sz="1200" dirty="0" err="1"/>
                        <a:t>Filtru</a:t>
                      </a:r>
                      <a:r>
                        <a:rPr lang="en-GB" sz="1200" dirty="0"/>
                        <a:t> Wireshark</a:t>
                      </a:r>
                    </a:p>
                  </a:txBody>
                  <a:tcPr anchor="ctr">
                    <a:solidFill>
                      <a:schemeClr val="tx1">
                        <a:lumMod val="75000"/>
                        <a:lumOff val="25000"/>
                      </a:schemeClr>
                    </a:solidFill>
                  </a:tcPr>
                </a:tc>
                <a:tc>
                  <a:txBody>
                    <a:bodyPr/>
                    <a:lstStyle/>
                    <a:p>
                      <a:pPr>
                        <a:buNone/>
                      </a:pPr>
                      <a:r>
                        <a:rPr lang="en-GB" sz="1200" dirty="0"/>
                        <a:t>Ce </a:t>
                      </a:r>
                      <a:r>
                        <a:rPr lang="en-GB" sz="1200" dirty="0" err="1"/>
                        <a:t>afișează</a:t>
                      </a:r>
                      <a:endParaRPr lang="en-GB" sz="1200" dirty="0"/>
                    </a:p>
                  </a:txBody>
                  <a:tcPr anchor="ctr">
                    <a:solidFill>
                      <a:schemeClr val="tx1">
                        <a:lumMod val="75000"/>
                        <a:lumOff val="25000"/>
                      </a:schemeClr>
                    </a:solidFill>
                  </a:tcPr>
                </a:tc>
                <a:tc>
                  <a:txBody>
                    <a:bodyPr/>
                    <a:lstStyle/>
                    <a:p>
                      <a:pPr>
                        <a:buNone/>
                      </a:pPr>
                      <a:r>
                        <a:rPr lang="en-GB" sz="1200" dirty="0" err="1"/>
                        <a:t>Utilitate</a:t>
                      </a:r>
                      <a:endParaRPr lang="en-GB" sz="1200" dirty="0"/>
                    </a:p>
                  </a:txBody>
                  <a:tcPr anchor="ctr">
                    <a:solidFill>
                      <a:schemeClr val="tx1">
                        <a:lumMod val="75000"/>
                        <a:lumOff val="25000"/>
                      </a:schemeClr>
                    </a:solidFill>
                  </a:tcPr>
                </a:tc>
                <a:extLst>
                  <a:ext uri="{0D108BD9-81ED-4DB2-BD59-A6C34878D82A}">
                    <a16:rowId xmlns:a16="http://schemas.microsoft.com/office/drawing/2014/main" val="2922549512"/>
                  </a:ext>
                </a:extLst>
              </a:tr>
              <a:tr h="0">
                <a:tc>
                  <a:txBody>
                    <a:bodyPr/>
                    <a:lstStyle/>
                    <a:p>
                      <a:pPr>
                        <a:buNone/>
                      </a:pPr>
                      <a:r>
                        <a:rPr lang="en-GB" sz="1200"/>
                        <a:t>ip.src == 192.168.1.10</a:t>
                      </a:r>
                    </a:p>
                  </a:txBody>
                  <a:tcPr anchor="ctr"/>
                </a:tc>
                <a:tc>
                  <a:txBody>
                    <a:bodyPr/>
                    <a:lstStyle/>
                    <a:p>
                      <a:pPr>
                        <a:buNone/>
                      </a:pPr>
                      <a:r>
                        <a:rPr lang="fr-FR" sz="1200"/>
                        <a:t>Trafic trimis de un host</a:t>
                      </a:r>
                    </a:p>
                  </a:txBody>
                  <a:tcPr anchor="ctr"/>
                </a:tc>
                <a:tc>
                  <a:txBody>
                    <a:bodyPr/>
                    <a:lstStyle/>
                    <a:p>
                      <a:pPr>
                        <a:buNone/>
                      </a:pPr>
                      <a:r>
                        <a:rPr lang="en-GB" sz="1200"/>
                        <a:t>Analiza activității unui calculator</a:t>
                      </a:r>
                    </a:p>
                  </a:txBody>
                  <a:tcPr anchor="ctr"/>
                </a:tc>
                <a:extLst>
                  <a:ext uri="{0D108BD9-81ED-4DB2-BD59-A6C34878D82A}">
                    <a16:rowId xmlns:a16="http://schemas.microsoft.com/office/drawing/2014/main" val="1381584915"/>
                  </a:ext>
                </a:extLst>
              </a:tr>
              <a:tr h="0">
                <a:tc>
                  <a:txBody>
                    <a:bodyPr/>
                    <a:lstStyle/>
                    <a:p>
                      <a:pPr>
                        <a:buNone/>
                      </a:pPr>
                      <a:r>
                        <a:rPr lang="en-GB" sz="1200"/>
                        <a:t>ip.dst == 192.168.1.10</a:t>
                      </a:r>
                    </a:p>
                  </a:txBody>
                  <a:tcPr anchor="ctr"/>
                </a:tc>
                <a:tc>
                  <a:txBody>
                    <a:bodyPr/>
                    <a:lstStyle/>
                    <a:p>
                      <a:pPr>
                        <a:buNone/>
                      </a:pPr>
                      <a:r>
                        <a:rPr lang="fr-FR" sz="1200" dirty="0"/>
                        <a:t>Trafic </a:t>
                      </a:r>
                      <a:r>
                        <a:rPr lang="fr-FR" sz="1200" dirty="0" err="1"/>
                        <a:t>primit</a:t>
                      </a:r>
                      <a:r>
                        <a:rPr lang="fr-FR" sz="1200" dirty="0"/>
                        <a:t> de un host</a:t>
                      </a:r>
                    </a:p>
                  </a:txBody>
                  <a:tcPr anchor="ctr"/>
                </a:tc>
                <a:tc>
                  <a:txBody>
                    <a:bodyPr/>
                    <a:lstStyle/>
                    <a:p>
                      <a:pPr>
                        <a:buNone/>
                      </a:pPr>
                      <a:r>
                        <a:rPr lang="fr-FR" sz="1200"/>
                        <a:t>Analiza traficului către un host</a:t>
                      </a:r>
                    </a:p>
                  </a:txBody>
                  <a:tcPr anchor="ctr"/>
                </a:tc>
                <a:extLst>
                  <a:ext uri="{0D108BD9-81ED-4DB2-BD59-A6C34878D82A}">
                    <a16:rowId xmlns:a16="http://schemas.microsoft.com/office/drawing/2014/main" val="209627808"/>
                  </a:ext>
                </a:extLst>
              </a:tr>
              <a:tr h="0">
                <a:tc>
                  <a:txBody>
                    <a:bodyPr/>
                    <a:lstStyle/>
                    <a:p>
                      <a:pPr>
                        <a:buNone/>
                      </a:pPr>
                      <a:r>
                        <a:rPr lang="en-GB" sz="1200"/>
                        <a:t>ip.addr == 192.168.1.10</a:t>
                      </a:r>
                    </a:p>
                  </a:txBody>
                  <a:tcPr anchor="ctr"/>
                </a:tc>
                <a:tc>
                  <a:txBody>
                    <a:bodyPr/>
                    <a:lstStyle/>
                    <a:p>
                      <a:pPr>
                        <a:buNone/>
                      </a:pPr>
                      <a:r>
                        <a:rPr lang="en-GB" sz="1200" dirty="0" err="1"/>
                        <a:t>Toate</a:t>
                      </a:r>
                      <a:r>
                        <a:rPr lang="en-GB" sz="1200" dirty="0"/>
                        <a:t> </a:t>
                      </a:r>
                      <a:r>
                        <a:rPr lang="en-GB" sz="1200" dirty="0" err="1"/>
                        <a:t>pachetele</a:t>
                      </a:r>
                      <a:r>
                        <a:rPr lang="en-GB" sz="1200" dirty="0"/>
                        <a:t> </a:t>
                      </a:r>
                      <a:r>
                        <a:rPr lang="en-GB" sz="1200" dirty="0" err="1"/>
                        <a:t>hostului</a:t>
                      </a:r>
                      <a:endParaRPr lang="en-GB" sz="1200" dirty="0"/>
                    </a:p>
                  </a:txBody>
                  <a:tcPr anchor="ctr"/>
                </a:tc>
                <a:tc>
                  <a:txBody>
                    <a:bodyPr/>
                    <a:lstStyle/>
                    <a:p>
                      <a:pPr>
                        <a:buNone/>
                      </a:pPr>
                      <a:r>
                        <a:rPr lang="en-GB" sz="1200"/>
                        <a:t>Vizualizarea tuturor comunicațiilor</a:t>
                      </a:r>
                    </a:p>
                  </a:txBody>
                  <a:tcPr anchor="ctr"/>
                </a:tc>
                <a:extLst>
                  <a:ext uri="{0D108BD9-81ED-4DB2-BD59-A6C34878D82A}">
                    <a16:rowId xmlns:a16="http://schemas.microsoft.com/office/drawing/2014/main" val="3628660509"/>
                  </a:ext>
                </a:extLst>
              </a:tr>
              <a:tr h="0">
                <a:tc>
                  <a:txBody>
                    <a:bodyPr/>
                    <a:lstStyle/>
                    <a:p>
                      <a:pPr>
                        <a:buNone/>
                      </a:pPr>
                      <a:r>
                        <a:rPr lang="en-GB" sz="1200"/>
                        <a:t>ip.src == 192.168.1.5 and tcp.port == 80</a:t>
                      </a:r>
                    </a:p>
                  </a:txBody>
                  <a:tcPr anchor="ctr"/>
                </a:tc>
                <a:tc>
                  <a:txBody>
                    <a:bodyPr/>
                    <a:lstStyle/>
                    <a:p>
                      <a:pPr>
                        <a:buNone/>
                      </a:pPr>
                      <a:r>
                        <a:rPr lang="en-GB" sz="1200"/>
                        <a:t>HTTP de la un host</a:t>
                      </a:r>
                    </a:p>
                  </a:txBody>
                  <a:tcPr anchor="ctr"/>
                </a:tc>
                <a:tc>
                  <a:txBody>
                    <a:bodyPr/>
                    <a:lstStyle/>
                    <a:p>
                      <a:pPr>
                        <a:buNone/>
                      </a:pPr>
                      <a:r>
                        <a:rPr lang="en-GB" sz="1200"/>
                        <a:t>Analiza traficului web al unui calculator</a:t>
                      </a:r>
                    </a:p>
                  </a:txBody>
                  <a:tcPr anchor="ctr"/>
                </a:tc>
                <a:extLst>
                  <a:ext uri="{0D108BD9-81ED-4DB2-BD59-A6C34878D82A}">
                    <a16:rowId xmlns:a16="http://schemas.microsoft.com/office/drawing/2014/main" val="3792262020"/>
                  </a:ext>
                </a:extLst>
              </a:tr>
              <a:tr h="0">
                <a:tc>
                  <a:txBody>
                    <a:bodyPr/>
                    <a:lstStyle/>
                    <a:p>
                      <a:pPr>
                        <a:buNone/>
                      </a:pPr>
                      <a:r>
                        <a:rPr lang="en-GB" sz="1200"/>
                        <a:t>ip.addr == 192.168.1.10 and dns</a:t>
                      </a:r>
                    </a:p>
                  </a:txBody>
                  <a:tcPr anchor="ctr"/>
                </a:tc>
                <a:tc>
                  <a:txBody>
                    <a:bodyPr/>
                    <a:lstStyle/>
                    <a:p>
                      <a:pPr>
                        <a:buNone/>
                      </a:pPr>
                      <a:r>
                        <a:rPr lang="en-GB" sz="1200"/>
                        <a:t>DNS generat de un host</a:t>
                      </a:r>
                    </a:p>
                  </a:txBody>
                  <a:tcPr anchor="ctr"/>
                </a:tc>
                <a:tc>
                  <a:txBody>
                    <a:bodyPr/>
                    <a:lstStyle/>
                    <a:p>
                      <a:pPr>
                        <a:buNone/>
                      </a:pPr>
                      <a:r>
                        <a:rPr lang="en-GB" sz="1200" dirty="0" err="1"/>
                        <a:t>Identificarea</a:t>
                      </a:r>
                      <a:r>
                        <a:rPr lang="en-GB" sz="1200" dirty="0"/>
                        <a:t> </a:t>
                      </a:r>
                      <a:r>
                        <a:rPr lang="en-GB" sz="1200" dirty="0" err="1"/>
                        <a:t>domeniilor</a:t>
                      </a:r>
                      <a:r>
                        <a:rPr lang="en-GB" sz="1200" dirty="0"/>
                        <a:t> </a:t>
                      </a:r>
                      <a:r>
                        <a:rPr lang="en-GB" sz="1200" dirty="0" err="1"/>
                        <a:t>accesate</a:t>
                      </a:r>
                      <a:endParaRPr lang="en-GB" sz="1200" dirty="0"/>
                    </a:p>
                  </a:txBody>
                  <a:tcPr anchor="ctr"/>
                </a:tc>
                <a:extLst>
                  <a:ext uri="{0D108BD9-81ED-4DB2-BD59-A6C34878D82A}">
                    <a16:rowId xmlns:a16="http://schemas.microsoft.com/office/drawing/2014/main" val="1937501101"/>
                  </a:ext>
                </a:extLst>
              </a:tr>
            </a:tbl>
          </a:graphicData>
        </a:graphic>
      </p:graphicFrame>
      <p:sp>
        <p:nvSpPr>
          <p:cNvPr id="5" name="TextBox 4">
            <a:extLst>
              <a:ext uri="{FF2B5EF4-FFF2-40B4-BE49-F238E27FC236}">
                <a16:creationId xmlns:a16="http://schemas.microsoft.com/office/drawing/2014/main" id="{CD466CD6-03A1-5D26-2C0E-C03E185FDE40}"/>
              </a:ext>
            </a:extLst>
          </p:cNvPr>
          <p:cNvSpPr txBox="1"/>
          <p:nvPr/>
        </p:nvSpPr>
        <p:spPr>
          <a:xfrm>
            <a:off x="580858" y="1992948"/>
            <a:ext cx="6096000" cy="369332"/>
          </a:xfrm>
          <a:prstGeom prst="rect">
            <a:avLst/>
          </a:prstGeom>
          <a:noFill/>
        </p:spPr>
        <p:txBody>
          <a:bodyPr wrap="square">
            <a:spAutoFit/>
          </a:bodyPr>
          <a:lstStyle/>
          <a:p>
            <a:r>
              <a:rPr lang="en-GB" dirty="0" err="1">
                <a:solidFill>
                  <a:schemeClr val="tx1">
                    <a:lumMod val="75000"/>
                    <a:lumOff val="25000"/>
                  </a:schemeClr>
                </a:solidFill>
              </a:rPr>
              <a:t>Filtre</a:t>
            </a:r>
            <a:r>
              <a:rPr lang="en-GB" dirty="0">
                <a:solidFill>
                  <a:schemeClr val="tx1">
                    <a:lumMod val="75000"/>
                    <a:lumOff val="25000"/>
                  </a:schemeClr>
                </a:solidFill>
              </a:rPr>
              <a:t> </a:t>
            </a:r>
            <a:r>
              <a:rPr lang="en-GB" dirty="0" err="1">
                <a:solidFill>
                  <a:schemeClr val="tx1">
                    <a:lumMod val="75000"/>
                    <a:lumOff val="25000"/>
                  </a:schemeClr>
                </a:solidFill>
              </a:rPr>
              <a:t>pentru</a:t>
            </a:r>
            <a:r>
              <a:rPr lang="en-GB" dirty="0">
                <a:solidFill>
                  <a:schemeClr val="tx1">
                    <a:lumMod val="75000"/>
                    <a:lumOff val="25000"/>
                  </a:schemeClr>
                </a:solidFill>
              </a:rPr>
              <a:t> </a:t>
            </a:r>
            <a:r>
              <a:rPr lang="en-GB" dirty="0" err="1">
                <a:solidFill>
                  <a:schemeClr val="tx1">
                    <a:lumMod val="75000"/>
                    <a:lumOff val="25000"/>
                  </a:schemeClr>
                </a:solidFill>
              </a:rPr>
              <a:t>analiza</a:t>
            </a:r>
            <a:r>
              <a:rPr lang="en-GB" dirty="0">
                <a:solidFill>
                  <a:schemeClr val="tx1">
                    <a:lumMod val="75000"/>
                    <a:lumOff val="25000"/>
                  </a:schemeClr>
                </a:solidFill>
              </a:rPr>
              <a:t> </a:t>
            </a:r>
            <a:r>
              <a:rPr lang="en-GB" dirty="0" err="1">
                <a:solidFill>
                  <a:schemeClr val="tx1">
                    <a:lumMod val="75000"/>
                    <a:lumOff val="25000"/>
                  </a:schemeClr>
                </a:solidFill>
              </a:rPr>
              <a:t>unui</a:t>
            </a:r>
            <a:r>
              <a:rPr lang="en-GB" dirty="0">
                <a:solidFill>
                  <a:schemeClr val="tx1">
                    <a:lumMod val="75000"/>
                    <a:lumOff val="25000"/>
                  </a:schemeClr>
                </a:solidFill>
              </a:rPr>
              <a:t> host din </a:t>
            </a:r>
            <a:r>
              <a:rPr lang="en-GB" dirty="0" err="1">
                <a:solidFill>
                  <a:schemeClr val="tx1">
                    <a:lumMod val="75000"/>
                    <a:lumOff val="25000"/>
                  </a:schemeClr>
                </a:solidFill>
              </a:rPr>
              <a:t>rețea</a:t>
            </a:r>
            <a:endParaRPr lang="en-GB" dirty="0">
              <a:solidFill>
                <a:schemeClr val="tx1">
                  <a:lumMod val="75000"/>
                  <a:lumOff val="25000"/>
                </a:schemeClr>
              </a:solidFill>
            </a:endParaRPr>
          </a:p>
        </p:txBody>
      </p:sp>
      <p:graphicFrame>
        <p:nvGraphicFramePr>
          <p:cNvPr id="6" name="Table 5">
            <a:extLst>
              <a:ext uri="{FF2B5EF4-FFF2-40B4-BE49-F238E27FC236}">
                <a16:creationId xmlns:a16="http://schemas.microsoft.com/office/drawing/2014/main" id="{771E259A-7EA1-B083-3F92-48F40C15BE37}"/>
              </a:ext>
            </a:extLst>
          </p:cNvPr>
          <p:cNvGraphicFramePr>
            <a:graphicFrameLocks noGrp="1"/>
          </p:cNvGraphicFramePr>
          <p:nvPr>
            <p:extLst>
              <p:ext uri="{D42A27DB-BD31-4B8C-83A1-F6EECF244321}">
                <p14:modId xmlns:p14="http://schemas.microsoft.com/office/powerpoint/2010/main" val="2108069420"/>
              </p:ext>
            </p:extLst>
          </p:nvPr>
        </p:nvGraphicFramePr>
        <p:xfrm>
          <a:off x="581025" y="4654524"/>
          <a:ext cx="8245473" cy="1645920"/>
        </p:xfrm>
        <a:graphic>
          <a:graphicData uri="http://schemas.openxmlformats.org/drawingml/2006/table">
            <a:tbl>
              <a:tblPr>
                <a:tableStyleId>{125E5076-3810-47DD-B79F-674D7AD40C01}</a:tableStyleId>
              </a:tblPr>
              <a:tblGrid>
                <a:gridCol w="2748491">
                  <a:extLst>
                    <a:ext uri="{9D8B030D-6E8A-4147-A177-3AD203B41FA5}">
                      <a16:colId xmlns:a16="http://schemas.microsoft.com/office/drawing/2014/main" val="2652354519"/>
                    </a:ext>
                  </a:extLst>
                </a:gridCol>
                <a:gridCol w="2748491">
                  <a:extLst>
                    <a:ext uri="{9D8B030D-6E8A-4147-A177-3AD203B41FA5}">
                      <a16:colId xmlns:a16="http://schemas.microsoft.com/office/drawing/2014/main" val="3923270469"/>
                    </a:ext>
                  </a:extLst>
                </a:gridCol>
                <a:gridCol w="2748491">
                  <a:extLst>
                    <a:ext uri="{9D8B030D-6E8A-4147-A177-3AD203B41FA5}">
                      <a16:colId xmlns:a16="http://schemas.microsoft.com/office/drawing/2014/main" val="2752869164"/>
                    </a:ext>
                  </a:extLst>
                </a:gridCol>
              </a:tblGrid>
              <a:tr h="0">
                <a:tc>
                  <a:txBody>
                    <a:bodyPr/>
                    <a:lstStyle/>
                    <a:p>
                      <a:pPr>
                        <a:buNone/>
                      </a:pPr>
                      <a:r>
                        <a:rPr lang="en-GB" sz="1200" dirty="0" err="1"/>
                        <a:t>Filtru</a:t>
                      </a:r>
                      <a:r>
                        <a:rPr lang="en-GB" sz="1200" dirty="0"/>
                        <a:t> Wireshark</a:t>
                      </a:r>
                    </a:p>
                  </a:txBody>
                  <a:tcPr anchor="ctr">
                    <a:solidFill>
                      <a:schemeClr val="tx1">
                        <a:lumMod val="75000"/>
                        <a:lumOff val="25000"/>
                      </a:schemeClr>
                    </a:solidFill>
                  </a:tcPr>
                </a:tc>
                <a:tc>
                  <a:txBody>
                    <a:bodyPr/>
                    <a:lstStyle/>
                    <a:p>
                      <a:pPr>
                        <a:buNone/>
                      </a:pPr>
                      <a:r>
                        <a:rPr lang="en-GB" sz="1200" dirty="0"/>
                        <a:t>Ce </a:t>
                      </a:r>
                      <a:r>
                        <a:rPr lang="en-GB" sz="1200" dirty="0" err="1"/>
                        <a:t>afișează</a:t>
                      </a:r>
                      <a:endParaRPr lang="en-GB" sz="1200" dirty="0"/>
                    </a:p>
                  </a:txBody>
                  <a:tcPr anchor="ctr">
                    <a:solidFill>
                      <a:schemeClr val="tx1">
                        <a:lumMod val="75000"/>
                        <a:lumOff val="25000"/>
                      </a:schemeClr>
                    </a:solidFill>
                  </a:tcPr>
                </a:tc>
                <a:tc>
                  <a:txBody>
                    <a:bodyPr/>
                    <a:lstStyle/>
                    <a:p>
                      <a:pPr>
                        <a:buNone/>
                      </a:pPr>
                      <a:r>
                        <a:rPr lang="en-GB" sz="1200" dirty="0" err="1"/>
                        <a:t>Utilitate</a:t>
                      </a:r>
                      <a:endParaRPr lang="en-GB" sz="1200" dirty="0"/>
                    </a:p>
                  </a:txBody>
                  <a:tcPr anchor="ctr">
                    <a:solidFill>
                      <a:schemeClr val="tx1">
                        <a:lumMod val="75000"/>
                        <a:lumOff val="25000"/>
                      </a:schemeClr>
                    </a:solidFill>
                  </a:tcPr>
                </a:tc>
                <a:extLst>
                  <a:ext uri="{0D108BD9-81ED-4DB2-BD59-A6C34878D82A}">
                    <a16:rowId xmlns:a16="http://schemas.microsoft.com/office/drawing/2014/main" val="732707598"/>
                  </a:ext>
                </a:extLst>
              </a:tr>
              <a:tr h="0">
                <a:tc>
                  <a:txBody>
                    <a:bodyPr/>
                    <a:lstStyle/>
                    <a:p>
                      <a:pPr>
                        <a:buNone/>
                      </a:pPr>
                      <a:r>
                        <a:rPr lang="en-GB" sz="1200"/>
                        <a:t>tcp.flags.syn == 1</a:t>
                      </a:r>
                    </a:p>
                  </a:txBody>
                  <a:tcPr anchor="ctr"/>
                </a:tc>
                <a:tc>
                  <a:txBody>
                    <a:bodyPr/>
                    <a:lstStyle/>
                    <a:p>
                      <a:pPr>
                        <a:buNone/>
                      </a:pPr>
                      <a:r>
                        <a:rPr lang="en-GB" sz="1200"/>
                        <a:t>Pachete SYN</a:t>
                      </a:r>
                    </a:p>
                  </a:txBody>
                  <a:tcPr anchor="ctr"/>
                </a:tc>
                <a:tc>
                  <a:txBody>
                    <a:bodyPr/>
                    <a:lstStyle/>
                    <a:p>
                      <a:pPr>
                        <a:buNone/>
                      </a:pPr>
                      <a:r>
                        <a:rPr lang="en-GB" sz="1200"/>
                        <a:t>Inițierea conexiunilor TCP</a:t>
                      </a:r>
                    </a:p>
                  </a:txBody>
                  <a:tcPr anchor="ctr"/>
                </a:tc>
                <a:extLst>
                  <a:ext uri="{0D108BD9-81ED-4DB2-BD59-A6C34878D82A}">
                    <a16:rowId xmlns:a16="http://schemas.microsoft.com/office/drawing/2014/main" val="245699536"/>
                  </a:ext>
                </a:extLst>
              </a:tr>
              <a:tr h="0">
                <a:tc>
                  <a:txBody>
                    <a:bodyPr/>
                    <a:lstStyle/>
                    <a:p>
                      <a:pPr>
                        <a:buNone/>
                      </a:pPr>
                      <a:r>
                        <a:rPr lang="en-GB" sz="1200"/>
                        <a:t>tcp.flags.syn == 1 and tcp.flags.ack == 0</a:t>
                      </a:r>
                    </a:p>
                  </a:txBody>
                  <a:tcPr anchor="ctr"/>
                </a:tc>
                <a:tc>
                  <a:txBody>
                    <a:bodyPr/>
                    <a:lstStyle/>
                    <a:p>
                      <a:pPr>
                        <a:buNone/>
                      </a:pPr>
                      <a:r>
                        <a:rPr lang="en-GB" sz="1200"/>
                        <a:t>Pachete SYN inițiale</a:t>
                      </a:r>
                    </a:p>
                  </a:txBody>
                  <a:tcPr anchor="ctr"/>
                </a:tc>
                <a:tc>
                  <a:txBody>
                    <a:bodyPr/>
                    <a:lstStyle/>
                    <a:p>
                      <a:pPr>
                        <a:buNone/>
                      </a:pPr>
                      <a:r>
                        <a:rPr lang="en-GB" sz="1200"/>
                        <a:t>Posibil scan de porturi</a:t>
                      </a:r>
                    </a:p>
                  </a:txBody>
                  <a:tcPr anchor="ctr"/>
                </a:tc>
                <a:extLst>
                  <a:ext uri="{0D108BD9-81ED-4DB2-BD59-A6C34878D82A}">
                    <a16:rowId xmlns:a16="http://schemas.microsoft.com/office/drawing/2014/main" val="1197506765"/>
                  </a:ext>
                </a:extLst>
              </a:tr>
              <a:tr h="0">
                <a:tc>
                  <a:txBody>
                    <a:bodyPr/>
                    <a:lstStyle/>
                    <a:p>
                      <a:pPr>
                        <a:buNone/>
                      </a:pPr>
                      <a:r>
                        <a:rPr lang="en-GB" sz="1200"/>
                        <a:t>tcp.flags.reset == 1</a:t>
                      </a:r>
                    </a:p>
                  </a:txBody>
                  <a:tcPr anchor="ctr"/>
                </a:tc>
                <a:tc>
                  <a:txBody>
                    <a:bodyPr/>
                    <a:lstStyle/>
                    <a:p>
                      <a:pPr>
                        <a:buNone/>
                      </a:pPr>
                      <a:r>
                        <a:rPr lang="en-GB" sz="1200"/>
                        <a:t>Pachete RST</a:t>
                      </a:r>
                    </a:p>
                  </a:txBody>
                  <a:tcPr anchor="ctr"/>
                </a:tc>
                <a:tc>
                  <a:txBody>
                    <a:bodyPr/>
                    <a:lstStyle/>
                    <a:p>
                      <a:pPr>
                        <a:buNone/>
                      </a:pPr>
                      <a:r>
                        <a:rPr lang="en-GB" sz="1200"/>
                        <a:t>Conexiuni întrerupte</a:t>
                      </a:r>
                    </a:p>
                  </a:txBody>
                  <a:tcPr anchor="ctr"/>
                </a:tc>
                <a:extLst>
                  <a:ext uri="{0D108BD9-81ED-4DB2-BD59-A6C34878D82A}">
                    <a16:rowId xmlns:a16="http://schemas.microsoft.com/office/drawing/2014/main" val="4043030264"/>
                  </a:ext>
                </a:extLst>
              </a:tr>
              <a:tr h="0">
                <a:tc>
                  <a:txBody>
                    <a:bodyPr/>
                    <a:lstStyle/>
                    <a:p>
                      <a:pPr>
                        <a:buNone/>
                      </a:pPr>
                      <a:r>
                        <a:rPr lang="en-GB" sz="1200"/>
                        <a:t>tcp.analysis.retransmission</a:t>
                      </a:r>
                    </a:p>
                  </a:txBody>
                  <a:tcPr anchor="ctr"/>
                </a:tc>
                <a:tc>
                  <a:txBody>
                    <a:bodyPr/>
                    <a:lstStyle/>
                    <a:p>
                      <a:pPr>
                        <a:buNone/>
                      </a:pPr>
                      <a:r>
                        <a:rPr lang="en-GB" sz="1200"/>
                        <a:t>Retransmisii TCP</a:t>
                      </a:r>
                    </a:p>
                  </a:txBody>
                  <a:tcPr anchor="ctr"/>
                </a:tc>
                <a:tc>
                  <a:txBody>
                    <a:bodyPr/>
                    <a:lstStyle/>
                    <a:p>
                      <a:pPr>
                        <a:buNone/>
                      </a:pPr>
                      <a:r>
                        <a:rPr lang="en-GB" sz="1200" dirty="0" err="1"/>
                        <a:t>Probleme</a:t>
                      </a:r>
                      <a:r>
                        <a:rPr lang="en-GB" sz="1200" dirty="0"/>
                        <a:t> de </a:t>
                      </a:r>
                      <a:r>
                        <a:rPr lang="en-GB" sz="1200" dirty="0" err="1"/>
                        <a:t>rețea</a:t>
                      </a:r>
                      <a:endParaRPr lang="en-GB" sz="1200" dirty="0"/>
                    </a:p>
                  </a:txBody>
                  <a:tcPr anchor="ctr"/>
                </a:tc>
                <a:extLst>
                  <a:ext uri="{0D108BD9-81ED-4DB2-BD59-A6C34878D82A}">
                    <a16:rowId xmlns:a16="http://schemas.microsoft.com/office/drawing/2014/main" val="1549886796"/>
                  </a:ext>
                </a:extLst>
              </a:tr>
              <a:tr h="0">
                <a:tc>
                  <a:txBody>
                    <a:bodyPr/>
                    <a:lstStyle/>
                    <a:p>
                      <a:pPr>
                        <a:buNone/>
                      </a:pPr>
                      <a:r>
                        <a:rPr lang="en-GB" sz="1200"/>
                        <a:t>tcp.analysis.flags</a:t>
                      </a:r>
                    </a:p>
                  </a:txBody>
                  <a:tcPr anchor="ctr"/>
                </a:tc>
                <a:tc>
                  <a:txBody>
                    <a:bodyPr/>
                    <a:lstStyle/>
                    <a:p>
                      <a:pPr>
                        <a:buNone/>
                      </a:pPr>
                      <a:r>
                        <a:rPr lang="en-GB" sz="1200"/>
                        <a:t>Pachete marcate cu erori</a:t>
                      </a:r>
                    </a:p>
                  </a:txBody>
                  <a:tcPr anchor="ctr"/>
                </a:tc>
                <a:tc>
                  <a:txBody>
                    <a:bodyPr/>
                    <a:lstStyle/>
                    <a:p>
                      <a:pPr>
                        <a:buNone/>
                      </a:pPr>
                      <a:r>
                        <a:rPr lang="en-GB" sz="1200" dirty="0"/>
                        <a:t>Diagnostic de </a:t>
                      </a:r>
                      <a:r>
                        <a:rPr lang="en-GB" sz="1200" dirty="0" err="1"/>
                        <a:t>trafic</a:t>
                      </a:r>
                      <a:endParaRPr lang="en-GB" sz="1200" dirty="0"/>
                    </a:p>
                  </a:txBody>
                  <a:tcPr anchor="ctr"/>
                </a:tc>
                <a:extLst>
                  <a:ext uri="{0D108BD9-81ED-4DB2-BD59-A6C34878D82A}">
                    <a16:rowId xmlns:a16="http://schemas.microsoft.com/office/drawing/2014/main" val="1500252423"/>
                  </a:ext>
                </a:extLst>
              </a:tr>
            </a:tbl>
          </a:graphicData>
        </a:graphic>
      </p:graphicFrame>
      <p:sp>
        <p:nvSpPr>
          <p:cNvPr id="8" name="TextBox 7">
            <a:extLst>
              <a:ext uri="{FF2B5EF4-FFF2-40B4-BE49-F238E27FC236}">
                <a16:creationId xmlns:a16="http://schemas.microsoft.com/office/drawing/2014/main" id="{4F1D36B1-C34B-8AE5-66ED-B1ADD799098D}"/>
              </a:ext>
            </a:extLst>
          </p:cNvPr>
          <p:cNvSpPr txBox="1"/>
          <p:nvPr/>
        </p:nvSpPr>
        <p:spPr>
          <a:xfrm>
            <a:off x="533400" y="4285192"/>
            <a:ext cx="6096000" cy="369332"/>
          </a:xfrm>
          <a:prstGeom prst="rect">
            <a:avLst/>
          </a:prstGeom>
          <a:noFill/>
        </p:spPr>
        <p:txBody>
          <a:bodyPr wrap="square">
            <a:spAutoFit/>
          </a:bodyPr>
          <a:lstStyle/>
          <a:p>
            <a:r>
              <a:rPr lang="en-GB" dirty="0" err="1">
                <a:solidFill>
                  <a:schemeClr val="tx1">
                    <a:lumMod val="75000"/>
                    <a:lumOff val="25000"/>
                  </a:schemeClr>
                </a:solidFill>
              </a:rPr>
              <a:t>Filtre</a:t>
            </a:r>
            <a:r>
              <a:rPr lang="en-GB" dirty="0">
                <a:solidFill>
                  <a:schemeClr val="tx1">
                    <a:lumMod val="75000"/>
                    <a:lumOff val="25000"/>
                  </a:schemeClr>
                </a:solidFill>
              </a:rPr>
              <a:t> </a:t>
            </a:r>
            <a:r>
              <a:rPr lang="en-GB" dirty="0" err="1">
                <a:solidFill>
                  <a:schemeClr val="tx1">
                    <a:lumMod val="75000"/>
                    <a:lumOff val="25000"/>
                  </a:schemeClr>
                </a:solidFill>
              </a:rPr>
              <a:t>pentru</a:t>
            </a:r>
            <a:r>
              <a:rPr lang="en-GB" dirty="0">
                <a:solidFill>
                  <a:schemeClr val="tx1">
                    <a:lumMod val="75000"/>
                    <a:lumOff val="25000"/>
                  </a:schemeClr>
                </a:solidFill>
              </a:rPr>
              <a:t> </a:t>
            </a:r>
            <a:r>
              <a:rPr lang="en-GB" dirty="0" err="1">
                <a:solidFill>
                  <a:schemeClr val="tx1">
                    <a:lumMod val="75000"/>
                    <a:lumOff val="25000"/>
                  </a:schemeClr>
                </a:solidFill>
              </a:rPr>
              <a:t>analiza</a:t>
            </a:r>
            <a:r>
              <a:rPr lang="en-GB" dirty="0">
                <a:solidFill>
                  <a:schemeClr val="tx1">
                    <a:lumMod val="75000"/>
                    <a:lumOff val="25000"/>
                  </a:schemeClr>
                </a:solidFill>
              </a:rPr>
              <a:t> </a:t>
            </a:r>
            <a:r>
              <a:rPr lang="en-GB" dirty="0" err="1">
                <a:solidFill>
                  <a:schemeClr val="tx1">
                    <a:lumMod val="75000"/>
                    <a:lumOff val="25000"/>
                  </a:schemeClr>
                </a:solidFill>
              </a:rPr>
              <a:t>conexiunilor</a:t>
            </a:r>
            <a:r>
              <a:rPr lang="en-GB" dirty="0">
                <a:solidFill>
                  <a:schemeClr val="tx1">
                    <a:lumMod val="75000"/>
                    <a:lumOff val="25000"/>
                  </a:schemeClr>
                </a:solidFill>
              </a:rPr>
              <a:t> TCP</a:t>
            </a:r>
          </a:p>
        </p:txBody>
      </p:sp>
      <p:pic>
        <p:nvPicPr>
          <p:cNvPr id="9" name="Picture 8" descr="File:Wireshark Logo.svg - Wikimedia Commons">
            <a:extLst>
              <a:ext uri="{FF2B5EF4-FFF2-40B4-BE49-F238E27FC236}">
                <a16:creationId xmlns:a16="http://schemas.microsoft.com/office/drawing/2014/main" id="{763303AC-9FDE-6CE1-4324-7DA712CE0F96}"/>
              </a:ext>
            </a:extLst>
          </p:cNvPr>
          <p:cNvPicPr>
            <a:picLocks noChangeAspect="1"/>
          </p:cNvPicPr>
          <p:nvPr/>
        </p:nvPicPr>
        <p:blipFill>
          <a:blip r:embed="rId2"/>
          <a:stretch>
            <a:fillRect/>
          </a:stretch>
        </p:blipFill>
        <p:spPr>
          <a:xfrm rot="5400000">
            <a:off x="7870032" y="3764211"/>
            <a:ext cx="3785368" cy="1041962"/>
          </a:xfrm>
          <a:prstGeom prst="rect">
            <a:avLst/>
          </a:prstGeom>
        </p:spPr>
      </p:pic>
      <p:sp>
        <p:nvSpPr>
          <p:cNvPr id="10" name="Flowchart: Process 9">
            <a:extLst>
              <a:ext uri="{FF2B5EF4-FFF2-40B4-BE49-F238E27FC236}">
                <a16:creationId xmlns:a16="http://schemas.microsoft.com/office/drawing/2014/main" id="{E9F18F88-5195-A4E0-DEDA-3918642E2245}"/>
              </a:ext>
            </a:extLst>
          </p:cNvPr>
          <p:cNvSpPr/>
          <p:nvPr/>
        </p:nvSpPr>
        <p:spPr>
          <a:xfrm>
            <a:off x="451104" y="2003304"/>
            <a:ext cx="11289792" cy="452551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32056570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729B0-4ACE-D078-1B21-ACA816C2F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3846C-CDF0-BB87-8DE4-C73E0FE9EF9B}"/>
              </a:ext>
            </a:extLst>
          </p:cNvPr>
          <p:cNvSpPr>
            <a:spLocks noGrp="1"/>
          </p:cNvSpPr>
          <p:nvPr>
            <p:ph type="title"/>
          </p:nvPr>
        </p:nvSpPr>
        <p:spPr/>
        <p:txBody>
          <a:bodyPr>
            <a:normAutofit fontScale="90000"/>
          </a:bodyPr>
          <a:lstStyle/>
          <a:p>
            <a:r>
              <a:rPr lang="en-US" dirty="0"/>
              <a:t>Wireshark                  </a:t>
            </a:r>
            <a:br>
              <a:rPr lang="en-US" dirty="0"/>
            </a:br>
            <a:br>
              <a:rPr lang="en-US" dirty="0"/>
            </a:br>
            <a:r>
              <a:rPr lang="en-GB" sz="1800" dirty="0" err="1"/>
              <a:t>filtre</a:t>
            </a:r>
            <a:r>
              <a:rPr lang="en-GB" sz="1800" dirty="0"/>
              <a:t> Wireshark care </a:t>
            </a:r>
            <a:r>
              <a:rPr lang="en-GB" sz="1800" dirty="0" err="1"/>
              <a:t>dezvăluie</a:t>
            </a:r>
            <a:r>
              <a:rPr lang="en-GB" sz="1800" dirty="0"/>
              <a:t> </a:t>
            </a:r>
            <a:r>
              <a:rPr lang="en-GB" sz="1800" dirty="0" err="1"/>
              <a:t>lucruri</a:t>
            </a:r>
            <a:r>
              <a:rPr lang="en-GB" sz="1800" dirty="0"/>
              <a:t> </a:t>
            </a:r>
            <a:r>
              <a:rPr lang="en-GB" sz="1800" dirty="0" err="1"/>
              <a:t>interesante</a:t>
            </a:r>
            <a:r>
              <a:rPr lang="en-GB" sz="1800" dirty="0"/>
              <a:t> </a:t>
            </a:r>
            <a:r>
              <a:rPr lang="en-GB" sz="1800" dirty="0" err="1"/>
              <a:t>în</a:t>
            </a:r>
            <a:r>
              <a:rPr lang="en-GB" sz="1800" dirty="0"/>
              <a:t> </a:t>
            </a:r>
            <a:r>
              <a:rPr lang="en-GB" sz="1800" dirty="0" err="1"/>
              <a:t>trafic</a:t>
            </a:r>
            <a:endParaRPr lang="en-US" sz="1800" dirty="0"/>
          </a:p>
        </p:txBody>
      </p:sp>
      <p:sp>
        <p:nvSpPr>
          <p:cNvPr id="15" name="Rectangle 14">
            <a:extLst>
              <a:ext uri="{FF2B5EF4-FFF2-40B4-BE49-F238E27FC236}">
                <a16:creationId xmlns:a16="http://schemas.microsoft.com/office/drawing/2014/main" id="{309F2CFD-FA26-4EC1-860D-2377D9A34D5D}"/>
              </a:ext>
            </a:extLst>
          </p:cNvPr>
          <p:cNvSpPr/>
          <p:nvPr/>
        </p:nvSpPr>
        <p:spPr>
          <a:xfrm>
            <a:off x="694944" y="1213104"/>
            <a:ext cx="7053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2628C611-6E85-B819-FE55-F6B8A1FE3144}"/>
              </a:ext>
            </a:extLst>
          </p:cNvPr>
          <p:cNvGraphicFramePr>
            <a:graphicFrameLocks noGrp="1"/>
          </p:cNvGraphicFramePr>
          <p:nvPr>
            <p:extLst>
              <p:ext uri="{D42A27DB-BD31-4B8C-83A1-F6EECF244321}">
                <p14:modId xmlns:p14="http://schemas.microsoft.com/office/powerpoint/2010/main" val="1540111304"/>
              </p:ext>
            </p:extLst>
          </p:nvPr>
        </p:nvGraphicFramePr>
        <p:xfrm>
          <a:off x="695323" y="2404558"/>
          <a:ext cx="7508877" cy="1920240"/>
        </p:xfrm>
        <a:graphic>
          <a:graphicData uri="http://schemas.openxmlformats.org/drawingml/2006/table">
            <a:tbl>
              <a:tblPr>
                <a:tableStyleId>{125E5076-3810-47DD-B79F-674D7AD40C01}</a:tableStyleId>
              </a:tblPr>
              <a:tblGrid>
                <a:gridCol w="2502959">
                  <a:extLst>
                    <a:ext uri="{9D8B030D-6E8A-4147-A177-3AD203B41FA5}">
                      <a16:colId xmlns:a16="http://schemas.microsoft.com/office/drawing/2014/main" val="3561408744"/>
                    </a:ext>
                  </a:extLst>
                </a:gridCol>
                <a:gridCol w="2502959">
                  <a:extLst>
                    <a:ext uri="{9D8B030D-6E8A-4147-A177-3AD203B41FA5}">
                      <a16:colId xmlns:a16="http://schemas.microsoft.com/office/drawing/2014/main" val="3005797497"/>
                    </a:ext>
                  </a:extLst>
                </a:gridCol>
                <a:gridCol w="2502959">
                  <a:extLst>
                    <a:ext uri="{9D8B030D-6E8A-4147-A177-3AD203B41FA5}">
                      <a16:colId xmlns:a16="http://schemas.microsoft.com/office/drawing/2014/main" val="144497356"/>
                    </a:ext>
                  </a:extLst>
                </a:gridCol>
              </a:tblGrid>
              <a:tr h="0">
                <a:tc>
                  <a:txBody>
                    <a:bodyPr/>
                    <a:lstStyle/>
                    <a:p>
                      <a:pPr>
                        <a:buNone/>
                      </a:pPr>
                      <a:r>
                        <a:rPr lang="en-GB" sz="1200" dirty="0" err="1"/>
                        <a:t>Filtru</a:t>
                      </a:r>
                      <a:r>
                        <a:rPr lang="en-GB" sz="1200" dirty="0"/>
                        <a:t> Wireshark</a:t>
                      </a:r>
                    </a:p>
                  </a:txBody>
                  <a:tcPr anchor="ctr">
                    <a:solidFill>
                      <a:schemeClr val="tx1">
                        <a:lumMod val="75000"/>
                        <a:lumOff val="25000"/>
                      </a:schemeClr>
                    </a:solidFill>
                  </a:tcPr>
                </a:tc>
                <a:tc>
                  <a:txBody>
                    <a:bodyPr/>
                    <a:lstStyle/>
                    <a:p>
                      <a:pPr>
                        <a:buNone/>
                      </a:pPr>
                      <a:r>
                        <a:rPr lang="en-GB" sz="1200"/>
                        <a:t>Ce afișează</a:t>
                      </a:r>
                    </a:p>
                  </a:txBody>
                  <a:tcPr anchor="ctr">
                    <a:solidFill>
                      <a:schemeClr val="tx1">
                        <a:lumMod val="75000"/>
                        <a:lumOff val="25000"/>
                      </a:schemeClr>
                    </a:solidFill>
                  </a:tcPr>
                </a:tc>
                <a:tc>
                  <a:txBody>
                    <a:bodyPr/>
                    <a:lstStyle/>
                    <a:p>
                      <a:pPr>
                        <a:buNone/>
                      </a:pPr>
                      <a:r>
                        <a:rPr lang="en-GB" sz="1200" dirty="0" err="1"/>
                        <a:t>Utilitate</a:t>
                      </a:r>
                      <a:endParaRPr lang="en-GB" sz="1200" dirty="0"/>
                    </a:p>
                  </a:txBody>
                  <a:tcPr anchor="ctr">
                    <a:solidFill>
                      <a:schemeClr val="tx1">
                        <a:lumMod val="75000"/>
                        <a:lumOff val="25000"/>
                      </a:schemeClr>
                    </a:solidFill>
                  </a:tcPr>
                </a:tc>
                <a:extLst>
                  <a:ext uri="{0D108BD9-81ED-4DB2-BD59-A6C34878D82A}">
                    <a16:rowId xmlns:a16="http://schemas.microsoft.com/office/drawing/2014/main" val="2099320435"/>
                  </a:ext>
                </a:extLst>
              </a:tr>
              <a:tr h="0">
                <a:tc>
                  <a:txBody>
                    <a:bodyPr/>
                    <a:lstStyle/>
                    <a:p>
                      <a:pPr>
                        <a:buNone/>
                      </a:pPr>
                      <a:r>
                        <a:rPr lang="en-GB" sz="1200" dirty="0"/>
                        <a:t>ftp</a:t>
                      </a:r>
                    </a:p>
                  </a:txBody>
                  <a:tcPr anchor="ctr"/>
                </a:tc>
                <a:tc>
                  <a:txBody>
                    <a:bodyPr/>
                    <a:lstStyle/>
                    <a:p>
                      <a:pPr>
                        <a:buNone/>
                      </a:pPr>
                      <a:r>
                        <a:rPr lang="en-GB" sz="1200" dirty="0" err="1"/>
                        <a:t>Trafic</a:t>
                      </a:r>
                      <a:r>
                        <a:rPr lang="en-GB" sz="1200" dirty="0"/>
                        <a:t> FTP</a:t>
                      </a:r>
                    </a:p>
                  </a:txBody>
                  <a:tcPr anchor="ctr"/>
                </a:tc>
                <a:tc>
                  <a:txBody>
                    <a:bodyPr/>
                    <a:lstStyle/>
                    <a:p>
                      <a:pPr>
                        <a:buNone/>
                      </a:pPr>
                      <a:r>
                        <a:rPr lang="en-GB" sz="1200" dirty="0" err="1"/>
                        <a:t>Demonstrarea</a:t>
                      </a:r>
                      <a:r>
                        <a:rPr lang="en-GB" sz="1200" dirty="0"/>
                        <a:t> </a:t>
                      </a:r>
                      <a:r>
                        <a:rPr lang="en-GB" sz="1200" dirty="0" err="1"/>
                        <a:t>transferului</a:t>
                      </a:r>
                      <a:r>
                        <a:rPr lang="en-GB" sz="1200" dirty="0"/>
                        <a:t> de </a:t>
                      </a:r>
                      <a:r>
                        <a:rPr lang="en-GB" sz="1200" dirty="0" err="1"/>
                        <a:t>fișiere</a:t>
                      </a:r>
                      <a:endParaRPr lang="en-GB" sz="1200" dirty="0"/>
                    </a:p>
                  </a:txBody>
                  <a:tcPr anchor="ctr"/>
                </a:tc>
                <a:extLst>
                  <a:ext uri="{0D108BD9-81ED-4DB2-BD59-A6C34878D82A}">
                    <a16:rowId xmlns:a16="http://schemas.microsoft.com/office/drawing/2014/main" val="400982673"/>
                  </a:ext>
                </a:extLst>
              </a:tr>
              <a:tr h="0">
                <a:tc>
                  <a:txBody>
                    <a:bodyPr/>
                    <a:lstStyle/>
                    <a:p>
                      <a:pPr>
                        <a:buNone/>
                      </a:pPr>
                      <a:r>
                        <a:rPr lang="en-GB" sz="1200" dirty="0" err="1"/>
                        <a:t>ftp.request.command</a:t>
                      </a:r>
                      <a:r>
                        <a:rPr lang="en-GB" sz="1200" dirty="0"/>
                        <a:t> == "USER"</a:t>
                      </a:r>
                    </a:p>
                  </a:txBody>
                  <a:tcPr anchor="ctr"/>
                </a:tc>
                <a:tc>
                  <a:txBody>
                    <a:bodyPr/>
                    <a:lstStyle/>
                    <a:p>
                      <a:pPr>
                        <a:buNone/>
                      </a:pPr>
                      <a:r>
                        <a:rPr lang="en-GB" sz="1200" dirty="0" err="1"/>
                        <a:t>Comandă</a:t>
                      </a:r>
                      <a:r>
                        <a:rPr lang="en-GB" sz="1200" dirty="0"/>
                        <a:t> FTP USER</a:t>
                      </a:r>
                    </a:p>
                  </a:txBody>
                  <a:tcPr anchor="ctr"/>
                </a:tc>
                <a:tc>
                  <a:txBody>
                    <a:bodyPr/>
                    <a:lstStyle/>
                    <a:p>
                      <a:pPr>
                        <a:buNone/>
                      </a:pPr>
                      <a:r>
                        <a:rPr lang="en-GB" sz="1200" dirty="0" err="1"/>
                        <a:t>Autentificare</a:t>
                      </a:r>
                      <a:r>
                        <a:rPr lang="en-GB" sz="1200" dirty="0"/>
                        <a:t> FTP </a:t>
                      </a:r>
                      <a:r>
                        <a:rPr lang="en-GB" sz="1200" dirty="0" err="1"/>
                        <a:t>în</a:t>
                      </a:r>
                      <a:r>
                        <a:rPr lang="en-GB" sz="1200" dirty="0"/>
                        <a:t> </a:t>
                      </a:r>
                      <a:r>
                        <a:rPr lang="en-GB" sz="1200" dirty="0" err="1"/>
                        <a:t>clar</a:t>
                      </a:r>
                      <a:endParaRPr lang="en-GB" sz="1200" dirty="0"/>
                    </a:p>
                  </a:txBody>
                  <a:tcPr anchor="ctr"/>
                </a:tc>
                <a:extLst>
                  <a:ext uri="{0D108BD9-81ED-4DB2-BD59-A6C34878D82A}">
                    <a16:rowId xmlns:a16="http://schemas.microsoft.com/office/drawing/2014/main" val="112446008"/>
                  </a:ext>
                </a:extLst>
              </a:tr>
              <a:tr h="0">
                <a:tc>
                  <a:txBody>
                    <a:bodyPr/>
                    <a:lstStyle/>
                    <a:p>
                      <a:pPr>
                        <a:buNone/>
                      </a:pPr>
                      <a:r>
                        <a:rPr lang="en-GB" sz="1200"/>
                        <a:t>telnet</a:t>
                      </a:r>
                    </a:p>
                  </a:txBody>
                  <a:tcPr anchor="ctr"/>
                </a:tc>
                <a:tc>
                  <a:txBody>
                    <a:bodyPr/>
                    <a:lstStyle/>
                    <a:p>
                      <a:pPr>
                        <a:buNone/>
                      </a:pPr>
                      <a:r>
                        <a:rPr lang="en-GB" sz="1200"/>
                        <a:t>Trafic Telnet</a:t>
                      </a:r>
                    </a:p>
                  </a:txBody>
                  <a:tcPr anchor="ctr"/>
                </a:tc>
                <a:tc>
                  <a:txBody>
                    <a:bodyPr/>
                    <a:lstStyle/>
                    <a:p>
                      <a:pPr>
                        <a:buNone/>
                      </a:pPr>
                      <a:r>
                        <a:rPr lang="en-GB" sz="1200" dirty="0"/>
                        <a:t>Protocol </a:t>
                      </a:r>
                      <a:r>
                        <a:rPr lang="en-GB" sz="1200" dirty="0" err="1"/>
                        <a:t>nesecurizat</a:t>
                      </a:r>
                      <a:endParaRPr lang="en-GB" sz="1200" dirty="0"/>
                    </a:p>
                  </a:txBody>
                  <a:tcPr anchor="ctr"/>
                </a:tc>
                <a:extLst>
                  <a:ext uri="{0D108BD9-81ED-4DB2-BD59-A6C34878D82A}">
                    <a16:rowId xmlns:a16="http://schemas.microsoft.com/office/drawing/2014/main" val="2007231538"/>
                  </a:ext>
                </a:extLst>
              </a:tr>
              <a:tr h="0">
                <a:tc>
                  <a:txBody>
                    <a:bodyPr/>
                    <a:lstStyle/>
                    <a:p>
                      <a:pPr>
                        <a:buNone/>
                      </a:pPr>
                      <a:r>
                        <a:rPr lang="en-GB" sz="1200"/>
                        <a:t>smtp</a:t>
                      </a:r>
                    </a:p>
                  </a:txBody>
                  <a:tcPr anchor="ctr"/>
                </a:tc>
                <a:tc>
                  <a:txBody>
                    <a:bodyPr/>
                    <a:lstStyle/>
                    <a:p>
                      <a:pPr>
                        <a:buNone/>
                      </a:pPr>
                      <a:r>
                        <a:rPr lang="en-GB" sz="1200"/>
                        <a:t>Trafic email SMTP</a:t>
                      </a:r>
                    </a:p>
                  </a:txBody>
                  <a:tcPr anchor="ctr"/>
                </a:tc>
                <a:tc>
                  <a:txBody>
                    <a:bodyPr/>
                    <a:lstStyle/>
                    <a:p>
                      <a:pPr>
                        <a:buNone/>
                      </a:pPr>
                      <a:r>
                        <a:rPr lang="en-GB" sz="1200" dirty="0"/>
                        <a:t>Analiza </a:t>
                      </a:r>
                      <a:r>
                        <a:rPr lang="en-GB" sz="1200" dirty="0" err="1"/>
                        <a:t>transmiterii</a:t>
                      </a:r>
                      <a:r>
                        <a:rPr lang="en-GB" sz="1200" dirty="0"/>
                        <a:t> </a:t>
                      </a:r>
                      <a:r>
                        <a:rPr lang="en-GB" sz="1200" dirty="0" err="1"/>
                        <a:t>emailurilor</a:t>
                      </a:r>
                      <a:endParaRPr lang="en-GB" sz="1200" dirty="0"/>
                    </a:p>
                  </a:txBody>
                  <a:tcPr anchor="ctr"/>
                </a:tc>
                <a:extLst>
                  <a:ext uri="{0D108BD9-81ED-4DB2-BD59-A6C34878D82A}">
                    <a16:rowId xmlns:a16="http://schemas.microsoft.com/office/drawing/2014/main" val="4241690401"/>
                  </a:ext>
                </a:extLst>
              </a:tr>
              <a:tr h="0">
                <a:tc>
                  <a:txBody>
                    <a:bodyPr/>
                    <a:lstStyle/>
                    <a:p>
                      <a:pPr>
                        <a:buNone/>
                      </a:pPr>
                      <a:r>
                        <a:rPr lang="en-GB" sz="1200"/>
                        <a:t>icmp</a:t>
                      </a:r>
                    </a:p>
                  </a:txBody>
                  <a:tcPr anchor="ctr"/>
                </a:tc>
                <a:tc>
                  <a:txBody>
                    <a:bodyPr/>
                    <a:lstStyle/>
                    <a:p>
                      <a:pPr>
                        <a:buNone/>
                      </a:pPr>
                      <a:r>
                        <a:rPr lang="en-GB" sz="1200"/>
                        <a:t>Pachete ICMP</a:t>
                      </a:r>
                    </a:p>
                  </a:txBody>
                  <a:tcPr anchor="ctr"/>
                </a:tc>
                <a:tc>
                  <a:txBody>
                    <a:bodyPr/>
                    <a:lstStyle/>
                    <a:p>
                      <a:pPr>
                        <a:buNone/>
                      </a:pPr>
                      <a:r>
                        <a:rPr lang="en-GB" sz="1200" dirty="0" err="1"/>
                        <a:t>Pachete</a:t>
                      </a:r>
                      <a:r>
                        <a:rPr lang="en-GB" sz="1200" dirty="0"/>
                        <a:t> de tip ping</a:t>
                      </a:r>
                    </a:p>
                  </a:txBody>
                  <a:tcPr anchor="ctr"/>
                </a:tc>
                <a:extLst>
                  <a:ext uri="{0D108BD9-81ED-4DB2-BD59-A6C34878D82A}">
                    <a16:rowId xmlns:a16="http://schemas.microsoft.com/office/drawing/2014/main" val="4057177207"/>
                  </a:ext>
                </a:extLst>
              </a:tr>
              <a:tr h="0">
                <a:tc>
                  <a:txBody>
                    <a:bodyPr/>
                    <a:lstStyle/>
                    <a:p>
                      <a:pPr>
                        <a:buNone/>
                      </a:pPr>
                      <a:r>
                        <a:rPr lang="en-GB" sz="1200"/>
                        <a:t>icmp.type == 8</a:t>
                      </a:r>
                    </a:p>
                  </a:txBody>
                  <a:tcPr anchor="ctr"/>
                </a:tc>
                <a:tc>
                  <a:txBody>
                    <a:bodyPr/>
                    <a:lstStyle/>
                    <a:p>
                      <a:pPr>
                        <a:buNone/>
                      </a:pPr>
                      <a:r>
                        <a:rPr lang="en-GB" sz="1200"/>
                        <a:t>Cereri ICMP Echo</a:t>
                      </a:r>
                    </a:p>
                  </a:txBody>
                  <a:tcPr anchor="ctr"/>
                </a:tc>
                <a:tc>
                  <a:txBody>
                    <a:bodyPr/>
                    <a:lstStyle/>
                    <a:p>
                      <a:pPr>
                        <a:buNone/>
                      </a:pPr>
                      <a:r>
                        <a:rPr lang="en-GB" sz="1200" dirty="0"/>
                        <a:t>Analiza </a:t>
                      </a:r>
                      <a:r>
                        <a:rPr lang="en-GB" sz="1200" dirty="0" err="1"/>
                        <a:t>traficului</a:t>
                      </a:r>
                      <a:r>
                        <a:rPr lang="en-GB" sz="1200" dirty="0"/>
                        <a:t> ping</a:t>
                      </a:r>
                    </a:p>
                  </a:txBody>
                  <a:tcPr anchor="ctr"/>
                </a:tc>
                <a:extLst>
                  <a:ext uri="{0D108BD9-81ED-4DB2-BD59-A6C34878D82A}">
                    <a16:rowId xmlns:a16="http://schemas.microsoft.com/office/drawing/2014/main" val="514710322"/>
                  </a:ext>
                </a:extLst>
              </a:tr>
            </a:tbl>
          </a:graphicData>
        </a:graphic>
      </p:graphicFrame>
      <p:sp>
        <p:nvSpPr>
          <p:cNvPr id="5" name="TextBox 4">
            <a:extLst>
              <a:ext uri="{FF2B5EF4-FFF2-40B4-BE49-F238E27FC236}">
                <a16:creationId xmlns:a16="http://schemas.microsoft.com/office/drawing/2014/main" id="{F340B912-7FDF-EC0A-8D80-A83A9375220B}"/>
              </a:ext>
            </a:extLst>
          </p:cNvPr>
          <p:cNvSpPr txBox="1"/>
          <p:nvPr/>
        </p:nvSpPr>
        <p:spPr>
          <a:xfrm>
            <a:off x="695325" y="2035226"/>
            <a:ext cx="3419475" cy="369332"/>
          </a:xfrm>
          <a:prstGeom prst="rect">
            <a:avLst/>
          </a:prstGeom>
          <a:noFill/>
        </p:spPr>
        <p:txBody>
          <a:bodyPr wrap="square">
            <a:spAutoFit/>
          </a:bodyPr>
          <a:lstStyle/>
          <a:p>
            <a:r>
              <a:rPr lang="en-GB" dirty="0" err="1">
                <a:solidFill>
                  <a:schemeClr val="tx1">
                    <a:lumMod val="75000"/>
                    <a:lumOff val="25000"/>
                  </a:schemeClr>
                </a:solidFill>
              </a:rPr>
              <a:t>Filtre</a:t>
            </a:r>
            <a:r>
              <a:rPr lang="en-GB" dirty="0">
                <a:solidFill>
                  <a:schemeClr val="tx1">
                    <a:lumMod val="75000"/>
                    <a:lumOff val="25000"/>
                  </a:schemeClr>
                </a:solidFill>
              </a:rPr>
              <a:t> </a:t>
            </a:r>
            <a:r>
              <a:rPr lang="en-GB" dirty="0" err="1">
                <a:solidFill>
                  <a:schemeClr val="tx1">
                    <a:lumMod val="75000"/>
                    <a:lumOff val="25000"/>
                  </a:schemeClr>
                </a:solidFill>
              </a:rPr>
              <a:t>pentru</a:t>
            </a:r>
            <a:r>
              <a:rPr lang="en-GB" dirty="0">
                <a:solidFill>
                  <a:schemeClr val="tx1">
                    <a:lumMod val="75000"/>
                    <a:lumOff val="25000"/>
                  </a:schemeClr>
                </a:solidFill>
              </a:rPr>
              <a:t> </a:t>
            </a:r>
            <a:r>
              <a:rPr lang="en-GB" dirty="0" err="1">
                <a:solidFill>
                  <a:schemeClr val="tx1">
                    <a:lumMod val="75000"/>
                    <a:lumOff val="25000"/>
                  </a:schemeClr>
                </a:solidFill>
              </a:rPr>
              <a:t>protocoale</a:t>
            </a:r>
            <a:r>
              <a:rPr lang="en-GB" dirty="0">
                <a:solidFill>
                  <a:schemeClr val="tx1">
                    <a:lumMod val="75000"/>
                    <a:lumOff val="25000"/>
                  </a:schemeClr>
                </a:solidFill>
              </a:rPr>
              <a:t> de </a:t>
            </a:r>
            <a:r>
              <a:rPr lang="en-GB" dirty="0" err="1">
                <a:solidFill>
                  <a:schemeClr val="tx1">
                    <a:lumMod val="75000"/>
                    <a:lumOff val="25000"/>
                  </a:schemeClr>
                </a:solidFill>
              </a:rPr>
              <a:t>rețea</a:t>
            </a:r>
            <a:endParaRPr lang="en-GB" dirty="0">
              <a:solidFill>
                <a:schemeClr val="tx1">
                  <a:lumMod val="75000"/>
                  <a:lumOff val="25000"/>
                </a:schemeClr>
              </a:solidFill>
            </a:endParaRPr>
          </a:p>
        </p:txBody>
      </p:sp>
      <p:sp>
        <p:nvSpPr>
          <p:cNvPr id="7" name="TextBox 6">
            <a:extLst>
              <a:ext uri="{FF2B5EF4-FFF2-40B4-BE49-F238E27FC236}">
                <a16:creationId xmlns:a16="http://schemas.microsoft.com/office/drawing/2014/main" id="{66B79FC1-8B32-44D7-8FD4-F75B4B97DFD7}"/>
              </a:ext>
            </a:extLst>
          </p:cNvPr>
          <p:cNvSpPr txBox="1"/>
          <p:nvPr/>
        </p:nvSpPr>
        <p:spPr>
          <a:xfrm>
            <a:off x="695324" y="4370406"/>
            <a:ext cx="3419475" cy="369332"/>
          </a:xfrm>
          <a:prstGeom prst="rect">
            <a:avLst/>
          </a:prstGeom>
          <a:noFill/>
        </p:spPr>
        <p:txBody>
          <a:bodyPr wrap="square">
            <a:spAutoFit/>
          </a:bodyPr>
          <a:lstStyle/>
          <a:p>
            <a:r>
              <a:rPr lang="en-GB" dirty="0" err="1">
                <a:solidFill>
                  <a:schemeClr val="tx1">
                    <a:lumMod val="75000"/>
                    <a:lumOff val="25000"/>
                  </a:schemeClr>
                </a:solidFill>
              </a:rPr>
              <a:t>Filtre</a:t>
            </a:r>
            <a:r>
              <a:rPr lang="en-GB" dirty="0">
                <a:solidFill>
                  <a:schemeClr val="tx1">
                    <a:lumMod val="75000"/>
                    <a:lumOff val="25000"/>
                  </a:schemeClr>
                </a:solidFill>
              </a:rPr>
              <a:t> </a:t>
            </a:r>
            <a:r>
              <a:rPr lang="en-GB" dirty="0" err="1">
                <a:solidFill>
                  <a:schemeClr val="tx1">
                    <a:lumMod val="75000"/>
                    <a:lumOff val="25000"/>
                  </a:schemeClr>
                </a:solidFill>
              </a:rPr>
              <a:t>pentru</a:t>
            </a:r>
            <a:r>
              <a:rPr lang="en-GB" dirty="0">
                <a:solidFill>
                  <a:schemeClr val="tx1">
                    <a:lumMod val="75000"/>
                    <a:lumOff val="25000"/>
                  </a:schemeClr>
                </a:solidFill>
              </a:rPr>
              <a:t> </a:t>
            </a:r>
            <a:r>
              <a:rPr lang="en-GB" dirty="0" err="1">
                <a:solidFill>
                  <a:schemeClr val="tx1">
                    <a:lumMod val="75000"/>
                    <a:lumOff val="25000"/>
                  </a:schemeClr>
                </a:solidFill>
              </a:rPr>
              <a:t>detectarea</a:t>
            </a:r>
            <a:r>
              <a:rPr lang="en-GB" dirty="0">
                <a:solidFill>
                  <a:schemeClr val="tx1">
                    <a:lumMod val="75000"/>
                    <a:lumOff val="25000"/>
                  </a:schemeClr>
                </a:solidFill>
              </a:rPr>
              <a:t> </a:t>
            </a:r>
            <a:r>
              <a:rPr lang="en-GB" dirty="0" err="1">
                <a:solidFill>
                  <a:schemeClr val="tx1">
                    <a:lumMod val="75000"/>
                    <a:lumOff val="25000"/>
                  </a:schemeClr>
                </a:solidFill>
              </a:rPr>
              <a:t>atacurilor</a:t>
            </a:r>
            <a:endParaRPr lang="en-GB" dirty="0">
              <a:solidFill>
                <a:schemeClr val="tx1">
                  <a:lumMod val="75000"/>
                  <a:lumOff val="25000"/>
                </a:schemeClr>
              </a:solidFill>
            </a:endParaRPr>
          </a:p>
        </p:txBody>
      </p:sp>
      <p:graphicFrame>
        <p:nvGraphicFramePr>
          <p:cNvPr id="8" name="Table 7">
            <a:extLst>
              <a:ext uri="{FF2B5EF4-FFF2-40B4-BE49-F238E27FC236}">
                <a16:creationId xmlns:a16="http://schemas.microsoft.com/office/drawing/2014/main" id="{FF367E4D-1ABD-FEBF-A60F-5E62EF187288}"/>
              </a:ext>
            </a:extLst>
          </p:cNvPr>
          <p:cNvGraphicFramePr>
            <a:graphicFrameLocks noGrp="1"/>
          </p:cNvGraphicFramePr>
          <p:nvPr>
            <p:extLst>
              <p:ext uri="{D42A27DB-BD31-4B8C-83A1-F6EECF244321}">
                <p14:modId xmlns:p14="http://schemas.microsoft.com/office/powerpoint/2010/main" val="3842978670"/>
              </p:ext>
            </p:extLst>
          </p:nvPr>
        </p:nvGraphicFramePr>
        <p:xfrm>
          <a:off x="695324" y="4739738"/>
          <a:ext cx="7508877" cy="1645920"/>
        </p:xfrm>
        <a:graphic>
          <a:graphicData uri="http://schemas.openxmlformats.org/drawingml/2006/table">
            <a:tbl>
              <a:tblPr>
                <a:tableStyleId>{125E5076-3810-47DD-B79F-674D7AD40C01}</a:tableStyleId>
              </a:tblPr>
              <a:tblGrid>
                <a:gridCol w="2502959">
                  <a:extLst>
                    <a:ext uri="{9D8B030D-6E8A-4147-A177-3AD203B41FA5}">
                      <a16:colId xmlns:a16="http://schemas.microsoft.com/office/drawing/2014/main" val="1358483407"/>
                    </a:ext>
                  </a:extLst>
                </a:gridCol>
                <a:gridCol w="2502959">
                  <a:extLst>
                    <a:ext uri="{9D8B030D-6E8A-4147-A177-3AD203B41FA5}">
                      <a16:colId xmlns:a16="http://schemas.microsoft.com/office/drawing/2014/main" val="1904240764"/>
                    </a:ext>
                  </a:extLst>
                </a:gridCol>
                <a:gridCol w="2502959">
                  <a:extLst>
                    <a:ext uri="{9D8B030D-6E8A-4147-A177-3AD203B41FA5}">
                      <a16:colId xmlns:a16="http://schemas.microsoft.com/office/drawing/2014/main" val="1851689120"/>
                    </a:ext>
                  </a:extLst>
                </a:gridCol>
              </a:tblGrid>
              <a:tr h="0">
                <a:tc>
                  <a:txBody>
                    <a:bodyPr/>
                    <a:lstStyle/>
                    <a:p>
                      <a:pPr>
                        <a:buNone/>
                      </a:pPr>
                      <a:r>
                        <a:rPr lang="en-GB" sz="1200" dirty="0" err="1"/>
                        <a:t>Filtru</a:t>
                      </a:r>
                      <a:r>
                        <a:rPr lang="en-GB" sz="1200" dirty="0"/>
                        <a:t> Wireshark</a:t>
                      </a:r>
                    </a:p>
                  </a:txBody>
                  <a:tcPr anchor="ctr">
                    <a:solidFill>
                      <a:schemeClr val="tx1">
                        <a:lumMod val="75000"/>
                        <a:lumOff val="25000"/>
                      </a:schemeClr>
                    </a:solidFill>
                  </a:tcPr>
                </a:tc>
                <a:tc>
                  <a:txBody>
                    <a:bodyPr/>
                    <a:lstStyle/>
                    <a:p>
                      <a:pPr>
                        <a:buNone/>
                      </a:pPr>
                      <a:r>
                        <a:rPr lang="en-GB" sz="1200" dirty="0"/>
                        <a:t>Ce </a:t>
                      </a:r>
                      <a:r>
                        <a:rPr lang="en-GB" sz="1200" dirty="0" err="1"/>
                        <a:t>afișează</a:t>
                      </a:r>
                      <a:endParaRPr lang="en-GB" sz="1200" dirty="0"/>
                    </a:p>
                  </a:txBody>
                  <a:tcPr anchor="ctr">
                    <a:solidFill>
                      <a:schemeClr val="tx1">
                        <a:lumMod val="75000"/>
                        <a:lumOff val="25000"/>
                      </a:schemeClr>
                    </a:solidFill>
                  </a:tcPr>
                </a:tc>
                <a:tc>
                  <a:txBody>
                    <a:bodyPr/>
                    <a:lstStyle/>
                    <a:p>
                      <a:pPr>
                        <a:buNone/>
                      </a:pPr>
                      <a:r>
                        <a:rPr lang="en-GB" sz="1200" dirty="0" err="1"/>
                        <a:t>Utilitate</a:t>
                      </a:r>
                      <a:endParaRPr lang="en-GB" sz="1200" dirty="0"/>
                    </a:p>
                  </a:txBody>
                  <a:tcPr anchor="ctr">
                    <a:solidFill>
                      <a:schemeClr val="tx1">
                        <a:lumMod val="75000"/>
                        <a:lumOff val="25000"/>
                      </a:schemeClr>
                    </a:solidFill>
                  </a:tcPr>
                </a:tc>
                <a:extLst>
                  <a:ext uri="{0D108BD9-81ED-4DB2-BD59-A6C34878D82A}">
                    <a16:rowId xmlns:a16="http://schemas.microsoft.com/office/drawing/2014/main" val="1896780007"/>
                  </a:ext>
                </a:extLst>
              </a:tr>
              <a:tr h="0">
                <a:tc>
                  <a:txBody>
                    <a:bodyPr/>
                    <a:lstStyle/>
                    <a:p>
                      <a:pPr>
                        <a:buNone/>
                      </a:pPr>
                      <a:r>
                        <a:rPr lang="en-GB" sz="1200" dirty="0" err="1"/>
                        <a:t>arp</a:t>
                      </a:r>
                      <a:endParaRPr lang="en-GB" sz="1200" dirty="0"/>
                    </a:p>
                  </a:txBody>
                  <a:tcPr anchor="ctr"/>
                </a:tc>
                <a:tc>
                  <a:txBody>
                    <a:bodyPr/>
                    <a:lstStyle/>
                    <a:p>
                      <a:pPr>
                        <a:buNone/>
                      </a:pPr>
                      <a:r>
                        <a:rPr lang="en-GB" sz="1200" dirty="0" err="1"/>
                        <a:t>Pachete</a:t>
                      </a:r>
                      <a:r>
                        <a:rPr lang="en-GB" sz="1200" dirty="0"/>
                        <a:t> ARP</a:t>
                      </a:r>
                    </a:p>
                  </a:txBody>
                  <a:tcPr anchor="ctr"/>
                </a:tc>
                <a:tc>
                  <a:txBody>
                    <a:bodyPr/>
                    <a:lstStyle/>
                    <a:p>
                      <a:pPr>
                        <a:buNone/>
                      </a:pPr>
                      <a:r>
                        <a:rPr lang="en-GB" sz="1200"/>
                        <a:t>Rezolvarea adreselor IP–MAC</a:t>
                      </a:r>
                    </a:p>
                  </a:txBody>
                  <a:tcPr anchor="ctr"/>
                </a:tc>
                <a:extLst>
                  <a:ext uri="{0D108BD9-81ED-4DB2-BD59-A6C34878D82A}">
                    <a16:rowId xmlns:a16="http://schemas.microsoft.com/office/drawing/2014/main" val="3713988182"/>
                  </a:ext>
                </a:extLst>
              </a:tr>
              <a:tr h="0">
                <a:tc>
                  <a:txBody>
                    <a:bodyPr/>
                    <a:lstStyle/>
                    <a:p>
                      <a:pPr>
                        <a:buNone/>
                      </a:pPr>
                      <a:r>
                        <a:rPr lang="en-GB" sz="1200"/>
                        <a:t>arp.duplicate-address-detected</a:t>
                      </a:r>
                    </a:p>
                  </a:txBody>
                  <a:tcPr anchor="ctr"/>
                </a:tc>
                <a:tc>
                  <a:txBody>
                    <a:bodyPr/>
                    <a:lstStyle/>
                    <a:p>
                      <a:pPr>
                        <a:buNone/>
                      </a:pPr>
                      <a:r>
                        <a:rPr lang="en-GB" sz="1200"/>
                        <a:t>Conflict ARP</a:t>
                      </a:r>
                    </a:p>
                  </a:txBody>
                  <a:tcPr anchor="ctr"/>
                </a:tc>
                <a:tc>
                  <a:txBody>
                    <a:bodyPr/>
                    <a:lstStyle/>
                    <a:p>
                      <a:pPr>
                        <a:buNone/>
                      </a:pPr>
                      <a:r>
                        <a:rPr lang="en-GB" sz="1200"/>
                        <a:t>Posibil ARP spoofing</a:t>
                      </a:r>
                    </a:p>
                  </a:txBody>
                  <a:tcPr anchor="ctr"/>
                </a:tc>
                <a:extLst>
                  <a:ext uri="{0D108BD9-81ED-4DB2-BD59-A6C34878D82A}">
                    <a16:rowId xmlns:a16="http://schemas.microsoft.com/office/drawing/2014/main" val="2825698132"/>
                  </a:ext>
                </a:extLst>
              </a:tr>
              <a:tr h="0">
                <a:tc>
                  <a:txBody>
                    <a:bodyPr/>
                    <a:lstStyle/>
                    <a:p>
                      <a:pPr>
                        <a:buNone/>
                      </a:pPr>
                      <a:r>
                        <a:rPr lang="en-GB" sz="1200"/>
                        <a:t>http contains "password"</a:t>
                      </a:r>
                    </a:p>
                  </a:txBody>
                  <a:tcPr anchor="ctr"/>
                </a:tc>
                <a:tc>
                  <a:txBody>
                    <a:bodyPr/>
                    <a:lstStyle/>
                    <a:p>
                      <a:pPr>
                        <a:buNone/>
                      </a:pPr>
                      <a:r>
                        <a:rPr lang="en-GB" sz="1200"/>
                        <a:t>Parametri „password”</a:t>
                      </a:r>
                    </a:p>
                  </a:txBody>
                  <a:tcPr anchor="ctr"/>
                </a:tc>
                <a:tc>
                  <a:txBody>
                    <a:bodyPr/>
                    <a:lstStyle/>
                    <a:p>
                      <a:pPr>
                        <a:buNone/>
                      </a:pPr>
                      <a:r>
                        <a:rPr lang="en-GB" sz="1200"/>
                        <a:t>Demonstrarea parolelor în clar</a:t>
                      </a:r>
                    </a:p>
                  </a:txBody>
                  <a:tcPr anchor="ctr"/>
                </a:tc>
                <a:extLst>
                  <a:ext uri="{0D108BD9-81ED-4DB2-BD59-A6C34878D82A}">
                    <a16:rowId xmlns:a16="http://schemas.microsoft.com/office/drawing/2014/main" val="2757907084"/>
                  </a:ext>
                </a:extLst>
              </a:tr>
              <a:tr h="0">
                <a:tc>
                  <a:txBody>
                    <a:bodyPr/>
                    <a:lstStyle/>
                    <a:p>
                      <a:pPr>
                        <a:buNone/>
                      </a:pPr>
                      <a:r>
                        <a:rPr lang="en-GB" sz="1200"/>
                        <a:t>http contains "user"</a:t>
                      </a:r>
                    </a:p>
                  </a:txBody>
                  <a:tcPr anchor="ctr"/>
                </a:tc>
                <a:tc>
                  <a:txBody>
                    <a:bodyPr/>
                    <a:lstStyle/>
                    <a:p>
                      <a:pPr>
                        <a:buNone/>
                      </a:pPr>
                      <a:r>
                        <a:rPr lang="en-GB" sz="1200"/>
                        <a:t>Parametri „user”</a:t>
                      </a:r>
                    </a:p>
                  </a:txBody>
                  <a:tcPr anchor="ctr"/>
                </a:tc>
                <a:tc>
                  <a:txBody>
                    <a:bodyPr/>
                    <a:lstStyle/>
                    <a:p>
                      <a:pPr>
                        <a:buNone/>
                      </a:pPr>
                      <a:r>
                        <a:rPr lang="en-GB" sz="1200"/>
                        <a:t>Identificarea autentificărilor</a:t>
                      </a:r>
                    </a:p>
                  </a:txBody>
                  <a:tcPr anchor="ctr"/>
                </a:tc>
                <a:extLst>
                  <a:ext uri="{0D108BD9-81ED-4DB2-BD59-A6C34878D82A}">
                    <a16:rowId xmlns:a16="http://schemas.microsoft.com/office/drawing/2014/main" val="4123597201"/>
                  </a:ext>
                </a:extLst>
              </a:tr>
              <a:tr h="0">
                <a:tc>
                  <a:txBody>
                    <a:bodyPr/>
                    <a:lstStyle/>
                    <a:p>
                      <a:pPr>
                        <a:buNone/>
                      </a:pPr>
                      <a:r>
                        <a:rPr lang="en-GB" sz="1200"/>
                        <a:t>http.authorization</a:t>
                      </a:r>
                    </a:p>
                  </a:txBody>
                  <a:tcPr anchor="ctr"/>
                </a:tc>
                <a:tc>
                  <a:txBody>
                    <a:bodyPr/>
                    <a:lstStyle/>
                    <a:p>
                      <a:pPr>
                        <a:buNone/>
                      </a:pPr>
                      <a:r>
                        <a:rPr lang="en-GB" sz="1200"/>
                        <a:t>Anteturi de autentificare</a:t>
                      </a:r>
                    </a:p>
                  </a:txBody>
                  <a:tcPr anchor="ctr"/>
                </a:tc>
                <a:tc>
                  <a:txBody>
                    <a:bodyPr/>
                    <a:lstStyle/>
                    <a:p>
                      <a:pPr>
                        <a:buNone/>
                      </a:pPr>
                      <a:r>
                        <a:rPr lang="en-GB" sz="1200" dirty="0" err="1"/>
                        <a:t>Observarea</a:t>
                      </a:r>
                      <a:r>
                        <a:rPr lang="en-GB" sz="1200" dirty="0"/>
                        <a:t> </a:t>
                      </a:r>
                      <a:r>
                        <a:rPr lang="en-GB" sz="1200" dirty="0" err="1"/>
                        <a:t>mecanismelor</a:t>
                      </a:r>
                      <a:r>
                        <a:rPr lang="en-GB" sz="1200" dirty="0"/>
                        <a:t> de login</a:t>
                      </a:r>
                    </a:p>
                  </a:txBody>
                  <a:tcPr anchor="ctr"/>
                </a:tc>
                <a:extLst>
                  <a:ext uri="{0D108BD9-81ED-4DB2-BD59-A6C34878D82A}">
                    <a16:rowId xmlns:a16="http://schemas.microsoft.com/office/drawing/2014/main" val="705159379"/>
                  </a:ext>
                </a:extLst>
              </a:tr>
            </a:tbl>
          </a:graphicData>
        </a:graphic>
      </p:graphicFrame>
      <p:sp>
        <p:nvSpPr>
          <p:cNvPr id="14" name="Flowchart: Process 13">
            <a:extLst>
              <a:ext uri="{FF2B5EF4-FFF2-40B4-BE49-F238E27FC236}">
                <a16:creationId xmlns:a16="http://schemas.microsoft.com/office/drawing/2014/main" id="{BCB7DEE2-48D7-2336-A562-BBD44E813E6E}"/>
              </a:ext>
            </a:extLst>
          </p:cNvPr>
          <p:cNvSpPr/>
          <p:nvPr/>
        </p:nvSpPr>
        <p:spPr>
          <a:xfrm>
            <a:off x="451104" y="2003304"/>
            <a:ext cx="11289792" cy="452551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16" name="Picture 15" descr="File:Wireshark Logo.svg - Wikimedia Commons">
            <a:extLst>
              <a:ext uri="{FF2B5EF4-FFF2-40B4-BE49-F238E27FC236}">
                <a16:creationId xmlns:a16="http://schemas.microsoft.com/office/drawing/2014/main" id="{67BDCCBA-DE45-D0BB-1354-D31D7D551899}"/>
              </a:ext>
            </a:extLst>
          </p:cNvPr>
          <p:cNvPicPr>
            <a:picLocks noChangeAspect="1"/>
          </p:cNvPicPr>
          <p:nvPr/>
        </p:nvPicPr>
        <p:blipFill>
          <a:blip r:embed="rId2"/>
          <a:stretch>
            <a:fillRect/>
          </a:stretch>
        </p:blipFill>
        <p:spPr>
          <a:xfrm rot="5400000">
            <a:off x="7251035" y="3849425"/>
            <a:ext cx="3785368" cy="1041962"/>
          </a:xfrm>
          <a:prstGeom prst="rect">
            <a:avLst/>
          </a:prstGeom>
        </p:spPr>
      </p:pic>
    </p:spTree>
    <p:extLst>
      <p:ext uri="{BB962C8B-B14F-4D97-AF65-F5344CB8AC3E}">
        <p14:creationId xmlns:p14="http://schemas.microsoft.com/office/powerpoint/2010/main" val="2118719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239E4-B7E2-F9E8-3D74-8544E23C2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F7926-EF29-0F5D-DF45-3E217BE28E23}"/>
              </a:ext>
            </a:extLst>
          </p:cNvPr>
          <p:cNvSpPr>
            <a:spLocks noGrp="1"/>
          </p:cNvSpPr>
          <p:nvPr>
            <p:ph type="title"/>
          </p:nvPr>
        </p:nvSpPr>
        <p:spPr/>
        <p:txBody>
          <a:bodyPr>
            <a:normAutofit fontScale="90000"/>
          </a:bodyPr>
          <a:lstStyle/>
          <a:p>
            <a:r>
              <a:rPr lang="en-US" dirty="0"/>
              <a:t>Wireshark  (malware </a:t>
            </a:r>
            <a:r>
              <a:rPr lang="en-US" dirty="0" err="1"/>
              <a:t>si</a:t>
            </a:r>
            <a:r>
              <a:rPr lang="en-US" dirty="0"/>
              <a:t> </a:t>
            </a:r>
            <a:r>
              <a:rPr lang="en-US" dirty="0" err="1"/>
              <a:t>exfiltrari</a:t>
            </a:r>
            <a:r>
              <a:rPr lang="en-US" dirty="0"/>
              <a:t> date)                </a:t>
            </a:r>
            <a:br>
              <a:rPr lang="en-US" dirty="0"/>
            </a:br>
            <a:br>
              <a:rPr lang="en-US" dirty="0"/>
            </a:br>
            <a:r>
              <a:rPr lang="en-GB" sz="1800" dirty="0" err="1"/>
              <a:t>filtre</a:t>
            </a:r>
            <a:r>
              <a:rPr lang="en-GB" sz="1800" dirty="0"/>
              <a:t> Wireshark care </a:t>
            </a:r>
            <a:r>
              <a:rPr lang="en-GB" sz="1800" dirty="0" err="1"/>
              <a:t>dezvăluie</a:t>
            </a:r>
            <a:r>
              <a:rPr lang="en-GB" sz="1800" dirty="0"/>
              <a:t> </a:t>
            </a:r>
            <a:r>
              <a:rPr lang="en-GB" sz="1800" dirty="0" err="1"/>
              <a:t>lucruri</a:t>
            </a:r>
            <a:r>
              <a:rPr lang="en-GB" sz="1800" dirty="0"/>
              <a:t> </a:t>
            </a:r>
            <a:r>
              <a:rPr lang="en-GB" sz="1800" dirty="0" err="1"/>
              <a:t>interesante</a:t>
            </a:r>
            <a:r>
              <a:rPr lang="en-GB" sz="1800" dirty="0"/>
              <a:t> </a:t>
            </a:r>
            <a:r>
              <a:rPr lang="en-GB" sz="1800" dirty="0" err="1"/>
              <a:t>în</a:t>
            </a:r>
            <a:r>
              <a:rPr lang="en-GB" sz="1800" dirty="0"/>
              <a:t> </a:t>
            </a:r>
            <a:r>
              <a:rPr lang="en-GB" sz="1800" dirty="0" err="1"/>
              <a:t>trafic</a:t>
            </a:r>
            <a:endParaRPr lang="en-US" sz="1800" dirty="0"/>
          </a:p>
        </p:txBody>
      </p:sp>
      <p:sp>
        <p:nvSpPr>
          <p:cNvPr id="15" name="Rectangle 14">
            <a:extLst>
              <a:ext uri="{FF2B5EF4-FFF2-40B4-BE49-F238E27FC236}">
                <a16:creationId xmlns:a16="http://schemas.microsoft.com/office/drawing/2014/main" id="{8B6911D2-1E4A-BFBC-5CF0-A19A48D0B40C}"/>
              </a:ext>
            </a:extLst>
          </p:cNvPr>
          <p:cNvSpPr/>
          <p:nvPr/>
        </p:nvSpPr>
        <p:spPr>
          <a:xfrm>
            <a:off x="694944" y="1213104"/>
            <a:ext cx="7053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graphicFrame>
        <p:nvGraphicFramePr>
          <p:cNvPr id="4" name="Table 3">
            <a:extLst>
              <a:ext uri="{FF2B5EF4-FFF2-40B4-BE49-F238E27FC236}">
                <a16:creationId xmlns:a16="http://schemas.microsoft.com/office/drawing/2014/main" id="{28027016-ED80-2713-6AAF-9846C9E88A22}"/>
              </a:ext>
            </a:extLst>
          </p:cNvPr>
          <p:cNvGraphicFramePr>
            <a:graphicFrameLocks noGrp="1"/>
          </p:cNvGraphicFramePr>
          <p:nvPr>
            <p:extLst>
              <p:ext uri="{D42A27DB-BD31-4B8C-83A1-F6EECF244321}">
                <p14:modId xmlns:p14="http://schemas.microsoft.com/office/powerpoint/2010/main" val="2606301257"/>
              </p:ext>
            </p:extLst>
          </p:nvPr>
        </p:nvGraphicFramePr>
        <p:xfrm>
          <a:off x="511008" y="2234513"/>
          <a:ext cx="11029950" cy="1828800"/>
        </p:xfrm>
        <a:graphic>
          <a:graphicData uri="http://schemas.openxmlformats.org/drawingml/2006/table">
            <a:tbl>
              <a:tblPr>
                <a:tableStyleId>{125E5076-3810-47DD-B79F-674D7AD40C01}</a:tableStyleId>
              </a:tblPr>
              <a:tblGrid>
                <a:gridCol w="3676650">
                  <a:extLst>
                    <a:ext uri="{9D8B030D-6E8A-4147-A177-3AD203B41FA5}">
                      <a16:colId xmlns:a16="http://schemas.microsoft.com/office/drawing/2014/main" val="1176856743"/>
                    </a:ext>
                  </a:extLst>
                </a:gridCol>
                <a:gridCol w="3676650">
                  <a:extLst>
                    <a:ext uri="{9D8B030D-6E8A-4147-A177-3AD203B41FA5}">
                      <a16:colId xmlns:a16="http://schemas.microsoft.com/office/drawing/2014/main" val="335632537"/>
                    </a:ext>
                  </a:extLst>
                </a:gridCol>
                <a:gridCol w="3676650">
                  <a:extLst>
                    <a:ext uri="{9D8B030D-6E8A-4147-A177-3AD203B41FA5}">
                      <a16:colId xmlns:a16="http://schemas.microsoft.com/office/drawing/2014/main" val="4126790238"/>
                    </a:ext>
                  </a:extLst>
                </a:gridCol>
              </a:tblGrid>
              <a:tr h="0">
                <a:tc>
                  <a:txBody>
                    <a:bodyPr/>
                    <a:lstStyle/>
                    <a:p>
                      <a:pPr>
                        <a:buNone/>
                      </a:pPr>
                      <a:r>
                        <a:rPr lang="en-GB" dirty="0" err="1"/>
                        <a:t>Filtru</a:t>
                      </a:r>
                      <a:r>
                        <a:rPr lang="en-GB" dirty="0"/>
                        <a:t> Wireshark</a:t>
                      </a:r>
                    </a:p>
                  </a:txBody>
                  <a:tcPr anchor="ctr">
                    <a:solidFill>
                      <a:schemeClr val="tx1">
                        <a:lumMod val="75000"/>
                        <a:lumOff val="25000"/>
                      </a:schemeClr>
                    </a:solidFill>
                  </a:tcPr>
                </a:tc>
                <a:tc>
                  <a:txBody>
                    <a:bodyPr/>
                    <a:lstStyle/>
                    <a:p>
                      <a:pPr>
                        <a:buNone/>
                      </a:pPr>
                      <a:r>
                        <a:rPr lang="en-GB" dirty="0"/>
                        <a:t>Ce </a:t>
                      </a:r>
                      <a:r>
                        <a:rPr lang="en-GB" dirty="0" err="1"/>
                        <a:t>afișează</a:t>
                      </a:r>
                      <a:endParaRPr lang="en-GB" dirty="0"/>
                    </a:p>
                  </a:txBody>
                  <a:tcPr anchor="ctr">
                    <a:solidFill>
                      <a:schemeClr val="tx1">
                        <a:lumMod val="75000"/>
                        <a:lumOff val="25000"/>
                      </a:schemeClr>
                    </a:solidFill>
                  </a:tcPr>
                </a:tc>
                <a:tc>
                  <a:txBody>
                    <a:bodyPr/>
                    <a:lstStyle/>
                    <a:p>
                      <a:pPr>
                        <a:buNone/>
                      </a:pPr>
                      <a:r>
                        <a:rPr lang="en-GB" dirty="0" err="1"/>
                        <a:t>Interpretare</a:t>
                      </a:r>
                      <a:r>
                        <a:rPr lang="en-GB" dirty="0"/>
                        <a:t> </a:t>
                      </a:r>
                      <a:r>
                        <a:rPr lang="en-GB" dirty="0" err="1"/>
                        <a:t>posibilă</a:t>
                      </a:r>
                      <a:endParaRPr lang="en-GB" dirty="0"/>
                    </a:p>
                  </a:txBody>
                  <a:tcPr anchor="ctr">
                    <a:solidFill>
                      <a:schemeClr val="tx1">
                        <a:lumMod val="75000"/>
                        <a:lumOff val="25000"/>
                      </a:schemeClr>
                    </a:solidFill>
                  </a:tcPr>
                </a:tc>
                <a:extLst>
                  <a:ext uri="{0D108BD9-81ED-4DB2-BD59-A6C34878D82A}">
                    <a16:rowId xmlns:a16="http://schemas.microsoft.com/office/drawing/2014/main" val="1160688180"/>
                  </a:ext>
                </a:extLst>
              </a:tr>
              <a:tr h="0">
                <a:tc>
                  <a:txBody>
                    <a:bodyPr/>
                    <a:lstStyle/>
                    <a:p>
                      <a:pPr>
                        <a:buNone/>
                      </a:pPr>
                      <a:r>
                        <a:rPr lang="en-GB"/>
                        <a:t>dns.qry.name.len &gt; 40</a:t>
                      </a:r>
                    </a:p>
                  </a:txBody>
                  <a:tcPr anchor="ctr"/>
                </a:tc>
                <a:tc>
                  <a:txBody>
                    <a:bodyPr/>
                    <a:lstStyle/>
                    <a:p>
                      <a:pPr>
                        <a:buNone/>
                      </a:pPr>
                      <a:r>
                        <a:rPr lang="en-GB"/>
                        <a:t>Domenii foarte lungi</a:t>
                      </a:r>
                    </a:p>
                  </a:txBody>
                  <a:tcPr anchor="ctr"/>
                </a:tc>
                <a:tc>
                  <a:txBody>
                    <a:bodyPr/>
                    <a:lstStyle/>
                    <a:p>
                      <a:pPr>
                        <a:buNone/>
                      </a:pPr>
                      <a:r>
                        <a:rPr lang="en-GB" dirty="0"/>
                        <a:t>DNS </a:t>
                      </a:r>
                      <a:r>
                        <a:rPr lang="en-GB" dirty="0" err="1"/>
                        <a:t>tunneling</a:t>
                      </a:r>
                      <a:endParaRPr lang="en-GB" dirty="0"/>
                    </a:p>
                  </a:txBody>
                  <a:tcPr anchor="ctr"/>
                </a:tc>
                <a:extLst>
                  <a:ext uri="{0D108BD9-81ED-4DB2-BD59-A6C34878D82A}">
                    <a16:rowId xmlns:a16="http://schemas.microsoft.com/office/drawing/2014/main" val="2925923842"/>
                  </a:ext>
                </a:extLst>
              </a:tr>
              <a:tr h="0">
                <a:tc>
                  <a:txBody>
                    <a:bodyPr/>
                    <a:lstStyle/>
                    <a:p>
                      <a:pPr>
                        <a:buNone/>
                      </a:pPr>
                      <a:r>
                        <a:rPr lang="en-GB"/>
                        <a:t>dns.count.answers &gt; 5</a:t>
                      </a:r>
                    </a:p>
                  </a:txBody>
                  <a:tcPr anchor="ctr"/>
                </a:tc>
                <a:tc>
                  <a:txBody>
                    <a:bodyPr/>
                    <a:lstStyle/>
                    <a:p>
                      <a:pPr>
                        <a:buNone/>
                      </a:pPr>
                      <a:r>
                        <a:rPr lang="en-GB"/>
                        <a:t>Multe răspunsuri DNS</a:t>
                      </a:r>
                    </a:p>
                  </a:txBody>
                  <a:tcPr anchor="ctr"/>
                </a:tc>
                <a:tc>
                  <a:txBody>
                    <a:bodyPr/>
                    <a:lstStyle/>
                    <a:p>
                      <a:pPr>
                        <a:buNone/>
                      </a:pPr>
                      <a:r>
                        <a:rPr lang="en-GB"/>
                        <a:t>Fast flux</a:t>
                      </a:r>
                    </a:p>
                  </a:txBody>
                  <a:tcPr anchor="ctr"/>
                </a:tc>
                <a:extLst>
                  <a:ext uri="{0D108BD9-81ED-4DB2-BD59-A6C34878D82A}">
                    <a16:rowId xmlns:a16="http://schemas.microsoft.com/office/drawing/2014/main" val="445291854"/>
                  </a:ext>
                </a:extLst>
              </a:tr>
              <a:tr h="0">
                <a:tc>
                  <a:txBody>
                    <a:bodyPr/>
                    <a:lstStyle/>
                    <a:p>
                      <a:pPr>
                        <a:buNone/>
                      </a:pPr>
                      <a:r>
                        <a:rPr lang="en-GB" dirty="0"/>
                        <a:t>dns.qry.name contains "</a:t>
                      </a:r>
                      <a:r>
                        <a:rPr lang="en-GB" dirty="0" err="1"/>
                        <a:t>api</a:t>
                      </a:r>
                      <a:r>
                        <a:rPr lang="en-GB" dirty="0"/>
                        <a:t>"</a:t>
                      </a:r>
                    </a:p>
                  </a:txBody>
                  <a:tcPr anchor="ctr"/>
                </a:tc>
                <a:tc>
                  <a:txBody>
                    <a:bodyPr/>
                    <a:lstStyle/>
                    <a:p>
                      <a:pPr>
                        <a:buNone/>
                      </a:pPr>
                      <a:r>
                        <a:rPr lang="en-GB"/>
                        <a:t>Acces API extern</a:t>
                      </a:r>
                    </a:p>
                  </a:txBody>
                  <a:tcPr anchor="ctr"/>
                </a:tc>
                <a:tc>
                  <a:txBody>
                    <a:bodyPr/>
                    <a:lstStyle/>
                    <a:p>
                      <a:pPr>
                        <a:buNone/>
                      </a:pPr>
                      <a:r>
                        <a:rPr lang="en-GB"/>
                        <a:t>Comunicare C2</a:t>
                      </a:r>
                    </a:p>
                  </a:txBody>
                  <a:tcPr anchor="ctr"/>
                </a:tc>
                <a:extLst>
                  <a:ext uri="{0D108BD9-81ED-4DB2-BD59-A6C34878D82A}">
                    <a16:rowId xmlns:a16="http://schemas.microsoft.com/office/drawing/2014/main" val="2476686983"/>
                  </a:ext>
                </a:extLst>
              </a:tr>
              <a:tr h="0">
                <a:tc>
                  <a:txBody>
                    <a:bodyPr/>
                    <a:lstStyle/>
                    <a:p>
                      <a:pPr>
                        <a:buNone/>
                      </a:pPr>
                      <a:r>
                        <a:rPr lang="en-GB"/>
                        <a:t>dns and udp.length &gt; 512</a:t>
                      </a:r>
                    </a:p>
                  </a:txBody>
                  <a:tcPr anchor="ctr"/>
                </a:tc>
                <a:tc>
                  <a:txBody>
                    <a:bodyPr/>
                    <a:lstStyle/>
                    <a:p>
                      <a:pPr>
                        <a:buNone/>
                      </a:pPr>
                      <a:r>
                        <a:rPr lang="en-GB"/>
                        <a:t>Răspunsuri DNS mari</a:t>
                      </a:r>
                    </a:p>
                  </a:txBody>
                  <a:tcPr anchor="ctr"/>
                </a:tc>
                <a:tc>
                  <a:txBody>
                    <a:bodyPr/>
                    <a:lstStyle/>
                    <a:p>
                      <a:pPr>
                        <a:buNone/>
                      </a:pPr>
                      <a:r>
                        <a:rPr lang="en-GB" dirty="0" err="1"/>
                        <a:t>Exfiltrare</a:t>
                      </a:r>
                      <a:r>
                        <a:rPr lang="en-GB" dirty="0"/>
                        <a:t> </a:t>
                      </a:r>
                      <a:r>
                        <a:rPr lang="en-GB" dirty="0" err="1"/>
                        <a:t>sau</a:t>
                      </a:r>
                      <a:r>
                        <a:rPr lang="en-GB" dirty="0"/>
                        <a:t> </a:t>
                      </a:r>
                      <a:r>
                        <a:rPr lang="en-GB" dirty="0" err="1"/>
                        <a:t>amplificare</a:t>
                      </a:r>
                      <a:endParaRPr lang="en-GB" dirty="0"/>
                    </a:p>
                  </a:txBody>
                  <a:tcPr anchor="ctr"/>
                </a:tc>
                <a:extLst>
                  <a:ext uri="{0D108BD9-81ED-4DB2-BD59-A6C34878D82A}">
                    <a16:rowId xmlns:a16="http://schemas.microsoft.com/office/drawing/2014/main" val="1241560573"/>
                  </a:ext>
                </a:extLst>
              </a:tr>
            </a:tbl>
          </a:graphicData>
        </a:graphic>
      </p:graphicFrame>
      <p:sp>
        <p:nvSpPr>
          <p:cNvPr id="9" name="TextBox 8">
            <a:extLst>
              <a:ext uri="{FF2B5EF4-FFF2-40B4-BE49-F238E27FC236}">
                <a16:creationId xmlns:a16="http://schemas.microsoft.com/office/drawing/2014/main" id="{3DCA6E5A-53D4-2FBB-FA77-7CB556F95C4B}"/>
              </a:ext>
            </a:extLst>
          </p:cNvPr>
          <p:cNvSpPr txBox="1"/>
          <p:nvPr/>
        </p:nvSpPr>
        <p:spPr>
          <a:xfrm>
            <a:off x="511008" y="1857572"/>
            <a:ext cx="6096000" cy="369332"/>
          </a:xfrm>
          <a:prstGeom prst="rect">
            <a:avLst/>
          </a:prstGeom>
          <a:noFill/>
        </p:spPr>
        <p:txBody>
          <a:bodyPr wrap="square">
            <a:spAutoFit/>
          </a:bodyPr>
          <a:lstStyle/>
          <a:p>
            <a:r>
              <a:rPr lang="en-GB" dirty="0" err="1">
                <a:solidFill>
                  <a:schemeClr val="tx1">
                    <a:lumMod val="75000"/>
                    <a:lumOff val="25000"/>
                  </a:schemeClr>
                </a:solidFill>
              </a:rPr>
              <a:t>Activitate</a:t>
            </a:r>
            <a:r>
              <a:rPr lang="en-GB" dirty="0">
                <a:solidFill>
                  <a:schemeClr val="tx1">
                    <a:lumMod val="75000"/>
                    <a:lumOff val="25000"/>
                  </a:schemeClr>
                </a:solidFill>
              </a:rPr>
              <a:t> </a:t>
            </a:r>
            <a:r>
              <a:rPr lang="en-GB" dirty="0" err="1">
                <a:solidFill>
                  <a:schemeClr val="tx1">
                    <a:lumMod val="75000"/>
                    <a:lumOff val="25000"/>
                  </a:schemeClr>
                </a:solidFill>
              </a:rPr>
              <a:t>suspectă</a:t>
            </a:r>
            <a:r>
              <a:rPr lang="en-GB" dirty="0">
                <a:solidFill>
                  <a:schemeClr val="tx1">
                    <a:lumMod val="75000"/>
                    <a:lumOff val="25000"/>
                  </a:schemeClr>
                </a:solidFill>
              </a:rPr>
              <a:t> DNS (malware beaconing)</a:t>
            </a:r>
          </a:p>
        </p:txBody>
      </p:sp>
      <p:sp>
        <p:nvSpPr>
          <p:cNvPr id="11" name="TextBox 10">
            <a:extLst>
              <a:ext uri="{FF2B5EF4-FFF2-40B4-BE49-F238E27FC236}">
                <a16:creationId xmlns:a16="http://schemas.microsoft.com/office/drawing/2014/main" id="{A725E21F-EE7D-A412-8BC4-DFAB6582DF5D}"/>
              </a:ext>
            </a:extLst>
          </p:cNvPr>
          <p:cNvSpPr txBox="1"/>
          <p:nvPr/>
        </p:nvSpPr>
        <p:spPr>
          <a:xfrm>
            <a:off x="511008" y="4116994"/>
            <a:ext cx="6096000" cy="369332"/>
          </a:xfrm>
          <a:prstGeom prst="rect">
            <a:avLst/>
          </a:prstGeom>
          <a:noFill/>
        </p:spPr>
        <p:txBody>
          <a:bodyPr wrap="square">
            <a:spAutoFit/>
          </a:bodyPr>
          <a:lstStyle/>
          <a:p>
            <a:r>
              <a:rPr lang="en-GB" dirty="0" err="1">
                <a:solidFill>
                  <a:schemeClr val="tx1">
                    <a:lumMod val="75000"/>
                    <a:lumOff val="25000"/>
                  </a:schemeClr>
                </a:solidFill>
              </a:rPr>
              <a:t>Exfiltrare</a:t>
            </a:r>
            <a:r>
              <a:rPr lang="en-GB" dirty="0">
                <a:solidFill>
                  <a:schemeClr val="tx1">
                    <a:lumMod val="75000"/>
                    <a:lumOff val="25000"/>
                  </a:schemeClr>
                </a:solidFill>
              </a:rPr>
              <a:t> de date</a:t>
            </a:r>
          </a:p>
        </p:txBody>
      </p:sp>
      <p:graphicFrame>
        <p:nvGraphicFramePr>
          <p:cNvPr id="12" name="Table 11">
            <a:extLst>
              <a:ext uri="{FF2B5EF4-FFF2-40B4-BE49-F238E27FC236}">
                <a16:creationId xmlns:a16="http://schemas.microsoft.com/office/drawing/2014/main" id="{ED90BE65-A1D4-4C8E-F333-95E23A13E5BE}"/>
              </a:ext>
            </a:extLst>
          </p:cNvPr>
          <p:cNvGraphicFramePr>
            <a:graphicFrameLocks noGrp="1"/>
          </p:cNvGraphicFramePr>
          <p:nvPr>
            <p:extLst>
              <p:ext uri="{D42A27DB-BD31-4B8C-83A1-F6EECF244321}">
                <p14:modId xmlns:p14="http://schemas.microsoft.com/office/powerpoint/2010/main" val="3801583093"/>
              </p:ext>
            </p:extLst>
          </p:nvPr>
        </p:nvGraphicFramePr>
        <p:xfrm>
          <a:off x="511008" y="4486326"/>
          <a:ext cx="11029950" cy="2194560"/>
        </p:xfrm>
        <a:graphic>
          <a:graphicData uri="http://schemas.openxmlformats.org/drawingml/2006/table">
            <a:tbl>
              <a:tblPr>
                <a:tableStyleId>{125E5076-3810-47DD-B79F-674D7AD40C01}</a:tableStyleId>
              </a:tblPr>
              <a:tblGrid>
                <a:gridCol w="3676650">
                  <a:extLst>
                    <a:ext uri="{9D8B030D-6E8A-4147-A177-3AD203B41FA5}">
                      <a16:colId xmlns:a16="http://schemas.microsoft.com/office/drawing/2014/main" val="1950107844"/>
                    </a:ext>
                  </a:extLst>
                </a:gridCol>
                <a:gridCol w="3676650">
                  <a:extLst>
                    <a:ext uri="{9D8B030D-6E8A-4147-A177-3AD203B41FA5}">
                      <a16:colId xmlns:a16="http://schemas.microsoft.com/office/drawing/2014/main" val="2536953696"/>
                    </a:ext>
                  </a:extLst>
                </a:gridCol>
                <a:gridCol w="3676650">
                  <a:extLst>
                    <a:ext uri="{9D8B030D-6E8A-4147-A177-3AD203B41FA5}">
                      <a16:colId xmlns:a16="http://schemas.microsoft.com/office/drawing/2014/main" val="1872536007"/>
                    </a:ext>
                  </a:extLst>
                </a:gridCol>
              </a:tblGrid>
              <a:tr h="0">
                <a:tc>
                  <a:txBody>
                    <a:bodyPr/>
                    <a:lstStyle/>
                    <a:p>
                      <a:pPr>
                        <a:buNone/>
                      </a:pPr>
                      <a:r>
                        <a:rPr lang="en-GB" dirty="0" err="1"/>
                        <a:t>Filtru</a:t>
                      </a:r>
                      <a:r>
                        <a:rPr lang="en-GB" dirty="0"/>
                        <a:t> Wireshark</a:t>
                      </a:r>
                    </a:p>
                  </a:txBody>
                  <a:tcPr anchor="ctr">
                    <a:solidFill>
                      <a:schemeClr val="tx1">
                        <a:lumMod val="75000"/>
                        <a:lumOff val="25000"/>
                      </a:schemeClr>
                    </a:solidFill>
                  </a:tcPr>
                </a:tc>
                <a:tc>
                  <a:txBody>
                    <a:bodyPr/>
                    <a:lstStyle/>
                    <a:p>
                      <a:pPr>
                        <a:buNone/>
                      </a:pPr>
                      <a:r>
                        <a:rPr lang="en-GB" dirty="0"/>
                        <a:t>Ce </a:t>
                      </a:r>
                      <a:r>
                        <a:rPr lang="en-GB" dirty="0" err="1"/>
                        <a:t>afișează</a:t>
                      </a:r>
                      <a:endParaRPr lang="en-GB" dirty="0"/>
                    </a:p>
                  </a:txBody>
                  <a:tcPr anchor="ctr">
                    <a:solidFill>
                      <a:schemeClr val="tx1">
                        <a:lumMod val="75000"/>
                        <a:lumOff val="25000"/>
                      </a:schemeClr>
                    </a:solidFill>
                  </a:tcPr>
                </a:tc>
                <a:tc>
                  <a:txBody>
                    <a:bodyPr/>
                    <a:lstStyle/>
                    <a:p>
                      <a:pPr>
                        <a:buNone/>
                      </a:pPr>
                      <a:r>
                        <a:rPr lang="en-GB" dirty="0" err="1"/>
                        <a:t>Interpretare</a:t>
                      </a:r>
                      <a:r>
                        <a:rPr lang="en-GB" dirty="0"/>
                        <a:t> </a:t>
                      </a:r>
                      <a:r>
                        <a:rPr lang="en-GB" dirty="0" err="1"/>
                        <a:t>posibilă</a:t>
                      </a:r>
                      <a:endParaRPr lang="en-GB" dirty="0"/>
                    </a:p>
                  </a:txBody>
                  <a:tcPr anchor="ctr">
                    <a:solidFill>
                      <a:schemeClr val="tx1">
                        <a:lumMod val="75000"/>
                        <a:lumOff val="25000"/>
                      </a:schemeClr>
                    </a:solidFill>
                  </a:tcPr>
                </a:tc>
                <a:extLst>
                  <a:ext uri="{0D108BD9-81ED-4DB2-BD59-A6C34878D82A}">
                    <a16:rowId xmlns:a16="http://schemas.microsoft.com/office/drawing/2014/main" val="247801235"/>
                  </a:ext>
                </a:extLst>
              </a:tr>
              <a:tr h="0">
                <a:tc>
                  <a:txBody>
                    <a:bodyPr/>
                    <a:lstStyle/>
                    <a:p>
                      <a:pPr>
                        <a:buNone/>
                      </a:pPr>
                      <a:r>
                        <a:rPr lang="en-GB"/>
                        <a:t>http.request.method == "POST"</a:t>
                      </a:r>
                    </a:p>
                  </a:txBody>
                  <a:tcPr anchor="ctr"/>
                </a:tc>
                <a:tc>
                  <a:txBody>
                    <a:bodyPr/>
                    <a:lstStyle/>
                    <a:p>
                      <a:pPr>
                        <a:buNone/>
                      </a:pPr>
                      <a:r>
                        <a:rPr lang="en-GB" dirty="0" err="1"/>
                        <a:t>Cereri</a:t>
                      </a:r>
                      <a:r>
                        <a:rPr lang="en-GB" dirty="0"/>
                        <a:t> POST</a:t>
                      </a:r>
                    </a:p>
                  </a:txBody>
                  <a:tcPr anchor="ctr"/>
                </a:tc>
                <a:tc>
                  <a:txBody>
                    <a:bodyPr/>
                    <a:lstStyle/>
                    <a:p>
                      <a:pPr>
                        <a:buNone/>
                      </a:pPr>
                      <a:r>
                        <a:rPr lang="fr-FR"/>
                        <a:t>Transfer de date către server</a:t>
                      </a:r>
                    </a:p>
                  </a:txBody>
                  <a:tcPr anchor="ctr"/>
                </a:tc>
                <a:extLst>
                  <a:ext uri="{0D108BD9-81ED-4DB2-BD59-A6C34878D82A}">
                    <a16:rowId xmlns:a16="http://schemas.microsoft.com/office/drawing/2014/main" val="3244525184"/>
                  </a:ext>
                </a:extLst>
              </a:tr>
              <a:tr h="0">
                <a:tc>
                  <a:txBody>
                    <a:bodyPr/>
                    <a:lstStyle/>
                    <a:p>
                      <a:pPr>
                        <a:buNone/>
                      </a:pPr>
                      <a:r>
                        <a:rPr lang="en-GB"/>
                        <a:t>http contains "password"</a:t>
                      </a:r>
                    </a:p>
                  </a:txBody>
                  <a:tcPr anchor="ctr"/>
                </a:tc>
                <a:tc>
                  <a:txBody>
                    <a:bodyPr/>
                    <a:lstStyle/>
                    <a:p>
                      <a:pPr>
                        <a:buNone/>
                      </a:pPr>
                      <a:r>
                        <a:rPr lang="en-GB"/>
                        <a:t>Parole în clar</a:t>
                      </a:r>
                    </a:p>
                  </a:txBody>
                  <a:tcPr anchor="ctr"/>
                </a:tc>
                <a:tc>
                  <a:txBody>
                    <a:bodyPr/>
                    <a:lstStyle/>
                    <a:p>
                      <a:pPr>
                        <a:buNone/>
                      </a:pPr>
                      <a:r>
                        <a:rPr lang="en-GB"/>
                        <a:t>Exfiltrare credențiale</a:t>
                      </a:r>
                    </a:p>
                  </a:txBody>
                  <a:tcPr anchor="ctr"/>
                </a:tc>
                <a:extLst>
                  <a:ext uri="{0D108BD9-81ED-4DB2-BD59-A6C34878D82A}">
                    <a16:rowId xmlns:a16="http://schemas.microsoft.com/office/drawing/2014/main" val="3359034119"/>
                  </a:ext>
                </a:extLst>
              </a:tr>
              <a:tr h="0">
                <a:tc>
                  <a:txBody>
                    <a:bodyPr/>
                    <a:lstStyle/>
                    <a:p>
                      <a:pPr>
                        <a:buNone/>
                      </a:pPr>
                      <a:r>
                        <a:rPr lang="en-GB"/>
                        <a:t>tcp.len &gt; 5000</a:t>
                      </a:r>
                    </a:p>
                  </a:txBody>
                  <a:tcPr anchor="ctr"/>
                </a:tc>
                <a:tc>
                  <a:txBody>
                    <a:bodyPr/>
                    <a:lstStyle/>
                    <a:p>
                      <a:pPr>
                        <a:buNone/>
                      </a:pPr>
                      <a:r>
                        <a:rPr lang="en-GB"/>
                        <a:t>Pachete foarte mari</a:t>
                      </a:r>
                    </a:p>
                  </a:txBody>
                  <a:tcPr anchor="ctr"/>
                </a:tc>
                <a:tc>
                  <a:txBody>
                    <a:bodyPr/>
                    <a:lstStyle/>
                    <a:p>
                      <a:pPr>
                        <a:buNone/>
                      </a:pPr>
                      <a:r>
                        <a:rPr lang="en-GB"/>
                        <a:t>Transfer de date</a:t>
                      </a:r>
                    </a:p>
                  </a:txBody>
                  <a:tcPr anchor="ctr"/>
                </a:tc>
                <a:extLst>
                  <a:ext uri="{0D108BD9-81ED-4DB2-BD59-A6C34878D82A}">
                    <a16:rowId xmlns:a16="http://schemas.microsoft.com/office/drawing/2014/main" val="3156264812"/>
                  </a:ext>
                </a:extLst>
              </a:tr>
              <a:tr h="0">
                <a:tc>
                  <a:txBody>
                    <a:bodyPr/>
                    <a:lstStyle/>
                    <a:p>
                      <a:pPr>
                        <a:buNone/>
                      </a:pPr>
                      <a:r>
                        <a:rPr lang="en-GB"/>
                        <a:t>ftp-data</a:t>
                      </a:r>
                    </a:p>
                  </a:txBody>
                  <a:tcPr anchor="ctr"/>
                </a:tc>
                <a:tc>
                  <a:txBody>
                    <a:bodyPr/>
                    <a:lstStyle/>
                    <a:p>
                      <a:pPr>
                        <a:buNone/>
                      </a:pPr>
                      <a:r>
                        <a:rPr lang="en-GB"/>
                        <a:t>Transferuri FTP</a:t>
                      </a:r>
                    </a:p>
                  </a:txBody>
                  <a:tcPr anchor="ctr"/>
                </a:tc>
                <a:tc>
                  <a:txBody>
                    <a:bodyPr/>
                    <a:lstStyle/>
                    <a:p>
                      <a:pPr>
                        <a:buNone/>
                      </a:pPr>
                      <a:r>
                        <a:rPr lang="en-GB"/>
                        <a:t>Posibilă exfiltrare fișiere</a:t>
                      </a:r>
                    </a:p>
                  </a:txBody>
                  <a:tcPr anchor="ctr"/>
                </a:tc>
                <a:extLst>
                  <a:ext uri="{0D108BD9-81ED-4DB2-BD59-A6C34878D82A}">
                    <a16:rowId xmlns:a16="http://schemas.microsoft.com/office/drawing/2014/main" val="1156112666"/>
                  </a:ext>
                </a:extLst>
              </a:tr>
              <a:tr h="0">
                <a:tc>
                  <a:txBody>
                    <a:bodyPr/>
                    <a:lstStyle/>
                    <a:p>
                      <a:pPr>
                        <a:buNone/>
                      </a:pPr>
                      <a:r>
                        <a:rPr lang="en-GB"/>
                        <a:t>smtp</a:t>
                      </a:r>
                    </a:p>
                  </a:txBody>
                  <a:tcPr anchor="ctr"/>
                </a:tc>
                <a:tc>
                  <a:txBody>
                    <a:bodyPr/>
                    <a:lstStyle/>
                    <a:p>
                      <a:pPr>
                        <a:buNone/>
                      </a:pPr>
                      <a:r>
                        <a:rPr lang="en-GB"/>
                        <a:t>Trafic email</a:t>
                      </a:r>
                    </a:p>
                  </a:txBody>
                  <a:tcPr anchor="ctr"/>
                </a:tc>
                <a:tc>
                  <a:txBody>
                    <a:bodyPr/>
                    <a:lstStyle/>
                    <a:p>
                      <a:pPr>
                        <a:buNone/>
                      </a:pPr>
                      <a:r>
                        <a:rPr lang="en-GB" dirty="0" err="1"/>
                        <a:t>Trimitere</a:t>
                      </a:r>
                      <a:r>
                        <a:rPr lang="en-GB" dirty="0"/>
                        <a:t> date </a:t>
                      </a:r>
                      <a:r>
                        <a:rPr lang="en-GB" dirty="0" err="1"/>
                        <a:t>prin</a:t>
                      </a:r>
                      <a:r>
                        <a:rPr lang="en-GB" dirty="0"/>
                        <a:t> email</a:t>
                      </a:r>
                    </a:p>
                  </a:txBody>
                  <a:tcPr anchor="ctr"/>
                </a:tc>
                <a:extLst>
                  <a:ext uri="{0D108BD9-81ED-4DB2-BD59-A6C34878D82A}">
                    <a16:rowId xmlns:a16="http://schemas.microsoft.com/office/drawing/2014/main" val="3124592805"/>
                  </a:ext>
                </a:extLst>
              </a:tr>
            </a:tbl>
          </a:graphicData>
        </a:graphic>
      </p:graphicFrame>
    </p:spTree>
    <p:extLst>
      <p:ext uri="{BB962C8B-B14F-4D97-AF65-F5344CB8AC3E}">
        <p14:creationId xmlns:p14="http://schemas.microsoft.com/office/powerpoint/2010/main" val="366797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p:cNvSpPr/>
          <p:nvPr/>
        </p:nvSpPr>
        <p:spPr>
          <a:xfrm>
            <a:off x="451104" y="1871472"/>
            <a:ext cx="11289792" cy="4870704"/>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normAutofit/>
          </a:bodyPr>
          <a:lstStyle/>
          <a:p>
            <a:r>
              <a:rPr lang="en-US" sz="1600"/>
              <a:t>Salvați jurnalul ca text pentru a fi utilizat de către ProcDOT</a:t>
            </a:r>
            <a:br>
              <a:rPr lang="en-US" sz="1600"/>
            </a:br>
            <a:r>
              <a:rPr lang="en-US"/>
              <a:t>Wireshark</a:t>
            </a:r>
            <a:br>
              <a:rPr lang="en-US"/>
            </a:br>
            <a:endParaRPr lang="en-US" sz="160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026" y="1990447"/>
            <a:ext cx="5532985" cy="4605425"/>
          </a:xfrm>
          <a:prstGeom prst="rect">
            <a:avLst/>
          </a:prstGeom>
          <a:ln>
            <a:noFill/>
          </a:ln>
          <a:effectLst>
            <a:outerShdw blurRad="190500" algn="tl" rotWithShape="0">
              <a:srgbClr val="000000">
                <a:alpha val="70000"/>
              </a:srgbClr>
            </a:outerShdw>
          </a:effectLst>
        </p:spPr>
      </p:pic>
      <p:sp>
        <p:nvSpPr>
          <p:cNvPr id="12" name="Right Arrow 11"/>
          <p:cNvSpPr/>
          <p:nvPr/>
        </p:nvSpPr>
        <p:spPr>
          <a:xfrm rot="19892808">
            <a:off x="1846370" y="383344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Rectangle 3"/>
          <p:cNvSpPr/>
          <p:nvPr/>
        </p:nvSpPr>
        <p:spPr>
          <a:xfrm>
            <a:off x="6438835" y="1551574"/>
            <a:ext cx="5052125" cy="4832092"/>
          </a:xfrm>
          <a:prstGeom prst="rect">
            <a:avLst/>
          </a:prstGeom>
        </p:spPr>
        <p:txBody>
          <a:bodyPr wrap="square">
            <a:spAutoFit/>
          </a:bodyPr>
          <a:lstStyle/>
          <a:p>
            <a:r>
              <a:rPr lang="en-US" sz="1100">
                <a:solidFill>
                  <a:prstClr val="white"/>
                </a:solidFill>
              </a:rPr>
              <a:t>Moduri concise de a utiliza Wireshark pentru detectarea malware-ului:</a:t>
            </a:r>
          </a:p>
          <a:p>
            <a:endParaRPr lang="en-US" sz="1100">
              <a:solidFill>
                <a:prstClr val="black"/>
              </a:solidFill>
            </a:endParaRPr>
          </a:p>
          <a:p>
            <a:r>
              <a:rPr lang="en-US" sz="1100" b="1">
                <a:solidFill>
                  <a:prstClr val="black"/>
                </a:solidFill>
              </a:rPr>
              <a:t>Trafic Neobișnuit. </a:t>
            </a:r>
            <a:r>
              <a:rPr lang="en-US" sz="1100">
                <a:solidFill>
                  <a:prstClr val="black"/>
                </a:solidFill>
              </a:rPr>
              <a:t>Monitorizați volumul de trafic pentru a identifica orice creștere neașteptată, care poate indica activitatea unui malware ce încearcă să comunice cu serverul de comandă și control (C&amp;C).</a:t>
            </a:r>
          </a:p>
          <a:p>
            <a:endParaRPr lang="en-US" sz="1100">
              <a:solidFill>
                <a:prstClr val="black"/>
              </a:solidFill>
            </a:endParaRPr>
          </a:p>
          <a:p>
            <a:r>
              <a:rPr lang="en-US" sz="1100" b="1">
                <a:solidFill>
                  <a:prstClr val="black"/>
                </a:solidFill>
              </a:rPr>
              <a:t>Destinații Suspecte. </a:t>
            </a:r>
            <a:r>
              <a:rPr lang="en-US" sz="1100">
                <a:solidFill>
                  <a:prstClr val="black"/>
                </a:solidFill>
              </a:rPr>
              <a:t>Verificați adresele IP și domeniile către care sunt direcționate pachetele de date. Comunicările cu adrese IP sau domenii cunoscute pentru a fi asociate cu activități malware ar trebui investigate.</a:t>
            </a:r>
          </a:p>
          <a:p>
            <a:endParaRPr lang="en-US" sz="1100">
              <a:solidFill>
                <a:prstClr val="black"/>
              </a:solidFill>
            </a:endParaRPr>
          </a:p>
          <a:p>
            <a:r>
              <a:rPr lang="en-US" sz="1100" b="1">
                <a:solidFill>
                  <a:prstClr val="black"/>
                </a:solidFill>
              </a:rPr>
              <a:t>Protocoale Neașteptate. </a:t>
            </a:r>
            <a:r>
              <a:rPr lang="en-US" sz="1100">
                <a:solidFill>
                  <a:prstClr val="black"/>
                </a:solidFill>
              </a:rPr>
              <a:t>Urmăriți utilizarea protocoalelor neobișnuite sau neașteptate pentru mediul de rețea respectiv. Malware-ul poate folosi protocoale inedite pentru a evita detectarea.</a:t>
            </a:r>
          </a:p>
          <a:p>
            <a:endParaRPr lang="en-US" sz="1100">
              <a:solidFill>
                <a:prstClr val="black"/>
              </a:solidFill>
            </a:endParaRPr>
          </a:p>
          <a:p>
            <a:r>
              <a:rPr lang="en-US" sz="1100" b="1">
                <a:solidFill>
                  <a:prstClr val="black"/>
                </a:solidFill>
              </a:rPr>
              <a:t>Pachete Mici Repetate. </a:t>
            </a:r>
            <a:r>
              <a:rPr lang="en-US" sz="1100">
                <a:solidFill>
                  <a:prstClr val="black"/>
                </a:solidFill>
              </a:rPr>
              <a:t>O serie de pachete mici și frecvente trimise către o anumită destinație poate fi un indicator al unui canal de exfiltrare a datelor.</a:t>
            </a:r>
          </a:p>
          <a:p>
            <a:endParaRPr lang="en-US" sz="1100">
              <a:solidFill>
                <a:prstClr val="black"/>
              </a:solidFill>
            </a:endParaRPr>
          </a:p>
          <a:p>
            <a:r>
              <a:rPr lang="en-US" sz="1100" b="1">
                <a:solidFill>
                  <a:prstClr val="black"/>
                </a:solidFill>
              </a:rPr>
              <a:t>Trafic Criptat Nejustificat. </a:t>
            </a:r>
            <a:r>
              <a:rPr lang="en-US" sz="1100">
                <a:solidFill>
                  <a:prstClr val="black"/>
                </a:solidFill>
              </a:rPr>
              <a:t>Monitorizați cantitatea de trafic criptat. Deși criptarea este comună, o cantitate excesivă de trafic criptat, în special în locuri neașteptate, poate fi suspectă.</a:t>
            </a:r>
          </a:p>
          <a:p>
            <a:endParaRPr lang="en-US" sz="1100">
              <a:solidFill>
                <a:prstClr val="black"/>
              </a:solidFill>
            </a:endParaRPr>
          </a:p>
          <a:p>
            <a:r>
              <a:rPr lang="en-US" sz="1100" b="1">
                <a:solidFill>
                  <a:prstClr val="black"/>
                </a:solidFill>
              </a:rPr>
              <a:t>Analiza Conținutului Pachetului. </a:t>
            </a:r>
            <a:r>
              <a:rPr lang="en-US" sz="1100">
                <a:solidFill>
                  <a:prstClr val="black"/>
                </a:solidFill>
              </a:rPr>
              <a:t>Examinarea conținutului pachetelor poate dezvălui string-uri suspecte, chei de malware sau alte semnături ale software-ului rău intenționat.</a:t>
            </a:r>
          </a:p>
          <a:p>
            <a:endParaRPr lang="en-US" sz="1100">
              <a:solidFill>
                <a:prstClr val="black"/>
              </a:solidFill>
            </a:endParaRPr>
          </a:p>
          <a:p>
            <a:r>
              <a:rPr lang="en-US" sz="1100" b="1">
                <a:solidFill>
                  <a:prstClr val="black"/>
                </a:solidFill>
              </a:rPr>
              <a:t>Anomaliile DNS. </a:t>
            </a:r>
            <a:r>
              <a:rPr lang="en-US" sz="1100">
                <a:solidFill>
                  <a:prstClr val="black"/>
                </a:solidFill>
              </a:rPr>
              <a:t>Verificați cererile DNS pentru a identifica rezolvări neobișnuite sau frecvente către domenii suspecte, care pot indica activitatea de C&amp;C sau tentativa de exfiltrare a datelor.</a:t>
            </a:r>
          </a:p>
        </p:txBody>
      </p:sp>
      <p:grpSp>
        <p:nvGrpSpPr>
          <p:cNvPr id="3" name="Group 2"/>
          <p:cNvGrpSpPr/>
          <p:nvPr/>
        </p:nvGrpSpPr>
        <p:grpSpPr>
          <a:xfrm>
            <a:off x="219125" y="3833449"/>
            <a:ext cx="736420" cy="473375"/>
            <a:chOff x="219125" y="3833449"/>
            <a:chExt cx="736420" cy="473375"/>
          </a:xfrm>
        </p:grpSpPr>
        <p:sp>
          <p:nvSpPr>
            <p:cNvPr id="11" name="Right Arrow 10"/>
            <p:cNvSpPr/>
            <p:nvPr/>
          </p:nvSpPr>
          <p:spPr>
            <a:xfrm rot="19892808">
              <a:off x="374353" y="383344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219125" y="3863575"/>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
        <p:nvSpPr>
          <p:cNvPr id="13" name="Oval 12"/>
          <p:cNvSpPr/>
          <p:nvPr/>
        </p:nvSpPr>
        <p:spPr>
          <a:xfrm>
            <a:off x="1633248" y="389976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spTree>
    <p:extLst>
      <p:ext uri="{BB962C8B-B14F-4D97-AF65-F5344CB8AC3E}">
        <p14:creationId xmlns:p14="http://schemas.microsoft.com/office/powerpoint/2010/main" val="3328307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581192" y="2011680"/>
            <a:ext cx="11165800" cy="192600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Statică</a:t>
            </a:r>
          </a:p>
        </p:txBody>
      </p:sp>
      <p:sp>
        <p:nvSpPr>
          <p:cNvPr id="6" name="Flowchart: Process 5"/>
          <p:cNvSpPr/>
          <p:nvPr/>
        </p:nvSpPr>
        <p:spPr>
          <a:xfrm>
            <a:off x="581192" y="4047410"/>
            <a:ext cx="11165800" cy="184742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Dinamică</a:t>
            </a:r>
          </a:p>
        </p:txBody>
      </p:sp>
      <p:sp>
        <p:nvSpPr>
          <p:cNvPr id="7" name="Flowchart: Process 6"/>
          <p:cNvSpPr/>
          <p:nvPr/>
        </p:nvSpPr>
        <p:spPr>
          <a:xfrm>
            <a:off x="581192" y="6004560"/>
            <a:ext cx="11165800" cy="60960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Cloud</a:t>
            </a:r>
          </a:p>
        </p:txBody>
      </p:sp>
      <p:sp>
        <p:nvSpPr>
          <p:cNvPr id="2" name="Title 1"/>
          <p:cNvSpPr>
            <a:spLocks noGrp="1"/>
          </p:cNvSpPr>
          <p:nvPr>
            <p:ph type="title"/>
          </p:nvPr>
        </p:nvSpPr>
        <p:spPr/>
        <p:txBody>
          <a:bodyPr>
            <a:normAutofit/>
          </a:bodyPr>
          <a:lstStyle/>
          <a:p>
            <a:r>
              <a:rPr lang="pt-BR" sz="3200"/>
              <a:t>cod malițios: Instrumente de analiză</a:t>
            </a:r>
            <a:endParaRPr lang="en-US" sz="3200"/>
          </a:p>
        </p:txBody>
      </p:sp>
      <p:sp>
        <p:nvSpPr>
          <p:cNvPr id="3" name="Content Placeholder 2"/>
          <p:cNvSpPr>
            <a:spLocks noGrp="1"/>
          </p:cNvSpPr>
          <p:nvPr>
            <p:ph idx="1"/>
          </p:nvPr>
        </p:nvSpPr>
        <p:spPr>
          <a:xfrm>
            <a:off x="581193" y="2305088"/>
            <a:ext cx="6605992" cy="3955504"/>
          </a:xfrm>
        </p:spPr>
        <p:txBody>
          <a:bodyPr>
            <a:noAutofit/>
          </a:bodyPr>
          <a:lstStyle/>
          <a:p>
            <a:r>
              <a:rPr lang="en-US" sz="3200">
                <a:solidFill>
                  <a:schemeClr val="tx1">
                    <a:lumMod val="50000"/>
                    <a:lumOff val="50000"/>
                  </a:schemeClr>
                </a:solidFill>
              </a:rPr>
              <a:t>PEstudio</a:t>
            </a:r>
          </a:p>
          <a:p>
            <a:r>
              <a:rPr lang="en-US" sz="3200">
                <a:solidFill>
                  <a:schemeClr val="tx1">
                    <a:lumMod val="50000"/>
                    <a:lumOff val="50000"/>
                  </a:schemeClr>
                </a:solidFill>
              </a:rPr>
              <a:t>Bcompare</a:t>
            </a:r>
          </a:p>
          <a:p>
            <a:r>
              <a:rPr lang="en-US" sz="3200">
                <a:solidFill>
                  <a:schemeClr val="tx1">
                    <a:lumMod val="50000"/>
                    <a:lumOff val="50000"/>
                  </a:schemeClr>
                </a:solidFill>
              </a:rPr>
              <a:t>Cutter &amp; IDA &amp; x64dbg</a:t>
            </a:r>
          </a:p>
          <a:p>
            <a:r>
              <a:rPr lang="en-US" sz="3200">
                <a:solidFill>
                  <a:schemeClr val="tx1">
                    <a:lumMod val="50000"/>
                    <a:lumOff val="50000"/>
                  </a:schemeClr>
                </a:solidFill>
              </a:rPr>
              <a:t>Sysinternals</a:t>
            </a:r>
          </a:p>
          <a:p>
            <a:r>
              <a:rPr lang="en-US" sz="3200">
                <a:solidFill>
                  <a:schemeClr val="tx1">
                    <a:lumMod val="50000"/>
                    <a:lumOff val="50000"/>
                  </a:schemeClr>
                </a:solidFill>
              </a:rPr>
              <a:t>Wireshark</a:t>
            </a:r>
          </a:p>
          <a:p>
            <a:r>
              <a:rPr lang="en-US" sz="3200" b="1">
                <a:solidFill>
                  <a:schemeClr val="tx1"/>
                </a:solidFill>
              </a:rPr>
              <a:t>procDOT</a:t>
            </a:r>
          </a:p>
          <a:p>
            <a:r>
              <a:rPr lang="en-US" sz="3200">
                <a:solidFill>
                  <a:schemeClr val="tx1">
                    <a:lumMod val="50000"/>
                    <a:lumOff val="50000"/>
                  </a:schemeClr>
                </a:solidFill>
              </a:rPr>
              <a:t>Analiza malware in Cloud </a:t>
            </a:r>
          </a:p>
        </p:txBody>
      </p:sp>
      <p:sp>
        <p:nvSpPr>
          <p:cNvPr id="4" name="Right Arrow 3"/>
          <p:cNvSpPr/>
          <p:nvPr/>
        </p:nvSpPr>
        <p:spPr>
          <a:xfrm>
            <a:off x="1" y="5486866"/>
            <a:ext cx="581192" cy="268343"/>
          </a:xfrm>
          <a:prstGeom prst="rightArrow">
            <a:avLst>
              <a:gd name="adj1" fmla="val 50000"/>
              <a:gd name="adj2" fmla="val 8034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Arrow: Bent 7">
            <a:extLst>
              <a:ext uri="{FF2B5EF4-FFF2-40B4-BE49-F238E27FC236}">
                <a16:creationId xmlns:a16="http://schemas.microsoft.com/office/drawing/2014/main" id="{177D7B5D-F2BE-42E4-354B-EFCDAA29BE02}"/>
              </a:ext>
            </a:extLst>
          </p:cNvPr>
          <p:cNvSpPr/>
          <p:nvPr/>
        </p:nvSpPr>
        <p:spPr>
          <a:xfrm rot="5400000">
            <a:off x="4936434" y="3630762"/>
            <a:ext cx="1146313" cy="1007165"/>
          </a:xfrm>
          <a:prstGeom prst="ben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219642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p:cNvSpPr/>
          <p:nvPr/>
        </p:nvSpPr>
        <p:spPr>
          <a:xfrm>
            <a:off x="451104" y="2003304"/>
            <a:ext cx="11289792" cy="461695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procDOT</a:t>
            </a:r>
            <a:br>
              <a:rPr lang="en-US"/>
            </a:br>
            <a:r>
              <a:rPr lang="en-US" sz="2000"/>
              <a:t>Rularea și utilizarea jurnalelor Procmon și wireshark</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391" y="2170176"/>
            <a:ext cx="5139216" cy="4236720"/>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1038" y="2172588"/>
            <a:ext cx="5136290" cy="4234308"/>
          </a:xfrm>
          <a:prstGeom prst="rect">
            <a:avLst/>
          </a:prstGeom>
          <a:ln>
            <a:noFill/>
          </a:ln>
          <a:effectLst>
            <a:outerShdw blurRad="190500" algn="tl" rotWithShape="0">
              <a:srgbClr val="000000">
                <a:alpha val="70000"/>
              </a:srgbClr>
            </a:outerShdw>
          </a:effectLst>
        </p:spPr>
      </p:pic>
      <p:sp>
        <p:nvSpPr>
          <p:cNvPr id="7" name="Right Arrow 6"/>
          <p:cNvSpPr/>
          <p:nvPr/>
        </p:nvSpPr>
        <p:spPr>
          <a:xfrm rot="19892808">
            <a:off x="1870754" y="368335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ight Arrow 7"/>
          <p:cNvSpPr/>
          <p:nvPr/>
        </p:nvSpPr>
        <p:spPr>
          <a:xfrm rot="19892808">
            <a:off x="8070385" y="3232255"/>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Right Arrow 9"/>
          <p:cNvSpPr/>
          <p:nvPr/>
        </p:nvSpPr>
        <p:spPr>
          <a:xfrm rot="19892808">
            <a:off x="9743267" y="3232255"/>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ight Arrow 10"/>
          <p:cNvSpPr/>
          <p:nvPr/>
        </p:nvSpPr>
        <p:spPr>
          <a:xfrm rot="12876564">
            <a:off x="10531981" y="342694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ight Arrow 11"/>
          <p:cNvSpPr/>
          <p:nvPr/>
        </p:nvSpPr>
        <p:spPr>
          <a:xfrm rot="12876564">
            <a:off x="8566589" y="344744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Oval 12"/>
          <p:cNvSpPr/>
          <p:nvPr/>
        </p:nvSpPr>
        <p:spPr>
          <a:xfrm>
            <a:off x="1610500" y="3774236"/>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sp>
        <p:nvSpPr>
          <p:cNvPr id="14" name="Oval 13"/>
          <p:cNvSpPr/>
          <p:nvPr/>
        </p:nvSpPr>
        <p:spPr>
          <a:xfrm>
            <a:off x="7846416" y="3339488"/>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sp>
        <p:nvSpPr>
          <p:cNvPr id="15" name="Oval 14"/>
          <p:cNvSpPr/>
          <p:nvPr/>
        </p:nvSpPr>
        <p:spPr>
          <a:xfrm>
            <a:off x="8852253" y="3520525"/>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sp>
        <p:nvSpPr>
          <p:cNvPr id="16" name="Oval 15"/>
          <p:cNvSpPr/>
          <p:nvPr/>
        </p:nvSpPr>
        <p:spPr>
          <a:xfrm>
            <a:off x="9512186" y="3306131"/>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sp>
        <p:nvSpPr>
          <p:cNvPr id="17" name="Oval 16"/>
          <p:cNvSpPr/>
          <p:nvPr/>
        </p:nvSpPr>
        <p:spPr>
          <a:xfrm>
            <a:off x="10834451" y="352787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spTree>
    <p:extLst>
      <p:ext uri="{BB962C8B-B14F-4D97-AF65-F5344CB8AC3E}">
        <p14:creationId xmlns:p14="http://schemas.microsoft.com/office/powerpoint/2010/main" val="1324381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Process 7"/>
          <p:cNvSpPr/>
          <p:nvPr/>
        </p:nvSpPr>
        <p:spPr>
          <a:xfrm>
            <a:off x="432816" y="2029967"/>
            <a:ext cx="11289792" cy="460929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endParaRPr>
          </a:p>
        </p:txBody>
      </p:sp>
      <p:sp>
        <p:nvSpPr>
          <p:cNvPr id="2" name="Title 1"/>
          <p:cNvSpPr>
            <a:spLocks noGrp="1"/>
          </p:cNvSpPr>
          <p:nvPr>
            <p:ph type="title"/>
          </p:nvPr>
        </p:nvSpPr>
        <p:spPr/>
        <p:txBody>
          <a:bodyPr/>
          <a:lstStyle/>
          <a:p>
            <a:r>
              <a:rPr lang="en-US"/>
              <a:t>procDOT</a:t>
            </a:r>
            <a:br>
              <a:rPr lang="en-US"/>
            </a:br>
            <a:r>
              <a:rPr lang="en-US"/>
              <a:t>                                            rezultat final</a:t>
            </a:r>
          </a:p>
        </p:txBody>
      </p:sp>
      <p:sp>
        <p:nvSpPr>
          <p:cNvPr id="3" name="Rectangle 2"/>
          <p:cNvSpPr/>
          <p:nvPr/>
        </p:nvSpPr>
        <p:spPr>
          <a:xfrm>
            <a:off x="914400" y="2165211"/>
            <a:ext cx="4334256" cy="2862322"/>
          </a:xfrm>
          <a:prstGeom prst="rect">
            <a:avLst/>
          </a:prstGeom>
        </p:spPr>
        <p:txBody>
          <a:bodyPr wrap="square">
            <a:spAutoFit/>
          </a:bodyPr>
          <a:lstStyle/>
          <a:p>
            <a:r>
              <a:rPr lang="en-US" sz="1200" dirty="0">
                <a:solidFill>
                  <a:prstClr val="black"/>
                </a:solidFill>
              </a:rPr>
              <a:t>Pornire </a:t>
            </a:r>
            <a:r>
              <a:rPr lang="en-US" sz="1200" dirty="0" err="1">
                <a:solidFill>
                  <a:prstClr val="black"/>
                </a:solidFill>
              </a:rPr>
              <a:t>rapidă</a:t>
            </a:r>
            <a:r>
              <a:rPr lang="en-US" sz="1200" dirty="0">
                <a:solidFill>
                  <a:prstClr val="black"/>
                </a:solidFill>
              </a:rPr>
              <a:t> </a:t>
            </a:r>
            <a:r>
              <a:rPr lang="en-US" sz="1200" dirty="0" err="1">
                <a:solidFill>
                  <a:prstClr val="black"/>
                </a:solidFill>
              </a:rPr>
              <a:t>în</a:t>
            </a:r>
            <a:r>
              <a:rPr lang="en-US" sz="1200" dirty="0">
                <a:solidFill>
                  <a:prstClr val="black"/>
                </a:solidFill>
              </a:rPr>
              <a:t> </a:t>
            </a:r>
            <a:r>
              <a:rPr lang="en-US" sz="1200" dirty="0" err="1">
                <a:solidFill>
                  <a:prstClr val="black"/>
                </a:solidFill>
              </a:rPr>
              <a:t>ProcDOT</a:t>
            </a:r>
            <a:endParaRPr lang="en-US" sz="1200" dirty="0">
              <a:solidFill>
                <a:prstClr val="black"/>
              </a:solidFill>
            </a:endParaRPr>
          </a:p>
          <a:p>
            <a:r>
              <a:rPr lang="en-US" sz="1200" dirty="0">
                <a:solidFill>
                  <a:prstClr val="black"/>
                </a:solidFill>
              </a:rPr>
              <a:t>========================</a:t>
            </a:r>
          </a:p>
          <a:p>
            <a:endParaRPr lang="en-US" sz="1200" dirty="0">
              <a:solidFill>
                <a:prstClr val="black"/>
              </a:solidFill>
            </a:endParaRPr>
          </a:p>
          <a:p>
            <a:pPr marL="228600" indent="-228600">
              <a:buFontTx/>
              <a:buAutoNum type="arabicParenR"/>
            </a:pPr>
            <a:r>
              <a:rPr lang="en-US" sz="1200" dirty="0" err="1">
                <a:solidFill>
                  <a:prstClr val="black"/>
                </a:solidFill>
              </a:rPr>
              <a:t>Selectați</a:t>
            </a:r>
            <a:r>
              <a:rPr lang="en-US" sz="1200" dirty="0">
                <a:solidFill>
                  <a:prstClr val="black"/>
                </a:solidFill>
              </a:rPr>
              <a:t> </a:t>
            </a:r>
            <a:r>
              <a:rPr lang="en-US" sz="1200" dirty="0" err="1">
                <a:solidFill>
                  <a:prstClr val="black"/>
                </a:solidFill>
              </a:rPr>
              <a:t>fișierele</a:t>
            </a:r>
            <a:r>
              <a:rPr lang="en-US" sz="1200" dirty="0">
                <a:solidFill>
                  <a:prstClr val="black"/>
                </a:solidFill>
              </a:rPr>
              <a:t> de </a:t>
            </a:r>
            <a:r>
              <a:rPr lang="en-US" sz="1200" dirty="0" err="1">
                <a:solidFill>
                  <a:prstClr val="black"/>
                </a:solidFill>
              </a:rPr>
              <a:t>jurnal</a:t>
            </a:r>
            <a:r>
              <a:rPr lang="en-US" sz="1200" dirty="0">
                <a:solidFill>
                  <a:prstClr val="black"/>
                </a:solidFill>
              </a:rPr>
              <a:t> (</a:t>
            </a:r>
            <a:r>
              <a:rPr lang="en-US" sz="1200" dirty="0" err="1">
                <a:solidFill>
                  <a:prstClr val="black"/>
                </a:solidFill>
              </a:rPr>
              <a:t>trist</a:t>
            </a:r>
            <a:r>
              <a:rPr lang="en-US" sz="1200" dirty="0">
                <a:solidFill>
                  <a:prstClr val="black"/>
                </a:solidFill>
              </a:rPr>
              <a:t>, </a:t>
            </a:r>
            <a:r>
              <a:rPr lang="en-US" sz="1200" dirty="0" err="1">
                <a:solidFill>
                  <a:prstClr val="black"/>
                </a:solidFill>
              </a:rPr>
              <a:t>dar</a:t>
            </a:r>
            <a:r>
              <a:rPr lang="en-US" sz="1200" dirty="0">
                <a:solidFill>
                  <a:prstClr val="black"/>
                </a:solidFill>
              </a:rPr>
              <a:t> </a:t>
            </a:r>
            <a:r>
              <a:rPr lang="en-US" sz="1200" dirty="0" err="1">
                <a:solidFill>
                  <a:prstClr val="black"/>
                </a:solidFill>
              </a:rPr>
              <a:t>adevărat</a:t>
            </a:r>
            <a:r>
              <a:rPr lang="en-US" sz="1200" dirty="0">
                <a:solidFill>
                  <a:prstClr val="black"/>
                </a:solidFill>
              </a:rPr>
              <a:t>, </a:t>
            </a:r>
            <a:r>
              <a:rPr lang="en-US" sz="1200" dirty="0" err="1">
                <a:solidFill>
                  <a:prstClr val="black"/>
                </a:solidFill>
              </a:rPr>
              <a:t>specificațiile</a:t>
            </a:r>
            <a:r>
              <a:rPr lang="en-US" sz="1200" dirty="0">
                <a:solidFill>
                  <a:prstClr val="black"/>
                </a:solidFill>
              </a:rPr>
              <a:t> </a:t>
            </a:r>
            <a:r>
              <a:rPr lang="en-US" sz="1200" dirty="0" err="1">
                <a:solidFill>
                  <a:prstClr val="black"/>
                </a:solidFill>
              </a:rPr>
              <a:t>pentru</a:t>
            </a:r>
            <a:r>
              <a:rPr lang="en-US" sz="1200" dirty="0">
                <a:solidFill>
                  <a:prstClr val="black"/>
                </a:solidFill>
              </a:rPr>
              <a:t> </a:t>
            </a:r>
            <a:r>
              <a:rPr lang="en-US" sz="1200" dirty="0" err="1">
                <a:solidFill>
                  <a:prstClr val="black"/>
                </a:solidFill>
              </a:rPr>
              <a:t>formatul</a:t>
            </a:r>
            <a:r>
              <a:rPr lang="en-US" sz="1200" dirty="0">
                <a:solidFill>
                  <a:prstClr val="black"/>
                </a:solidFill>
              </a:rPr>
              <a:t> de </a:t>
            </a:r>
            <a:r>
              <a:rPr lang="en-US" sz="1200" dirty="0" err="1">
                <a:solidFill>
                  <a:prstClr val="black"/>
                </a:solidFill>
              </a:rPr>
              <a:t>fișier</a:t>
            </a:r>
            <a:r>
              <a:rPr lang="en-US" sz="1200" dirty="0">
                <a:solidFill>
                  <a:prstClr val="black"/>
                </a:solidFill>
              </a:rPr>
              <a:t> </a:t>
            </a:r>
            <a:r>
              <a:rPr lang="en-US" sz="1200" dirty="0" err="1">
                <a:solidFill>
                  <a:prstClr val="black"/>
                </a:solidFill>
              </a:rPr>
              <a:t>nativ</a:t>
            </a:r>
            <a:r>
              <a:rPr lang="en-US" sz="1200" dirty="0">
                <a:solidFill>
                  <a:prstClr val="black"/>
                </a:solidFill>
              </a:rPr>
              <a:t> al </a:t>
            </a:r>
            <a:r>
              <a:rPr lang="en-US" sz="1200" dirty="0" err="1">
                <a:solidFill>
                  <a:prstClr val="black"/>
                </a:solidFill>
              </a:rPr>
              <a:t>Procmon</a:t>
            </a:r>
            <a:r>
              <a:rPr lang="en-US" sz="1200" dirty="0">
                <a:solidFill>
                  <a:prstClr val="black"/>
                </a:solidFill>
              </a:rPr>
              <a:t> (.PML) nu sunt </a:t>
            </a:r>
            <a:r>
              <a:rPr lang="en-US" sz="1200" dirty="0" err="1">
                <a:solidFill>
                  <a:prstClr val="black"/>
                </a:solidFill>
              </a:rPr>
              <a:t>disponibile</a:t>
            </a:r>
            <a:r>
              <a:rPr lang="en-US" sz="1200" dirty="0">
                <a:solidFill>
                  <a:prstClr val="black"/>
                </a:solidFill>
              </a:rPr>
              <a:t> (public). Prin </a:t>
            </a:r>
            <a:r>
              <a:rPr lang="en-US" sz="1200" dirty="0" err="1">
                <a:solidFill>
                  <a:prstClr val="black"/>
                </a:solidFill>
              </a:rPr>
              <a:t>urmare</a:t>
            </a:r>
            <a:r>
              <a:rPr lang="en-US" sz="1200" dirty="0">
                <a:solidFill>
                  <a:prstClr val="black"/>
                </a:solidFill>
              </a:rPr>
              <a:t>, </a:t>
            </a:r>
            <a:r>
              <a:rPr lang="en-US" sz="1200" dirty="0" err="1">
                <a:solidFill>
                  <a:prstClr val="black"/>
                </a:solidFill>
              </a:rPr>
              <a:t>trebuie</a:t>
            </a:r>
            <a:r>
              <a:rPr lang="en-US" sz="1200" dirty="0">
                <a:solidFill>
                  <a:prstClr val="black"/>
                </a:solidFill>
              </a:rPr>
              <a:t> </a:t>
            </a:r>
            <a:r>
              <a:rPr lang="en-US" sz="1200" dirty="0" err="1">
                <a:solidFill>
                  <a:prstClr val="black"/>
                </a:solidFill>
              </a:rPr>
              <a:t>să</a:t>
            </a:r>
            <a:r>
              <a:rPr lang="en-US" sz="1200" dirty="0">
                <a:solidFill>
                  <a:prstClr val="black"/>
                </a:solidFill>
              </a:rPr>
              <a:t> </a:t>
            </a:r>
            <a:r>
              <a:rPr lang="en-US" sz="1200" dirty="0" err="1">
                <a:solidFill>
                  <a:prstClr val="black"/>
                </a:solidFill>
              </a:rPr>
              <a:t>exportați</a:t>
            </a:r>
            <a:r>
              <a:rPr lang="en-US" sz="1200" dirty="0">
                <a:solidFill>
                  <a:prstClr val="black"/>
                </a:solidFill>
              </a:rPr>
              <a:t> </a:t>
            </a:r>
            <a:r>
              <a:rPr lang="en-US" sz="1200" dirty="0" err="1">
                <a:solidFill>
                  <a:prstClr val="black"/>
                </a:solidFill>
              </a:rPr>
              <a:t>fișierul</a:t>
            </a:r>
            <a:r>
              <a:rPr lang="en-US" sz="1200" dirty="0">
                <a:solidFill>
                  <a:prstClr val="black"/>
                </a:solidFill>
              </a:rPr>
              <a:t> </a:t>
            </a:r>
            <a:r>
              <a:rPr lang="en-US" sz="1200" dirty="0" err="1">
                <a:solidFill>
                  <a:prstClr val="black"/>
                </a:solidFill>
              </a:rPr>
              <a:t>dvs</a:t>
            </a:r>
            <a:r>
              <a:rPr lang="en-US" sz="1200" dirty="0">
                <a:solidFill>
                  <a:prstClr val="black"/>
                </a:solidFill>
              </a:rPr>
              <a:t>. .PML </a:t>
            </a:r>
            <a:r>
              <a:rPr lang="en-US" sz="1200" dirty="0" err="1">
                <a:solidFill>
                  <a:prstClr val="black"/>
                </a:solidFill>
              </a:rPr>
              <a:t>în</a:t>
            </a:r>
            <a:r>
              <a:rPr lang="en-US" sz="1200" dirty="0">
                <a:solidFill>
                  <a:prstClr val="black"/>
                </a:solidFill>
              </a:rPr>
              <a:t> .CSV, </a:t>
            </a:r>
            <a:r>
              <a:rPr lang="en-US" sz="1200" dirty="0" err="1">
                <a:solidFill>
                  <a:prstClr val="black"/>
                </a:solidFill>
              </a:rPr>
              <a:t>ceea</a:t>
            </a:r>
            <a:r>
              <a:rPr lang="en-US" sz="1200" dirty="0">
                <a:solidFill>
                  <a:prstClr val="black"/>
                </a:solidFill>
              </a:rPr>
              <a:t> </a:t>
            </a:r>
            <a:r>
              <a:rPr lang="en-US" sz="1200" dirty="0" err="1">
                <a:solidFill>
                  <a:prstClr val="black"/>
                </a:solidFill>
              </a:rPr>
              <a:t>ce</a:t>
            </a:r>
            <a:r>
              <a:rPr lang="en-US" sz="1200" dirty="0">
                <a:solidFill>
                  <a:prstClr val="black"/>
                </a:solidFill>
              </a:rPr>
              <a:t> se </a:t>
            </a:r>
            <a:r>
              <a:rPr lang="en-US" sz="1200" dirty="0" err="1">
                <a:solidFill>
                  <a:prstClr val="black"/>
                </a:solidFill>
              </a:rPr>
              <a:t>poate</a:t>
            </a:r>
            <a:r>
              <a:rPr lang="en-US" sz="1200" dirty="0">
                <a:solidFill>
                  <a:prstClr val="black"/>
                </a:solidFill>
              </a:rPr>
              <a:t> face cu </a:t>
            </a:r>
            <a:r>
              <a:rPr lang="en-US" sz="1200" dirty="0" err="1">
                <a:solidFill>
                  <a:prstClr val="black"/>
                </a:solidFill>
              </a:rPr>
              <a:t>ușurință</a:t>
            </a:r>
            <a:r>
              <a:rPr lang="en-US" sz="1200" dirty="0">
                <a:solidFill>
                  <a:prstClr val="black"/>
                </a:solidFill>
              </a:rPr>
              <a:t> </a:t>
            </a:r>
            <a:r>
              <a:rPr lang="en-US" sz="1200" dirty="0" err="1">
                <a:solidFill>
                  <a:prstClr val="black"/>
                </a:solidFill>
              </a:rPr>
              <a:t>prin</a:t>
            </a:r>
            <a:r>
              <a:rPr lang="en-US" sz="1200" dirty="0">
                <a:solidFill>
                  <a:prstClr val="black"/>
                </a:solidFill>
              </a:rPr>
              <a:t> „</a:t>
            </a:r>
            <a:r>
              <a:rPr lang="en-US" sz="1200" dirty="0" err="1">
                <a:solidFill>
                  <a:prstClr val="black"/>
                </a:solidFill>
              </a:rPr>
              <a:t>Salvare</a:t>
            </a:r>
            <a:r>
              <a:rPr lang="en-US" sz="1200" dirty="0">
                <a:solidFill>
                  <a:prstClr val="black"/>
                </a:solidFill>
              </a:rPr>
              <a:t>”. „ element de </a:t>
            </a:r>
            <a:r>
              <a:rPr lang="en-US" sz="1200" dirty="0" err="1">
                <a:solidFill>
                  <a:prstClr val="black"/>
                </a:solidFill>
              </a:rPr>
              <a:t>meniu</a:t>
            </a:r>
            <a:r>
              <a:rPr lang="en-US" sz="1200" dirty="0">
                <a:solidFill>
                  <a:prstClr val="black"/>
                </a:solidFill>
              </a:rPr>
              <a:t> din </a:t>
            </a:r>
            <a:r>
              <a:rPr lang="en-US" sz="1200" dirty="0" err="1">
                <a:solidFill>
                  <a:prstClr val="black"/>
                </a:solidFill>
              </a:rPr>
              <a:t>Procmon</a:t>
            </a:r>
            <a:r>
              <a:rPr lang="en-US" sz="1200" dirty="0">
                <a:solidFill>
                  <a:prstClr val="black"/>
                </a:solidFill>
              </a:rPr>
              <a:t>. </a:t>
            </a:r>
            <a:r>
              <a:rPr lang="en-US" sz="1200" dirty="0" err="1">
                <a:solidFill>
                  <a:prstClr val="black"/>
                </a:solidFill>
              </a:rPr>
              <a:t>Asigurați-vă</a:t>
            </a:r>
            <a:r>
              <a:rPr lang="en-US" sz="1200" dirty="0">
                <a:solidFill>
                  <a:prstClr val="black"/>
                </a:solidFill>
              </a:rPr>
              <a:t> </a:t>
            </a:r>
            <a:r>
              <a:rPr lang="en-US" sz="1200" dirty="0" err="1">
                <a:solidFill>
                  <a:prstClr val="black"/>
                </a:solidFill>
              </a:rPr>
              <a:t>că</a:t>
            </a:r>
            <a:r>
              <a:rPr lang="en-US" sz="1200" dirty="0">
                <a:solidFill>
                  <a:prstClr val="black"/>
                </a:solidFill>
              </a:rPr>
              <a:t> </a:t>
            </a:r>
            <a:r>
              <a:rPr lang="en-US" sz="1200" dirty="0" err="1">
                <a:solidFill>
                  <a:prstClr val="black"/>
                </a:solidFill>
              </a:rPr>
              <a:t>selectați</a:t>
            </a:r>
            <a:r>
              <a:rPr lang="en-US" sz="1200" dirty="0">
                <a:solidFill>
                  <a:prstClr val="black"/>
                </a:solidFill>
              </a:rPr>
              <a:t> „</a:t>
            </a:r>
            <a:r>
              <a:rPr lang="en-US" sz="1200" dirty="0" err="1">
                <a:solidFill>
                  <a:prstClr val="black"/>
                </a:solidFill>
              </a:rPr>
              <a:t>toate</a:t>
            </a:r>
            <a:r>
              <a:rPr lang="en-US" sz="1200" dirty="0">
                <a:solidFill>
                  <a:prstClr val="black"/>
                </a:solidFill>
              </a:rPr>
              <a:t> </a:t>
            </a:r>
            <a:r>
              <a:rPr lang="en-US" sz="1200" dirty="0" err="1">
                <a:solidFill>
                  <a:prstClr val="black"/>
                </a:solidFill>
              </a:rPr>
              <a:t>evenimentele</a:t>
            </a:r>
            <a:r>
              <a:rPr lang="en-US" sz="1200" dirty="0">
                <a:solidFill>
                  <a:prstClr val="black"/>
                </a:solidFill>
              </a:rPr>
              <a:t>”.)</a:t>
            </a:r>
          </a:p>
          <a:p>
            <a:pPr marL="228600" indent="-228600">
              <a:buFontTx/>
              <a:buAutoNum type="arabicParenR"/>
            </a:pPr>
            <a:endParaRPr lang="en-US" sz="1200" dirty="0">
              <a:solidFill>
                <a:prstClr val="black"/>
              </a:solidFill>
            </a:endParaRPr>
          </a:p>
          <a:p>
            <a:r>
              <a:rPr lang="en-US" sz="1200" dirty="0">
                <a:solidFill>
                  <a:prstClr val="black"/>
                </a:solidFill>
              </a:rPr>
              <a:t>2) Alegeți </a:t>
            </a:r>
            <a:r>
              <a:rPr lang="en-US" sz="1200" dirty="0" err="1">
                <a:solidFill>
                  <a:prstClr val="black"/>
                </a:solidFill>
              </a:rPr>
              <a:t>modul</a:t>
            </a:r>
            <a:r>
              <a:rPr lang="en-US" sz="1200" dirty="0">
                <a:solidFill>
                  <a:prstClr val="black"/>
                </a:solidFill>
              </a:rPr>
              <a:t> de </a:t>
            </a:r>
            <a:r>
              <a:rPr lang="en-US" sz="1200" dirty="0" err="1">
                <a:solidFill>
                  <a:prstClr val="black"/>
                </a:solidFill>
              </a:rPr>
              <a:t>reprezentare</a:t>
            </a:r>
            <a:r>
              <a:rPr lang="en-US" sz="1200" dirty="0">
                <a:solidFill>
                  <a:prstClr val="black"/>
                </a:solidFill>
              </a:rPr>
              <a:t> </a:t>
            </a:r>
            <a:r>
              <a:rPr lang="en-US" sz="1200" dirty="0" err="1">
                <a:solidFill>
                  <a:prstClr val="black"/>
                </a:solidFill>
              </a:rPr>
              <a:t>grafică</a:t>
            </a:r>
            <a:r>
              <a:rPr lang="en-US" sz="1200" dirty="0">
                <a:solidFill>
                  <a:prstClr val="black"/>
                </a:solidFill>
              </a:rPr>
              <a:t> (</a:t>
            </a:r>
            <a:r>
              <a:rPr lang="en-US" sz="1200" dirty="0" err="1">
                <a:solidFill>
                  <a:prstClr val="black"/>
                </a:solidFill>
              </a:rPr>
              <a:t>fără</a:t>
            </a:r>
            <a:r>
              <a:rPr lang="en-US" sz="1200" dirty="0">
                <a:solidFill>
                  <a:prstClr val="black"/>
                </a:solidFill>
              </a:rPr>
              <a:t> </a:t>
            </a:r>
            <a:r>
              <a:rPr lang="en-US" sz="1200" dirty="0" err="1">
                <a:solidFill>
                  <a:prstClr val="black"/>
                </a:solidFill>
              </a:rPr>
              <a:t>căi</a:t>
            </a:r>
            <a:r>
              <a:rPr lang="en-US" sz="1200" dirty="0">
                <a:solidFill>
                  <a:prstClr val="black"/>
                </a:solidFill>
              </a:rPr>
              <a:t>, </a:t>
            </a:r>
            <a:r>
              <a:rPr lang="en-US" sz="1200" dirty="0" err="1">
                <a:solidFill>
                  <a:prstClr val="black"/>
                </a:solidFill>
              </a:rPr>
              <a:t>comprimat</a:t>
            </a:r>
            <a:r>
              <a:rPr lang="en-US" sz="1200" dirty="0">
                <a:solidFill>
                  <a:prstClr val="black"/>
                </a:solidFill>
              </a:rPr>
              <a:t>)</a:t>
            </a:r>
          </a:p>
          <a:p>
            <a:endParaRPr lang="en-US" sz="1200" dirty="0">
              <a:solidFill>
                <a:prstClr val="black"/>
              </a:solidFill>
            </a:endParaRPr>
          </a:p>
          <a:p>
            <a:r>
              <a:rPr lang="en-US" sz="1200" dirty="0">
                <a:solidFill>
                  <a:prstClr val="black"/>
                </a:solidFill>
              </a:rPr>
              <a:t>3) </a:t>
            </a:r>
            <a:r>
              <a:rPr lang="en-US" sz="1200" dirty="0" err="1">
                <a:solidFill>
                  <a:prstClr val="black"/>
                </a:solidFill>
              </a:rPr>
              <a:t>Selectați</a:t>
            </a:r>
            <a:r>
              <a:rPr lang="en-US" sz="1200" dirty="0">
                <a:solidFill>
                  <a:prstClr val="black"/>
                </a:solidFill>
              </a:rPr>
              <a:t> </a:t>
            </a:r>
            <a:r>
              <a:rPr lang="en-US" sz="1200" dirty="0" err="1">
                <a:solidFill>
                  <a:prstClr val="black"/>
                </a:solidFill>
              </a:rPr>
              <a:t>primul</a:t>
            </a:r>
            <a:r>
              <a:rPr lang="en-US" sz="1200" dirty="0">
                <a:solidFill>
                  <a:prstClr val="black"/>
                </a:solidFill>
              </a:rPr>
              <a:t> </a:t>
            </a:r>
            <a:r>
              <a:rPr lang="en-US" sz="1200" dirty="0" err="1">
                <a:solidFill>
                  <a:prstClr val="black"/>
                </a:solidFill>
              </a:rPr>
              <a:t>proces</a:t>
            </a:r>
            <a:r>
              <a:rPr lang="en-US" sz="1200" dirty="0">
                <a:solidFill>
                  <a:prstClr val="black"/>
                </a:solidFill>
              </a:rPr>
              <a:t> relevant (</a:t>
            </a:r>
            <a:r>
              <a:rPr lang="en-US" sz="1200" dirty="0" err="1">
                <a:solidFill>
                  <a:prstClr val="black"/>
                </a:solidFill>
              </a:rPr>
              <a:t>malițios</a:t>
            </a:r>
            <a:r>
              <a:rPr lang="en-US" sz="1200" dirty="0">
                <a:solidFill>
                  <a:prstClr val="black"/>
                </a:solidFill>
              </a:rPr>
              <a:t>) (</a:t>
            </a:r>
            <a:r>
              <a:rPr lang="en-US" sz="1200" dirty="0" err="1">
                <a:solidFill>
                  <a:prstClr val="black"/>
                </a:solidFill>
              </a:rPr>
              <a:t>proces</a:t>
            </a:r>
            <a:r>
              <a:rPr lang="en-US" sz="1200" dirty="0">
                <a:solidFill>
                  <a:prstClr val="black"/>
                </a:solidFill>
              </a:rPr>
              <a:t> de </a:t>
            </a:r>
            <a:r>
              <a:rPr lang="en-US" sz="1200" dirty="0" err="1">
                <a:solidFill>
                  <a:prstClr val="black"/>
                </a:solidFill>
              </a:rPr>
              <a:t>lansare</a:t>
            </a:r>
            <a:r>
              <a:rPr lang="en-US" sz="1200" dirty="0">
                <a:solidFill>
                  <a:prstClr val="black"/>
                </a:solidFill>
              </a:rPr>
              <a:t>)</a:t>
            </a:r>
          </a:p>
          <a:p>
            <a:endParaRPr lang="en-US" sz="1200" dirty="0">
              <a:solidFill>
                <a:prstClr val="black"/>
              </a:solidFill>
            </a:endParaRPr>
          </a:p>
          <a:p>
            <a:r>
              <a:rPr lang="en-US" sz="1200" dirty="0">
                <a:solidFill>
                  <a:prstClr val="black"/>
                </a:solidFill>
              </a:rPr>
              <a:t>4) </a:t>
            </a:r>
            <a:r>
              <a:rPr lang="en-US" sz="1200" dirty="0" err="1">
                <a:solidFill>
                  <a:prstClr val="black"/>
                </a:solidFill>
              </a:rPr>
              <a:t>Faceți</a:t>
            </a:r>
            <a:r>
              <a:rPr lang="en-US" sz="1200" dirty="0">
                <a:solidFill>
                  <a:prstClr val="black"/>
                </a:solidFill>
              </a:rPr>
              <a:t> </a:t>
            </a:r>
            <a:r>
              <a:rPr lang="en-US" sz="1200" dirty="0" err="1">
                <a:solidFill>
                  <a:prstClr val="black"/>
                </a:solidFill>
              </a:rPr>
              <a:t>clic</a:t>
            </a:r>
            <a:r>
              <a:rPr lang="en-US" sz="1200" dirty="0">
                <a:solidFill>
                  <a:prstClr val="black"/>
                </a:solidFill>
              </a:rPr>
              <a:t> pe „</a:t>
            </a:r>
            <a:r>
              <a:rPr lang="en-US" sz="1200" dirty="0" err="1">
                <a:solidFill>
                  <a:prstClr val="black"/>
                </a:solidFill>
              </a:rPr>
              <a:t>Reîmprospătare</a:t>
            </a:r>
            <a:r>
              <a:rPr lang="en-US" sz="1200" dirty="0">
                <a:solidFill>
                  <a:prstClr val="black"/>
                </a:solidFill>
              </a:rPr>
              <a:t>”</a:t>
            </a:r>
          </a:p>
        </p:txBody>
      </p:sp>
      <p:pic>
        <p:nvPicPr>
          <p:cNvPr id="4" name="Picture 3"/>
          <p:cNvPicPr>
            <a:picLocks noChangeAspect="1"/>
          </p:cNvPicPr>
          <p:nvPr/>
        </p:nvPicPr>
        <p:blipFill>
          <a:blip r:embed="rId2">
            <a:duotone>
              <a:prstClr val="black"/>
              <a:schemeClr val="accent2">
                <a:lumMod val="50000"/>
                <a:tint val="45000"/>
                <a:satMod val="400000"/>
              </a:schemeClr>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5624767" y="2334593"/>
            <a:ext cx="5450224" cy="3808913"/>
          </a:xfrm>
          <a:prstGeom prst="rect">
            <a:avLst/>
          </a:prstGeom>
          <a:ln>
            <a:noFill/>
          </a:ln>
          <a:effectLst>
            <a:outerShdw blurRad="190500" algn="tl" rotWithShape="0">
              <a:srgbClr val="000000">
                <a:alpha val="70000"/>
              </a:srgbClr>
            </a:outerShdw>
          </a:effectLst>
        </p:spPr>
      </p:pic>
      <p:sp>
        <p:nvSpPr>
          <p:cNvPr id="5" name="Rectangle 4"/>
          <p:cNvSpPr/>
          <p:nvPr/>
        </p:nvSpPr>
        <p:spPr>
          <a:xfrm>
            <a:off x="1721511" y="5540427"/>
            <a:ext cx="2614562" cy="369332"/>
          </a:xfrm>
          <a:prstGeom prst="rect">
            <a:avLst/>
          </a:prstGeom>
        </p:spPr>
        <p:txBody>
          <a:bodyPr wrap="none">
            <a:spAutoFit/>
          </a:bodyPr>
          <a:lstStyle/>
          <a:p>
            <a:r>
              <a:rPr lang="en-US">
                <a:solidFill>
                  <a:prstClr val="black"/>
                </a:solidFill>
              </a:rPr>
              <a:t>dot.exe îl gasiți în </a:t>
            </a:r>
            <a:r>
              <a:rPr lang="en-US" i="1">
                <a:solidFill>
                  <a:prstClr val="black"/>
                </a:solidFill>
              </a:rPr>
              <a:t>graphviz</a:t>
            </a:r>
          </a:p>
        </p:txBody>
      </p:sp>
      <p:sp>
        <p:nvSpPr>
          <p:cNvPr id="7" name="Right Arrow 6"/>
          <p:cNvSpPr/>
          <p:nvPr/>
        </p:nvSpPr>
        <p:spPr>
          <a:xfrm rot="10800000">
            <a:off x="7314482" y="2848207"/>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ight Arrow 8"/>
          <p:cNvSpPr/>
          <p:nvPr/>
        </p:nvSpPr>
        <p:spPr>
          <a:xfrm rot="5400000">
            <a:off x="9758978" y="2423440"/>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Right Arrow 9"/>
          <p:cNvSpPr/>
          <p:nvPr/>
        </p:nvSpPr>
        <p:spPr>
          <a:xfrm rot="19892808">
            <a:off x="6106535" y="3153007"/>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Oval 12"/>
          <p:cNvSpPr/>
          <p:nvPr/>
        </p:nvSpPr>
        <p:spPr>
          <a:xfrm>
            <a:off x="7755524" y="276075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sp>
        <p:nvSpPr>
          <p:cNvPr id="14" name="Oval 13"/>
          <p:cNvSpPr/>
          <p:nvPr/>
        </p:nvSpPr>
        <p:spPr>
          <a:xfrm>
            <a:off x="5864021" y="321422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sp>
        <p:nvSpPr>
          <p:cNvPr id="15" name="Oval 14"/>
          <p:cNvSpPr/>
          <p:nvPr/>
        </p:nvSpPr>
        <p:spPr>
          <a:xfrm>
            <a:off x="9817595" y="2004881"/>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sp>
        <p:nvSpPr>
          <p:cNvPr id="17" name="Right Arrow 16"/>
          <p:cNvSpPr/>
          <p:nvPr/>
        </p:nvSpPr>
        <p:spPr>
          <a:xfrm rot="12876564">
            <a:off x="10784394" y="317207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Oval 17"/>
          <p:cNvSpPr/>
          <p:nvPr/>
        </p:nvSpPr>
        <p:spPr>
          <a:xfrm>
            <a:off x="11130520" y="3287178"/>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sp>
        <p:nvSpPr>
          <p:cNvPr id="19" name="Right Arrow 18"/>
          <p:cNvSpPr/>
          <p:nvPr/>
        </p:nvSpPr>
        <p:spPr>
          <a:xfrm rot="18814881">
            <a:off x="9327280" y="342947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Oval 19"/>
          <p:cNvSpPr/>
          <p:nvPr/>
        </p:nvSpPr>
        <p:spPr>
          <a:xfrm>
            <a:off x="9192220" y="356364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sp>
        <p:nvSpPr>
          <p:cNvPr id="21" name="Rectangle 20"/>
          <p:cNvSpPr/>
          <p:nvPr/>
        </p:nvSpPr>
        <p:spPr>
          <a:xfrm>
            <a:off x="694944" y="1213104"/>
            <a:ext cx="7053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86640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60135" y="2269066"/>
            <a:ext cx="2919984" cy="2919984"/>
          </a:xfrm>
          <a:prstGeom prst="rect">
            <a:avLst/>
          </a:prstGeom>
        </p:spPr>
      </p:pic>
      <p:sp>
        <p:nvSpPr>
          <p:cNvPr id="2" name="Title 1"/>
          <p:cNvSpPr>
            <a:spLocks noGrp="1"/>
          </p:cNvSpPr>
          <p:nvPr>
            <p:ph type="title"/>
          </p:nvPr>
        </p:nvSpPr>
        <p:spPr/>
        <p:txBody>
          <a:bodyPr>
            <a:normAutofit/>
          </a:bodyPr>
          <a:lstStyle/>
          <a:p>
            <a:r>
              <a:rPr lang="en-US" sz="3200"/>
              <a:t>AnaLiza in cloud:</a:t>
            </a:r>
          </a:p>
        </p:txBody>
      </p:sp>
      <p:sp>
        <p:nvSpPr>
          <p:cNvPr id="6" name="Flowchart: Process 5"/>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pic>
        <p:nvPicPr>
          <p:cNvPr id="3" name="Picture 2"/>
          <p:cNvPicPr>
            <a:picLocks noChangeAspect="1"/>
          </p:cNvPicPr>
          <p:nvPr/>
        </p:nvPicPr>
        <p:blipFill>
          <a:blip r:embed="rId4"/>
          <a:stretch>
            <a:fillRect/>
          </a:stretch>
        </p:blipFill>
        <p:spPr>
          <a:xfrm>
            <a:off x="694259" y="2269066"/>
            <a:ext cx="5714582" cy="3808646"/>
          </a:xfrm>
          <a:prstGeom prst="rect">
            <a:avLst/>
          </a:prstGeom>
          <a:ln>
            <a:noFill/>
          </a:ln>
          <a:effectLst>
            <a:outerShdw blurRad="190500" algn="tl" rotWithShape="0">
              <a:srgbClr val="000000">
                <a:alpha val="70000"/>
              </a:srgbClr>
            </a:outerShdw>
          </a:effectLst>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4423" y="3451409"/>
            <a:ext cx="2558898" cy="2558898"/>
          </a:xfrm>
          <a:prstGeom prst="rect">
            <a:avLst/>
          </a:prstGeom>
        </p:spPr>
      </p:pic>
      <p:sp>
        <p:nvSpPr>
          <p:cNvPr id="7" name="Rounded Rectangle 6"/>
          <p:cNvSpPr/>
          <p:nvPr/>
        </p:nvSpPr>
        <p:spPr>
          <a:xfrm>
            <a:off x="4708398" y="6133412"/>
            <a:ext cx="3468624" cy="46329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Inregistrare/Analiza la distanta</a:t>
            </a:r>
          </a:p>
        </p:txBody>
      </p:sp>
    </p:spTree>
    <p:extLst>
      <p:ext uri="{BB962C8B-B14F-4D97-AF65-F5344CB8AC3E}">
        <p14:creationId xmlns:p14="http://schemas.microsoft.com/office/powerpoint/2010/main" val="16563792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581192" y="2011680"/>
            <a:ext cx="11165800" cy="192600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Statică</a:t>
            </a:r>
          </a:p>
        </p:txBody>
      </p:sp>
      <p:sp>
        <p:nvSpPr>
          <p:cNvPr id="6" name="Flowchart: Process 5"/>
          <p:cNvSpPr/>
          <p:nvPr/>
        </p:nvSpPr>
        <p:spPr>
          <a:xfrm>
            <a:off x="581192" y="4047410"/>
            <a:ext cx="11165800" cy="1846837"/>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Dinamică</a:t>
            </a:r>
          </a:p>
        </p:txBody>
      </p:sp>
      <p:sp>
        <p:nvSpPr>
          <p:cNvPr id="7" name="Flowchart: Process 6"/>
          <p:cNvSpPr/>
          <p:nvPr/>
        </p:nvSpPr>
        <p:spPr>
          <a:xfrm>
            <a:off x="581192" y="6003975"/>
            <a:ext cx="11165800" cy="610185"/>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Cloud</a:t>
            </a:r>
          </a:p>
        </p:txBody>
      </p:sp>
      <p:sp>
        <p:nvSpPr>
          <p:cNvPr id="2" name="Title 1"/>
          <p:cNvSpPr>
            <a:spLocks noGrp="1"/>
          </p:cNvSpPr>
          <p:nvPr>
            <p:ph type="title"/>
          </p:nvPr>
        </p:nvSpPr>
        <p:spPr/>
        <p:txBody>
          <a:bodyPr>
            <a:normAutofit/>
          </a:bodyPr>
          <a:lstStyle/>
          <a:p>
            <a:r>
              <a:rPr lang="pt-BR" sz="3200"/>
              <a:t>cod malițios: Instrumente de analiză</a:t>
            </a:r>
            <a:endParaRPr lang="en-US" sz="3200"/>
          </a:p>
        </p:txBody>
      </p:sp>
      <p:sp>
        <p:nvSpPr>
          <p:cNvPr id="3" name="Content Placeholder 2"/>
          <p:cNvSpPr>
            <a:spLocks noGrp="1"/>
          </p:cNvSpPr>
          <p:nvPr>
            <p:ph idx="1"/>
          </p:nvPr>
        </p:nvSpPr>
        <p:spPr>
          <a:xfrm>
            <a:off x="581193" y="2305088"/>
            <a:ext cx="5904952" cy="3955504"/>
          </a:xfrm>
        </p:spPr>
        <p:txBody>
          <a:bodyPr>
            <a:noAutofit/>
          </a:bodyPr>
          <a:lstStyle/>
          <a:p>
            <a:r>
              <a:rPr lang="en-US" sz="3200">
                <a:solidFill>
                  <a:schemeClr val="tx1">
                    <a:lumMod val="50000"/>
                    <a:lumOff val="50000"/>
                  </a:schemeClr>
                </a:solidFill>
              </a:rPr>
              <a:t>PEstudio</a:t>
            </a:r>
          </a:p>
          <a:p>
            <a:r>
              <a:rPr lang="en-US" sz="3200">
                <a:solidFill>
                  <a:schemeClr val="tx1">
                    <a:lumMod val="50000"/>
                    <a:lumOff val="50000"/>
                  </a:schemeClr>
                </a:solidFill>
              </a:rPr>
              <a:t>Bcompare</a:t>
            </a:r>
          </a:p>
          <a:p>
            <a:r>
              <a:rPr lang="en-US" sz="3200">
                <a:solidFill>
                  <a:schemeClr val="tx1">
                    <a:lumMod val="50000"/>
                    <a:lumOff val="50000"/>
                  </a:schemeClr>
                </a:solidFill>
              </a:rPr>
              <a:t>Cutter &amp; IDA &amp; x64dbg</a:t>
            </a:r>
          </a:p>
          <a:p>
            <a:r>
              <a:rPr lang="en-US" sz="3200">
                <a:solidFill>
                  <a:schemeClr val="tx1">
                    <a:lumMod val="50000"/>
                    <a:lumOff val="50000"/>
                  </a:schemeClr>
                </a:solidFill>
              </a:rPr>
              <a:t>Sysinternals</a:t>
            </a:r>
          </a:p>
          <a:p>
            <a:r>
              <a:rPr lang="en-US" sz="3200">
                <a:solidFill>
                  <a:schemeClr val="tx1">
                    <a:lumMod val="50000"/>
                    <a:lumOff val="50000"/>
                  </a:schemeClr>
                </a:solidFill>
              </a:rPr>
              <a:t>Wireshark</a:t>
            </a:r>
          </a:p>
          <a:p>
            <a:r>
              <a:rPr lang="en-US" sz="3200">
                <a:solidFill>
                  <a:schemeClr val="tx1">
                    <a:lumMod val="50000"/>
                    <a:lumOff val="50000"/>
                  </a:schemeClr>
                </a:solidFill>
              </a:rPr>
              <a:t>procDOT</a:t>
            </a:r>
          </a:p>
          <a:p>
            <a:r>
              <a:rPr lang="en-US" sz="3200" b="1">
                <a:solidFill>
                  <a:schemeClr val="tx1"/>
                </a:solidFill>
              </a:rPr>
              <a:t>Analiza malware in Cloud </a:t>
            </a:r>
          </a:p>
        </p:txBody>
      </p:sp>
      <p:sp>
        <p:nvSpPr>
          <p:cNvPr id="4" name="Right Arrow 3"/>
          <p:cNvSpPr/>
          <p:nvPr/>
        </p:nvSpPr>
        <p:spPr>
          <a:xfrm>
            <a:off x="1" y="6139138"/>
            <a:ext cx="581192" cy="268343"/>
          </a:xfrm>
          <a:prstGeom prst="rightArrow">
            <a:avLst>
              <a:gd name="adj1" fmla="val 50000"/>
              <a:gd name="adj2" fmla="val 8034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Arrow: Bent 7">
            <a:extLst>
              <a:ext uri="{FF2B5EF4-FFF2-40B4-BE49-F238E27FC236}">
                <a16:creationId xmlns:a16="http://schemas.microsoft.com/office/drawing/2014/main" id="{2CB7CC9B-D857-C4D2-59AE-C36520713B5C}"/>
              </a:ext>
            </a:extLst>
          </p:cNvPr>
          <p:cNvSpPr/>
          <p:nvPr/>
        </p:nvSpPr>
        <p:spPr>
          <a:xfrm rot="5400000">
            <a:off x="4936434" y="3630762"/>
            <a:ext cx="1146313" cy="1007165"/>
          </a:xfrm>
          <a:prstGeom prst="ben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120977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19656"/>
            <a:ext cx="6164072" cy="4523232"/>
          </a:xfrm>
          <a:prstGeom prst="rect">
            <a:avLst/>
          </a:prstGeom>
        </p:spPr>
      </p:pic>
      <p:pic>
        <p:nvPicPr>
          <p:cNvPr id="5" name="Picture 4"/>
          <p:cNvPicPr>
            <a:picLocks noChangeAspect="1"/>
          </p:cNvPicPr>
          <p:nvPr/>
        </p:nvPicPr>
        <p:blipFill>
          <a:blip r:embed="rId3"/>
          <a:stretch>
            <a:fillRect/>
          </a:stretch>
        </p:blipFill>
        <p:spPr>
          <a:xfrm>
            <a:off x="6164072" y="170688"/>
            <a:ext cx="5946203" cy="6421169"/>
          </a:xfrm>
          <a:prstGeom prst="rect">
            <a:avLst/>
          </a:prstGeom>
        </p:spPr>
      </p:pic>
      <p:sp>
        <p:nvSpPr>
          <p:cNvPr id="8" name="Flowchart: Process 7"/>
          <p:cNvSpPr/>
          <p:nvPr/>
        </p:nvSpPr>
        <p:spPr>
          <a:xfrm>
            <a:off x="6276848" y="170688"/>
            <a:ext cx="5781040" cy="6492240"/>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endParaRPr>
          </a:p>
        </p:txBody>
      </p:sp>
      <p:sp>
        <p:nvSpPr>
          <p:cNvPr id="9" name="Flowchart: Process 8"/>
          <p:cNvSpPr/>
          <p:nvPr/>
        </p:nvSpPr>
        <p:spPr>
          <a:xfrm>
            <a:off x="140208" y="170688"/>
            <a:ext cx="6023864" cy="6492240"/>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endParaRPr>
          </a:p>
        </p:txBody>
      </p:sp>
      <p:sp>
        <p:nvSpPr>
          <p:cNvPr id="6" name="Right Arrow 5"/>
          <p:cNvSpPr/>
          <p:nvPr/>
        </p:nvSpPr>
        <p:spPr>
          <a:xfrm rot="19892808">
            <a:off x="2021957" y="4703626"/>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ight Arrow 6"/>
          <p:cNvSpPr/>
          <p:nvPr/>
        </p:nvSpPr>
        <p:spPr>
          <a:xfrm rot="19892808">
            <a:off x="9971140" y="516692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1761155" y="4767691"/>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rPr>
              <a:t>1</a:t>
            </a:r>
          </a:p>
        </p:txBody>
      </p:sp>
      <p:sp>
        <p:nvSpPr>
          <p:cNvPr id="11" name="Oval 10"/>
          <p:cNvSpPr/>
          <p:nvPr/>
        </p:nvSpPr>
        <p:spPr>
          <a:xfrm>
            <a:off x="9797778" y="5210940"/>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rPr>
              <a:t>2</a:t>
            </a:r>
          </a:p>
        </p:txBody>
      </p:sp>
    </p:spTree>
    <p:extLst>
      <p:ext uri="{BB962C8B-B14F-4D97-AF65-F5344CB8AC3E}">
        <p14:creationId xmlns:p14="http://schemas.microsoft.com/office/powerpoint/2010/main" val="9224270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6772" y="1694046"/>
            <a:ext cx="5286668" cy="2262070"/>
          </a:xfrm>
          <a:prstGeom prst="rect">
            <a:avLst/>
          </a:prstGeom>
          <a:solidFill>
            <a:schemeClr val="tx1">
              <a:lumMod val="50000"/>
              <a:lumOff val="50000"/>
            </a:schemeClr>
          </a:solidFill>
          <a:ln w="12700" cap="sq">
            <a:solidFill>
              <a:srgbClr val="000000"/>
            </a:solidFill>
            <a:prstDash val="solid"/>
            <a:miter lim="800000"/>
          </a:ln>
          <a:effectLst>
            <a:outerShdw blurRad="50800" dist="38100" dir="2700000" algn="tl" rotWithShape="0">
              <a:srgbClr val="000000">
                <a:alpha val="43000"/>
              </a:srgbClr>
            </a:outerShdw>
          </a:effectLst>
        </p:spPr>
      </p:pic>
      <p:sp>
        <p:nvSpPr>
          <p:cNvPr id="11" name="Title 1"/>
          <p:cNvSpPr>
            <a:spLocks noGrp="1"/>
          </p:cNvSpPr>
          <p:nvPr>
            <p:ph type="title"/>
          </p:nvPr>
        </p:nvSpPr>
        <p:spPr>
          <a:xfrm>
            <a:off x="432816" y="157106"/>
            <a:ext cx="10920984" cy="1325563"/>
          </a:xfrm>
        </p:spPr>
        <p:txBody>
          <a:bodyPr/>
          <a:lstStyle/>
          <a:p>
            <a:r>
              <a:rPr lang="en-US"/>
              <a:t>  Triage</a:t>
            </a:r>
          </a:p>
        </p:txBody>
      </p:sp>
      <p:sp>
        <p:nvSpPr>
          <p:cNvPr id="8" name="Flowchart: Process 7"/>
          <p:cNvSpPr/>
          <p:nvPr/>
        </p:nvSpPr>
        <p:spPr>
          <a:xfrm>
            <a:off x="432816" y="200413"/>
            <a:ext cx="11289792" cy="110582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endParaRPr>
          </a:p>
        </p:txBody>
      </p:sp>
      <p:sp>
        <p:nvSpPr>
          <p:cNvPr id="2" name="Rectangle 1"/>
          <p:cNvSpPr/>
          <p:nvPr/>
        </p:nvSpPr>
        <p:spPr>
          <a:xfrm>
            <a:off x="2930956" y="427186"/>
            <a:ext cx="8791652" cy="923330"/>
          </a:xfrm>
          <a:prstGeom prst="rect">
            <a:avLst/>
          </a:prstGeom>
        </p:spPr>
        <p:txBody>
          <a:bodyPr wrap="square">
            <a:spAutoFit/>
          </a:bodyPr>
          <a:lstStyle/>
          <a:p>
            <a:pPr marL="171450" indent="-171450">
              <a:buFont typeface="Arial" panose="020B0604020202020204" pitchFamily="34" charset="0"/>
              <a:buChar char="•"/>
            </a:pPr>
            <a:r>
              <a:rPr lang="en-US" sz="1400">
                <a:solidFill>
                  <a:prstClr val="black"/>
                </a:solidFill>
              </a:rPr>
              <a:t>Triage dispune de o interfață care facilitează analiza amenințărilor chiar și pentru utilizatorii mai puțin tehnici.</a:t>
            </a:r>
          </a:p>
          <a:p>
            <a:pPr marL="171450" indent="-171450">
              <a:buFont typeface="Arial" panose="020B0604020202020204" pitchFamily="34" charset="0"/>
              <a:buChar char="•"/>
            </a:pPr>
            <a:r>
              <a:rPr lang="en-US" sz="1400">
                <a:solidFill>
                  <a:prstClr val="black"/>
                </a:solidFill>
              </a:rPr>
              <a:t>Permite analiza automatizată a fișierelor suspecte și a URL-urilor pentru a identifica comportamentele malițioase.</a:t>
            </a:r>
          </a:p>
          <a:p>
            <a:pPr marL="171450" indent="-171450">
              <a:buFont typeface="Arial" panose="020B0604020202020204" pitchFamily="34" charset="0"/>
              <a:buChar char="•"/>
            </a:pPr>
            <a:r>
              <a:rPr lang="en-US" sz="1400">
                <a:solidFill>
                  <a:prstClr val="black"/>
                </a:solidFill>
              </a:rPr>
              <a:t>Utilizează tehnici de sandboxing și emulare pentru a observa comportamentul fișierelor într-un mediu controlat.</a:t>
            </a:r>
          </a:p>
          <a:p>
            <a:endParaRPr lang="en-US" sz="1200">
              <a:solidFill>
                <a:prstClr val="black"/>
              </a:solidFill>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6773" y="4104615"/>
            <a:ext cx="5286668" cy="2304227"/>
          </a:xfrm>
          <a:prstGeom prst="rect">
            <a:avLst/>
          </a:prstGeom>
          <a:solidFill>
            <a:schemeClr val="tx1">
              <a:lumMod val="50000"/>
              <a:lumOff val="50000"/>
            </a:schemeClr>
          </a:solidFill>
          <a:ln w="12700" cap="sq">
            <a:solidFill>
              <a:srgbClr val="000000"/>
            </a:solidFill>
            <a:prstDash val="solid"/>
            <a:miter lim="800000"/>
          </a:ln>
          <a:effectLst>
            <a:outerShdw blurRad="50800" dist="38100" dir="2700000" algn="tl" rotWithShape="0">
              <a:srgbClr val="000000">
                <a:alpha val="43000"/>
              </a:srgbClr>
            </a:outerShdw>
          </a:effectLst>
        </p:spPr>
      </p:pic>
      <p:sp>
        <p:nvSpPr>
          <p:cNvPr id="12" name="Right Arrow 11"/>
          <p:cNvSpPr/>
          <p:nvPr/>
        </p:nvSpPr>
        <p:spPr>
          <a:xfrm rot="8017244">
            <a:off x="5564016" y="343984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Right Arrow 12"/>
          <p:cNvSpPr/>
          <p:nvPr/>
        </p:nvSpPr>
        <p:spPr>
          <a:xfrm rot="17955898">
            <a:off x="2175032" y="6274670"/>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48319" y="1694046"/>
            <a:ext cx="5286668" cy="2275455"/>
          </a:xfrm>
          <a:prstGeom prst="rect">
            <a:avLst/>
          </a:prstGeom>
          <a:solidFill>
            <a:schemeClr val="tx1">
              <a:lumMod val="50000"/>
              <a:lumOff val="50000"/>
            </a:schemeClr>
          </a:solidFill>
          <a:ln w="12700" cap="sq">
            <a:solidFill>
              <a:srgbClr val="000000"/>
            </a:solidFill>
            <a:prstDash val="solid"/>
            <a:miter lim="800000"/>
          </a:ln>
          <a:effectLst>
            <a:outerShdw blurRad="50800" dist="38100" dir="2700000" algn="tl" rotWithShape="0">
              <a:srgbClr val="000000">
                <a:alpha val="43000"/>
              </a:srgbClr>
            </a:outerShdw>
          </a:effectLst>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48319" y="4104615"/>
            <a:ext cx="5286668" cy="2275455"/>
          </a:xfrm>
          <a:prstGeom prst="rect">
            <a:avLst/>
          </a:prstGeom>
          <a:solidFill>
            <a:schemeClr val="tx1">
              <a:lumMod val="50000"/>
              <a:lumOff val="50000"/>
            </a:schemeClr>
          </a:solidFill>
          <a:ln w="12700" cap="sq">
            <a:solidFill>
              <a:srgbClr val="000000"/>
            </a:solidFill>
            <a:prstDash val="solid"/>
            <a:miter lim="800000"/>
          </a:ln>
          <a:effectLst>
            <a:outerShdw blurRad="50800" dist="38100" dir="2700000" algn="tl" rotWithShape="0">
              <a:srgbClr val="000000">
                <a:alpha val="43000"/>
              </a:srgbClr>
            </a:outerShdw>
          </a:effectLst>
        </p:spPr>
      </p:pic>
      <p:sp>
        <p:nvSpPr>
          <p:cNvPr id="16" name="Right Arrow 15"/>
          <p:cNvSpPr/>
          <p:nvPr/>
        </p:nvSpPr>
        <p:spPr>
          <a:xfrm rot="19892808">
            <a:off x="8502682" y="3306967"/>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7" name="Flowchart: Process 16"/>
          <p:cNvSpPr/>
          <p:nvPr/>
        </p:nvSpPr>
        <p:spPr>
          <a:xfrm>
            <a:off x="432816" y="1517230"/>
            <a:ext cx="11289792" cy="506107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endParaRPr>
          </a:p>
        </p:txBody>
      </p:sp>
      <p:sp>
        <p:nvSpPr>
          <p:cNvPr id="18" name="Oval 17"/>
          <p:cNvSpPr/>
          <p:nvPr/>
        </p:nvSpPr>
        <p:spPr>
          <a:xfrm>
            <a:off x="5832800" y="3137094"/>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rPr>
              <a:t>1</a:t>
            </a:r>
          </a:p>
        </p:txBody>
      </p:sp>
      <p:sp>
        <p:nvSpPr>
          <p:cNvPr id="19" name="Oval 18"/>
          <p:cNvSpPr/>
          <p:nvPr/>
        </p:nvSpPr>
        <p:spPr>
          <a:xfrm>
            <a:off x="2122607" y="6341858"/>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rPr>
              <a:t>2</a:t>
            </a:r>
          </a:p>
        </p:txBody>
      </p:sp>
      <p:sp>
        <p:nvSpPr>
          <p:cNvPr id="20" name="Oval 19"/>
          <p:cNvSpPr/>
          <p:nvPr/>
        </p:nvSpPr>
        <p:spPr>
          <a:xfrm>
            <a:off x="8329320" y="332186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rPr>
              <a:t>3</a:t>
            </a:r>
          </a:p>
        </p:txBody>
      </p:sp>
    </p:spTree>
    <p:extLst>
      <p:ext uri="{BB962C8B-B14F-4D97-AF65-F5344CB8AC3E}">
        <p14:creationId xmlns:p14="http://schemas.microsoft.com/office/powerpoint/2010/main" val="234062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33873" y="1083280"/>
            <a:ext cx="9755187" cy="2766528"/>
          </a:xfrm>
        </p:spPr>
        <p:txBody>
          <a:bodyPr>
            <a:normAutofit fontScale="90000"/>
          </a:bodyPr>
          <a:lstStyle/>
          <a:p>
            <a:r>
              <a:rPr lang="it-IT" u="sng" dirty="0"/>
              <a:t>C.5.3</a:t>
            </a:r>
            <a:br>
              <a:rPr lang="it-IT" dirty="0"/>
            </a:br>
            <a:r>
              <a:rPr lang="it-IT" dirty="0"/>
              <a:t>Automatizarea mașinii virtuale</a:t>
            </a:r>
            <a:endParaRPr lang="en-US" dirty="0"/>
          </a:p>
        </p:txBody>
      </p:sp>
      <p:sp>
        <p:nvSpPr>
          <p:cNvPr id="4" name="Rectangle 3"/>
          <p:cNvSpPr/>
          <p:nvPr/>
        </p:nvSpPr>
        <p:spPr>
          <a:xfrm>
            <a:off x="8187923" y="6419685"/>
            <a:ext cx="3958071" cy="369332"/>
          </a:xfrm>
          <a:prstGeom prst="rect">
            <a:avLst/>
          </a:prstGeom>
        </p:spPr>
        <p:txBody>
          <a:bodyPr wrap="none">
            <a:spAutoFit/>
          </a:bodyPr>
          <a:lstStyle/>
          <a:p>
            <a:r>
              <a:rPr lang="en-US">
                <a:solidFill>
                  <a:srgbClr val="629D7D">
                    <a:lumMod val="20000"/>
                    <a:lumOff val="80000"/>
                  </a:srgbClr>
                </a:solidFill>
              </a:rPr>
              <a:t>Academia Tehnică Militară „Ferdinand I”</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464673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a:t>Automatizarea Masinii Virtuale</a:t>
            </a:r>
            <a:br>
              <a:rPr lang="en-US" sz="2000"/>
            </a:br>
            <a:r>
              <a:rPr lang="en-US" sz="2000"/>
              <a:t>Aceasta este o parte dintr-un script PowerShell</a:t>
            </a:r>
            <a:br>
              <a:rPr lang="en-US" sz="2000"/>
            </a:br>
            <a:r>
              <a:rPr lang="en-US" sz="1400"/>
              <a:t>ajustați numele mașinii virtuale și căile către executabilele aferente</a:t>
            </a:r>
          </a:p>
        </p:txBody>
      </p:sp>
      <p:sp>
        <p:nvSpPr>
          <p:cNvPr id="3" name="Content Placeholder 2"/>
          <p:cNvSpPr>
            <a:spLocks noGrp="1"/>
          </p:cNvSpPr>
          <p:nvPr>
            <p:ph idx="1"/>
          </p:nvPr>
        </p:nvSpPr>
        <p:spPr>
          <a:xfrm>
            <a:off x="556596" y="4697529"/>
            <a:ext cx="4198284" cy="1642311"/>
          </a:xfrm>
        </p:spPr>
        <p:txBody>
          <a:bodyPr>
            <a:normAutofit fontScale="77500" lnSpcReduction="20000"/>
          </a:bodyPr>
          <a:lstStyle/>
          <a:p>
            <a:r>
              <a:rPr lang="en-US"/>
              <a:t>Acest script este doar un exemplu și poate necesita ajustări pentru a funcționa într-un mediu real, inclusiv gestionarea permisiunilor, configurarea rețelei și politici de securitate. De asemenea, este nevoie să verificați dacă PowerShell Remoting este activat și configurat pe mașina virtuală, care de asemenea, ar trebui să permită scripturilor să ruleze fără intervenție manuală.</a:t>
            </a:r>
          </a:p>
        </p:txBody>
      </p:sp>
      <p:sp>
        <p:nvSpPr>
          <p:cNvPr id="5" name="Rectangle 4"/>
          <p:cNvSpPr/>
          <p:nvPr/>
        </p:nvSpPr>
        <p:spPr>
          <a:xfrm>
            <a:off x="5035802" y="1975175"/>
            <a:ext cx="7057096" cy="4770537"/>
          </a:xfrm>
          <a:prstGeom prst="rect">
            <a:avLst/>
          </a:prstGeom>
        </p:spPr>
        <p:txBody>
          <a:bodyPr wrap="square">
            <a:spAutoFit/>
          </a:bodyPr>
          <a:lstStyle/>
          <a:p>
            <a:r>
              <a:rPr lang="en-US" sz="800" b="1">
                <a:solidFill>
                  <a:prstClr val="black"/>
                </a:solidFill>
                <a:latin typeface="Consolas" panose="020B0609020204030204" pitchFamily="49" charset="0"/>
              </a:rPr>
              <a:t># Înlocuiți 'NumeMasinaVirtuala' cu numele mașinii dvs. virtuale din VirtualBox</a:t>
            </a:r>
          </a:p>
          <a:p>
            <a:r>
              <a:rPr lang="en-US" sz="800">
                <a:solidFill>
                  <a:prstClr val="black"/>
                </a:solidFill>
                <a:latin typeface="Consolas" panose="020B0609020204030204" pitchFamily="49" charset="0"/>
              </a:rPr>
              <a:t>$NumeMasinaVirtuala = "NumeMasinaVirtuala"</a:t>
            </a:r>
          </a:p>
          <a:p>
            <a:endParaRPr lang="en-US" sz="800">
              <a:solidFill>
                <a:prstClr val="black"/>
              </a:solidFill>
              <a:latin typeface="Consolas" panose="020B0609020204030204" pitchFamily="49" charset="0"/>
            </a:endParaRPr>
          </a:p>
          <a:p>
            <a:r>
              <a:rPr lang="en-US" sz="800" b="1">
                <a:solidFill>
                  <a:prstClr val="black"/>
                </a:solidFill>
                <a:latin typeface="Consolas" panose="020B0609020204030204" pitchFamily="49" charset="0"/>
              </a:rPr>
              <a:t># Calea locală către executabilul care va fi copiat în directorul partajat</a:t>
            </a:r>
          </a:p>
          <a:p>
            <a:r>
              <a:rPr lang="en-US" sz="800">
                <a:solidFill>
                  <a:prstClr val="black"/>
                </a:solidFill>
                <a:latin typeface="Consolas" panose="020B0609020204030204" pitchFamily="49" charset="0"/>
              </a:rPr>
              <a:t>$CaleExecutabilLocal = "C:\calea\locala\spre\executabil.exe"</a:t>
            </a:r>
          </a:p>
          <a:p>
            <a:endParaRPr lang="en-US" sz="800">
              <a:solidFill>
                <a:prstClr val="black"/>
              </a:solidFill>
              <a:latin typeface="Consolas" panose="020B0609020204030204" pitchFamily="49" charset="0"/>
            </a:endParaRPr>
          </a:p>
          <a:p>
            <a:r>
              <a:rPr lang="en-US" sz="800" b="1">
                <a:solidFill>
                  <a:prstClr val="black"/>
                </a:solidFill>
                <a:latin typeface="Consolas" panose="020B0609020204030204" pitchFamily="49" charset="0"/>
              </a:rPr>
              <a:t># Calea către directorul partajat 'detonare' de pe mașina virtuală</a:t>
            </a:r>
          </a:p>
          <a:p>
            <a:r>
              <a:rPr lang="en-US" sz="800">
                <a:solidFill>
                  <a:prstClr val="black"/>
                </a:solidFill>
                <a:latin typeface="Consolas" panose="020B0609020204030204" pitchFamily="49" charset="0"/>
              </a:rPr>
              <a:t>$CaleDirectorPartajatVM = "\\vm\detonare"</a:t>
            </a:r>
          </a:p>
          <a:p>
            <a:endParaRPr lang="en-US" sz="800">
              <a:solidFill>
                <a:prstClr val="black"/>
              </a:solidFill>
              <a:latin typeface="Consolas" panose="020B0609020204030204" pitchFamily="49" charset="0"/>
            </a:endParaRPr>
          </a:p>
          <a:p>
            <a:r>
              <a:rPr lang="en-US" sz="800" b="1">
                <a:solidFill>
                  <a:prstClr val="black"/>
                </a:solidFill>
                <a:latin typeface="Consolas" panose="020B0609020204030204" pitchFamily="49" charset="0"/>
              </a:rPr>
              <a:t># Pornirea mașinii virtuale</a:t>
            </a:r>
          </a:p>
          <a:p>
            <a:r>
              <a:rPr lang="en-US" sz="800">
                <a:solidFill>
                  <a:prstClr val="black"/>
                </a:solidFill>
                <a:latin typeface="Consolas" panose="020B0609020204030204" pitchFamily="49" charset="0"/>
              </a:rPr>
              <a:t>Write-Host "Pornirea mașinii virtuale..."</a:t>
            </a:r>
          </a:p>
          <a:p>
            <a:r>
              <a:rPr lang="en-US" sz="800">
                <a:solidFill>
                  <a:prstClr val="black"/>
                </a:solidFill>
                <a:latin typeface="Consolas" panose="020B0609020204030204" pitchFamily="49" charset="0"/>
              </a:rPr>
              <a:t>Start-Process "C:\Program Files\Oracle\VirtualBox\VBoxManage.exe" -ArgumentList "startvm $NumeMasinaVirtuala --type headless"</a:t>
            </a:r>
          </a:p>
          <a:p>
            <a:endParaRPr lang="en-US" sz="800">
              <a:solidFill>
                <a:prstClr val="black"/>
              </a:solidFill>
              <a:latin typeface="Consolas" panose="020B0609020204030204" pitchFamily="49" charset="0"/>
            </a:endParaRPr>
          </a:p>
          <a:p>
            <a:r>
              <a:rPr lang="en-US" sz="800" b="1">
                <a:solidFill>
                  <a:prstClr val="black"/>
                </a:solidFill>
                <a:latin typeface="Consolas" panose="020B0609020204030204" pitchFamily="49" charset="0"/>
              </a:rPr>
              <a:t># Așteptăm să se inițializeze mașina virtuală (ajustați timpul conform necesității)</a:t>
            </a:r>
          </a:p>
          <a:p>
            <a:r>
              <a:rPr lang="en-US" sz="800">
                <a:solidFill>
                  <a:prstClr val="black"/>
                </a:solidFill>
                <a:latin typeface="Consolas" panose="020B0609020204030204" pitchFamily="49" charset="0"/>
              </a:rPr>
              <a:t>Start-Sleep -Seconds 60</a:t>
            </a:r>
          </a:p>
          <a:p>
            <a:endParaRPr lang="en-US" sz="800">
              <a:solidFill>
                <a:prstClr val="black"/>
              </a:solidFill>
              <a:latin typeface="Consolas" panose="020B0609020204030204" pitchFamily="49" charset="0"/>
            </a:endParaRPr>
          </a:p>
          <a:p>
            <a:r>
              <a:rPr lang="en-US" sz="800" b="1">
                <a:solidFill>
                  <a:prstClr val="black"/>
                </a:solidFill>
                <a:latin typeface="Consolas" panose="020B0609020204030204" pitchFamily="49" charset="0"/>
              </a:rPr>
              <a:t># Copierea executabilului în directorul partajat 'detonare'</a:t>
            </a:r>
          </a:p>
          <a:p>
            <a:r>
              <a:rPr lang="en-US" sz="800">
                <a:solidFill>
                  <a:prstClr val="black"/>
                </a:solidFill>
                <a:latin typeface="Consolas" panose="020B0609020204030204" pitchFamily="49" charset="0"/>
              </a:rPr>
              <a:t>Write-Host "Copierea executabilului în directorul partajat 'detonare'..."</a:t>
            </a:r>
          </a:p>
          <a:p>
            <a:r>
              <a:rPr lang="en-US" sz="800">
                <a:solidFill>
                  <a:prstClr val="black"/>
                </a:solidFill>
                <a:latin typeface="Consolas" panose="020B0609020204030204" pitchFamily="49" charset="0"/>
              </a:rPr>
              <a:t>Copy-Item -Path $CaleExecutabilLocal -Destination $CaleDirectorPartajatVM -Force</a:t>
            </a:r>
          </a:p>
          <a:p>
            <a:endParaRPr lang="en-US" sz="800">
              <a:solidFill>
                <a:prstClr val="black"/>
              </a:solidFill>
              <a:latin typeface="Consolas" panose="020B0609020204030204" pitchFamily="49" charset="0"/>
            </a:endParaRPr>
          </a:p>
          <a:p>
            <a:r>
              <a:rPr lang="en-US" sz="800" b="1">
                <a:solidFill>
                  <a:prstClr val="black"/>
                </a:solidFill>
                <a:latin typeface="Consolas" panose="020B0609020204030204" pitchFamily="49" charset="0"/>
              </a:rPr>
              <a:t># Înlocuiți 'NumeUtilizator' și 'Parola' cu credențialele pentru VM</a:t>
            </a:r>
          </a:p>
          <a:p>
            <a:r>
              <a:rPr lang="en-US" sz="800">
                <a:solidFill>
                  <a:prstClr val="black"/>
                </a:solidFill>
                <a:latin typeface="Consolas" panose="020B0609020204030204" pitchFamily="49" charset="0"/>
              </a:rPr>
              <a:t>$NumeUtilizator = "NumeUtilizator"</a:t>
            </a:r>
          </a:p>
          <a:p>
            <a:r>
              <a:rPr lang="en-US" sz="800">
                <a:solidFill>
                  <a:prstClr val="black"/>
                </a:solidFill>
                <a:latin typeface="Consolas" panose="020B0609020204030204" pitchFamily="49" charset="0"/>
              </a:rPr>
              <a:t>$Parola = ConvertTo-SecureString "Parola" -AsPlainText -Force</a:t>
            </a:r>
          </a:p>
          <a:p>
            <a:r>
              <a:rPr lang="en-US" sz="800">
                <a:solidFill>
                  <a:prstClr val="black"/>
                </a:solidFill>
                <a:latin typeface="Consolas" panose="020B0609020204030204" pitchFamily="49" charset="0"/>
              </a:rPr>
              <a:t>$CredentialeVM = New-Object System.Management.Automation.PSCredential($NumeUtilizator, $Parola)</a:t>
            </a:r>
          </a:p>
          <a:p>
            <a:endParaRPr lang="en-US" sz="800">
              <a:solidFill>
                <a:prstClr val="black"/>
              </a:solidFill>
              <a:latin typeface="Consolas" panose="020B0609020204030204" pitchFamily="49" charset="0"/>
            </a:endParaRPr>
          </a:p>
          <a:p>
            <a:r>
              <a:rPr lang="en-US" sz="800" b="1">
                <a:solidFill>
                  <a:prstClr val="black"/>
                </a:solidFill>
                <a:latin typeface="Consolas" panose="020B0609020204030204" pitchFamily="49" charset="0"/>
              </a:rPr>
              <a:t># Această parte presupune că PSRemoting este activat și configurat pe VM</a:t>
            </a:r>
          </a:p>
          <a:p>
            <a:r>
              <a:rPr lang="en-US" sz="800">
                <a:solidFill>
                  <a:prstClr val="black"/>
                </a:solidFill>
                <a:latin typeface="Consolas" panose="020B0609020204030204" pitchFamily="49" charset="0"/>
              </a:rPr>
              <a:t>Write-Host "Executarea Process Monitor și Wireshark pe mașina virtuală..."</a:t>
            </a:r>
          </a:p>
          <a:p>
            <a:r>
              <a:rPr lang="en-US" sz="800">
                <a:solidFill>
                  <a:prstClr val="black"/>
                </a:solidFill>
                <a:latin typeface="Consolas" panose="020B0609020204030204" pitchFamily="49" charset="0"/>
              </a:rPr>
              <a:t>Invoke-Command -ComputerName $NumeMasinaVirtuala -Credential $CredentialeVM -ScriptBlock {</a:t>
            </a:r>
          </a:p>
          <a:p>
            <a:r>
              <a:rPr lang="en-US" sz="800">
                <a:solidFill>
                  <a:prstClr val="black"/>
                </a:solidFill>
                <a:latin typeface="Consolas" panose="020B0609020204030204" pitchFamily="49" charset="0"/>
              </a:rPr>
              <a:t>    </a:t>
            </a:r>
            <a:r>
              <a:rPr lang="en-US" sz="800" b="1">
                <a:solidFill>
                  <a:prstClr val="black"/>
                </a:solidFill>
                <a:latin typeface="Consolas" panose="020B0609020204030204" pitchFamily="49" charset="0"/>
              </a:rPr>
              <a:t># Pornirea Process Monitor</a:t>
            </a:r>
          </a:p>
          <a:p>
            <a:r>
              <a:rPr lang="en-US" sz="800">
                <a:solidFill>
                  <a:prstClr val="black"/>
                </a:solidFill>
                <a:latin typeface="Consolas" panose="020B0609020204030204" pitchFamily="49" charset="0"/>
              </a:rPr>
              <a:t>    Start-Process "C:\calea\spre\Procmon.exe" -ArgumentList "/Quiet /Minimized /BackingFile C:\path\spre\log.pml"</a:t>
            </a:r>
          </a:p>
          <a:p>
            <a:endParaRPr lang="en-US" sz="800">
              <a:solidFill>
                <a:prstClr val="black"/>
              </a:solidFill>
              <a:latin typeface="Consolas" panose="020B0609020204030204" pitchFamily="49" charset="0"/>
            </a:endParaRPr>
          </a:p>
          <a:p>
            <a:r>
              <a:rPr lang="en-US" sz="800">
                <a:solidFill>
                  <a:prstClr val="black"/>
                </a:solidFill>
                <a:latin typeface="Consolas" panose="020B0609020204030204" pitchFamily="49" charset="0"/>
              </a:rPr>
              <a:t>    </a:t>
            </a:r>
            <a:r>
              <a:rPr lang="en-US" sz="800" b="1">
                <a:solidFill>
                  <a:prstClr val="black"/>
                </a:solidFill>
                <a:latin typeface="Consolas" panose="020B0609020204030204" pitchFamily="49" charset="0"/>
              </a:rPr>
              <a:t># Pornirea Wireshark în capture mode (înlocuiți 'interfata' cu numele interfeței de rețea)</a:t>
            </a:r>
          </a:p>
          <a:p>
            <a:r>
              <a:rPr lang="en-US" sz="800">
                <a:solidFill>
                  <a:prstClr val="black"/>
                </a:solidFill>
                <a:latin typeface="Consolas" panose="020B0609020204030204" pitchFamily="49" charset="0"/>
              </a:rPr>
              <a:t>    Start-Process "C:\Program Files\Wireshark\Wireshark.exe" -ArgumentList "-i interfata -k"</a:t>
            </a:r>
          </a:p>
          <a:p>
            <a:endParaRPr lang="en-US" sz="800">
              <a:solidFill>
                <a:prstClr val="black"/>
              </a:solidFill>
              <a:latin typeface="Consolas" panose="020B0609020204030204" pitchFamily="49" charset="0"/>
            </a:endParaRPr>
          </a:p>
          <a:p>
            <a:r>
              <a:rPr lang="en-US" sz="800">
                <a:solidFill>
                  <a:prstClr val="black"/>
                </a:solidFill>
                <a:latin typeface="Consolas" panose="020B0609020204030204" pitchFamily="49" charset="0"/>
              </a:rPr>
              <a:t>    </a:t>
            </a:r>
            <a:r>
              <a:rPr lang="en-US" sz="800" b="1">
                <a:solidFill>
                  <a:prstClr val="black"/>
                </a:solidFill>
                <a:latin typeface="Consolas" panose="020B0609020204030204" pitchFamily="49" charset="0"/>
              </a:rPr>
              <a:t># Executarea executabilului</a:t>
            </a:r>
          </a:p>
          <a:p>
            <a:r>
              <a:rPr lang="en-US" sz="800">
                <a:solidFill>
                  <a:prstClr val="black"/>
                </a:solidFill>
                <a:latin typeface="Consolas" panose="020B0609020204030204" pitchFamily="49" charset="0"/>
              </a:rPr>
              <a:t>    Start-Process "\\vm\detonare\executabil.exe"</a:t>
            </a:r>
          </a:p>
          <a:p>
            <a:r>
              <a:rPr lang="en-US" sz="800">
                <a:solidFill>
                  <a:prstClr val="black"/>
                </a:solidFill>
                <a:latin typeface="Consolas" panose="020B0609020204030204" pitchFamily="49" charset="0"/>
              </a:rPr>
              <a:t>}</a:t>
            </a:r>
          </a:p>
        </p:txBody>
      </p:sp>
      <p:sp>
        <p:nvSpPr>
          <p:cNvPr id="6" name="Rectangle 5"/>
          <p:cNvSpPr/>
          <p:nvPr/>
        </p:nvSpPr>
        <p:spPr>
          <a:xfrm>
            <a:off x="7499257" y="923420"/>
            <a:ext cx="4111551" cy="600164"/>
          </a:xfrm>
          <a:prstGeom prst="rect">
            <a:avLst/>
          </a:prstGeom>
        </p:spPr>
        <p:txBody>
          <a:bodyPr wrap="square">
            <a:spAutoFit/>
          </a:bodyPr>
          <a:lstStyle/>
          <a:p>
            <a:r>
              <a:rPr lang="en-US" sz="1100">
                <a:solidFill>
                  <a:prstClr val="white"/>
                </a:solidFill>
              </a:rPr>
              <a:t>Notă: Scriptul de mai jos presupune că este permis </a:t>
            </a:r>
            <a:r>
              <a:rPr lang="en-US" sz="1100" i="1">
                <a:solidFill>
                  <a:prstClr val="white"/>
                </a:solidFill>
              </a:rPr>
              <a:t>PSRemoting </a:t>
            </a:r>
            <a:r>
              <a:rPr lang="en-US" sz="1100">
                <a:solidFill>
                  <a:prstClr val="white"/>
                </a:solidFill>
              </a:rPr>
              <a:t>între gazdă și mașina virtuală și că sunt configurate corect politicile de execuție PowerShell și setările de rețea.</a:t>
            </a:r>
          </a:p>
        </p:txBody>
      </p:sp>
      <p:sp>
        <p:nvSpPr>
          <p:cNvPr id="7" name="Rounded Rectangular Callout 6"/>
          <p:cNvSpPr/>
          <p:nvPr/>
        </p:nvSpPr>
        <p:spPr>
          <a:xfrm>
            <a:off x="839893" y="3544737"/>
            <a:ext cx="3854662" cy="994719"/>
          </a:xfrm>
          <a:prstGeom prst="wedgeRoundRectCallout">
            <a:avLst>
              <a:gd name="adj1" fmla="val 55850"/>
              <a:gd name="adj2" fmla="val 47082"/>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prstClr val="white"/>
                </a:solidFill>
              </a:rPr>
              <a:t>Conectare</a:t>
            </a:r>
            <a:r>
              <a:rPr lang="en-US" sz="1000" dirty="0">
                <a:solidFill>
                  <a:prstClr val="white"/>
                </a:solidFill>
              </a:rPr>
              <a:t> la </a:t>
            </a:r>
            <a:r>
              <a:rPr lang="en-US" sz="1000" dirty="0" err="1">
                <a:solidFill>
                  <a:prstClr val="white"/>
                </a:solidFill>
              </a:rPr>
              <a:t>mașina</a:t>
            </a:r>
            <a:r>
              <a:rPr lang="en-US" sz="1000" dirty="0">
                <a:solidFill>
                  <a:prstClr val="white"/>
                </a:solidFill>
              </a:rPr>
              <a:t> </a:t>
            </a:r>
            <a:r>
              <a:rPr lang="en-US" sz="1000" dirty="0" err="1">
                <a:solidFill>
                  <a:prstClr val="white"/>
                </a:solidFill>
              </a:rPr>
              <a:t>virtuală</a:t>
            </a:r>
            <a:r>
              <a:rPr lang="en-US" sz="1000" dirty="0">
                <a:solidFill>
                  <a:prstClr val="white"/>
                </a:solidFill>
              </a:rPr>
              <a:t> </a:t>
            </a:r>
            <a:r>
              <a:rPr lang="en-US" sz="1000" dirty="0" err="1">
                <a:solidFill>
                  <a:prstClr val="white"/>
                </a:solidFill>
              </a:rPr>
              <a:t>pentru</a:t>
            </a:r>
            <a:r>
              <a:rPr lang="en-US" sz="1000" dirty="0">
                <a:solidFill>
                  <a:prstClr val="white"/>
                </a:solidFill>
              </a:rPr>
              <a:t> a </a:t>
            </a:r>
            <a:r>
              <a:rPr lang="en-US" sz="1000" dirty="0" err="1">
                <a:solidFill>
                  <a:prstClr val="white"/>
                </a:solidFill>
              </a:rPr>
              <a:t>executa</a:t>
            </a:r>
            <a:r>
              <a:rPr lang="en-US" sz="1000" dirty="0">
                <a:solidFill>
                  <a:prstClr val="white"/>
                </a:solidFill>
              </a:rPr>
              <a:t> </a:t>
            </a:r>
            <a:r>
              <a:rPr lang="en-US" sz="1000" dirty="0" err="1">
                <a:solidFill>
                  <a:prstClr val="white"/>
                </a:solidFill>
              </a:rPr>
              <a:t>scriptul</a:t>
            </a:r>
            <a:r>
              <a:rPr lang="en-US" sz="1000" dirty="0">
                <a:solidFill>
                  <a:prstClr val="white"/>
                </a:solidFill>
              </a:rPr>
              <a:t> de </a:t>
            </a:r>
            <a:r>
              <a:rPr lang="en-US" sz="1000" dirty="0" err="1">
                <a:solidFill>
                  <a:prstClr val="white"/>
                </a:solidFill>
              </a:rPr>
              <a:t>pornire</a:t>
            </a:r>
            <a:r>
              <a:rPr lang="en-US" sz="1000" dirty="0">
                <a:solidFill>
                  <a:prstClr val="white"/>
                </a:solidFill>
              </a:rPr>
              <a:t> a Process Monitor </a:t>
            </a:r>
            <a:r>
              <a:rPr lang="en-US" sz="1000" dirty="0" err="1">
                <a:solidFill>
                  <a:prstClr val="white"/>
                </a:solidFill>
              </a:rPr>
              <a:t>și</a:t>
            </a:r>
            <a:r>
              <a:rPr lang="en-US" sz="1000" dirty="0">
                <a:solidFill>
                  <a:prstClr val="white"/>
                </a:solidFill>
              </a:rPr>
              <a:t> Wireshark. </a:t>
            </a:r>
            <a:r>
              <a:rPr lang="en-US" sz="1000" dirty="0" err="1">
                <a:solidFill>
                  <a:prstClr val="white"/>
                </a:solidFill>
              </a:rPr>
              <a:t>Presupunem</a:t>
            </a:r>
            <a:r>
              <a:rPr lang="en-US" sz="1000" dirty="0">
                <a:solidFill>
                  <a:prstClr val="white"/>
                </a:solidFill>
              </a:rPr>
              <a:t> </a:t>
            </a:r>
            <a:r>
              <a:rPr lang="en-US" sz="1000" dirty="0" err="1">
                <a:solidFill>
                  <a:prstClr val="white"/>
                </a:solidFill>
              </a:rPr>
              <a:t>că</a:t>
            </a:r>
            <a:r>
              <a:rPr lang="en-US" sz="1000" dirty="0">
                <a:solidFill>
                  <a:prstClr val="white"/>
                </a:solidFill>
              </a:rPr>
              <a:t> </a:t>
            </a:r>
            <a:r>
              <a:rPr lang="en-US" sz="1000" dirty="0" err="1">
                <a:solidFill>
                  <a:prstClr val="white"/>
                </a:solidFill>
              </a:rPr>
              <a:t>există</a:t>
            </a:r>
            <a:r>
              <a:rPr lang="en-US" sz="1000" dirty="0">
                <a:solidFill>
                  <a:prstClr val="white"/>
                </a:solidFill>
              </a:rPr>
              <a:t> un script pe VM care face </a:t>
            </a:r>
            <a:r>
              <a:rPr lang="en-US" sz="1000" dirty="0" err="1">
                <a:solidFill>
                  <a:prstClr val="white"/>
                </a:solidFill>
              </a:rPr>
              <a:t>acest</a:t>
            </a:r>
            <a:r>
              <a:rPr lang="en-US" sz="1000" dirty="0">
                <a:solidFill>
                  <a:prstClr val="white"/>
                </a:solidFill>
              </a:rPr>
              <a:t> </a:t>
            </a:r>
            <a:r>
              <a:rPr lang="en-US" sz="1000" dirty="0" err="1">
                <a:solidFill>
                  <a:prstClr val="white"/>
                </a:solidFill>
              </a:rPr>
              <a:t>lucru</a:t>
            </a:r>
            <a:r>
              <a:rPr lang="en-US" sz="1000" dirty="0">
                <a:solidFill>
                  <a:prstClr val="white"/>
                </a:solidFill>
              </a:rPr>
              <a:t> </a:t>
            </a:r>
            <a:r>
              <a:rPr lang="en-US" sz="1000" dirty="0" err="1">
                <a:solidFill>
                  <a:prstClr val="white"/>
                </a:solidFill>
              </a:rPr>
              <a:t>și</a:t>
            </a:r>
            <a:r>
              <a:rPr lang="en-US" sz="1000" dirty="0">
                <a:solidFill>
                  <a:prstClr val="white"/>
                </a:solidFill>
              </a:rPr>
              <a:t> </a:t>
            </a:r>
            <a:r>
              <a:rPr lang="en-US" sz="1000" dirty="0" err="1">
                <a:solidFill>
                  <a:prstClr val="white"/>
                </a:solidFill>
              </a:rPr>
              <a:t>că</a:t>
            </a:r>
            <a:r>
              <a:rPr lang="en-US" sz="1000" dirty="0">
                <a:solidFill>
                  <a:prstClr val="white"/>
                </a:solidFill>
              </a:rPr>
              <a:t> </a:t>
            </a:r>
            <a:r>
              <a:rPr lang="en-US" sz="1000" dirty="0" err="1">
                <a:solidFill>
                  <a:prstClr val="white"/>
                </a:solidFill>
              </a:rPr>
              <a:t>avem</a:t>
            </a:r>
            <a:r>
              <a:rPr lang="en-US" sz="1000" dirty="0">
                <a:solidFill>
                  <a:prstClr val="white"/>
                </a:solidFill>
              </a:rPr>
              <a:t> </a:t>
            </a:r>
            <a:r>
              <a:rPr lang="en-US" sz="1000" dirty="0" err="1">
                <a:solidFill>
                  <a:prstClr val="white"/>
                </a:solidFill>
              </a:rPr>
              <a:t>acces</a:t>
            </a:r>
            <a:r>
              <a:rPr lang="en-US" sz="1000" dirty="0">
                <a:solidFill>
                  <a:prstClr val="white"/>
                </a:solidFill>
              </a:rPr>
              <a:t> la VM </a:t>
            </a:r>
            <a:r>
              <a:rPr lang="en-US" sz="1000" dirty="0" err="1">
                <a:solidFill>
                  <a:prstClr val="white"/>
                </a:solidFill>
              </a:rPr>
              <a:t>prin</a:t>
            </a:r>
            <a:r>
              <a:rPr lang="en-US" sz="1000" dirty="0">
                <a:solidFill>
                  <a:prstClr val="white"/>
                </a:solidFill>
              </a:rPr>
              <a:t> </a:t>
            </a:r>
            <a:r>
              <a:rPr lang="en-US" sz="1000" dirty="0" err="1">
                <a:solidFill>
                  <a:prstClr val="white"/>
                </a:solidFill>
              </a:rPr>
              <a:t>PSRemoting</a:t>
            </a:r>
            <a:r>
              <a:rPr lang="en-US" sz="1000" dirty="0">
                <a:solidFill>
                  <a:prstClr val="white"/>
                </a:solidFill>
              </a:rPr>
              <a:t>.</a:t>
            </a:r>
          </a:p>
        </p:txBody>
      </p:sp>
      <p:sp>
        <p:nvSpPr>
          <p:cNvPr id="8" name="Content Placeholder 2"/>
          <p:cNvSpPr txBox="1">
            <a:spLocks/>
          </p:cNvSpPr>
          <p:nvPr/>
        </p:nvSpPr>
        <p:spPr>
          <a:xfrm>
            <a:off x="556596" y="1931377"/>
            <a:ext cx="4245697" cy="1534324"/>
          </a:xfrm>
          <a:prstGeom prst="rect">
            <a:avLst/>
          </a:prstGeom>
        </p:spPr>
        <p:txBody>
          <a:bodyPr vert="horz" lIns="91440" tIns="45720" rIns="91440" bIns="45720" rtlCol="0" anchor="ctr">
            <a:normAutofit fontScale="700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Clr>
                <a:srgbClr val="8CB64A"/>
              </a:buClr>
            </a:pPr>
            <a:r>
              <a:rPr lang="en-US">
                <a:solidFill>
                  <a:srgbClr val="3D3D3D"/>
                </a:solidFill>
              </a:rPr>
              <a:t>Mai jos este un exemplu de script PowerShell care ar putea face ceea ce ați descris, presupunând că aveți setările necesare deja configurate în VirtualBox, inclusiv un folder partajat, și că aveți deja instalate Process Monitor și Wireshark pe mașina virtuală. De asemenea, presupun că există mecanisme automate pentru a porni Process Monitor și Wireshark la pornirea mașinii virtuale sau la executarea unui script inițializat automat.</a:t>
            </a:r>
          </a:p>
        </p:txBody>
      </p:sp>
      <p:sp>
        <p:nvSpPr>
          <p:cNvPr id="9" name="Flowchart: Process 8"/>
          <p:cNvSpPr/>
          <p:nvPr/>
        </p:nvSpPr>
        <p:spPr>
          <a:xfrm>
            <a:off x="446902" y="1931376"/>
            <a:ext cx="11298196" cy="481433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endParaRPr>
          </a:p>
        </p:txBody>
      </p:sp>
    </p:spTree>
    <p:extLst>
      <p:ext uri="{BB962C8B-B14F-4D97-AF65-F5344CB8AC3E}">
        <p14:creationId xmlns:p14="http://schemas.microsoft.com/office/powerpoint/2010/main" val="21501568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PowerShell Remoting</a:t>
            </a:r>
            <a:br>
              <a:rPr lang="en-US"/>
            </a:br>
            <a:r>
              <a:rPr lang="en-US" sz="2000"/>
              <a:t>(pe scurt)</a:t>
            </a:r>
          </a:p>
        </p:txBody>
      </p:sp>
      <p:sp>
        <p:nvSpPr>
          <p:cNvPr id="3" name="Content Placeholder 2"/>
          <p:cNvSpPr>
            <a:spLocks noGrp="1"/>
          </p:cNvSpPr>
          <p:nvPr>
            <p:ph idx="1"/>
          </p:nvPr>
        </p:nvSpPr>
        <p:spPr>
          <a:xfrm>
            <a:off x="581193" y="2180496"/>
            <a:ext cx="5250648" cy="4254547"/>
          </a:xfrm>
        </p:spPr>
        <p:txBody>
          <a:bodyPr>
            <a:normAutofit fontScale="92500" lnSpcReduction="20000"/>
          </a:bodyPr>
          <a:lstStyle/>
          <a:p>
            <a:r>
              <a:rPr lang="en-US"/>
              <a:t>PSRemoting, sau PowerShell Remoting, permite rularea comenziilor PowerShell pe mașini îndepărtate. Acesta folosește </a:t>
            </a:r>
            <a:r>
              <a:rPr lang="en-US" i="1"/>
              <a:t>Windows Remote Management </a:t>
            </a:r>
            <a:r>
              <a:rPr lang="en-US"/>
              <a:t>(WinRM), care este o implementare a protocolului WS-Management și permite comunicația securizată prin rețea cu alte calculatoare care rulează PowerShell.</a:t>
            </a:r>
          </a:p>
          <a:p>
            <a:endParaRPr lang="en-US"/>
          </a:p>
          <a:p>
            <a:r>
              <a:rPr lang="en-US"/>
              <a:t>Cu PSRemoting, puteți intra într-o sesiune pe un computer îndepărtat și rula comenzi ca și cum ați fi local pe acel computer. Vă permite, de asemenea, să trimiteți un script sau o comandă pentru a fi executată pe unul sau mai multe computere îndepărtate fără a fi nevoie să intrați într-o sesiune interactivă. Aceasta este o funcție puternică pentru administrarea de rețea și automatizare în medii de tip enterprise.</a:t>
            </a:r>
          </a:p>
        </p:txBody>
      </p:sp>
      <p:pic>
        <p:nvPicPr>
          <p:cNvPr id="5" name="Picture 4"/>
          <p:cNvPicPr>
            <a:picLocks noChangeAspect="1"/>
          </p:cNvPicPr>
          <p:nvPr/>
        </p:nvPicPr>
        <p:blipFill>
          <a:blip r:embed="rId2"/>
          <a:stretch>
            <a:fillRect/>
          </a:stretch>
        </p:blipFill>
        <p:spPr>
          <a:xfrm>
            <a:off x="6007947" y="2238134"/>
            <a:ext cx="5491996" cy="4196910"/>
          </a:xfrm>
          <a:prstGeom prst="rect">
            <a:avLst/>
          </a:prstGeom>
          <a:ln>
            <a:noFill/>
          </a:ln>
          <a:effectLst>
            <a:outerShdw blurRad="190500" algn="tl" rotWithShape="0">
              <a:srgbClr val="000000">
                <a:alpha val="70000"/>
              </a:srgbClr>
            </a:outerShdw>
          </a:effectLst>
        </p:spPr>
      </p:pic>
      <p:sp>
        <p:nvSpPr>
          <p:cNvPr id="4" name="Flowchart: Process 3"/>
          <p:cNvSpPr/>
          <p:nvPr/>
        </p:nvSpPr>
        <p:spPr>
          <a:xfrm>
            <a:off x="446902" y="1931376"/>
            <a:ext cx="11298196" cy="481433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dirty="0">
              <a:solidFill>
                <a:prstClr val="black">
                  <a:lumMod val="50000"/>
                  <a:lumOff val="50000"/>
                </a:prstClr>
              </a:solidFill>
            </a:endParaRPr>
          </a:p>
        </p:txBody>
      </p:sp>
    </p:spTree>
    <p:extLst>
      <p:ext uri="{BB962C8B-B14F-4D97-AF65-F5344CB8AC3E}">
        <p14:creationId xmlns:p14="http://schemas.microsoft.com/office/powerpoint/2010/main" val="41193231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46902" y="1931376"/>
            <a:ext cx="11298196" cy="481433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endParaRPr>
          </a:p>
        </p:txBody>
      </p:sp>
      <p:sp>
        <p:nvSpPr>
          <p:cNvPr id="2" name="Title 1"/>
          <p:cNvSpPr>
            <a:spLocks noGrp="1"/>
          </p:cNvSpPr>
          <p:nvPr>
            <p:ph type="title"/>
          </p:nvPr>
        </p:nvSpPr>
        <p:spPr/>
        <p:txBody>
          <a:bodyPr>
            <a:normAutofit/>
          </a:bodyPr>
          <a:lstStyle/>
          <a:p>
            <a:r>
              <a:rPr lang="en-US"/>
              <a:t>administrarea la distanță a mașinilor </a:t>
            </a:r>
            <a:br>
              <a:rPr lang="en-US"/>
            </a:br>
            <a:r>
              <a:rPr lang="en-US" sz="1600"/>
              <a:t>executarea de scripturi pe acestea prin sesiuni de PowerShell</a:t>
            </a:r>
          </a:p>
        </p:txBody>
      </p:sp>
      <p:sp>
        <p:nvSpPr>
          <p:cNvPr id="3" name="Content Placeholder 2"/>
          <p:cNvSpPr>
            <a:spLocks noGrp="1"/>
          </p:cNvSpPr>
          <p:nvPr>
            <p:ph idx="1"/>
          </p:nvPr>
        </p:nvSpPr>
        <p:spPr>
          <a:xfrm>
            <a:off x="581192" y="2790083"/>
            <a:ext cx="11029615" cy="3678303"/>
          </a:xfrm>
        </p:spPr>
        <p:txBody>
          <a:bodyPr>
            <a:normAutofit fontScale="85000" lnSpcReduction="20000"/>
          </a:bodyPr>
          <a:lstStyle/>
          <a:p>
            <a:r>
              <a:rPr lang="en-US" b="1"/>
              <a:t>Activarea PSRemoting. </a:t>
            </a:r>
            <a:r>
              <a:rPr lang="en-US"/>
              <a:t>Trebuie să activați PSRemoting pe mașina virtuală cu Windows 7. Acest lucru se poate face prin executarea comenzii Enable-PSRemoting într-o sesiune PowerShell cu drepturi de administrator.</a:t>
            </a:r>
          </a:p>
          <a:p>
            <a:r>
              <a:rPr lang="en-US" b="1"/>
              <a:t>Configurarea firewall-ului. </a:t>
            </a:r>
            <a:r>
              <a:rPr lang="en-US"/>
              <a:t>Trebuie să asigurați că firewall-ul Windows permite conexiuni pentru PSRemoting. De obicei, rularea comenzii </a:t>
            </a:r>
            <a:r>
              <a:rPr lang="en-US" i="1"/>
              <a:t>Enable-PSRemoting</a:t>
            </a:r>
            <a:r>
              <a:rPr lang="en-US"/>
              <a:t> configurează automat regulile firewall necesare.</a:t>
            </a:r>
          </a:p>
          <a:p>
            <a:r>
              <a:rPr lang="en-US" b="1"/>
              <a:t>Configurarea WinRM. </a:t>
            </a:r>
            <a:r>
              <a:rPr lang="en-US"/>
              <a:t>PSRemoting folosește serviciul Windows Remote Management (WinRM) pentru a gestiona sesiunile la distanță. Acest serviciu trebuie să fie activat și configurat corespunzător. Comanda Enable-PSRemoting de obicei se ocupă și de această parte.</a:t>
            </a:r>
          </a:p>
          <a:p>
            <a:r>
              <a:rPr lang="en-US" b="1"/>
              <a:t>Politica de execuție. </a:t>
            </a:r>
            <a:r>
              <a:rPr lang="en-US"/>
              <a:t>Politica de execuție PowerShell trebuie să permită executarea scripturilor. Puteți seta aceasta folosind Set-ExecutionPolicy, de exemplu: Set-ExecutionPolicy RemoteSigned.</a:t>
            </a:r>
          </a:p>
          <a:p>
            <a:r>
              <a:rPr lang="en-US" b="1"/>
              <a:t>Autentificarea. </a:t>
            </a:r>
            <a:r>
              <a:rPr lang="en-US"/>
              <a:t>Pentru a vă conecta la o mașină la distanță, trebuie să utilizați credențiale valide. În cazul unei mașini virtuale, acestea ar putea fi credențialele de administrator ale mașinii virtuale.</a:t>
            </a:r>
          </a:p>
          <a:p>
            <a:r>
              <a:rPr lang="en-US" b="1"/>
              <a:t>Trusted Hosts. </a:t>
            </a:r>
            <a:r>
              <a:rPr lang="en-US"/>
              <a:t>Dacă mașina gazdă și mașina virtuală nu fac parte din același domeniu sau nu sunt pe aceeași rețea de încredere, este posibil să fie necesar să adăugați adresa gazdei la lista de gazde de încredere pe mașina virtuală, folosind Set-Item WSMan:\localhost\Client\TrustedHosts -Value "numele_sau_IP-ul_gazdei".</a:t>
            </a:r>
          </a:p>
          <a:p>
            <a:r>
              <a:rPr lang="en-US" b="1"/>
              <a:t>Credențialele. </a:t>
            </a:r>
            <a:r>
              <a:rPr lang="en-US"/>
              <a:t>Dacă utilizați autentificarea pe bază de username și parolă, asigurați-vă că transmiteți credențialele într-o manieră securizată.</a:t>
            </a:r>
          </a:p>
        </p:txBody>
      </p:sp>
      <p:sp>
        <p:nvSpPr>
          <p:cNvPr id="4" name="Rectangle 3"/>
          <p:cNvSpPr/>
          <p:nvPr/>
        </p:nvSpPr>
        <p:spPr>
          <a:xfrm>
            <a:off x="581192" y="2097598"/>
            <a:ext cx="10932159" cy="584775"/>
          </a:xfrm>
          <a:prstGeom prst="rect">
            <a:avLst/>
          </a:prstGeom>
        </p:spPr>
        <p:txBody>
          <a:bodyPr wrap="square">
            <a:spAutoFit/>
          </a:bodyPr>
          <a:lstStyle/>
          <a:p>
            <a:r>
              <a:rPr lang="en-US" sz="1600">
                <a:solidFill>
                  <a:prstClr val="black"/>
                </a:solidFill>
              </a:rPr>
              <a:t>Pentru a utiliza PSRemoting, care este un feature al PowerShell ce permite administrarea la distanță a mașinilor și executarea de scripturi pe acestea prin sesiuni de PowerShell, trebuie să faceți câteva setări speciale pe mașina virtuală:</a:t>
            </a:r>
          </a:p>
        </p:txBody>
      </p:sp>
    </p:spTree>
    <p:extLst>
      <p:ext uri="{BB962C8B-B14F-4D97-AF65-F5344CB8AC3E}">
        <p14:creationId xmlns:p14="http://schemas.microsoft.com/office/powerpoint/2010/main" val="32580814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65093" y="1033696"/>
            <a:ext cx="10655832" cy="2766528"/>
          </a:xfrm>
        </p:spPr>
        <p:txBody>
          <a:bodyPr>
            <a:normAutofit fontScale="90000"/>
          </a:bodyPr>
          <a:lstStyle/>
          <a:p>
            <a:r>
              <a:rPr lang="it-IT" u="sng" dirty="0"/>
              <a:t>C.5.4</a:t>
            </a:r>
            <a:br>
              <a:rPr lang="it-IT" dirty="0"/>
            </a:br>
            <a:r>
              <a:rPr lang="it-IT" dirty="0"/>
              <a:t>Mostre Malware &amp; protocoale de manipulare</a:t>
            </a:r>
            <a:endParaRPr lang="en-US" dirty="0"/>
          </a:p>
        </p:txBody>
      </p:sp>
      <p:sp>
        <p:nvSpPr>
          <p:cNvPr id="4" name="Rectangle 3"/>
          <p:cNvSpPr/>
          <p:nvPr/>
        </p:nvSpPr>
        <p:spPr>
          <a:xfrm>
            <a:off x="8187923" y="6419685"/>
            <a:ext cx="3958071" cy="369332"/>
          </a:xfrm>
          <a:prstGeom prst="rect">
            <a:avLst/>
          </a:prstGeom>
        </p:spPr>
        <p:txBody>
          <a:bodyPr wrap="none">
            <a:spAutoFit/>
          </a:bodyPr>
          <a:lstStyle/>
          <a:p>
            <a:r>
              <a:rPr lang="en-US">
                <a:solidFill>
                  <a:srgbClr val="629D7D">
                    <a:lumMod val="20000"/>
                    <a:lumOff val="80000"/>
                  </a:srgbClr>
                </a:solidFill>
              </a:rPr>
              <a:t>Academia Tehnică Militară „Ferdinand I”</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21823515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normAutofit/>
          </a:bodyPr>
          <a:lstStyle/>
          <a:p>
            <a:r>
              <a:rPr lang="en-US"/>
              <a:t>Parola de la banca malware</a:t>
            </a:r>
            <a:br>
              <a:rPr lang="en-US"/>
            </a:br>
            <a:r>
              <a:rPr lang="en-US"/>
              <a:t>B</a:t>
            </a:r>
            <a:r>
              <a:rPr lang="en-US" sz="2000"/>
              <a:t>anca</a:t>
            </a:r>
            <a:r>
              <a:rPr lang="en-US"/>
              <a:t>M</a:t>
            </a:r>
            <a:r>
              <a:rPr lang="en-US" sz="1800"/>
              <a:t>alware</a:t>
            </a:r>
            <a:r>
              <a:rPr lang="en-US"/>
              <a:t>.zip (directorul DETONARE)</a:t>
            </a:r>
          </a:p>
        </p:txBody>
      </p:sp>
      <p:sp>
        <p:nvSpPr>
          <p:cNvPr id="3" name="Content Placeholder 2"/>
          <p:cNvSpPr>
            <a:spLocks noGrp="1"/>
          </p:cNvSpPr>
          <p:nvPr>
            <p:ph idx="1"/>
          </p:nvPr>
        </p:nvSpPr>
        <p:spPr>
          <a:xfrm>
            <a:off x="581192" y="2066544"/>
            <a:ext cx="11029615" cy="4602358"/>
          </a:xfrm>
        </p:spPr>
        <p:txBody>
          <a:bodyPr>
            <a:normAutofit/>
          </a:bodyPr>
          <a:lstStyle/>
          <a:p>
            <a:r>
              <a:rPr lang="en-US" sz="4800">
                <a:solidFill>
                  <a:schemeClr val="tx1">
                    <a:lumMod val="50000"/>
                    <a:lumOff val="50000"/>
                  </a:schemeClr>
                </a:solidFill>
              </a:rPr>
              <a:t>DETONARE</a:t>
            </a:r>
          </a:p>
          <a:p>
            <a:r>
              <a:rPr lang="en-US" sz="4800">
                <a:solidFill>
                  <a:schemeClr val="tx1">
                    <a:lumMod val="50000"/>
                    <a:lumOff val="50000"/>
                  </a:schemeClr>
                </a:solidFill>
              </a:rPr>
              <a:t>BancaMalware.zip (parola: infectie)</a:t>
            </a:r>
          </a:p>
        </p:txBody>
      </p:sp>
    </p:spTree>
    <p:extLst>
      <p:ext uri="{BB962C8B-B14F-4D97-AF65-F5344CB8AC3E}">
        <p14:creationId xmlns:p14="http://schemas.microsoft.com/office/powerpoint/2010/main" val="2494585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Sctructura bancii malware</a:t>
            </a:r>
            <a:br>
              <a:rPr lang="en-US"/>
            </a:br>
            <a:r>
              <a:rPr lang="en-US" sz="2000"/>
              <a:t>(detonare – moodle)</a:t>
            </a:r>
          </a:p>
        </p:txBody>
      </p:sp>
      <p:sp>
        <p:nvSpPr>
          <p:cNvPr id="3" name="Content Placeholder 2"/>
          <p:cNvSpPr>
            <a:spLocks noGrp="1"/>
          </p:cNvSpPr>
          <p:nvPr>
            <p:ph idx="1"/>
          </p:nvPr>
        </p:nvSpPr>
        <p:spPr>
          <a:xfrm>
            <a:off x="581192" y="2448720"/>
            <a:ext cx="11029615" cy="3678303"/>
          </a:xfrm>
        </p:spPr>
        <p:txBody>
          <a:bodyPr>
            <a:normAutofit/>
          </a:bodyPr>
          <a:lstStyle/>
          <a:p>
            <a:pPr marL="0" indent="0">
              <a:buNone/>
            </a:pPr>
            <a:r>
              <a:rPr lang="en-US" sz="2400">
                <a:solidFill>
                  <a:schemeClr val="tx1">
                    <a:lumMod val="50000"/>
                    <a:lumOff val="50000"/>
                  </a:schemeClr>
                </a:solidFill>
              </a:rPr>
              <a:t>BancaMalware.zip:</a:t>
            </a:r>
          </a:p>
          <a:p>
            <a:r>
              <a:rPr lang="en-US" sz="2400"/>
              <a:t>Bazar (versiuni mai noi)</a:t>
            </a:r>
          </a:p>
          <a:p>
            <a:r>
              <a:rPr lang="en-US" sz="2400"/>
              <a:t>VIRUSI ANALIZATI (Scut Antivirus)</a:t>
            </a:r>
          </a:p>
          <a:p>
            <a:r>
              <a:rPr lang="en-US" sz="2400"/>
              <a:t>VX (VX Heaven)</a:t>
            </a:r>
          </a:p>
          <a:p>
            <a:r>
              <a:rPr lang="en-US" sz="2400"/>
              <a:t>theZoo-master.zip (colectare variată de probe pentru detonare; </a:t>
            </a:r>
            <a:r>
              <a:rPr lang="en-US" sz="2400" b="1"/>
              <a:t>parola: infected</a:t>
            </a:r>
            <a:r>
              <a:rPr lang="en-US" sz="2400"/>
              <a:t>)</a:t>
            </a:r>
          </a:p>
          <a:p>
            <a:r>
              <a:rPr lang="en-US" sz="2400">
                <a:hlinkClick r:id="rId2"/>
              </a:rPr>
              <a:t>Worm.Win32.Kebede.H@mm</a:t>
            </a:r>
            <a:r>
              <a:rPr lang="en-US" sz="2400"/>
              <a:t> (binary si cod sursa in VB6)</a:t>
            </a:r>
          </a:p>
        </p:txBody>
      </p:sp>
    </p:spTree>
    <p:extLst>
      <p:ext uri="{BB962C8B-B14F-4D97-AF65-F5344CB8AC3E}">
        <p14:creationId xmlns:p14="http://schemas.microsoft.com/office/powerpoint/2010/main" val="469709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Mostre malware</a:t>
            </a:r>
            <a:br>
              <a:rPr lang="en-US"/>
            </a:br>
            <a:r>
              <a:rPr lang="en-US" sz="2000"/>
              <a:t>online – surse de incredere</a:t>
            </a:r>
          </a:p>
        </p:txBody>
      </p:sp>
      <p:graphicFrame>
        <p:nvGraphicFramePr>
          <p:cNvPr id="4" name="Table 3"/>
          <p:cNvGraphicFramePr>
            <a:graphicFrameLocks noGrp="1"/>
          </p:cNvGraphicFramePr>
          <p:nvPr/>
        </p:nvGraphicFramePr>
        <p:xfrm>
          <a:off x="1703832" y="2020698"/>
          <a:ext cx="8391144" cy="4317681"/>
        </p:xfrm>
        <a:graphic>
          <a:graphicData uri="http://schemas.openxmlformats.org/drawingml/2006/table">
            <a:tbl>
              <a:tblPr/>
              <a:tblGrid>
                <a:gridCol w="2797048">
                  <a:extLst>
                    <a:ext uri="{9D8B030D-6E8A-4147-A177-3AD203B41FA5}">
                      <a16:colId xmlns:a16="http://schemas.microsoft.com/office/drawing/2014/main" val="20000"/>
                    </a:ext>
                  </a:extLst>
                </a:gridCol>
                <a:gridCol w="2338832">
                  <a:extLst>
                    <a:ext uri="{9D8B030D-6E8A-4147-A177-3AD203B41FA5}">
                      <a16:colId xmlns:a16="http://schemas.microsoft.com/office/drawing/2014/main" val="20001"/>
                    </a:ext>
                  </a:extLst>
                </a:gridCol>
                <a:gridCol w="3255264">
                  <a:extLst>
                    <a:ext uri="{9D8B030D-6E8A-4147-A177-3AD203B41FA5}">
                      <a16:colId xmlns:a16="http://schemas.microsoft.com/office/drawing/2014/main" val="20002"/>
                    </a:ext>
                  </a:extLst>
                </a:gridCol>
              </a:tblGrid>
              <a:tr h="442086">
                <a:tc>
                  <a:txBody>
                    <a:bodyPr/>
                    <a:lstStyle/>
                    <a:p>
                      <a:r>
                        <a:rPr lang="en-US" sz="1000"/>
                        <a:t>Name</a:t>
                      </a:r>
                    </a:p>
                  </a:txBody>
                  <a:tcPr marL="51192" marR="51192" marT="25596" marB="25596" anchor="ctr">
                    <a:lnL>
                      <a:noFill/>
                    </a:lnL>
                    <a:lnR>
                      <a:noFill/>
                    </a:lnR>
                    <a:lnT>
                      <a:noFill/>
                    </a:lnT>
                    <a:lnB>
                      <a:noFill/>
                    </a:lnB>
                  </a:tcPr>
                </a:tc>
                <a:tc>
                  <a:txBody>
                    <a:bodyPr/>
                    <a:lstStyle/>
                    <a:p>
                      <a:r>
                        <a:rPr lang="en-US" sz="1000"/>
                        <a:t>URL</a:t>
                      </a:r>
                    </a:p>
                  </a:txBody>
                  <a:tcPr marL="51192" marR="51192" marT="25596" marB="25596" anchor="ctr">
                    <a:lnL>
                      <a:noFill/>
                    </a:lnL>
                    <a:lnR>
                      <a:noFill/>
                    </a:lnR>
                    <a:lnT>
                      <a:noFill/>
                    </a:lnT>
                    <a:lnB>
                      <a:noFill/>
                    </a:lnB>
                  </a:tcPr>
                </a:tc>
                <a:tc>
                  <a:txBody>
                    <a:bodyPr/>
                    <a:lstStyle/>
                    <a:p>
                      <a:r>
                        <a:rPr lang="en-US" sz="1000"/>
                        <a:t>Description</a:t>
                      </a:r>
                    </a:p>
                  </a:txBody>
                  <a:tcPr marL="51192" marR="51192" marT="25596" marB="25596" anchor="ctr">
                    <a:lnL>
                      <a:noFill/>
                    </a:lnL>
                    <a:lnR>
                      <a:noFill/>
                    </a:lnR>
                    <a:lnT>
                      <a:noFill/>
                    </a:lnT>
                    <a:lnB>
                      <a:noFill/>
                    </a:lnB>
                  </a:tcPr>
                </a:tc>
                <a:extLst>
                  <a:ext uri="{0D108BD9-81ED-4DB2-BD59-A6C34878D82A}">
                    <a16:rowId xmlns:a16="http://schemas.microsoft.com/office/drawing/2014/main" val="10000"/>
                  </a:ext>
                </a:extLst>
              </a:tr>
              <a:tr h="358345">
                <a:tc>
                  <a:txBody>
                    <a:bodyPr/>
                    <a:lstStyle/>
                    <a:p>
                      <a:r>
                        <a:rPr lang="en-US" sz="1000" b="1">
                          <a:solidFill>
                            <a:schemeClr val="tx1">
                              <a:lumMod val="50000"/>
                              <a:lumOff val="50000"/>
                            </a:schemeClr>
                          </a:solidFill>
                        </a:rPr>
                        <a:t>Virus Samples</a:t>
                      </a:r>
                      <a:endParaRPr lang="en-US" sz="1000">
                        <a:solidFill>
                          <a:schemeClr val="tx1">
                            <a:lumMod val="50000"/>
                            <a:lumOff val="50000"/>
                          </a:schemeClr>
                        </a:solidFill>
                      </a:endParaRPr>
                    </a:p>
                  </a:txBody>
                  <a:tcPr marL="51192" marR="51192" marT="25596" marB="25596" anchor="ctr">
                    <a:lnL>
                      <a:noFill/>
                    </a:lnL>
                    <a:lnR>
                      <a:noFill/>
                    </a:lnR>
                    <a:lnT>
                      <a:noFill/>
                    </a:lnT>
                    <a:lnB>
                      <a:noFill/>
                    </a:lnB>
                  </a:tcPr>
                </a:tc>
                <a:tc>
                  <a:txBody>
                    <a:bodyPr/>
                    <a:lstStyle/>
                    <a:p>
                      <a:r>
                        <a:rPr lang="en-US" sz="1000">
                          <a:hlinkClick r:id="rId2"/>
                        </a:rPr>
                        <a:t>https://virussamples.com</a:t>
                      </a:r>
                      <a:endParaRPr lang="en-US" sz="1000"/>
                    </a:p>
                  </a:txBody>
                  <a:tcPr marL="51192" marR="51192" marT="25596" marB="25596" anchor="ctr">
                    <a:lnL>
                      <a:noFill/>
                    </a:lnL>
                    <a:lnR>
                      <a:noFill/>
                    </a:lnR>
                    <a:lnT>
                      <a:noFill/>
                    </a:lnT>
                    <a:lnB>
                      <a:noFill/>
                    </a:lnB>
                  </a:tcPr>
                </a:tc>
                <a:tc>
                  <a:txBody>
                    <a:bodyPr/>
                    <a:lstStyle/>
                    <a:p>
                      <a:r>
                        <a:rPr lang="en-US" sz="1000">
                          <a:solidFill>
                            <a:schemeClr val="tx1">
                              <a:lumMod val="50000"/>
                              <a:lumOff val="50000"/>
                            </a:schemeClr>
                          </a:solidFill>
                        </a:rPr>
                        <a:t>Fluxuri Enterprise și gratuite disponibile. Arhivă și depozit masiv.</a:t>
                      </a:r>
                    </a:p>
                  </a:txBody>
                  <a:tcPr marL="51192" marR="51192" marT="25596" marB="25596" anchor="ctr">
                    <a:lnL>
                      <a:noFill/>
                    </a:lnL>
                    <a:lnR>
                      <a:noFill/>
                    </a:lnR>
                    <a:lnT>
                      <a:noFill/>
                    </a:lnT>
                    <a:lnB>
                      <a:noFill/>
                    </a:lnB>
                  </a:tcPr>
                </a:tc>
                <a:extLst>
                  <a:ext uri="{0D108BD9-81ED-4DB2-BD59-A6C34878D82A}">
                    <a16:rowId xmlns:a16="http://schemas.microsoft.com/office/drawing/2014/main" val="10001"/>
                  </a:ext>
                </a:extLst>
              </a:tr>
              <a:tr h="358345">
                <a:tc>
                  <a:txBody>
                    <a:bodyPr/>
                    <a:lstStyle/>
                    <a:p>
                      <a:r>
                        <a:rPr lang="en-US" sz="1000" b="1">
                          <a:solidFill>
                            <a:schemeClr val="tx1">
                              <a:lumMod val="50000"/>
                              <a:lumOff val="50000"/>
                            </a:schemeClr>
                          </a:solidFill>
                        </a:rPr>
                        <a:t>VirusShare</a:t>
                      </a:r>
                      <a:endParaRPr lang="en-US" sz="1000">
                        <a:solidFill>
                          <a:schemeClr val="tx1">
                            <a:lumMod val="50000"/>
                            <a:lumOff val="50000"/>
                          </a:schemeClr>
                        </a:solidFill>
                      </a:endParaRPr>
                    </a:p>
                  </a:txBody>
                  <a:tcPr marL="51192" marR="51192" marT="25596" marB="25596" anchor="ctr">
                    <a:lnL>
                      <a:noFill/>
                    </a:lnL>
                    <a:lnR>
                      <a:noFill/>
                    </a:lnR>
                    <a:lnT>
                      <a:noFill/>
                    </a:lnT>
                    <a:lnB>
                      <a:noFill/>
                    </a:lnB>
                  </a:tcPr>
                </a:tc>
                <a:tc>
                  <a:txBody>
                    <a:bodyPr/>
                    <a:lstStyle/>
                    <a:p>
                      <a:r>
                        <a:rPr lang="en-US" sz="1000">
                          <a:hlinkClick r:id="rId3"/>
                        </a:rPr>
                        <a:t>https://virusshare.com/</a:t>
                      </a:r>
                      <a:endParaRPr lang="en-US" sz="1000"/>
                    </a:p>
                  </a:txBody>
                  <a:tcPr marL="51192" marR="51192" marT="25596" marB="25596" anchor="ctr">
                    <a:lnL>
                      <a:noFill/>
                    </a:lnL>
                    <a:lnR>
                      <a:noFill/>
                    </a:lnR>
                    <a:lnT>
                      <a:noFill/>
                    </a:lnT>
                    <a:lnB>
                      <a:noFill/>
                    </a:lnB>
                  </a:tcPr>
                </a:tc>
                <a:tc>
                  <a:txBody>
                    <a:bodyPr/>
                    <a:lstStyle/>
                    <a:p>
                      <a:r>
                        <a:rPr lang="en-US" sz="1000">
                          <a:solidFill>
                            <a:schemeClr val="tx1">
                              <a:lumMod val="50000"/>
                              <a:lumOff val="50000"/>
                            </a:schemeClr>
                          </a:solidFill>
                        </a:rPr>
                        <a:t>VirusShare este un serviciu găzduit și întreținut de </a:t>
                      </a:r>
                      <a:r>
                        <a:rPr lang="en-US" sz="1000" i="1">
                          <a:solidFill>
                            <a:schemeClr val="tx1">
                              <a:lumMod val="50000"/>
                              <a:lumOff val="50000"/>
                            </a:schemeClr>
                          </a:solidFill>
                        </a:rPr>
                        <a:t>Corvus Forensics</a:t>
                      </a:r>
                      <a:r>
                        <a:rPr lang="en-US" sz="1000">
                          <a:solidFill>
                            <a:schemeClr val="tx1">
                              <a:lumMod val="50000"/>
                              <a:lumOff val="50000"/>
                            </a:schemeClr>
                          </a:solidFill>
                        </a:rPr>
                        <a:t>.</a:t>
                      </a:r>
                    </a:p>
                  </a:txBody>
                  <a:tcPr marL="51192" marR="51192" marT="25596" marB="25596" anchor="ctr">
                    <a:lnL>
                      <a:noFill/>
                    </a:lnL>
                    <a:lnR>
                      <a:noFill/>
                    </a:lnR>
                    <a:lnT>
                      <a:noFill/>
                    </a:lnT>
                    <a:lnB>
                      <a:noFill/>
                    </a:lnB>
                  </a:tcPr>
                </a:tc>
                <a:extLst>
                  <a:ext uri="{0D108BD9-81ED-4DB2-BD59-A6C34878D82A}">
                    <a16:rowId xmlns:a16="http://schemas.microsoft.com/office/drawing/2014/main" val="10002"/>
                  </a:ext>
                </a:extLst>
              </a:tr>
              <a:tr h="511922">
                <a:tc>
                  <a:txBody>
                    <a:bodyPr/>
                    <a:lstStyle/>
                    <a:p>
                      <a:r>
                        <a:rPr lang="en-US" sz="1000" b="1">
                          <a:solidFill>
                            <a:schemeClr val="tx1">
                              <a:lumMod val="50000"/>
                              <a:lumOff val="50000"/>
                            </a:schemeClr>
                          </a:solidFill>
                        </a:rPr>
                        <a:t>MalQuarium</a:t>
                      </a:r>
                      <a:endParaRPr lang="en-US" sz="1000">
                        <a:solidFill>
                          <a:schemeClr val="tx1">
                            <a:lumMod val="50000"/>
                            <a:lumOff val="50000"/>
                          </a:schemeClr>
                        </a:solidFill>
                      </a:endParaRPr>
                    </a:p>
                  </a:txBody>
                  <a:tcPr marL="51192" marR="51192" marT="25596" marB="25596" anchor="ctr">
                    <a:lnL>
                      <a:noFill/>
                    </a:lnL>
                    <a:lnR>
                      <a:noFill/>
                    </a:lnR>
                    <a:lnT>
                      <a:noFill/>
                    </a:lnT>
                    <a:lnB>
                      <a:noFill/>
                    </a:lnB>
                  </a:tcPr>
                </a:tc>
                <a:tc>
                  <a:txBody>
                    <a:bodyPr/>
                    <a:lstStyle/>
                    <a:p>
                      <a:r>
                        <a:rPr lang="en-US" sz="1000">
                          <a:hlinkClick r:id="rId4"/>
                        </a:rPr>
                        <a:t>https://malquarium.org/</a:t>
                      </a:r>
                      <a:endParaRPr lang="en-US" sz="1000"/>
                    </a:p>
                  </a:txBody>
                  <a:tcPr marL="51192" marR="51192" marT="25596" marB="25596" anchor="ctr">
                    <a:lnL>
                      <a:noFill/>
                    </a:lnL>
                    <a:lnR>
                      <a:noFill/>
                    </a:lnR>
                    <a:lnT>
                      <a:noFill/>
                    </a:lnT>
                    <a:lnB>
                      <a:noFill/>
                    </a:lnB>
                  </a:tcPr>
                </a:tc>
                <a:tc>
                  <a:txBody>
                    <a:bodyPr/>
                    <a:lstStyle/>
                    <a:p>
                      <a:r>
                        <a:rPr lang="en-US" sz="1000">
                          <a:solidFill>
                            <a:schemeClr val="tx1">
                              <a:lumMod val="50000"/>
                              <a:lumOff val="50000"/>
                            </a:schemeClr>
                          </a:solidFill>
                        </a:rPr>
                        <a:t>Arhivă mică de mostre, în mare parte de la </a:t>
                      </a:r>
                      <a:r>
                        <a:rPr lang="en-US" sz="1000" i="1">
                          <a:solidFill>
                            <a:schemeClr val="tx1">
                              <a:lumMod val="50000"/>
                              <a:lumOff val="50000"/>
                            </a:schemeClr>
                          </a:solidFill>
                        </a:rPr>
                        <a:t>MalShare</a:t>
                      </a:r>
                      <a:r>
                        <a:rPr lang="en-US" sz="1000">
                          <a:solidFill>
                            <a:schemeClr val="tx1">
                              <a:lumMod val="50000"/>
                              <a:lumOff val="50000"/>
                            </a:schemeClr>
                          </a:solidFill>
                        </a:rPr>
                        <a:t> și URLHaus. Depozit de malware bazat pe web.</a:t>
                      </a:r>
                    </a:p>
                  </a:txBody>
                  <a:tcPr marL="51192" marR="51192" marT="25596" marB="25596" anchor="ctr">
                    <a:lnL>
                      <a:noFill/>
                    </a:lnL>
                    <a:lnR>
                      <a:noFill/>
                    </a:lnR>
                    <a:lnT>
                      <a:noFill/>
                    </a:lnT>
                    <a:lnB>
                      <a:noFill/>
                    </a:lnB>
                  </a:tcPr>
                </a:tc>
                <a:extLst>
                  <a:ext uri="{0D108BD9-81ED-4DB2-BD59-A6C34878D82A}">
                    <a16:rowId xmlns:a16="http://schemas.microsoft.com/office/drawing/2014/main" val="10003"/>
                  </a:ext>
                </a:extLst>
              </a:tr>
              <a:tr h="358345">
                <a:tc>
                  <a:txBody>
                    <a:bodyPr/>
                    <a:lstStyle/>
                    <a:p>
                      <a:r>
                        <a:rPr lang="en-US" sz="1000" b="1">
                          <a:solidFill>
                            <a:schemeClr val="tx1">
                              <a:lumMod val="50000"/>
                              <a:lumOff val="50000"/>
                            </a:schemeClr>
                          </a:solidFill>
                        </a:rPr>
                        <a:t>MalShare</a:t>
                      </a:r>
                      <a:endParaRPr lang="en-US" sz="1000">
                        <a:solidFill>
                          <a:schemeClr val="tx1">
                            <a:lumMod val="50000"/>
                            <a:lumOff val="50000"/>
                          </a:schemeClr>
                        </a:solidFill>
                      </a:endParaRPr>
                    </a:p>
                  </a:txBody>
                  <a:tcPr marL="51192" marR="51192" marT="25596" marB="25596" anchor="ctr">
                    <a:lnL>
                      <a:noFill/>
                    </a:lnL>
                    <a:lnR>
                      <a:noFill/>
                    </a:lnR>
                    <a:lnT>
                      <a:noFill/>
                    </a:lnT>
                    <a:lnB>
                      <a:noFill/>
                    </a:lnB>
                  </a:tcPr>
                </a:tc>
                <a:tc>
                  <a:txBody>
                    <a:bodyPr/>
                    <a:lstStyle/>
                    <a:p>
                      <a:r>
                        <a:rPr lang="en-US" sz="1000">
                          <a:hlinkClick r:id="rId5"/>
                        </a:rPr>
                        <a:t>https://malshare.com</a:t>
                      </a:r>
                      <a:endParaRPr lang="en-US" sz="1000"/>
                    </a:p>
                  </a:txBody>
                  <a:tcPr marL="51192" marR="51192" marT="25596" marB="25596" anchor="ctr">
                    <a:lnL>
                      <a:noFill/>
                    </a:lnL>
                    <a:lnR>
                      <a:noFill/>
                    </a:lnR>
                    <a:lnT>
                      <a:noFill/>
                    </a:lnT>
                    <a:lnB>
                      <a:noFill/>
                    </a:lnB>
                  </a:tcPr>
                </a:tc>
                <a:tc>
                  <a:txBody>
                    <a:bodyPr/>
                    <a:lstStyle/>
                    <a:p>
                      <a:r>
                        <a:rPr lang="fr-FR" sz="1000">
                          <a:solidFill>
                            <a:schemeClr val="tx1">
                              <a:lumMod val="50000"/>
                              <a:lumOff val="50000"/>
                            </a:schemeClr>
                          </a:solidFill>
                        </a:rPr>
                        <a:t>Depozit gratuit de programe malware condus de </a:t>
                      </a:r>
                      <a:r>
                        <a:rPr lang="fr-FR" sz="1000" i="1">
                          <a:solidFill>
                            <a:schemeClr val="tx1">
                              <a:lumMod val="50000"/>
                              <a:lumOff val="50000"/>
                            </a:schemeClr>
                          </a:solidFill>
                        </a:rPr>
                        <a:t>Silas Cutler</a:t>
                      </a:r>
                      <a:r>
                        <a:rPr lang="fr-FR" sz="1000">
                          <a:solidFill>
                            <a:schemeClr val="tx1">
                              <a:lumMod val="50000"/>
                              <a:lumOff val="50000"/>
                            </a:schemeClr>
                          </a:solidFill>
                        </a:rPr>
                        <a:t>.</a:t>
                      </a:r>
                      <a:endParaRPr lang="en-US" sz="1000">
                        <a:solidFill>
                          <a:schemeClr val="tx1">
                            <a:lumMod val="50000"/>
                            <a:lumOff val="50000"/>
                          </a:schemeClr>
                        </a:solidFill>
                      </a:endParaRPr>
                    </a:p>
                  </a:txBody>
                  <a:tcPr marL="51192" marR="51192" marT="25596" marB="25596" anchor="ctr">
                    <a:lnL>
                      <a:noFill/>
                    </a:lnL>
                    <a:lnR>
                      <a:noFill/>
                    </a:lnR>
                    <a:lnT>
                      <a:noFill/>
                    </a:lnT>
                    <a:lnB>
                      <a:noFill/>
                    </a:lnB>
                  </a:tcPr>
                </a:tc>
                <a:extLst>
                  <a:ext uri="{0D108BD9-81ED-4DB2-BD59-A6C34878D82A}">
                    <a16:rowId xmlns:a16="http://schemas.microsoft.com/office/drawing/2014/main" val="10004"/>
                  </a:ext>
                </a:extLst>
              </a:tr>
              <a:tr h="511922">
                <a:tc>
                  <a:txBody>
                    <a:bodyPr/>
                    <a:lstStyle/>
                    <a:p>
                      <a:r>
                        <a:rPr lang="en-US" sz="1000" b="1">
                          <a:solidFill>
                            <a:schemeClr val="tx1">
                              <a:lumMod val="50000"/>
                              <a:lumOff val="50000"/>
                            </a:schemeClr>
                          </a:solidFill>
                        </a:rPr>
                        <a:t>Contagio</a:t>
                      </a:r>
                      <a:endParaRPr lang="en-US" sz="1000">
                        <a:solidFill>
                          <a:schemeClr val="tx1">
                            <a:lumMod val="50000"/>
                            <a:lumOff val="50000"/>
                          </a:schemeClr>
                        </a:solidFill>
                      </a:endParaRPr>
                    </a:p>
                  </a:txBody>
                  <a:tcPr marL="51192" marR="51192" marT="25596" marB="25596" anchor="ctr">
                    <a:lnL>
                      <a:noFill/>
                    </a:lnL>
                    <a:lnR>
                      <a:noFill/>
                    </a:lnR>
                    <a:lnT>
                      <a:noFill/>
                    </a:lnT>
                    <a:lnB>
                      <a:noFill/>
                    </a:lnB>
                  </a:tcPr>
                </a:tc>
                <a:tc>
                  <a:txBody>
                    <a:bodyPr/>
                    <a:lstStyle/>
                    <a:p>
                      <a:r>
                        <a:rPr lang="en-US" sz="1000">
                          <a:hlinkClick r:id="rId6"/>
                        </a:rPr>
                        <a:t>http://contagiodump.blogspot.com/</a:t>
                      </a:r>
                      <a:endParaRPr lang="en-US" sz="1000"/>
                    </a:p>
                  </a:txBody>
                  <a:tcPr marL="51192" marR="51192" marT="25596" marB="25596" anchor="ctr">
                    <a:lnL>
                      <a:noFill/>
                    </a:lnL>
                    <a:lnR>
                      <a:noFill/>
                    </a:lnR>
                    <a:lnT>
                      <a:noFill/>
                    </a:lnT>
                    <a:lnB>
                      <a:noFill/>
                    </a:lnB>
                  </a:tcPr>
                </a:tc>
                <a:tc>
                  <a:txBody>
                    <a:bodyPr/>
                    <a:lstStyle/>
                    <a:p>
                      <a:r>
                        <a:rPr lang="en-US" sz="1000">
                          <a:solidFill>
                            <a:schemeClr val="tx1">
                              <a:lumMod val="50000"/>
                              <a:lumOff val="50000"/>
                            </a:schemeClr>
                          </a:solidFill>
                        </a:rPr>
                        <a:t>Blog care este actualizat din când în când cu mostre interesante. Nu o arhivă.</a:t>
                      </a:r>
                    </a:p>
                  </a:txBody>
                  <a:tcPr marL="51192" marR="51192" marT="25596" marB="25596" anchor="ctr">
                    <a:lnL>
                      <a:noFill/>
                    </a:lnL>
                    <a:lnR>
                      <a:noFill/>
                    </a:lnR>
                    <a:lnT>
                      <a:noFill/>
                    </a:lnT>
                    <a:lnB>
                      <a:noFill/>
                    </a:lnB>
                  </a:tcPr>
                </a:tc>
                <a:extLst>
                  <a:ext uri="{0D108BD9-81ED-4DB2-BD59-A6C34878D82A}">
                    <a16:rowId xmlns:a16="http://schemas.microsoft.com/office/drawing/2014/main" val="10005"/>
                  </a:ext>
                </a:extLst>
              </a:tr>
              <a:tr h="437057">
                <a:tc>
                  <a:txBody>
                    <a:bodyPr/>
                    <a:lstStyle/>
                    <a:p>
                      <a:r>
                        <a:rPr lang="en-US" sz="1000" b="1">
                          <a:solidFill>
                            <a:schemeClr val="tx1">
                              <a:lumMod val="50000"/>
                              <a:lumOff val="50000"/>
                            </a:schemeClr>
                          </a:solidFill>
                        </a:rPr>
                        <a:t>PolySwarm</a:t>
                      </a:r>
                      <a:endParaRPr lang="en-US" sz="1000">
                        <a:solidFill>
                          <a:schemeClr val="tx1">
                            <a:lumMod val="50000"/>
                            <a:lumOff val="50000"/>
                          </a:schemeClr>
                        </a:solidFill>
                      </a:endParaRPr>
                    </a:p>
                  </a:txBody>
                  <a:tcPr marL="51192" marR="51192" marT="25596" marB="25596" anchor="ctr">
                    <a:lnL>
                      <a:noFill/>
                    </a:lnL>
                    <a:lnR>
                      <a:noFill/>
                    </a:lnR>
                    <a:lnT>
                      <a:noFill/>
                    </a:lnT>
                    <a:lnB>
                      <a:noFill/>
                    </a:lnB>
                  </a:tcPr>
                </a:tc>
                <a:tc>
                  <a:txBody>
                    <a:bodyPr/>
                    <a:lstStyle/>
                    <a:p>
                      <a:r>
                        <a:rPr lang="en-US" sz="1000">
                          <a:hlinkClick r:id="rId7"/>
                        </a:rPr>
                        <a:t>https://polyswarm.io</a:t>
                      </a:r>
                      <a:endParaRPr lang="en-US" sz="1000"/>
                    </a:p>
                  </a:txBody>
                  <a:tcPr marL="51192" marR="51192" marT="25596" marB="25596" anchor="ctr">
                    <a:lnL>
                      <a:noFill/>
                    </a:lnL>
                    <a:lnR>
                      <a:noFill/>
                    </a:lnR>
                    <a:lnT>
                      <a:noFill/>
                    </a:lnT>
                    <a:lnB>
                      <a:noFill/>
                    </a:lnB>
                  </a:tcPr>
                </a:tc>
                <a:tc>
                  <a:txBody>
                    <a:bodyPr/>
                    <a:lstStyle/>
                    <a:p>
                      <a:r>
                        <a:rPr lang="en-US" sz="1000">
                          <a:solidFill>
                            <a:schemeClr val="tx1">
                              <a:lumMod val="50000"/>
                              <a:lumOff val="50000"/>
                            </a:schemeClr>
                          </a:solidFill>
                        </a:rPr>
                        <a:t>Motor de agregare antivirus bazat pe blockchain care vă permite să descărcați anumite mostre cu înregistrarea.</a:t>
                      </a:r>
                    </a:p>
                  </a:txBody>
                  <a:tcPr marL="51192" marR="51192" marT="25596" marB="25596" anchor="ctr">
                    <a:lnL>
                      <a:noFill/>
                    </a:lnL>
                    <a:lnR>
                      <a:noFill/>
                    </a:lnR>
                    <a:lnT>
                      <a:noFill/>
                    </a:lnT>
                    <a:lnB>
                      <a:noFill/>
                    </a:lnB>
                  </a:tcPr>
                </a:tc>
                <a:extLst>
                  <a:ext uri="{0D108BD9-81ED-4DB2-BD59-A6C34878D82A}">
                    <a16:rowId xmlns:a16="http://schemas.microsoft.com/office/drawing/2014/main" val="10006"/>
                  </a:ext>
                </a:extLst>
              </a:tr>
              <a:tr h="469392">
                <a:tc>
                  <a:txBody>
                    <a:bodyPr/>
                    <a:lstStyle/>
                    <a:p>
                      <a:r>
                        <a:rPr lang="en-US" sz="1000" b="1">
                          <a:solidFill>
                            <a:schemeClr val="tx1">
                              <a:lumMod val="50000"/>
                              <a:lumOff val="50000"/>
                            </a:schemeClr>
                          </a:solidFill>
                        </a:rPr>
                        <a:t>VirusTotal</a:t>
                      </a:r>
                      <a:endParaRPr lang="en-US" sz="1000">
                        <a:solidFill>
                          <a:schemeClr val="tx1">
                            <a:lumMod val="50000"/>
                            <a:lumOff val="50000"/>
                          </a:schemeClr>
                        </a:solidFill>
                      </a:endParaRPr>
                    </a:p>
                  </a:txBody>
                  <a:tcPr marL="51192" marR="51192" marT="25596" marB="25596" anchor="ctr">
                    <a:lnL>
                      <a:noFill/>
                    </a:lnL>
                    <a:lnR>
                      <a:noFill/>
                    </a:lnR>
                    <a:lnT>
                      <a:noFill/>
                    </a:lnT>
                    <a:lnB>
                      <a:noFill/>
                    </a:lnB>
                  </a:tcPr>
                </a:tc>
                <a:tc>
                  <a:txBody>
                    <a:bodyPr/>
                    <a:lstStyle/>
                    <a:p>
                      <a:r>
                        <a:rPr lang="en-US" sz="1000">
                          <a:hlinkClick r:id="rId8"/>
                        </a:rPr>
                        <a:t>https://www.virustotal.com</a:t>
                      </a:r>
                      <a:endParaRPr lang="en-US" sz="1000"/>
                    </a:p>
                  </a:txBody>
                  <a:tcPr marL="51192" marR="51192" marT="25596" marB="25596" anchor="ctr">
                    <a:lnL>
                      <a:noFill/>
                    </a:lnL>
                    <a:lnR>
                      <a:noFill/>
                    </a:lnR>
                    <a:lnT>
                      <a:noFill/>
                    </a:lnT>
                    <a:lnB>
                      <a:noFill/>
                    </a:lnB>
                  </a:tcPr>
                </a:tc>
                <a:tc>
                  <a:txBody>
                    <a:bodyPr/>
                    <a:lstStyle/>
                    <a:p>
                      <a:r>
                        <a:rPr lang="en-US" sz="1000">
                          <a:solidFill>
                            <a:schemeClr val="tx1">
                              <a:lumMod val="50000"/>
                              <a:lumOff val="50000"/>
                            </a:schemeClr>
                          </a:solidFill>
                        </a:rPr>
                        <a:t>Motor de agregare antivirus care vă permite să descărcați anumite mostre cu înregistrarea.</a:t>
                      </a:r>
                    </a:p>
                  </a:txBody>
                  <a:tcPr marL="51192" marR="51192" marT="25596" marB="25596" anchor="ctr">
                    <a:lnL>
                      <a:noFill/>
                    </a:lnL>
                    <a:lnR>
                      <a:noFill/>
                    </a:lnR>
                    <a:lnT>
                      <a:noFill/>
                    </a:lnT>
                    <a:lnB>
                      <a:noFill/>
                    </a:lnB>
                  </a:tcPr>
                </a:tc>
                <a:extLst>
                  <a:ext uri="{0D108BD9-81ED-4DB2-BD59-A6C34878D82A}">
                    <a16:rowId xmlns:a16="http://schemas.microsoft.com/office/drawing/2014/main" val="10007"/>
                  </a:ext>
                </a:extLst>
              </a:tr>
              <a:tr h="358345">
                <a:tc>
                  <a:txBody>
                    <a:bodyPr/>
                    <a:lstStyle/>
                    <a:p>
                      <a:r>
                        <a:rPr lang="en-US" sz="1000" b="1">
                          <a:solidFill>
                            <a:schemeClr val="tx1">
                              <a:lumMod val="50000"/>
                              <a:lumOff val="50000"/>
                            </a:schemeClr>
                          </a:solidFill>
                        </a:rPr>
                        <a:t>VirusBay</a:t>
                      </a:r>
                      <a:endParaRPr lang="en-US" sz="1000">
                        <a:solidFill>
                          <a:schemeClr val="tx1">
                            <a:lumMod val="50000"/>
                            <a:lumOff val="50000"/>
                          </a:schemeClr>
                        </a:solidFill>
                      </a:endParaRPr>
                    </a:p>
                  </a:txBody>
                  <a:tcPr marL="51192" marR="51192" marT="25596" marB="25596" anchor="ctr">
                    <a:lnL>
                      <a:noFill/>
                    </a:lnL>
                    <a:lnR>
                      <a:noFill/>
                    </a:lnR>
                    <a:lnT>
                      <a:noFill/>
                    </a:lnT>
                    <a:lnB>
                      <a:noFill/>
                    </a:lnB>
                  </a:tcPr>
                </a:tc>
                <a:tc>
                  <a:txBody>
                    <a:bodyPr/>
                    <a:lstStyle/>
                    <a:p>
                      <a:r>
                        <a:rPr lang="en-US" sz="1000">
                          <a:hlinkClick r:id="rId9"/>
                        </a:rPr>
                        <a:t>https://beta.virusbay.io/</a:t>
                      </a:r>
                      <a:endParaRPr lang="en-US" sz="1000"/>
                    </a:p>
                  </a:txBody>
                  <a:tcPr marL="51192" marR="51192" marT="25596" marB="25596" anchor="ctr">
                    <a:lnL>
                      <a:noFill/>
                    </a:lnL>
                    <a:lnR>
                      <a:noFill/>
                    </a:lnR>
                    <a:lnT>
                      <a:noFill/>
                    </a:lnT>
                    <a:lnB>
                      <a:noFill/>
                    </a:lnB>
                  </a:tcPr>
                </a:tc>
                <a:tc>
                  <a:txBody>
                    <a:bodyPr/>
                    <a:lstStyle/>
                    <a:p>
                      <a:r>
                        <a:rPr lang="en-US" sz="1000">
                          <a:solidFill>
                            <a:schemeClr val="tx1">
                              <a:lumMod val="50000"/>
                              <a:lumOff val="50000"/>
                            </a:schemeClr>
                          </a:solidFill>
                        </a:rPr>
                        <a:t>O comunitate mică conduce colecția de programe malware.</a:t>
                      </a:r>
                    </a:p>
                  </a:txBody>
                  <a:tcPr marL="51192" marR="51192" marT="25596" marB="25596" anchor="ctr">
                    <a:lnL>
                      <a:noFill/>
                    </a:lnL>
                    <a:lnR>
                      <a:noFill/>
                    </a:lnR>
                    <a:lnT>
                      <a:noFill/>
                    </a:lnT>
                    <a:lnB>
                      <a:noFill/>
                    </a:lnB>
                  </a:tcPr>
                </a:tc>
                <a:extLst>
                  <a:ext uri="{0D108BD9-81ED-4DB2-BD59-A6C34878D82A}">
                    <a16:rowId xmlns:a16="http://schemas.microsoft.com/office/drawing/2014/main" val="10008"/>
                  </a:ext>
                </a:extLst>
              </a:tr>
              <a:tr h="511922">
                <a:tc>
                  <a:txBody>
                    <a:bodyPr/>
                    <a:lstStyle/>
                    <a:p>
                      <a:r>
                        <a:rPr lang="en-US" sz="1000" b="1">
                          <a:solidFill>
                            <a:schemeClr val="tx1">
                              <a:lumMod val="50000"/>
                              <a:lumOff val="50000"/>
                            </a:schemeClr>
                          </a:solidFill>
                        </a:rPr>
                        <a:t>VirusSign</a:t>
                      </a:r>
                      <a:endParaRPr lang="en-US" sz="1000">
                        <a:solidFill>
                          <a:schemeClr val="tx1">
                            <a:lumMod val="50000"/>
                            <a:lumOff val="50000"/>
                          </a:schemeClr>
                        </a:solidFill>
                      </a:endParaRPr>
                    </a:p>
                  </a:txBody>
                  <a:tcPr marL="51192" marR="51192" marT="25596" marB="25596" anchor="ctr">
                    <a:lnL>
                      <a:noFill/>
                    </a:lnL>
                    <a:lnR>
                      <a:noFill/>
                    </a:lnR>
                    <a:lnT>
                      <a:noFill/>
                    </a:lnT>
                    <a:lnB>
                      <a:noFill/>
                    </a:lnB>
                  </a:tcPr>
                </a:tc>
                <a:tc>
                  <a:txBody>
                    <a:bodyPr/>
                    <a:lstStyle/>
                    <a:p>
                      <a:r>
                        <a:rPr lang="en-US" sz="1000">
                          <a:hlinkClick r:id="rId10"/>
                        </a:rPr>
                        <a:t>https://virussign.com</a:t>
                      </a:r>
                      <a:endParaRPr lang="en-US" sz="1000"/>
                    </a:p>
                  </a:txBody>
                  <a:tcPr marL="51192" marR="51192" marT="25596" marB="25596" anchor="ctr">
                    <a:lnL>
                      <a:noFill/>
                    </a:lnL>
                    <a:lnR>
                      <a:noFill/>
                    </a:lnR>
                    <a:lnT>
                      <a:noFill/>
                    </a:lnT>
                    <a:lnB>
                      <a:noFill/>
                    </a:lnB>
                  </a:tcPr>
                </a:tc>
                <a:tc>
                  <a:txBody>
                    <a:bodyPr/>
                    <a:lstStyle/>
                    <a:p>
                      <a:r>
                        <a:rPr lang="en-US" sz="1000">
                          <a:solidFill>
                            <a:schemeClr val="tx1">
                              <a:lumMod val="50000"/>
                              <a:lumOff val="50000"/>
                            </a:schemeClr>
                          </a:solidFill>
                        </a:rPr>
                        <a:t>VirusSign oferă o colecție de mostre de malware de înaltă calitate, în diferite categorii. 500/zi sunt gratuite.</a:t>
                      </a:r>
                    </a:p>
                  </a:txBody>
                  <a:tcPr marL="51192" marR="51192" marT="25596" marB="25596" anchor="ctr">
                    <a:lnL>
                      <a:noFill/>
                    </a:lnL>
                    <a:lnR>
                      <a:noFill/>
                    </a:lnR>
                    <a:lnT>
                      <a:noFill/>
                    </a:lnT>
                    <a:lnB>
                      <a:noFill/>
                    </a:lnB>
                  </a:tcPr>
                </a:tc>
                <a:extLst>
                  <a:ext uri="{0D108BD9-81ED-4DB2-BD59-A6C34878D82A}">
                    <a16:rowId xmlns:a16="http://schemas.microsoft.com/office/drawing/2014/main" val="10009"/>
                  </a:ext>
                </a:extLst>
              </a:tr>
            </a:tbl>
          </a:graphicData>
        </a:graphic>
      </p:graphicFrame>
      <p:sp>
        <p:nvSpPr>
          <p:cNvPr id="6" name="Rectangle 5"/>
          <p:cNvSpPr/>
          <p:nvPr/>
        </p:nvSpPr>
        <p:spPr>
          <a:xfrm>
            <a:off x="0" y="2389632"/>
            <a:ext cx="12192000" cy="48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ectangle 6"/>
          <p:cNvSpPr/>
          <p:nvPr/>
        </p:nvSpPr>
        <p:spPr>
          <a:xfrm>
            <a:off x="0" y="6291072"/>
            <a:ext cx="12192000" cy="48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22724396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t>Etica în Ingineria Inversă </a:t>
            </a:r>
            <a:br>
              <a:rPr lang="en-US"/>
            </a:br>
            <a:r>
              <a:rPr sz="2000"/>
              <a:t>în Context Militar</a:t>
            </a:r>
          </a:p>
        </p:txBody>
      </p:sp>
      <p:sp>
        <p:nvSpPr>
          <p:cNvPr id="3" name="Content Placeholder 2"/>
          <p:cNvSpPr>
            <a:spLocks noGrp="1"/>
          </p:cNvSpPr>
          <p:nvPr>
            <p:ph idx="1"/>
          </p:nvPr>
        </p:nvSpPr>
        <p:spPr>
          <a:xfrm>
            <a:off x="581193" y="2180496"/>
            <a:ext cx="9910024" cy="4220304"/>
          </a:xfrm>
        </p:spPr>
        <p:txBody>
          <a:bodyPr>
            <a:normAutofit/>
          </a:bodyPr>
          <a:lstStyle/>
          <a:p>
            <a:pPr marL="0" indent="0">
              <a:buNone/>
            </a:pPr>
            <a:r>
              <a:rPr b="1" u="sng">
                <a:solidFill>
                  <a:schemeClr val="tx1">
                    <a:lumMod val="50000"/>
                    <a:lumOff val="50000"/>
                  </a:schemeClr>
                </a:solidFill>
              </a:rPr>
              <a:t>Definirea Ingineriei Inverse</a:t>
            </a:r>
          </a:p>
          <a:p>
            <a:r>
              <a:rPr>
                <a:solidFill>
                  <a:schemeClr val="tx1">
                    <a:lumMod val="50000"/>
                    <a:lumOff val="50000"/>
                  </a:schemeClr>
                </a:solidFill>
              </a:rPr>
              <a:t>Procesul de analiză a software-ului sau hardware-ului pentru a determina designul, funcționarea și potențialul de exploatare.</a:t>
            </a:r>
            <a:endParaRPr lang="en-US">
              <a:solidFill>
                <a:schemeClr val="tx1">
                  <a:lumMod val="50000"/>
                  <a:lumOff val="50000"/>
                </a:schemeClr>
              </a:solidFill>
            </a:endParaRPr>
          </a:p>
          <a:p>
            <a:endParaRPr>
              <a:solidFill>
                <a:schemeClr val="tx1">
                  <a:lumMod val="50000"/>
                  <a:lumOff val="50000"/>
                </a:schemeClr>
              </a:solidFill>
            </a:endParaRPr>
          </a:p>
          <a:p>
            <a:pPr marL="0" indent="0">
              <a:buNone/>
            </a:pPr>
            <a:r>
              <a:rPr b="1" u="sng">
                <a:solidFill>
                  <a:schemeClr val="tx1">
                    <a:lumMod val="50000"/>
                    <a:lumOff val="50000"/>
                  </a:schemeClr>
                </a:solidFill>
              </a:rPr>
              <a:t>Utilizare în Context Militar</a:t>
            </a:r>
          </a:p>
          <a:p>
            <a:r>
              <a:rPr>
                <a:solidFill>
                  <a:schemeClr val="tx1">
                    <a:lumMod val="50000"/>
                    <a:lumOff val="50000"/>
                  </a:schemeClr>
                </a:solidFill>
              </a:rPr>
              <a:t>Ingineria inversă este utilizată pentru a înțelege și contracara tehnologiile adversarilor.</a:t>
            </a:r>
            <a:endParaRPr lang="en-US">
              <a:solidFill>
                <a:schemeClr val="tx1">
                  <a:lumMod val="50000"/>
                  <a:lumOff val="50000"/>
                </a:schemeClr>
              </a:solidFill>
            </a:endParaRPr>
          </a:p>
          <a:p>
            <a:endParaRPr>
              <a:solidFill>
                <a:schemeClr val="tx1">
                  <a:lumMod val="50000"/>
                  <a:lumOff val="50000"/>
                </a:schemeClr>
              </a:solidFill>
            </a:endParaRPr>
          </a:p>
          <a:p>
            <a:pPr marL="0" indent="0">
              <a:buNone/>
            </a:pPr>
            <a:r>
              <a:rPr b="1" u="sng">
                <a:solidFill>
                  <a:schemeClr val="tx1">
                    <a:lumMod val="50000"/>
                    <a:lumOff val="50000"/>
                  </a:schemeClr>
                </a:solidFill>
              </a:rPr>
              <a:t>Considerații Etice</a:t>
            </a:r>
          </a:p>
          <a:p>
            <a:r>
              <a:rPr>
                <a:solidFill>
                  <a:schemeClr val="tx1">
                    <a:lumMod val="50000"/>
                    <a:lumOff val="50000"/>
                  </a:schemeClr>
                </a:solidFill>
              </a:rPr>
              <a:t>Responsabilitate, Legalitate, Confidențialitate.</a:t>
            </a:r>
          </a:p>
          <a:p>
            <a:r>
              <a:rPr>
                <a:solidFill>
                  <a:schemeClr val="tx1">
                    <a:lumMod val="50000"/>
                    <a:lumOff val="50000"/>
                  </a:schemeClr>
                </a:solidFill>
              </a:rPr>
              <a:t>Echilibrul între necesitățile strategice și etica profesională este esențial.</a:t>
            </a:r>
          </a:p>
        </p:txBody>
      </p:sp>
    </p:spTree>
    <p:extLst>
      <p:ext uri="{BB962C8B-B14F-4D97-AF65-F5344CB8AC3E}">
        <p14:creationId xmlns:p14="http://schemas.microsoft.com/office/powerpoint/2010/main" val="24884793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t>Probleme Etice </a:t>
            </a:r>
            <a:br>
              <a:rPr lang="en-US"/>
            </a:br>
            <a:r>
              <a:rPr sz="2000"/>
              <a:t>în Crearea și Utilizarea Malware-ului</a:t>
            </a:r>
          </a:p>
        </p:txBody>
      </p:sp>
      <p:sp>
        <p:nvSpPr>
          <p:cNvPr id="3" name="Content Placeholder 2"/>
          <p:cNvSpPr>
            <a:spLocks noGrp="1"/>
          </p:cNvSpPr>
          <p:nvPr>
            <p:ph idx="1"/>
          </p:nvPr>
        </p:nvSpPr>
        <p:spPr>
          <a:xfrm>
            <a:off x="581192" y="2089056"/>
            <a:ext cx="11029615" cy="4269072"/>
          </a:xfrm>
        </p:spPr>
        <p:txBody>
          <a:bodyPr>
            <a:normAutofit/>
          </a:bodyPr>
          <a:lstStyle/>
          <a:p>
            <a:pPr marL="0" indent="0">
              <a:buNone/>
            </a:pPr>
            <a:r>
              <a:rPr b="1" u="sng">
                <a:solidFill>
                  <a:schemeClr val="tx1">
                    <a:lumMod val="50000"/>
                    <a:lumOff val="50000"/>
                  </a:schemeClr>
                </a:solidFill>
              </a:rPr>
              <a:t>Definirea Malware-ului</a:t>
            </a:r>
          </a:p>
          <a:p>
            <a:r>
              <a:rPr>
                <a:solidFill>
                  <a:schemeClr val="tx1">
                    <a:lumMod val="50000"/>
                    <a:lumOff val="50000"/>
                  </a:schemeClr>
                </a:solidFill>
              </a:rPr>
              <a:t>Software creat pentru a dăuna sau a exploata sisteme informatice.</a:t>
            </a:r>
            <a:endParaRPr lang="en-US">
              <a:solidFill>
                <a:schemeClr val="tx1">
                  <a:lumMod val="50000"/>
                  <a:lumOff val="50000"/>
                </a:schemeClr>
              </a:solidFill>
            </a:endParaRPr>
          </a:p>
          <a:p>
            <a:endParaRPr>
              <a:solidFill>
                <a:schemeClr val="tx1">
                  <a:lumMod val="50000"/>
                  <a:lumOff val="50000"/>
                </a:schemeClr>
              </a:solidFill>
            </a:endParaRPr>
          </a:p>
          <a:p>
            <a:pPr marL="0" indent="0">
              <a:buNone/>
            </a:pPr>
            <a:r>
              <a:rPr b="1" u="sng">
                <a:solidFill>
                  <a:schemeClr val="tx1">
                    <a:lumMod val="50000"/>
                    <a:lumOff val="50000"/>
                  </a:schemeClr>
                </a:solidFill>
              </a:rPr>
              <a:t>Utilizare în Scopuri Militare și de Securitate</a:t>
            </a:r>
          </a:p>
          <a:p>
            <a:r>
              <a:rPr>
                <a:solidFill>
                  <a:schemeClr val="tx1">
                    <a:lumMod val="50000"/>
                    <a:lumOff val="50000"/>
                  </a:schemeClr>
                </a:solidFill>
              </a:rPr>
              <a:t>Dezvoltarea și utilizarea malware-ului pentru operațiuni de cyber-război.</a:t>
            </a:r>
            <a:endParaRPr lang="en-US">
              <a:solidFill>
                <a:schemeClr val="tx1">
                  <a:lumMod val="50000"/>
                  <a:lumOff val="50000"/>
                </a:schemeClr>
              </a:solidFill>
            </a:endParaRPr>
          </a:p>
          <a:p>
            <a:endParaRPr>
              <a:solidFill>
                <a:schemeClr val="tx1">
                  <a:lumMod val="50000"/>
                  <a:lumOff val="50000"/>
                </a:schemeClr>
              </a:solidFill>
            </a:endParaRPr>
          </a:p>
          <a:p>
            <a:pPr marL="0" indent="0">
              <a:buNone/>
            </a:pPr>
            <a:r>
              <a:rPr b="1" u="sng">
                <a:solidFill>
                  <a:schemeClr val="tx1">
                    <a:lumMod val="50000"/>
                    <a:lumOff val="50000"/>
                  </a:schemeClr>
                </a:solidFill>
              </a:rPr>
              <a:t>Considerații Etice</a:t>
            </a:r>
          </a:p>
          <a:p>
            <a:r>
              <a:rPr>
                <a:solidFill>
                  <a:schemeClr val="tx1">
                    <a:lumMod val="50000"/>
                    <a:lumOff val="50000"/>
                  </a:schemeClr>
                </a:solidFill>
              </a:rPr>
              <a:t>Intenție, Impact asupra Civililor, Consecințe pe Termen Lung.</a:t>
            </a:r>
          </a:p>
          <a:p>
            <a:r>
              <a:rPr>
                <a:solidFill>
                  <a:schemeClr val="tx1">
                    <a:lumMod val="50000"/>
                    <a:lumOff val="50000"/>
                  </a:schemeClr>
                </a:solidFill>
              </a:rPr>
              <a:t>Crearea și utilizarea malware-ului ridică întrebări etice profunde, necesitând principii etice solide.</a:t>
            </a:r>
          </a:p>
        </p:txBody>
      </p:sp>
    </p:spTree>
    <p:extLst>
      <p:ext uri="{BB962C8B-B14F-4D97-AF65-F5344CB8AC3E}">
        <p14:creationId xmlns:p14="http://schemas.microsoft.com/office/powerpoint/2010/main" val="21690388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Moodle:</a:t>
            </a:r>
            <a:br>
              <a:rPr lang="en-US"/>
            </a:br>
            <a:r>
              <a:rPr lang="en-US"/>
              <a:t>DETONARE</a:t>
            </a:r>
          </a:p>
        </p:txBody>
      </p:sp>
      <p:sp>
        <p:nvSpPr>
          <p:cNvPr id="3" name="Content Placeholder 2"/>
          <p:cNvSpPr>
            <a:spLocks noGrp="1"/>
          </p:cNvSpPr>
          <p:nvPr>
            <p:ph idx="1"/>
          </p:nvPr>
        </p:nvSpPr>
        <p:spPr>
          <a:xfrm>
            <a:off x="581192" y="2430432"/>
            <a:ext cx="11029615" cy="3678303"/>
          </a:xfrm>
        </p:spPr>
        <p:txBody>
          <a:bodyPr>
            <a:normAutofit fontScale="85000" lnSpcReduction="10000"/>
          </a:bodyPr>
          <a:lstStyle/>
          <a:p>
            <a:r>
              <a:rPr lang="en-US"/>
              <a:t>Directorul denumit "DETONARE" este conceput ca o resursă educațională pentru studiul și analiza malware. În interiorul acestui director se găsesc mostre de malware de diverse tipuri, organizate cu scopul de a oferi studenților din domeniul securității cibernetice accesul la exemple reale de software malițios pentru analiză și învățare. Aceste mostre pot include, dar nu sunt limitate la, troieni, viruși, viermi (se poate folosi și termenul de "wormi"), ransomware, spyware și adware, fiecare reprezentând diferite tehnici și metode utilizate de atacatori pentru a compromite sistemele informatice. </a:t>
            </a:r>
          </a:p>
          <a:p>
            <a:r>
              <a:rPr lang="en-US"/>
              <a:t>Directorul este structurat într-un mod care facilitează navigarea și selecția specifică a tipurilor de malware pentru studiu. Fiecare mostră este încapsulată într-un mod care previne declanșarea accidentală sau răspândirea malware-ului în rețeaua utilizatorului, asigurând un mediu sigur pentru analiză. </a:t>
            </a:r>
          </a:p>
          <a:p>
            <a:r>
              <a:rPr lang="en-US"/>
              <a:t>De obicei, aceste mostre sunt însoțite de documentație sau descrieri care detaliază comportamentul lor, tehnicile de evaziune detectate și impactul potențial asupra sistemelor infectate. </a:t>
            </a:r>
          </a:p>
          <a:p>
            <a:r>
              <a:rPr lang="en-US"/>
              <a:t>Utilizarea acestui director presupune o înțelegere solidă a măsurilor de precauție în manipularea malware-ului, inclusiv utilizarea unor medii izolate, cum ar fi mașinile virtuale, și instrumente de securitate dedicate pentru a preveni infectarea accidentală și minimizarea riscurilor. Scopul directorului "DETONARE" este de a îmbunătăți competențele practice ale celor interesați de securitatea cibernetică prin experiența directă cu amenințările reale, permițându-le să înțeleagă mai bine strategiile și tehnicile folosite de atacatori și să dezvolte strategii eficiente de apărare și răspuns la incidente.</a:t>
            </a:r>
          </a:p>
        </p:txBody>
      </p:sp>
      <p:sp>
        <p:nvSpPr>
          <p:cNvPr id="5" name="Rectangle 4"/>
          <p:cNvSpPr/>
          <p:nvPr/>
        </p:nvSpPr>
        <p:spPr>
          <a:xfrm>
            <a:off x="694944" y="1213104"/>
            <a:ext cx="7053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96696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a:extLst>
              <a:ext uri="{FF2B5EF4-FFF2-40B4-BE49-F238E27FC236}">
                <a16:creationId xmlns:a16="http://schemas.microsoft.com/office/drawing/2014/main" id="{0E630D7A-1C57-41B2-BED9-AED392286007}"/>
              </a:ext>
            </a:extLst>
          </p:cNvPr>
          <p:cNvSpPr>
            <a:spLocks noGrp="1"/>
          </p:cNvSpPr>
          <p:nvPr>
            <p:ph type="title"/>
          </p:nvPr>
        </p:nvSpPr>
        <p:spPr/>
        <p:txBody>
          <a:bodyPr/>
          <a:lstStyle/>
          <a:p>
            <a:r>
              <a:rPr lang="en-US"/>
              <a:t>Manipularea Sigură a Fișierelor Malware</a:t>
            </a:r>
          </a:p>
        </p:txBody>
      </p:sp>
      <p:sp>
        <p:nvSpPr>
          <p:cNvPr id="3" name="Content Placeholder 2">
            <a:extLst>
              <a:ext uri="{FF2B5EF4-FFF2-40B4-BE49-F238E27FC236}">
                <a16:creationId xmlns:a16="http://schemas.microsoft.com/office/drawing/2014/main" id="{8D3C6E5F-3002-4407-A4DC-F95448F5E2ED}"/>
              </a:ext>
            </a:extLst>
          </p:cNvPr>
          <p:cNvSpPr>
            <a:spLocks noGrp="1"/>
          </p:cNvSpPr>
          <p:nvPr>
            <p:ph idx="1"/>
          </p:nvPr>
        </p:nvSpPr>
        <p:spPr>
          <a:xfrm>
            <a:off x="581192" y="2345088"/>
            <a:ext cx="11029615" cy="4238592"/>
          </a:xfrm>
        </p:spPr>
        <p:txBody>
          <a:bodyPr>
            <a:normAutofit/>
          </a:bodyPr>
          <a:lstStyle/>
          <a:p>
            <a:r>
              <a:rPr lang="en-US" b="1" i="0" u="sng">
                <a:solidFill>
                  <a:schemeClr val="tx1">
                    <a:lumMod val="50000"/>
                    <a:lumOff val="50000"/>
                  </a:schemeClr>
                </a:solidFill>
                <a:effectLst/>
                <a:latin typeface="Söhne"/>
              </a:rPr>
              <a:t>Importanța Precauției</a:t>
            </a:r>
            <a:endParaRPr lang="en-US" b="0" i="0" u="sng" dirty="0">
              <a:solidFill>
                <a:schemeClr val="tx1">
                  <a:lumMod val="50000"/>
                  <a:lumOff val="50000"/>
                </a:schemeClr>
              </a:solidFill>
              <a:effectLst/>
              <a:latin typeface="Söhne"/>
            </a:endParaRPr>
          </a:p>
          <a:p>
            <a:pPr lvl="1"/>
            <a:r>
              <a:rPr lang="en-US" b="0" i="0" dirty="0" err="1">
                <a:solidFill>
                  <a:schemeClr val="tx1">
                    <a:lumMod val="50000"/>
                    <a:lumOff val="50000"/>
                  </a:schemeClr>
                </a:solidFill>
                <a:effectLst/>
                <a:latin typeface="Söhne"/>
              </a:rPr>
              <a:t>Manipularea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fișierelor</a:t>
            </a:r>
            <a:r>
              <a:rPr lang="en-US" b="0" i="0" dirty="0">
                <a:solidFill>
                  <a:schemeClr val="tx1">
                    <a:lumMod val="50000"/>
                    <a:lumOff val="50000"/>
                  </a:schemeClr>
                </a:solidFill>
                <a:effectLst/>
                <a:latin typeface="Söhne"/>
              </a:rPr>
              <a:t> malware </a:t>
            </a:r>
            <a:r>
              <a:rPr lang="en-US" b="0" i="0" dirty="0" err="1">
                <a:solidFill>
                  <a:schemeClr val="tx1">
                    <a:lumMod val="50000"/>
                    <a:lumOff val="50000"/>
                  </a:schemeClr>
                </a:solidFill>
                <a:effectLst/>
                <a:latin typeface="Söhne"/>
              </a:rPr>
              <a:t>necesită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precauții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stricte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pentru</a:t>
            </a:r>
            <a:r>
              <a:rPr lang="en-US" b="0" i="0" dirty="0">
                <a:solidFill>
                  <a:schemeClr val="tx1">
                    <a:lumMod val="50000"/>
                    <a:lumOff val="50000"/>
                  </a:schemeClr>
                </a:solidFill>
                <a:effectLst/>
                <a:latin typeface="Söhne"/>
              </a:rPr>
              <a:t> a </a:t>
            </a:r>
            <a:r>
              <a:rPr lang="en-US" b="0" i="0" dirty="0" err="1">
                <a:solidFill>
                  <a:schemeClr val="tx1">
                    <a:lumMod val="50000"/>
                    <a:lumOff val="50000"/>
                  </a:schemeClr>
                </a:solidFill>
                <a:effectLst/>
                <a:latin typeface="Söhne"/>
              </a:rPr>
              <a:t>preveni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infectarea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accidentală</a:t>
            </a:r>
            <a:r>
              <a:rPr lang="en-US" b="0" i="0" dirty="0">
                <a:solidFill>
                  <a:schemeClr val="tx1">
                    <a:lumMod val="50000"/>
                    <a:lumOff val="50000"/>
                  </a:schemeClr>
                </a:solidFill>
                <a:effectLst/>
                <a:latin typeface="Söhne"/>
              </a:rPr>
              <a:t> a </a:t>
            </a:r>
            <a:r>
              <a:rPr lang="en-US" b="0" i="0" dirty="0" err="1">
                <a:solidFill>
                  <a:schemeClr val="tx1">
                    <a:lumMod val="50000"/>
                    <a:lumOff val="50000"/>
                  </a:schemeClr>
                </a:solidFill>
                <a:effectLst/>
                <a:latin typeface="Söhne"/>
              </a:rPr>
              <a:t>sistemului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gazdă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sau</a:t>
            </a:r>
            <a:r>
              <a:rPr lang="en-US" b="0" i="0" dirty="0">
                <a:solidFill>
                  <a:schemeClr val="tx1">
                    <a:lumMod val="50000"/>
                    <a:lumOff val="50000"/>
                  </a:schemeClr>
                </a:solidFill>
                <a:effectLst/>
                <a:latin typeface="Söhne"/>
              </a:rPr>
              <a:t> a </a:t>
            </a:r>
            <a:r>
              <a:rPr lang="en-US" b="0" i="0" dirty="0" err="1">
                <a:solidFill>
                  <a:schemeClr val="tx1">
                    <a:lumMod val="50000"/>
                    <a:lumOff val="50000"/>
                  </a:schemeClr>
                </a:solidFill>
                <a:effectLst/>
                <a:latin typeface="Söhne"/>
              </a:rPr>
              <a:t>rețelei</a:t>
            </a:r>
            <a:r>
              <a:rPr lang="en-US" b="0" i="0" dirty="0">
                <a:solidFill>
                  <a:schemeClr val="tx1">
                    <a:lumMod val="50000"/>
                    <a:lumOff val="50000"/>
                  </a:schemeClr>
                </a:solidFill>
                <a:effectLst/>
                <a:latin typeface="Söhne"/>
              </a:rPr>
              <a:t>.</a:t>
            </a:r>
          </a:p>
          <a:p>
            <a:r>
              <a:rPr lang="en-US" b="1" i="0" u="sng" dirty="0" err="1">
                <a:solidFill>
                  <a:schemeClr val="tx1">
                    <a:lumMod val="50000"/>
                    <a:lumOff val="50000"/>
                  </a:schemeClr>
                </a:solidFill>
                <a:effectLst/>
                <a:latin typeface="Söhne"/>
              </a:rPr>
              <a:t>Schimbarea</a:t>
            </a:r>
            <a:r>
              <a:rPr lang="en-US" b="1" i="0" u="sng" dirty="0">
                <a:solidFill>
                  <a:schemeClr val="tx1">
                    <a:lumMod val="50000"/>
                    <a:lumOff val="50000"/>
                  </a:schemeClr>
                </a:solidFill>
                <a:effectLst/>
                <a:latin typeface="Söhne"/>
              </a:rPr>
              <a:t> </a:t>
            </a:r>
            <a:r>
              <a:rPr lang="en-US" b="1" i="0" u="sng" err="1">
                <a:solidFill>
                  <a:schemeClr val="tx1">
                    <a:lumMod val="50000"/>
                    <a:lumOff val="50000"/>
                  </a:schemeClr>
                </a:solidFill>
                <a:effectLst/>
                <a:latin typeface="Söhne"/>
              </a:rPr>
              <a:t>Extensiei</a:t>
            </a:r>
            <a:r>
              <a:rPr lang="en-US" b="1" i="0" u="sng">
                <a:solidFill>
                  <a:schemeClr val="tx1">
                    <a:lumMod val="50000"/>
                    <a:lumOff val="50000"/>
                  </a:schemeClr>
                </a:solidFill>
                <a:effectLst/>
                <a:latin typeface="Söhne"/>
              </a:rPr>
              <a:t> Fișierelor</a:t>
            </a:r>
            <a:endParaRPr lang="en-US" b="0" i="0" u="sng" dirty="0">
              <a:solidFill>
                <a:schemeClr val="tx1">
                  <a:lumMod val="50000"/>
                  <a:lumOff val="50000"/>
                </a:schemeClr>
              </a:solidFill>
              <a:effectLst/>
              <a:latin typeface="Söhne"/>
            </a:endParaRPr>
          </a:p>
          <a:p>
            <a:pPr lvl="1"/>
            <a:r>
              <a:rPr lang="en-US" b="0" i="0" dirty="0">
                <a:solidFill>
                  <a:schemeClr val="tx1">
                    <a:lumMod val="50000"/>
                    <a:lumOff val="50000"/>
                  </a:schemeClr>
                </a:solidFill>
                <a:effectLst/>
                <a:latin typeface="Söhne"/>
              </a:rPr>
              <a:t>O </a:t>
            </a:r>
            <a:r>
              <a:rPr lang="en-US" b="0" i="0" dirty="0" err="1">
                <a:solidFill>
                  <a:schemeClr val="tx1">
                    <a:lumMod val="50000"/>
                    <a:lumOff val="50000"/>
                  </a:schemeClr>
                </a:solidFill>
                <a:effectLst/>
                <a:latin typeface="Söhne"/>
              </a:rPr>
              <a:t>metodă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simplă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dar</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eficientă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este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modificarea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extensiei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fișierelor</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suspecte</a:t>
            </a:r>
            <a:r>
              <a:rPr lang="en-US" b="0" i="0" dirty="0">
                <a:solidFill>
                  <a:schemeClr val="tx1">
                    <a:lumMod val="50000"/>
                    <a:lumOff val="50000"/>
                  </a:schemeClr>
                </a:solidFill>
                <a:effectLst/>
                <a:latin typeface="Söhne"/>
              </a:rPr>
              <a:t> din ".exe" </a:t>
            </a:r>
            <a:r>
              <a:rPr lang="en-US" b="0" i="0" dirty="0" err="1">
                <a:solidFill>
                  <a:schemeClr val="tx1">
                    <a:lumMod val="50000"/>
                    <a:lumOff val="50000"/>
                  </a:schemeClr>
                </a:solidFill>
                <a:effectLst/>
                <a:latin typeface="Söhne"/>
              </a:rPr>
              <a:t>în</a:t>
            </a:r>
            <a:r>
              <a:rPr lang="en-US" b="0" i="0" dirty="0">
                <a:solidFill>
                  <a:schemeClr val="tx1">
                    <a:lumMod val="50000"/>
                    <a:lumOff val="50000"/>
                  </a:schemeClr>
                </a:solidFill>
                <a:effectLst/>
                <a:latin typeface="Söhne"/>
              </a:rPr>
              <a:t> "._exe". </a:t>
            </a:r>
            <a:r>
              <a:rPr lang="en-US" b="0" i="0" dirty="0" err="1">
                <a:solidFill>
                  <a:schemeClr val="tx1">
                    <a:lumMod val="50000"/>
                    <a:lumOff val="50000"/>
                  </a:schemeClr>
                </a:solidFill>
                <a:effectLst/>
                <a:latin typeface="Söhne"/>
              </a:rPr>
              <a:t>Această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schimbare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împiedică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execuția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accidentală</a:t>
            </a:r>
            <a:r>
              <a:rPr lang="en-US" b="0" i="0" dirty="0">
                <a:solidFill>
                  <a:schemeClr val="tx1">
                    <a:lumMod val="50000"/>
                    <a:lumOff val="50000"/>
                  </a:schemeClr>
                </a:solidFill>
                <a:effectLst/>
                <a:latin typeface="Söhne"/>
              </a:rPr>
              <a:t> a </a:t>
            </a:r>
            <a:r>
              <a:rPr lang="en-US" b="0" i="0" dirty="0" err="1">
                <a:solidFill>
                  <a:schemeClr val="tx1">
                    <a:lumMod val="50000"/>
                    <a:lumOff val="50000"/>
                  </a:schemeClr>
                </a:solidFill>
                <a:effectLst/>
                <a:latin typeface="Söhne"/>
              </a:rPr>
              <a:t>fișierului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pe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sistemele</a:t>
            </a:r>
            <a:r>
              <a:rPr lang="en-US" b="0" i="0" dirty="0">
                <a:solidFill>
                  <a:schemeClr val="tx1">
                    <a:lumMod val="50000"/>
                    <a:lumOff val="50000"/>
                  </a:schemeClr>
                </a:solidFill>
                <a:effectLst/>
                <a:latin typeface="Söhne"/>
              </a:rPr>
              <a:t> Windows.</a:t>
            </a:r>
          </a:p>
          <a:p>
            <a:r>
              <a:rPr lang="en-US" b="1" i="0" u="sng" dirty="0" err="1">
                <a:solidFill>
                  <a:schemeClr val="tx1">
                    <a:lumMod val="50000"/>
                    <a:lumOff val="50000"/>
                  </a:schemeClr>
                </a:solidFill>
                <a:effectLst/>
                <a:latin typeface="Söhne"/>
              </a:rPr>
              <a:t>Arhivarea</a:t>
            </a:r>
            <a:r>
              <a:rPr lang="en-US" b="1" i="0" u="sng" dirty="0">
                <a:solidFill>
                  <a:schemeClr val="tx1">
                    <a:lumMod val="50000"/>
                    <a:lumOff val="50000"/>
                  </a:schemeClr>
                </a:solidFill>
                <a:effectLst/>
                <a:latin typeface="Söhne"/>
              </a:rPr>
              <a:t> </a:t>
            </a:r>
            <a:r>
              <a:rPr lang="en-US" b="1" i="0" u="sng">
                <a:solidFill>
                  <a:schemeClr val="tx1">
                    <a:lumMod val="50000"/>
                    <a:lumOff val="50000"/>
                  </a:schemeClr>
                </a:solidFill>
                <a:effectLst/>
                <a:latin typeface="Söhne"/>
              </a:rPr>
              <a:t>cu Parolă</a:t>
            </a:r>
            <a:endParaRPr lang="en-US" b="0" i="0" u="sng" dirty="0">
              <a:solidFill>
                <a:schemeClr val="tx1">
                  <a:lumMod val="50000"/>
                  <a:lumOff val="50000"/>
                </a:schemeClr>
              </a:solidFill>
              <a:effectLst/>
              <a:latin typeface="Söhne"/>
            </a:endParaRPr>
          </a:p>
          <a:p>
            <a:pPr lvl="1"/>
            <a:r>
              <a:rPr lang="en-US" b="0" i="0" dirty="0">
                <a:solidFill>
                  <a:schemeClr val="tx1">
                    <a:lumMod val="50000"/>
                    <a:lumOff val="50000"/>
                  </a:schemeClr>
                </a:solidFill>
                <a:effectLst/>
                <a:latin typeface="Söhne"/>
              </a:rPr>
              <a:t>O </a:t>
            </a:r>
            <a:r>
              <a:rPr lang="en-US" b="0" i="0" dirty="0" err="1">
                <a:solidFill>
                  <a:schemeClr val="tx1">
                    <a:lumMod val="50000"/>
                    <a:lumOff val="50000"/>
                  </a:schemeClr>
                </a:solidFill>
                <a:effectLst/>
                <a:latin typeface="Söhne"/>
              </a:rPr>
              <a:t>altă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stratagemă</a:t>
            </a:r>
            <a:r>
              <a:rPr lang="en-US" b="0" i="0" dirty="0">
                <a:solidFill>
                  <a:schemeClr val="tx1">
                    <a:lumMod val="50000"/>
                    <a:lumOff val="50000"/>
                  </a:schemeClr>
                </a:solidFill>
                <a:effectLst/>
                <a:latin typeface="Söhne"/>
              </a:rPr>
              <a:t> de </a:t>
            </a:r>
            <a:r>
              <a:rPr lang="en-US" b="0" i="0" dirty="0" err="1">
                <a:solidFill>
                  <a:schemeClr val="tx1">
                    <a:lumMod val="50000"/>
                    <a:lumOff val="50000"/>
                  </a:schemeClr>
                </a:solidFill>
                <a:effectLst/>
                <a:latin typeface="Söhne"/>
              </a:rPr>
              <a:t>siguranță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este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arhivarea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fișierelor</a:t>
            </a:r>
            <a:r>
              <a:rPr lang="en-US" b="0" i="0" dirty="0">
                <a:solidFill>
                  <a:schemeClr val="tx1">
                    <a:lumMod val="50000"/>
                    <a:lumOff val="50000"/>
                  </a:schemeClr>
                </a:solidFill>
                <a:effectLst/>
                <a:latin typeface="Söhne"/>
              </a:rPr>
              <a:t> </a:t>
            </a:r>
            <a:r>
              <a:rPr lang="en-US" b="0" i="0">
                <a:solidFill>
                  <a:schemeClr val="tx1">
                    <a:lumMod val="50000"/>
                    <a:lumOff val="50000"/>
                  </a:schemeClr>
                </a:solidFill>
                <a:effectLst/>
                <a:latin typeface="Söhne"/>
              </a:rPr>
              <a:t>malware </a:t>
            </a:r>
            <a:r>
              <a:rPr lang="en-US">
                <a:solidFill>
                  <a:schemeClr val="tx1">
                    <a:lumMod val="50000"/>
                    <a:lumOff val="50000"/>
                  </a:schemeClr>
                </a:solidFill>
                <a:latin typeface="Söhne"/>
              </a:rPr>
              <a:t>într-o arhivă protejată </a:t>
            </a:r>
            <a:r>
              <a:rPr lang="en-US" b="0" i="0" dirty="0">
                <a:solidFill>
                  <a:schemeClr val="tx1">
                    <a:lumMod val="50000"/>
                    <a:lumOff val="50000"/>
                  </a:schemeClr>
                </a:solidFill>
                <a:effectLst/>
                <a:latin typeface="Söhne"/>
              </a:rPr>
              <a:t>cu </a:t>
            </a:r>
            <a:r>
              <a:rPr lang="en-US" b="0" i="0" dirty="0" err="1">
                <a:solidFill>
                  <a:schemeClr val="tx1">
                    <a:lumMod val="50000"/>
                    <a:lumOff val="50000"/>
                  </a:schemeClr>
                </a:solidFill>
                <a:effectLst/>
                <a:latin typeface="Söhne"/>
              </a:rPr>
              <a:t>parolă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Acest</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lucru</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previne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accesul</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neautorizat</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și</a:t>
            </a:r>
            <a:r>
              <a:rPr lang="en-US" b="0" i="0" dirty="0">
                <a:solidFill>
                  <a:schemeClr val="tx1">
                    <a:lumMod val="50000"/>
                    <a:lumOff val="50000"/>
                  </a:schemeClr>
                </a:solidFill>
                <a:effectLst/>
                <a:latin typeface="Söhne"/>
              </a:rPr>
              <a:t> reduce </a:t>
            </a:r>
            <a:r>
              <a:rPr lang="en-US" b="0" i="0" dirty="0" err="1">
                <a:solidFill>
                  <a:schemeClr val="tx1">
                    <a:lumMod val="50000"/>
                    <a:lumOff val="50000"/>
                  </a:schemeClr>
                </a:solidFill>
                <a:effectLst/>
                <a:latin typeface="Söhne"/>
              </a:rPr>
              <a:t>riscul</a:t>
            </a:r>
            <a:r>
              <a:rPr lang="en-US" b="0" i="0" dirty="0">
                <a:solidFill>
                  <a:schemeClr val="tx1">
                    <a:lumMod val="50000"/>
                    <a:lumOff val="50000"/>
                  </a:schemeClr>
                </a:solidFill>
                <a:effectLst/>
                <a:latin typeface="Söhne"/>
              </a:rPr>
              <a:t> de </a:t>
            </a:r>
            <a:r>
              <a:rPr lang="en-US" b="0" i="0" dirty="0" err="1">
                <a:solidFill>
                  <a:schemeClr val="tx1">
                    <a:lumMod val="50000"/>
                    <a:lumOff val="50000"/>
                  </a:schemeClr>
                </a:solidFill>
                <a:effectLst/>
                <a:latin typeface="Söhne"/>
              </a:rPr>
              <a:t>detonare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neintenționată</a:t>
            </a:r>
            <a:r>
              <a:rPr lang="en-US" b="0" i="0" dirty="0">
                <a:solidFill>
                  <a:schemeClr val="tx1">
                    <a:lumMod val="50000"/>
                    <a:lumOff val="50000"/>
                  </a:schemeClr>
                </a:solidFill>
                <a:effectLst/>
                <a:latin typeface="Söhne"/>
              </a:rPr>
              <a:t>.</a:t>
            </a:r>
          </a:p>
          <a:p>
            <a:r>
              <a:rPr lang="en-US" b="1" i="0" u="sng" dirty="0" err="1">
                <a:solidFill>
                  <a:schemeClr val="tx1">
                    <a:lumMod val="50000"/>
                    <a:lumOff val="50000"/>
                  </a:schemeClr>
                </a:solidFill>
                <a:effectLst/>
                <a:latin typeface="Söhne"/>
              </a:rPr>
              <a:t>Măsuri</a:t>
            </a:r>
            <a:r>
              <a:rPr lang="en-US" b="1" i="0" u="sng" dirty="0">
                <a:solidFill>
                  <a:schemeClr val="tx1">
                    <a:lumMod val="50000"/>
                    <a:lumOff val="50000"/>
                  </a:schemeClr>
                </a:solidFill>
                <a:effectLst/>
                <a:latin typeface="Söhne"/>
              </a:rPr>
              <a:t> </a:t>
            </a:r>
            <a:r>
              <a:rPr lang="en-US" b="1" i="0" u="sng">
                <a:solidFill>
                  <a:schemeClr val="tx1">
                    <a:lumMod val="50000"/>
                    <a:lumOff val="50000"/>
                  </a:schemeClr>
                </a:solidFill>
                <a:effectLst/>
                <a:latin typeface="Söhne"/>
              </a:rPr>
              <a:t>de Protecție</a:t>
            </a:r>
            <a:endParaRPr lang="en-US" b="0" i="0" u="sng" dirty="0">
              <a:solidFill>
                <a:schemeClr val="tx1">
                  <a:lumMod val="50000"/>
                  <a:lumOff val="50000"/>
                </a:schemeClr>
              </a:solidFill>
              <a:effectLst/>
              <a:latin typeface="Söhne"/>
            </a:endParaRPr>
          </a:p>
          <a:p>
            <a:pPr lvl="1"/>
            <a:r>
              <a:rPr lang="en-US" b="0" i="0" dirty="0" err="1">
                <a:solidFill>
                  <a:schemeClr val="tx1">
                    <a:lumMod val="50000"/>
                    <a:lumOff val="50000"/>
                  </a:schemeClr>
                </a:solidFill>
                <a:effectLst/>
                <a:latin typeface="Söhne"/>
              </a:rPr>
              <a:t>Utilizarea</a:t>
            </a:r>
            <a:r>
              <a:rPr lang="en-US" b="0" i="0" dirty="0">
                <a:solidFill>
                  <a:schemeClr val="tx1">
                    <a:lumMod val="50000"/>
                    <a:lumOff val="50000"/>
                  </a:schemeClr>
                </a:solidFill>
                <a:effectLst/>
                <a:latin typeface="Söhne"/>
              </a:rPr>
              <a:t> software-</a:t>
            </a:r>
            <a:r>
              <a:rPr lang="en-US" b="0" i="0" dirty="0" err="1">
                <a:solidFill>
                  <a:schemeClr val="tx1">
                    <a:lumMod val="50000"/>
                    <a:lumOff val="50000"/>
                  </a:schemeClr>
                </a:solidFill>
                <a:effectLst/>
                <a:latin typeface="Söhne"/>
              </a:rPr>
              <a:t>ului</a:t>
            </a:r>
            <a:r>
              <a:rPr lang="en-US" b="0" i="0" dirty="0">
                <a:solidFill>
                  <a:schemeClr val="tx1">
                    <a:lumMod val="50000"/>
                    <a:lumOff val="50000"/>
                  </a:schemeClr>
                </a:solidFill>
                <a:effectLst/>
                <a:latin typeface="Söhne"/>
              </a:rPr>
              <a:t> antivirus </a:t>
            </a:r>
            <a:r>
              <a:rPr lang="en-US" b="0" i="0" dirty="0" err="1">
                <a:solidFill>
                  <a:schemeClr val="tx1">
                    <a:lumMod val="50000"/>
                    <a:lumOff val="50000"/>
                  </a:schemeClr>
                </a:solidFill>
                <a:effectLst/>
                <a:latin typeface="Söhne"/>
              </a:rPr>
              <a:t>actualizat</a:t>
            </a:r>
            <a:r>
              <a:rPr lang="en-US" b="0" i="0" dirty="0">
                <a:solidFill>
                  <a:schemeClr val="tx1">
                    <a:lumMod val="50000"/>
                    <a:lumOff val="50000"/>
                  </a:schemeClr>
                </a:solidFill>
                <a:effectLst/>
                <a:latin typeface="Söhne"/>
              </a:rPr>
              <a:t>, a firewall-</a:t>
            </a:r>
            <a:r>
              <a:rPr lang="en-US" b="0" i="0" dirty="0" err="1">
                <a:solidFill>
                  <a:schemeClr val="tx1">
                    <a:lumMod val="50000"/>
                    <a:lumOff val="50000"/>
                  </a:schemeClr>
                </a:solidFill>
                <a:effectLst/>
                <a:latin typeface="Söhne"/>
              </a:rPr>
              <a:t>urilor</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și</a:t>
            </a:r>
            <a:r>
              <a:rPr lang="en-US" b="0" i="0" dirty="0">
                <a:solidFill>
                  <a:schemeClr val="tx1">
                    <a:lumMod val="50000"/>
                    <a:lumOff val="50000"/>
                  </a:schemeClr>
                </a:solidFill>
                <a:effectLst/>
                <a:latin typeface="Söhne"/>
              </a:rPr>
              <a:t> a </a:t>
            </a:r>
            <a:r>
              <a:rPr lang="en-US" b="0" i="0" dirty="0" err="1">
                <a:solidFill>
                  <a:schemeClr val="tx1">
                    <a:lumMod val="50000"/>
                    <a:lumOff val="50000"/>
                  </a:schemeClr>
                </a:solidFill>
                <a:effectLst/>
                <a:latin typeface="Söhne"/>
              </a:rPr>
              <a:t>altor</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tehnologii</a:t>
            </a:r>
            <a:r>
              <a:rPr lang="en-US" b="0" i="0" dirty="0">
                <a:solidFill>
                  <a:schemeClr val="tx1">
                    <a:lumMod val="50000"/>
                    <a:lumOff val="50000"/>
                  </a:schemeClr>
                </a:solidFill>
                <a:effectLst/>
                <a:latin typeface="Söhne"/>
              </a:rPr>
              <a:t> de </a:t>
            </a:r>
            <a:r>
              <a:rPr lang="en-US" b="0" i="0" dirty="0" err="1">
                <a:solidFill>
                  <a:schemeClr val="tx1">
                    <a:lumMod val="50000"/>
                    <a:lumOff val="50000"/>
                  </a:schemeClr>
                </a:solidFill>
                <a:effectLst/>
                <a:latin typeface="Söhne"/>
              </a:rPr>
              <a:t>securitate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pentru</a:t>
            </a:r>
            <a:r>
              <a:rPr lang="en-US" b="0" i="0" dirty="0">
                <a:solidFill>
                  <a:schemeClr val="tx1">
                    <a:lumMod val="50000"/>
                    <a:lumOff val="50000"/>
                  </a:schemeClr>
                </a:solidFill>
                <a:effectLst/>
                <a:latin typeface="Söhne"/>
              </a:rPr>
              <a:t> a </a:t>
            </a:r>
            <a:r>
              <a:rPr lang="en-US" b="0" i="0" dirty="0" err="1">
                <a:solidFill>
                  <a:schemeClr val="tx1">
                    <a:lumMod val="50000"/>
                    <a:lumOff val="50000"/>
                  </a:schemeClr>
                </a:solidFill>
                <a:effectLst/>
                <a:latin typeface="Söhne"/>
              </a:rPr>
              <a:t>scana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și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izola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fișierele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suspecte</a:t>
            </a:r>
            <a:r>
              <a:rPr lang="en-US" b="0" i="0" dirty="0">
                <a:solidFill>
                  <a:schemeClr val="tx1">
                    <a:lumMod val="50000"/>
                    <a:lumOff val="50000"/>
                  </a:schemeClr>
                </a:solidFill>
                <a:effectLst/>
                <a:latin typeface="Söhne"/>
              </a:rPr>
              <a:t>.</a:t>
            </a:r>
          </a:p>
          <a:p>
            <a:endParaRPr lang="en-US" dirty="0">
              <a:solidFill>
                <a:schemeClr val="tx1">
                  <a:lumMod val="50000"/>
                  <a:lumOff val="50000"/>
                </a:schemeClr>
              </a:solidFill>
            </a:endParaRPr>
          </a:p>
        </p:txBody>
      </p:sp>
    </p:spTree>
    <p:extLst>
      <p:ext uri="{BB962C8B-B14F-4D97-AF65-F5344CB8AC3E}">
        <p14:creationId xmlns:p14="http://schemas.microsoft.com/office/powerpoint/2010/main" val="17919901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a:extLst>
              <a:ext uri="{FF2B5EF4-FFF2-40B4-BE49-F238E27FC236}">
                <a16:creationId xmlns:a16="http://schemas.microsoft.com/office/drawing/2014/main" id="{D72D0A0E-0F5F-49D7-87F1-FB93C38FCFA9}"/>
              </a:ext>
            </a:extLst>
          </p:cNvPr>
          <p:cNvSpPr>
            <a:spLocks noGrp="1"/>
          </p:cNvSpPr>
          <p:nvPr>
            <p:ph type="title"/>
          </p:nvPr>
        </p:nvSpPr>
        <p:spPr/>
        <p:txBody>
          <a:bodyPr/>
          <a:lstStyle/>
          <a:p>
            <a:r>
              <a:rPr lang="en-US"/>
              <a:t>Detonarea Controlată a Malware-ului</a:t>
            </a:r>
            <a:br>
              <a:rPr lang="en-US"/>
            </a:br>
            <a:endParaRPr lang="en-US"/>
          </a:p>
        </p:txBody>
      </p:sp>
      <p:sp>
        <p:nvSpPr>
          <p:cNvPr id="3" name="Content Placeholder 2">
            <a:extLst>
              <a:ext uri="{FF2B5EF4-FFF2-40B4-BE49-F238E27FC236}">
                <a16:creationId xmlns:a16="http://schemas.microsoft.com/office/drawing/2014/main" id="{C465CD02-99A9-4BA5-A76B-8025DBED5934}"/>
              </a:ext>
            </a:extLst>
          </p:cNvPr>
          <p:cNvSpPr>
            <a:spLocks noGrp="1"/>
          </p:cNvSpPr>
          <p:nvPr>
            <p:ph idx="1"/>
          </p:nvPr>
        </p:nvSpPr>
        <p:spPr>
          <a:xfrm>
            <a:off x="581192" y="2399952"/>
            <a:ext cx="11029615" cy="3678303"/>
          </a:xfrm>
        </p:spPr>
        <p:txBody>
          <a:bodyPr>
            <a:normAutofit fontScale="77500" lnSpcReduction="20000"/>
          </a:bodyPr>
          <a:lstStyle/>
          <a:p>
            <a:r>
              <a:rPr lang="en-US" b="1" i="0" u="sng">
                <a:solidFill>
                  <a:schemeClr val="tx1">
                    <a:lumMod val="50000"/>
                    <a:lumOff val="50000"/>
                  </a:schemeClr>
                </a:solidFill>
                <a:effectLst/>
                <a:latin typeface="Söhne"/>
              </a:rPr>
              <a:t>Prepararea </a:t>
            </a:r>
            <a:r>
              <a:rPr lang="en-US" b="1" i="0" u="sng" err="1">
                <a:solidFill>
                  <a:schemeClr val="tx1">
                    <a:lumMod val="50000"/>
                    <a:lumOff val="50000"/>
                  </a:schemeClr>
                </a:solidFill>
                <a:effectLst/>
                <a:latin typeface="Söhne"/>
              </a:rPr>
              <a:t>pentru</a:t>
            </a:r>
            <a:r>
              <a:rPr lang="en-US" b="1" i="0" u="sng">
                <a:solidFill>
                  <a:schemeClr val="tx1">
                    <a:lumMod val="50000"/>
                    <a:lumOff val="50000"/>
                  </a:schemeClr>
                </a:solidFill>
                <a:effectLst/>
                <a:latin typeface="Söhne"/>
              </a:rPr>
              <a:t> Detonare</a:t>
            </a:r>
            <a:endParaRPr lang="en-US" b="0" i="0" u="sng" dirty="0">
              <a:solidFill>
                <a:schemeClr val="tx1">
                  <a:lumMod val="50000"/>
                  <a:lumOff val="50000"/>
                </a:schemeClr>
              </a:solidFill>
              <a:effectLst/>
              <a:latin typeface="Söhne"/>
            </a:endParaRPr>
          </a:p>
          <a:p>
            <a:pPr lvl="1"/>
            <a:r>
              <a:rPr lang="en-US" b="0" i="0" dirty="0" err="1">
                <a:solidFill>
                  <a:schemeClr val="tx1">
                    <a:lumMod val="50000"/>
                    <a:lumOff val="50000"/>
                  </a:schemeClr>
                </a:solidFill>
                <a:effectLst/>
                <a:latin typeface="Söhne"/>
              </a:rPr>
              <a:t>Înainte</a:t>
            </a:r>
            <a:r>
              <a:rPr lang="en-US" b="0" i="0" dirty="0">
                <a:solidFill>
                  <a:schemeClr val="tx1">
                    <a:lumMod val="50000"/>
                    <a:lumOff val="50000"/>
                  </a:schemeClr>
                </a:solidFill>
                <a:effectLst/>
                <a:latin typeface="Söhne"/>
              </a:rPr>
              <a:t> de a </a:t>
            </a:r>
            <a:r>
              <a:rPr lang="en-US" b="0" i="0" dirty="0" err="1">
                <a:solidFill>
                  <a:schemeClr val="tx1">
                    <a:lumMod val="50000"/>
                    <a:lumOff val="50000"/>
                  </a:schemeClr>
                </a:solidFill>
                <a:effectLst/>
                <a:latin typeface="Söhne"/>
              </a:rPr>
              <a:t>analiza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sau</a:t>
            </a:r>
            <a:r>
              <a:rPr lang="en-US" b="0" i="0" dirty="0">
                <a:solidFill>
                  <a:schemeClr val="tx1">
                    <a:lumMod val="50000"/>
                    <a:lumOff val="50000"/>
                  </a:schemeClr>
                </a:solidFill>
                <a:effectLst/>
                <a:latin typeface="Söhne"/>
              </a:rPr>
              <a:t> de a "</a:t>
            </a:r>
            <a:r>
              <a:rPr lang="en-US" b="0" i="0" dirty="0" err="1">
                <a:solidFill>
                  <a:schemeClr val="tx1">
                    <a:lumMod val="50000"/>
                    <a:lumOff val="50000"/>
                  </a:schemeClr>
                </a:solidFill>
                <a:effectLst/>
                <a:latin typeface="Söhne"/>
              </a:rPr>
              <a:t>detona</a:t>
            </a:r>
            <a:r>
              <a:rPr lang="en-US" b="0" i="0" dirty="0">
                <a:solidFill>
                  <a:schemeClr val="tx1">
                    <a:lumMod val="50000"/>
                    <a:lumOff val="50000"/>
                  </a:schemeClr>
                </a:solidFill>
                <a:effectLst/>
                <a:latin typeface="Söhne"/>
              </a:rPr>
              <a:t>" malware-</a:t>
            </a:r>
            <a:r>
              <a:rPr lang="en-US" b="0" i="0" dirty="0" err="1">
                <a:solidFill>
                  <a:schemeClr val="tx1">
                    <a:lumMod val="50000"/>
                    <a:lumOff val="50000"/>
                  </a:schemeClr>
                </a:solidFill>
                <a:effectLst/>
                <a:latin typeface="Söhne"/>
              </a:rPr>
              <a:t>ul</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asigurați-vă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că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acesta</a:t>
            </a:r>
            <a:r>
              <a:rPr lang="en-US" b="0" i="0" dirty="0">
                <a:solidFill>
                  <a:schemeClr val="tx1">
                    <a:lumMod val="50000"/>
                    <a:lumOff val="50000"/>
                  </a:schemeClr>
                </a:solidFill>
                <a:effectLst/>
                <a:latin typeface="Söhne"/>
              </a:rPr>
              <a:t> se </a:t>
            </a:r>
            <a:r>
              <a:rPr lang="en-US" b="0" i="0" dirty="0" err="1">
                <a:solidFill>
                  <a:schemeClr val="tx1">
                    <a:lumMod val="50000"/>
                    <a:lumOff val="50000"/>
                  </a:schemeClr>
                </a:solidFill>
                <a:effectLst/>
                <a:latin typeface="Söhne"/>
              </a:rPr>
              <a:t>află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într</a:t>
            </a:r>
            <a:r>
              <a:rPr lang="en-US" b="0" i="0" dirty="0">
                <a:solidFill>
                  <a:schemeClr val="tx1">
                    <a:lumMod val="50000"/>
                    <a:lumOff val="50000"/>
                  </a:schemeClr>
                </a:solidFill>
                <a:effectLst/>
                <a:latin typeface="Söhne"/>
              </a:rPr>
              <a:t>-un </a:t>
            </a:r>
            <a:r>
              <a:rPr lang="en-US" b="0" i="0" dirty="0" err="1">
                <a:solidFill>
                  <a:schemeClr val="tx1">
                    <a:lumMod val="50000"/>
                    <a:lumOff val="50000"/>
                  </a:schemeClr>
                </a:solidFill>
                <a:effectLst/>
                <a:latin typeface="Söhne"/>
              </a:rPr>
              <a:t>mediu</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controlat</a:t>
            </a:r>
            <a:r>
              <a:rPr lang="en-US" b="0" i="0" dirty="0">
                <a:solidFill>
                  <a:schemeClr val="tx1">
                    <a:lumMod val="50000"/>
                    <a:lumOff val="50000"/>
                  </a:schemeClr>
                </a:solidFill>
                <a:effectLst/>
                <a:latin typeface="Söhne"/>
              </a:rPr>
              <a:t>, de </a:t>
            </a:r>
            <a:r>
              <a:rPr lang="en-US" b="0" i="0" dirty="0" err="1">
                <a:solidFill>
                  <a:schemeClr val="tx1">
                    <a:lumMod val="50000"/>
                    <a:lumOff val="50000"/>
                  </a:schemeClr>
                </a:solidFill>
                <a:effectLst/>
                <a:latin typeface="Söhne"/>
              </a:rPr>
              <a:t>preferință</a:t>
            </a:r>
            <a:r>
              <a:rPr lang="en-US" b="0" i="0" dirty="0">
                <a:solidFill>
                  <a:schemeClr val="tx1">
                    <a:lumMod val="50000"/>
                    <a:lumOff val="50000"/>
                  </a:schemeClr>
                </a:solidFill>
                <a:effectLst/>
                <a:latin typeface="Söhne"/>
              </a:rPr>
              <a:t> o </a:t>
            </a:r>
            <a:r>
              <a:rPr lang="en-US" b="0" i="0" dirty="0" err="1">
                <a:solidFill>
                  <a:schemeClr val="tx1">
                    <a:lumMod val="50000"/>
                    <a:lumOff val="50000"/>
                  </a:schemeClr>
                </a:solidFill>
                <a:effectLst/>
                <a:latin typeface="Söhne"/>
              </a:rPr>
              <a:t>mașină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virtuală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izolată</a:t>
            </a:r>
            <a:r>
              <a:rPr lang="en-US" b="0" i="0" dirty="0">
                <a:solidFill>
                  <a:schemeClr val="tx1">
                    <a:lumMod val="50000"/>
                    <a:lumOff val="50000"/>
                  </a:schemeClr>
                </a:solidFill>
                <a:effectLst/>
                <a:latin typeface="Söhne"/>
              </a:rPr>
              <a:t> de </a:t>
            </a:r>
            <a:r>
              <a:rPr lang="en-US" b="0" i="0" dirty="0" err="1">
                <a:solidFill>
                  <a:schemeClr val="tx1">
                    <a:lumMod val="50000"/>
                    <a:lumOff val="50000"/>
                  </a:schemeClr>
                </a:solidFill>
                <a:effectLst/>
                <a:latin typeface="Söhne"/>
              </a:rPr>
              <a:t>restul</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rețelei</a:t>
            </a:r>
            <a:r>
              <a:rPr lang="en-US" b="0" i="0" dirty="0">
                <a:solidFill>
                  <a:schemeClr val="tx1">
                    <a:lumMod val="50000"/>
                    <a:lumOff val="50000"/>
                  </a:schemeClr>
                </a:solidFill>
                <a:effectLst/>
                <a:latin typeface="Söhne"/>
              </a:rPr>
              <a:t>.</a:t>
            </a:r>
          </a:p>
          <a:p>
            <a:r>
              <a:rPr lang="en-US" b="1" i="0" u="sng" dirty="0" err="1">
                <a:solidFill>
                  <a:schemeClr val="tx1">
                    <a:lumMod val="50000"/>
                    <a:lumOff val="50000"/>
                  </a:schemeClr>
                </a:solidFill>
                <a:effectLst/>
                <a:latin typeface="Söhne"/>
              </a:rPr>
              <a:t>Schimbarea</a:t>
            </a:r>
            <a:r>
              <a:rPr lang="en-US" b="1" i="0" u="sng" dirty="0">
                <a:solidFill>
                  <a:schemeClr val="tx1">
                    <a:lumMod val="50000"/>
                    <a:lumOff val="50000"/>
                  </a:schemeClr>
                </a:solidFill>
                <a:effectLst/>
                <a:latin typeface="Söhne"/>
              </a:rPr>
              <a:t> </a:t>
            </a:r>
            <a:r>
              <a:rPr lang="en-US" b="1" i="0" u="sng" dirty="0" err="1">
                <a:solidFill>
                  <a:schemeClr val="tx1">
                    <a:lumMod val="50000"/>
                    <a:lumOff val="50000"/>
                  </a:schemeClr>
                </a:solidFill>
                <a:effectLst/>
                <a:latin typeface="Söhne"/>
              </a:rPr>
              <a:t>Înapoi</a:t>
            </a:r>
            <a:r>
              <a:rPr lang="en-US" b="1" i="0" u="sng" dirty="0">
                <a:solidFill>
                  <a:schemeClr val="tx1">
                    <a:lumMod val="50000"/>
                    <a:lumOff val="50000"/>
                  </a:schemeClr>
                </a:solidFill>
                <a:effectLst/>
                <a:latin typeface="Söhne"/>
              </a:rPr>
              <a:t> </a:t>
            </a:r>
            <a:r>
              <a:rPr lang="en-US" b="1" i="0" u="sng">
                <a:solidFill>
                  <a:schemeClr val="tx1">
                    <a:lumMod val="50000"/>
                    <a:lumOff val="50000"/>
                  </a:schemeClr>
                </a:solidFill>
                <a:effectLst/>
                <a:latin typeface="Söhne"/>
              </a:rPr>
              <a:t>a Extensiei</a:t>
            </a:r>
            <a:endParaRPr lang="en-US" b="0" i="0" u="sng" dirty="0">
              <a:solidFill>
                <a:schemeClr val="tx1">
                  <a:lumMod val="50000"/>
                  <a:lumOff val="50000"/>
                </a:schemeClr>
              </a:solidFill>
              <a:effectLst/>
              <a:latin typeface="Söhne"/>
            </a:endParaRPr>
          </a:p>
          <a:p>
            <a:pPr lvl="1"/>
            <a:r>
              <a:rPr lang="en-US" b="0" i="0" dirty="0" err="1">
                <a:solidFill>
                  <a:schemeClr val="tx1">
                    <a:lumMod val="50000"/>
                    <a:lumOff val="50000"/>
                  </a:schemeClr>
                </a:solidFill>
                <a:effectLst/>
                <a:latin typeface="Söhne"/>
              </a:rPr>
              <a:t>Pentru</a:t>
            </a:r>
            <a:r>
              <a:rPr lang="en-US" b="0" i="0" dirty="0">
                <a:solidFill>
                  <a:schemeClr val="tx1">
                    <a:lumMod val="50000"/>
                    <a:lumOff val="50000"/>
                  </a:schemeClr>
                </a:solidFill>
                <a:effectLst/>
                <a:latin typeface="Söhne"/>
              </a:rPr>
              <a:t> a </a:t>
            </a:r>
            <a:r>
              <a:rPr lang="en-US" b="0" i="0" dirty="0" err="1">
                <a:solidFill>
                  <a:schemeClr val="tx1">
                    <a:lumMod val="50000"/>
                    <a:lumOff val="50000"/>
                  </a:schemeClr>
                </a:solidFill>
                <a:effectLst/>
                <a:latin typeface="Söhne"/>
              </a:rPr>
              <a:t>analiza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comportamentul</a:t>
            </a:r>
            <a:r>
              <a:rPr lang="en-US" b="0" i="0" dirty="0">
                <a:solidFill>
                  <a:schemeClr val="tx1">
                    <a:lumMod val="50000"/>
                    <a:lumOff val="50000"/>
                  </a:schemeClr>
                </a:solidFill>
                <a:effectLst/>
                <a:latin typeface="Söhne"/>
              </a:rPr>
              <a:t> malware-</a:t>
            </a:r>
            <a:r>
              <a:rPr lang="en-US" b="0" i="0" dirty="0" err="1">
                <a:solidFill>
                  <a:schemeClr val="tx1">
                    <a:lumMod val="50000"/>
                    <a:lumOff val="50000"/>
                  </a:schemeClr>
                </a:solidFill>
                <a:effectLst/>
                <a:latin typeface="Söhne"/>
              </a:rPr>
              <a:t>ului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extensia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fișierului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poate</a:t>
            </a:r>
            <a:r>
              <a:rPr lang="en-US" b="0" i="0" dirty="0">
                <a:solidFill>
                  <a:schemeClr val="tx1">
                    <a:lumMod val="50000"/>
                    <a:lumOff val="50000"/>
                  </a:schemeClr>
                </a:solidFill>
                <a:effectLst/>
                <a:latin typeface="Söhne"/>
              </a:rPr>
              <a:t> fi </a:t>
            </a:r>
            <a:r>
              <a:rPr lang="en-US" b="0" i="0" dirty="0" err="1">
                <a:solidFill>
                  <a:schemeClr val="tx1">
                    <a:lumMod val="50000"/>
                    <a:lumOff val="50000"/>
                  </a:schemeClr>
                </a:solidFill>
                <a:effectLst/>
                <a:latin typeface="Söhne"/>
              </a:rPr>
              <a:t>schimbată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înapoi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în</a:t>
            </a:r>
            <a:r>
              <a:rPr lang="en-US" b="0" i="0" dirty="0">
                <a:solidFill>
                  <a:schemeClr val="tx1">
                    <a:lumMod val="50000"/>
                    <a:lumOff val="50000"/>
                  </a:schemeClr>
                </a:solidFill>
                <a:effectLst/>
                <a:latin typeface="Söhne"/>
              </a:rPr>
              <a:t> ".exe" </a:t>
            </a:r>
            <a:r>
              <a:rPr lang="en-US" b="0" i="0" dirty="0" err="1">
                <a:solidFill>
                  <a:schemeClr val="tx1">
                    <a:lumMod val="50000"/>
                    <a:lumOff val="50000"/>
                  </a:schemeClr>
                </a:solidFill>
                <a:effectLst/>
                <a:latin typeface="Söhne"/>
              </a:rPr>
              <a:t>doar</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în</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cadrul</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mașinii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virtuale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sigure</a:t>
            </a:r>
            <a:r>
              <a:rPr lang="en-US" b="0" i="0" dirty="0">
                <a:solidFill>
                  <a:schemeClr val="tx1">
                    <a:lumMod val="50000"/>
                    <a:lumOff val="50000"/>
                  </a:schemeClr>
                </a:solidFill>
                <a:effectLst/>
                <a:latin typeface="Söhne"/>
              </a:rPr>
              <a:t>.</a:t>
            </a:r>
          </a:p>
          <a:p>
            <a:r>
              <a:rPr lang="en-US" b="1" i="0" u="sng" dirty="0" err="1">
                <a:solidFill>
                  <a:schemeClr val="tx1">
                    <a:lumMod val="50000"/>
                    <a:lumOff val="50000"/>
                  </a:schemeClr>
                </a:solidFill>
                <a:effectLst/>
                <a:latin typeface="Söhne"/>
              </a:rPr>
              <a:t>Analiza</a:t>
            </a:r>
            <a:r>
              <a:rPr lang="en-US" b="1" i="0" u="sng" dirty="0">
                <a:solidFill>
                  <a:schemeClr val="tx1">
                    <a:lumMod val="50000"/>
                    <a:lumOff val="50000"/>
                  </a:schemeClr>
                </a:solidFill>
                <a:effectLst/>
                <a:latin typeface="Söhne"/>
              </a:rPr>
              <a:t> </a:t>
            </a:r>
            <a:r>
              <a:rPr lang="en-US" b="1" i="0" u="sng" err="1">
                <a:solidFill>
                  <a:schemeClr val="tx1">
                    <a:lumMod val="50000"/>
                    <a:lumOff val="50000"/>
                  </a:schemeClr>
                </a:solidFill>
                <a:effectLst/>
                <a:latin typeface="Söhne"/>
              </a:rPr>
              <a:t>și</a:t>
            </a:r>
            <a:r>
              <a:rPr lang="en-US" b="1" i="0" u="sng">
                <a:solidFill>
                  <a:schemeClr val="tx1">
                    <a:lumMod val="50000"/>
                    <a:lumOff val="50000"/>
                  </a:schemeClr>
                </a:solidFill>
                <a:effectLst/>
                <a:latin typeface="Söhne"/>
              </a:rPr>
              <a:t> Investigația</a:t>
            </a:r>
            <a:endParaRPr lang="en-US" b="0" i="0" u="sng" dirty="0">
              <a:solidFill>
                <a:schemeClr val="tx1">
                  <a:lumMod val="50000"/>
                  <a:lumOff val="50000"/>
                </a:schemeClr>
              </a:solidFill>
              <a:effectLst/>
              <a:latin typeface="Söhne"/>
            </a:endParaRPr>
          </a:p>
          <a:p>
            <a:pPr lvl="1"/>
            <a:r>
              <a:rPr lang="en-US" b="0" i="0" dirty="0" err="1">
                <a:solidFill>
                  <a:schemeClr val="tx1">
                    <a:lumMod val="50000"/>
                    <a:lumOff val="50000"/>
                  </a:schemeClr>
                </a:solidFill>
                <a:effectLst/>
                <a:latin typeface="Söhne"/>
              </a:rPr>
              <a:t>Utilizați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unelte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specializate</a:t>
            </a:r>
            <a:r>
              <a:rPr lang="en-US" b="0" i="0" dirty="0">
                <a:solidFill>
                  <a:schemeClr val="tx1">
                    <a:lumMod val="50000"/>
                    <a:lumOff val="50000"/>
                  </a:schemeClr>
                </a:solidFill>
                <a:effectLst/>
                <a:latin typeface="Söhne"/>
              </a:rPr>
              <a:t> de </a:t>
            </a:r>
            <a:r>
              <a:rPr lang="en-US" b="0" i="0" dirty="0" err="1">
                <a:solidFill>
                  <a:schemeClr val="tx1">
                    <a:lumMod val="50000"/>
                    <a:lumOff val="50000"/>
                  </a:schemeClr>
                </a:solidFill>
                <a:effectLst/>
                <a:latin typeface="Söhne"/>
              </a:rPr>
              <a:t>analiză</a:t>
            </a:r>
            <a:r>
              <a:rPr lang="en-US" b="0" i="0" dirty="0">
                <a:solidFill>
                  <a:schemeClr val="tx1">
                    <a:lumMod val="50000"/>
                    <a:lumOff val="50000"/>
                  </a:schemeClr>
                </a:solidFill>
                <a:effectLst/>
                <a:latin typeface="Söhne"/>
              </a:rPr>
              <a:t> malware </a:t>
            </a:r>
            <a:r>
              <a:rPr lang="en-US" b="0" i="0" dirty="0" err="1">
                <a:solidFill>
                  <a:schemeClr val="tx1">
                    <a:lumMod val="50000"/>
                    <a:lumOff val="50000"/>
                  </a:schemeClr>
                </a:solidFill>
                <a:effectLst/>
                <a:latin typeface="Söhne"/>
              </a:rPr>
              <a:t>pentru</a:t>
            </a:r>
            <a:r>
              <a:rPr lang="en-US" b="0" i="0" dirty="0">
                <a:solidFill>
                  <a:schemeClr val="tx1">
                    <a:lumMod val="50000"/>
                    <a:lumOff val="50000"/>
                  </a:schemeClr>
                </a:solidFill>
                <a:effectLst/>
                <a:latin typeface="Söhne"/>
              </a:rPr>
              <a:t> a </a:t>
            </a:r>
            <a:r>
              <a:rPr lang="en-US" b="0" i="0" dirty="0" err="1">
                <a:solidFill>
                  <a:schemeClr val="tx1">
                    <a:lumMod val="50000"/>
                    <a:lumOff val="50000"/>
                  </a:schemeClr>
                </a:solidFill>
                <a:effectLst/>
                <a:latin typeface="Söhne"/>
              </a:rPr>
              <a:t>studia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comportamentul</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și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impactul</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potențial</a:t>
            </a:r>
            <a:r>
              <a:rPr lang="en-US" b="0" i="0" dirty="0">
                <a:solidFill>
                  <a:schemeClr val="tx1">
                    <a:lumMod val="50000"/>
                    <a:lumOff val="50000"/>
                  </a:schemeClr>
                </a:solidFill>
                <a:effectLst/>
                <a:latin typeface="Söhne"/>
              </a:rPr>
              <a:t> al </a:t>
            </a:r>
            <a:r>
              <a:rPr lang="en-US" b="0" i="0" dirty="0" err="1">
                <a:solidFill>
                  <a:schemeClr val="tx1">
                    <a:lumMod val="50000"/>
                    <a:lumOff val="50000"/>
                  </a:schemeClr>
                </a:solidFill>
                <a:effectLst/>
                <a:latin typeface="Söhne"/>
              </a:rPr>
              <a:t>fișierului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executabil</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asupra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sistemelor</a:t>
            </a:r>
            <a:r>
              <a:rPr lang="en-US" b="0" i="0" dirty="0">
                <a:solidFill>
                  <a:schemeClr val="tx1">
                    <a:lumMod val="50000"/>
                    <a:lumOff val="50000"/>
                  </a:schemeClr>
                </a:solidFill>
                <a:effectLst/>
                <a:latin typeface="Söhne"/>
              </a:rPr>
              <a:t>.</a:t>
            </a:r>
          </a:p>
          <a:p>
            <a:r>
              <a:rPr lang="en-US" b="1" i="0" u="sng" err="1">
                <a:solidFill>
                  <a:schemeClr val="tx1">
                    <a:lumMod val="50000"/>
                    <a:lumOff val="50000"/>
                  </a:schemeClr>
                </a:solidFill>
                <a:effectLst/>
                <a:latin typeface="Söhne"/>
              </a:rPr>
              <a:t>Conștientizarea</a:t>
            </a:r>
            <a:r>
              <a:rPr lang="en-US" b="1" i="0" u="sng">
                <a:solidFill>
                  <a:schemeClr val="tx1">
                    <a:lumMod val="50000"/>
                    <a:lumOff val="50000"/>
                  </a:schemeClr>
                </a:solidFill>
                <a:effectLst/>
                <a:latin typeface="Söhne"/>
              </a:rPr>
              <a:t> Riscurilor</a:t>
            </a:r>
            <a:endParaRPr lang="en-US" b="0" i="0" u="sng" dirty="0">
              <a:solidFill>
                <a:schemeClr val="tx1">
                  <a:lumMod val="50000"/>
                  <a:lumOff val="50000"/>
                </a:schemeClr>
              </a:solidFill>
              <a:effectLst/>
              <a:latin typeface="Söhne"/>
            </a:endParaRPr>
          </a:p>
          <a:p>
            <a:pPr lvl="1"/>
            <a:r>
              <a:rPr lang="en-US" b="0" i="0" dirty="0" err="1">
                <a:solidFill>
                  <a:schemeClr val="tx1">
                    <a:lumMod val="50000"/>
                    <a:lumOff val="50000"/>
                  </a:schemeClr>
                </a:solidFill>
                <a:effectLst/>
                <a:latin typeface="Söhne"/>
              </a:rPr>
              <a:t>Fiți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conștienți</a:t>
            </a:r>
            <a:r>
              <a:rPr lang="en-US" b="0" i="0" dirty="0">
                <a:solidFill>
                  <a:schemeClr val="tx1">
                    <a:lumMod val="50000"/>
                    <a:lumOff val="50000"/>
                  </a:schemeClr>
                </a:solidFill>
                <a:effectLst/>
                <a:latin typeface="Söhne"/>
              </a:rPr>
              <a:t> de </a:t>
            </a:r>
            <a:r>
              <a:rPr lang="en-US" b="0" i="0" dirty="0" err="1">
                <a:solidFill>
                  <a:schemeClr val="tx1">
                    <a:lumMod val="50000"/>
                    <a:lumOff val="50000"/>
                  </a:schemeClr>
                </a:solidFill>
                <a:effectLst/>
                <a:latin typeface="Söhne"/>
              </a:rPr>
              <a:t>riscurile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asociate</a:t>
            </a:r>
            <a:r>
              <a:rPr lang="en-US" b="0" i="0" dirty="0">
                <a:solidFill>
                  <a:schemeClr val="tx1">
                    <a:lumMod val="50000"/>
                    <a:lumOff val="50000"/>
                  </a:schemeClr>
                </a:solidFill>
                <a:effectLst/>
                <a:latin typeface="Söhne"/>
              </a:rPr>
              <a:t> cu </a:t>
            </a:r>
            <a:r>
              <a:rPr lang="en-US" b="0" i="0" dirty="0" err="1">
                <a:solidFill>
                  <a:schemeClr val="tx1">
                    <a:lumMod val="50000"/>
                    <a:lumOff val="50000"/>
                  </a:schemeClr>
                </a:solidFill>
                <a:effectLst/>
                <a:latin typeface="Söhne"/>
              </a:rPr>
              <a:t>detonarea</a:t>
            </a:r>
            <a:r>
              <a:rPr lang="en-US" b="0" i="0" dirty="0">
                <a:solidFill>
                  <a:schemeClr val="tx1">
                    <a:lumMod val="50000"/>
                    <a:lumOff val="50000"/>
                  </a:schemeClr>
                </a:solidFill>
                <a:effectLst/>
                <a:latin typeface="Söhne"/>
              </a:rPr>
              <a:t> malware-</a:t>
            </a:r>
            <a:r>
              <a:rPr lang="en-US" b="0" i="0" dirty="0" err="1">
                <a:solidFill>
                  <a:schemeClr val="tx1">
                    <a:lumMod val="50000"/>
                    <a:lumOff val="50000"/>
                  </a:schemeClr>
                </a:solidFill>
                <a:effectLst/>
                <a:latin typeface="Söhne"/>
              </a:rPr>
              <a:t>ului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inclusiv</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posibilitatea</a:t>
            </a:r>
            <a:r>
              <a:rPr lang="en-US" b="0" i="0" dirty="0">
                <a:solidFill>
                  <a:schemeClr val="tx1">
                    <a:lumMod val="50000"/>
                    <a:lumOff val="50000"/>
                  </a:schemeClr>
                </a:solidFill>
                <a:effectLst/>
                <a:latin typeface="Söhne"/>
              </a:rPr>
              <a:t> de a </a:t>
            </a:r>
            <a:r>
              <a:rPr lang="en-US" b="0" i="0" dirty="0" err="1">
                <a:solidFill>
                  <a:schemeClr val="tx1">
                    <a:lumMod val="50000"/>
                    <a:lumOff val="50000"/>
                  </a:schemeClr>
                </a:solidFill>
                <a:effectLst/>
                <a:latin typeface="Söhne"/>
              </a:rPr>
              <a:t>eluda</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măsurile</a:t>
            </a:r>
            <a:r>
              <a:rPr lang="en-US" b="0" i="0" dirty="0">
                <a:solidFill>
                  <a:schemeClr val="tx1">
                    <a:lumMod val="50000"/>
                    <a:lumOff val="50000"/>
                  </a:schemeClr>
                </a:solidFill>
                <a:effectLst/>
                <a:latin typeface="Söhne"/>
              </a:rPr>
              <a:t> de </a:t>
            </a:r>
            <a:r>
              <a:rPr lang="en-US" b="0" i="0" dirty="0" err="1">
                <a:solidFill>
                  <a:schemeClr val="tx1">
                    <a:lumMod val="50000"/>
                    <a:lumOff val="50000"/>
                  </a:schemeClr>
                </a:solidFill>
                <a:effectLst/>
                <a:latin typeface="Söhne"/>
              </a:rPr>
              <a:t>securitate</a:t>
            </a:r>
            <a:r>
              <a:rPr lang="en-US" b="0" i="0" dirty="0">
                <a:solidFill>
                  <a:schemeClr val="tx1">
                    <a:lumMod val="50000"/>
                    <a:lumOff val="50000"/>
                  </a:schemeClr>
                </a:solidFill>
                <a:effectLst/>
                <a:latin typeface="Söhne"/>
              </a:rPr>
              <a:t> ale </a:t>
            </a:r>
            <a:r>
              <a:rPr lang="en-US" b="0" i="0" dirty="0" err="1">
                <a:solidFill>
                  <a:schemeClr val="tx1">
                    <a:lumMod val="50000"/>
                    <a:lumOff val="50000"/>
                  </a:schemeClr>
                </a:solidFill>
                <a:effectLst/>
                <a:latin typeface="Söhne"/>
              </a:rPr>
              <a:t>mașinii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virtuale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Asigurați-vă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că</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aveți</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măsuri</a:t>
            </a:r>
            <a:r>
              <a:rPr lang="en-US" b="0" i="0" dirty="0">
                <a:solidFill>
                  <a:schemeClr val="tx1">
                    <a:lumMod val="50000"/>
                    <a:lumOff val="50000"/>
                  </a:schemeClr>
                </a:solidFill>
                <a:effectLst/>
                <a:latin typeface="Söhne"/>
              </a:rPr>
              <a:t> de </a:t>
            </a:r>
            <a:r>
              <a:rPr lang="en-US" b="0" i="0" dirty="0" err="1">
                <a:solidFill>
                  <a:schemeClr val="tx1">
                    <a:lumMod val="50000"/>
                    <a:lumOff val="50000"/>
                  </a:schemeClr>
                </a:solidFill>
                <a:effectLst/>
                <a:latin typeface="Söhne"/>
              </a:rPr>
              <a:t>recuperare</a:t>
            </a:r>
            <a:r>
              <a:rPr lang="en-US" b="0" i="0" dirty="0">
                <a:solidFill>
                  <a:schemeClr val="tx1">
                    <a:lumMod val="50000"/>
                    <a:lumOff val="50000"/>
                  </a:schemeClr>
                </a:solidFill>
                <a:effectLst/>
                <a:latin typeface="Söhne"/>
              </a:rPr>
              <a:t> </a:t>
            </a:r>
            <a:r>
              <a:rPr lang="en-US" b="0" i="0" dirty="0" err="1">
                <a:solidFill>
                  <a:schemeClr val="tx1">
                    <a:lumMod val="50000"/>
                    <a:lumOff val="50000"/>
                  </a:schemeClr>
                </a:solidFill>
                <a:effectLst/>
                <a:latin typeface="Söhne"/>
              </a:rPr>
              <a:t>și</a:t>
            </a:r>
            <a:r>
              <a:rPr lang="en-US" b="0" i="0" dirty="0">
                <a:solidFill>
                  <a:schemeClr val="tx1">
                    <a:lumMod val="50000"/>
                    <a:lumOff val="50000"/>
                  </a:schemeClr>
                </a:solidFill>
                <a:effectLst/>
                <a:latin typeface="Söhne"/>
              </a:rPr>
              <a:t> de </a:t>
            </a:r>
            <a:r>
              <a:rPr lang="en-US" b="0" i="0" dirty="0" err="1">
                <a:solidFill>
                  <a:schemeClr val="tx1">
                    <a:lumMod val="50000"/>
                    <a:lumOff val="50000"/>
                  </a:schemeClr>
                </a:solidFill>
                <a:effectLst/>
                <a:latin typeface="Söhne"/>
              </a:rPr>
              <a:t>restaurare</a:t>
            </a:r>
            <a:r>
              <a:rPr lang="en-US" b="0" i="0" dirty="0">
                <a:solidFill>
                  <a:schemeClr val="tx1">
                    <a:lumMod val="50000"/>
                    <a:lumOff val="50000"/>
                  </a:schemeClr>
                </a:solidFill>
                <a:effectLst/>
                <a:latin typeface="Söhne"/>
              </a:rPr>
              <a:t> a </a:t>
            </a:r>
            <a:r>
              <a:rPr lang="en-US" b="0" i="0" dirty="0" err="1">
                <a:solidFill>
                  <a:schemeClr val="tx1">
                    <a:lumMod val="50000"/>
                    <a:lumOff val="50000"/>
                  </a:schemeClr>
                </a:solidFill>
                <a:effectLst/>
                <a:latin typeface="Söhne"/>
              </a:rPr>
              <a:t>sistemului</a:t>
            </a:r>
            <a:r>
              <a:rPr lang="en-US" b="0" i="0" dirty="0">
                <a:solidFill>
                  <a:schemeClr val="tx1">
                    <a:lumMod val="50000"/>
                    <a:lumOff val="50000"/>
                  </a:schemeClr>
                </a:solidFill>
                <a:effectLst/>
                <a:latin typeface="Söhne"/>
              </a:rPr>
              <a:t>.</a:t>
            </a:r>
          </a:p>
          <a:p>
            <a:pPr marL="0" indent="0">
              <a:buNone/>
            </a:pPr>
            <a:endParaRPr lang="en-US" b="1" i="0" u="sng">
              <a:solidFill>
                <a:schemeClr val="tx1">
                  <a:lumMod val="50000"/>
                  <a:lumOff val="50000"/>
                </a:schemeClr>
              </a:solidFill>
              <a:effectLst/>
              <a:latin typeface="Söhne"/>
            </a:endParaRPr>
          </a:p>
          <a:p>
            <a:pPr marL="0" indent="0">
              <a:buNone/>
            </a:pPr>
            <a:r>
              <a:rPr lang="en-US" b="1" i="0" u="sng">
                <a:solidFill>
                  <a:schemeClr val="tx1">
                    <a:lumMod val="50000"/>
                    <a:lumOff val="50000"/>
                  </a:schemeClr>
                </a:solidFill>
                <a:effectLst/>
                <a:latin typeface="Söhne"/>
              </a:rPr>
              <a:t>Notă</a:t>
            </a:r>
            <a:endParaRPr lang="en-US" b="0" i="0" u="sng">
              <a:solidFill>
                <a:schemeClr val="tx1">
                  <a:lumMod val="50000"/>
                  <a:lumOff val="50000"/>
                </a:schemeClr>
              </a:solidFill>
              <a:effectLst/>
              <a:latin typeface="Söhne"/>
            </a:endParaRPr>
          </a:p>
          <a:p>
            <a:r>
              <a:rPr lang="en-US" b="0" i="0">
                <a:solidFill>
                  <a:schemeClr val="tx1">
                    <a:lumMod val="50000"/>
                    <a:lumOff val="50000"/>
                  </a:schemeClr>
                </a:solidFill>
                <a:effectLst/>
                <a:latin typeface="Söhne"/>
              </a:rPr>
              <a:t>Educația și precauția sunt esențiale în manipularea malware-ului. Respectând aceste practici de siguranță, studenții ATM pot analiza în siguranță amenințările cibernetice, contribuind la dezvoltarea de soluții de securitate mai robuste.</a:t>
            </a:r>
            <a:endParaRPr lang="en-US" b="0" i="0" dirty="0">
              <a:solidFill>
                <a:schemeClr val="tx1">
                  <a:lumMod val="50000"/>
                  <a:lumOff val="50000"/>
                </a:schemeClr>
              </a:solidFill>
              <a:effectLst/>
              <a:latin typeface="Söhne"/>
            </a:endParaRPr>
          </a:p>
        </p:txBody>
      </p:sp>
    </p:spTree>
    <p:extLst>
      <p:ext uri="{BB962C8B-B14F-4D97-AF65-F5344CB8AC3E}">
        <p14:creationId xmlns:p14="http://schemas.microsoft.com/office/powerpoint/2010/main" val="21143327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normAutofit/>
          </a:bodyPr>
          <a:lstStyle/>
          <a:p>
            <a:r>
              <a:rPr lang="en-US"/>
              <a:t>Reguli finale pentru fișierele malware</a:t>
            </a:r>
          </a:p>
        </p:txBody>
      </p:sp>
      <p:sp>
        <p:nvSpPr>
          <p:cNvPr id="3" name="Content Placeholder 2"/>
          <p:cNvSpPr>
            <a:spLocks noGrp="1"/>
          </p:cNvSpPr>
          <p:nvPr>
            <p:ph idx="1"/>
          </p:nvPr>
        </p:nvSpPr>
        <p:spPr>
          <a:xfrm>
            <a:off x="832103" y="2180496"/>
            <a:ext cx="10527793" cy="3885024"/>
          </a:xfrm>
        </p:spPr>
        <p:txBody>
          <a:bodyPr>
            <a:noAutofit/>
          </a:bodyPr>
          <a:lstStyle/>
          <a:p>
            <a:pPr marL="0" indent="0">
              <a:buNone/>
            </a:pPr>
            <a:endParaRPr lang="en-US" sz="2800"/>
          </a:p>
          <a:p>
            <a:r>
              <a:rPr lang="it-IT" sz="2800"/>
              <a:t>Fișierele executabile sunt păstrate în fișiere comprimate cu o parolă.</a:t>
            </a:r>
          </a:p>
          <a:p>
            <a:r>
              <a:rPr lang="it-IT" sz="2800"/>
              <a:t>Pentru fișierele executabile, extensia este modificată prin adăugarea caracterului "_". Ex. "file.exe" este stocat ca "file._exe" (previne detonarea accidentală. Pentru a detona, ștergeți caracterul "_" din extensia fișierului.</a:t>
            </a:r>
          </a:p>
          <a:p>
            <a:r>
              <a:rPr lang="it-IT" sz="2800"/>
              <a:t>Mutarea unui fișier malware pe mașina gazdă pentru alte tipuri de studii care nu pot fi efectuate pe MV, se face prin aplicarea aceleiași metode de modificare a extensiei, în prealabil.</a:t>
            </a:r>
          </a:p>
        </p:txBody>
      </p:sp>
    </p:spTree>
    <p:extLst>
      <p:ext uri="{BB962C8B-B14F-4D97-AF65-F5344CB8AC3E}">
        <p14:creationId xmlns:p14="http://schemas.microsoft.com/office/powerpoint/2010/main" val="5859938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Moodle:</a:t>
            </a:r>
            <a:br>
              <a:rPr lang="en-US"/>
            </a:br>
            <a:r>
              <a:rPr lang="en-US"/>
              <a:t>Honeypot</a:t>
            </a:r>
          </a:p>
        </p:txBody>
      </p:sp>
      <p:sp>
        <p:nvSpPr>
          <p:cNvPr id="3" name="Content Placeholder 2"/>
          <p:cNvSpPr>
            <a:spLocks noGrp="1"/>
          </p:cNvSpPr>
          <p:nvPr>
            <p:ph idx="1"/>
          </p:nvPr>
        </p:nvSpPr>
        <p:spPr>
          <a:xfrm>
            <a:off x="581192" y="2180496"/>
            <a:ext cx="11029615" cy="4342224"/>
          </a:xfrm>
        </p:spPr>
        <p:txBody>
          <a:bodyPr>
            <a:normAutofit fontScale="85000" lnSpcReduction="10000"/>
          </a:bodyPr>
          <a:lstStyle/>
          <a:p>
            <a:r>
              <a:rPr lang="en-US"/>
              <a:t>Directorul "Honeypot" este conceput ca un mediu experimental controlat, destinat studiului comportamentului malware-ului într-un context securizat. Acesta include două subdirectoare principale, "Curat" și "Infectat", fiecare conținând 65 de executabile inițial neinfectate. Scopul acestei structuri este de a oferi o platformă pentru observarea directă a modului în care diferite tipuri de malware identifică și interacționează cu fișierele executabile, în funcție de extensiile lor și de prezența într-un mediu potențial vulnerabil.</a:t>
            </a:r>
          </a:p>
          <a:p>
            <a:endParaRPr lang="en-US"/>
          </a:p>
          <a:p>
            <a:r>
              <a:rPr lang="en-US" b="1"/>
              <a:t>Directorul Curat. </a:t>
            </a:r>
            <a:r>
              <a:rPr lang="en-US"/>
              <a:t>Acest subdirector conține executabilele cu extensia modificată în "._exe", în încercarea de a evita detectarea și infecția automată de către viruși. Modificarea extensiei este o tactică utilizată pentru a testa dacă malware-ul vizează specific fișierele executabile prin extensia lor standard ".exe".</a:t>
            </a:r>
          </a:p>
          <a:p>
            <a:endParaRPr lang="en-US"/>
          </a:p>
          <a:p>
            <a:r>
              <a:rPr lang="en-US" b="1"/>
              <a:t>Directorul Infectat. </a:t>
            </a:r>
            <a:r>
              <a:rPr lang="en-US"/>
              <a:t>În contrast, acest subdirector conține același set de executabile, dar cu extensia standard ".exe". Acesta servește ca un mediu țintă pentru detonarea intenționată a malware-ului, oferind o perspectivă asupra eficacității acestuia în recunoașterea și infectarea fișierelor cu extensii cunoscute.</a:t>
            </a:r>
          </a:p>
          <a:p>
            <a:endParaRPr lang="en-US"/>
          </a:p>
          <a:p>
            <a:r>
              <a:rPr lang="en-US"/>
              <a:t>Prin compararea rezultatelor interacțiunii malware-ului cu fișierele din aceste două directoare, studenții pot obține înțelegere valoroasă asupra tacticii de evitare a detecției utilizate de viruși, precum și asupra măsurilor de securitate care ar putea fi implementate pentru protecția împotriva acestora. Această abordare practică îi ajută pe studenți să dezvolte competențe esențiale în analiza malware-ului și în strategiile de apărare cibernetică.</a:t>
            </a:r>
          </a:p>
        </p:txBody>
      </p:sp>
      <p:sp>
        <p:nvSpPr>
          <p:cNvPr id="5" name="Rectangle 4"/>
          <p:cNvSpPr/>
          <p:nvPr/>
        </p:nvSpPr>
        <p:spPr>
          <a:xfrm>
            <a:off x="694944" y="1213104"/>
            <a:ext cx="7053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16446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265176" y="140208"/>
            <a:ext cx="11676888" cy="6589654"/>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endParaRPr>
          </a:p>
        </p:txBody>
      </p:sp>
      <p:sp>
        <p:nvSpPr>
          <p:cNvPr id="4" name="Rectangle 3"/>
          <p:cNvSpPr/>
          <p:nvPr/>
        </p:nvSpPr>
        <p:spPr>
          <a:xfrm>
            <a:off x="402336" y="195406"/>
            <a:ext cx="8522208" cy="6463308"/>
          </a:xfrm>
          <a:prstGeom prst="rect">
            <a:avLst/>
          </a:prstGeom>
        </p:spPr>
        <p:txBody>
          <a:bodyPr wrap="square">
            <a:spAutoFit/>
          </a:bodyPr>
          <a:lstStyle/>
          <a:p>
            <a:pPr>
              <a:buFont typeface="Arial" panose="020B0604020202020204" pitchFamily="34" charset="0"/>
              <a:buChar char="•"/>
            </a:pPr>
            <a:r>
              <a:rPr lang="en-US">
                <a:solidFill>
                  <a:prstClr val="black"/>
                </a:solidFill>
                <a:hlinkClick r:id="rId2"/>
              </a:rPr>
              <a:t>AMAaaS</a:t>
            </a:r>
            <a:r>
              <a:rPr lang="en-US">
                <a:solidFill>
                  <a:prstClr val="black"/>
                </a:solidFill>
              </a:rPr>
              <a:t> (fișiere Android)</a:t>
            </a:r>
          </a:p>
          <a:p>
            <a:pPr>
              <a:buFont typeface="Arial" panose="020B0604020202020204" pitchFamily="34" charset="0"/>
              <a:buChar char="•"/>
            </a:pPr>
            <a:r>
              <a:rPr lang="en-US">
                <a:solidFill>
                  <a:prstClr val="black"/>
                </a:solidFill>
                <a:hlinkClick r:id="rId3"/>
              </a:rPr>
              <a:t>Any.run</a:t>
            </a:r>
            <a:r>
              <a:rPr lang="en-US">
                <a:solidFill>
                  <a:prstClr val="black"/>
                </a:solidFill>
              </a:rPr>
              <a:t> (versiune gratuită)</a:t>
            </a:r>
          </a:p>
          <a:p>
            <a:pPr>
              <a:buFont typeface="Arial" panose="020B0604020202020204" pitchFamily="34" charset="0"/>
              <a:buChar char="•"/>
            </a:pPr>
            <a:r>
              <a:rPr lang="en-US">
                <a:solidFill>
                  <a:prstClr val="black"/>
                </a:solidFill>
                <a:hlinkClick r:id="rId4"/>
              </a:rPr>
              <a:t>Binary Guard True Bare Metal</a:t>
            </a:r>
            <a:endParaRPr lang="en-US">
              <a:solidFill>
                <a:prstClr val="black"/>
              </a:solidFill>
            </a:endParaRPr>
          </a:p>
          <a:p>
            <a:pPr>
              <a:buFont typeface="Arial" panose="020B0604020202020204" pitchFamily="34" charset="0"/>
              <a:buChar char="•"/>
            </a:pPr>
            <a:r>
              <a:rPr lang="en-US">
                <a:solidFill>
                  <a:prstClr val="black"/>
                </a:solidFill>
                <a:hlinkClick r:id="rId5"/>
              </a:rPr>
              <a:t>Intezer Analyze</a:t>
            </a:r>
            <a:r>
              <a:rPr lang="en-US">
                <a:solidFill>
                  <a:prstClr val="black"/>
                </a:solidFill>
              </a:rPr>
              <a:t> (ediția comunitară)</a:t>
            </a:r>
          </a:p>
          <a:p>
            <a:pPr>
              <a:buFont typeface="Arial" panose="020B0604020202020204" pitchFamily="34" charset="0"/>
              <a:buChar char="•"/>
            </a:pPr>
            <a:r>
              <a:rPr lang="en-US">
                <a:solidFill>
                  <a:prstClr val="black"/>
                </a:solidFill>
                <a:hlinkClick r:id="rId6"/>
              </a:rPr>
              <a:t>CAPE Sandbox</a:t>
            </a:r>
            <a:endParaRPr lang="en-US">
              <a:solidFill>
                <a:prstClr val="black"/>
              </a:solidFill>
            </a:endParaRPr>
          </a:p>
          <a:p>
            <a:pPr>
              <a:buFont typeface="Arial" panose="020B0604020202020204" pitchFamily="34" charset="0"/>
              <a:buChar char="•"/>
            </a:pPr>
            <a:r>
              <a:rPr lang="en-US">
                <a:solidFill>
                  <a:prstClr val="black"/>
                </a:solidFill>
                <a:hlinkClick r:id="rId7"/>
              </a:rPr>
              <a:t>Comodo Valkyrie</a:t>
            </a:r>
            <a:endParaRPr lang="en-US">
              <a:solidFill>
                <a:prstClr val="black"/>
              </a:solidFill>
            </a:endParaRPr>
          </a:p>
          <a:p>
            <a:pPr>
              <a:buFont typeface="Arial" panose="020B0604020202020204" pitchFamily="34" charset="0"/>
              <a:buChar char="•"/>
            </a:pPr>
            <a:r>
              <a:rPr lang="en-US">
                <a:solidFill>
                  <a:prstClr val="black"/>
                </a:solidFill>
                <a:hlinkClick r:id="rId8"/>
              </a:rPr>
              <a:t>Detux Sandbox</a:t>
            </a:r>
            <a:r>
              <a:rPr lang="en-US">
                <a:solidFill>
                  <a:prstClr val="black"/>
                </a:solidFill>
              </a:rPr>
              <a:t> (binare Linux)</a:t>
            </a:r>
          </a:p>
          <a:p>
            <a:pPr>
              <a:buFont typeface="Arial" panose="020B0604020202020204" pitchFamily="34" charset="0"/>
              <a:buChar char="•"/>
            </a:pPr>
            <a:r>
              <a:rPr lang="en-US">
                <a:solidFill>
                  <a:prstClr val="black"/>
                </a:solidFill>
                <a:hlinkClick r:id="rId9"/>
              </a:rPr>
              <a:t>FileScan.IO</a:t>
            </a:r>
            <a:r>
              <a:rPr lang="en-US">
                <a:solidFill>
                  <a:prstClr val="black"/>
                </a:solidFill>
              </a:rPr>
              <a:t> (analiză și emulare statică)</a:t>
            </a:r>
          </a:p>
          <a:p>
            <a:pPr>
              <a:buFont typeface="Arial" panose="020B0604020202020204" pitchFamily="34" charset="0"/>
              <a:buChar char="•"/>
            </a:pPr>
            <a:r>
              <a:rPr lang="en-US">
                <a:solidFill>
                  <a:prstClr val="black"/>
                </a:solidFill>
                <a:hlinkClick r:id="rId10"/>
              </a:rPr>
              <a:t>Gatewatcher Intelligence</a:t>
            </a:r>
            <a:endParaRPr lang="en-US">
              <a:solidFill>
                <a:prstClr val="black"/>
              </a:solidFill>
            </a:endParaRPr>
          </a:p>
          <a:p>
            <a:pPr>
              <a:buFont typeface="Arial" panose="020B0604020202020204" pitchFamily="34" charset="0"/>
              <a:buChar char="•"/>
            </a:pPr>
            <a:r>
              <a:rPr lang="en-US">
                <a:solidFill>
                  <a:prstClr val="black"/>
                </a:solidFill>
                <a:hlinkClick r:id="rId11"/>
              </a:rPr>
              <a:t>Hatching Triage</a:t>
            </a:r>
            <a:r>
              <a:rPr lang="en-US">
                <a:solidFill>
                  <a:prstClr val="black"/>
                </a:solidFill>
              </a:rPr>
              <a:t> (licențe individuale și de cercetător)</a:t>
            </a:r>
          </a:p>
          <a:p>
            <a:pPr>
              <a:buFont typeface="Arial" panose="020B0604020202020204" pitchFamily="34" charset="0"/>
              <a:buChar char="•"/>
            </a:pPr>
            <a:r>
              <a:rPr lang="en-US">
                <a:solidFill>
                  <a:prstClr val="black"/>
                </a:solidFill>
                <a:hlinkClick r:id="rId12"/>
              </a:rPr>
              <a:t>IRIS-H</a:t>
            </a:r>
            <a:r>
              <a:rPr lang="en-US">
                <a:solidFill>
                  <a:prstClr val="black"/>
                </a:solidFill>
              </a:rPr>
              <a:t> (se concentrează pe fișierele documentelor)</a:t>
            </a:r>
          </a:p>
          <a:p>
            <a:pPr>
              <a:buFont typeface="Arial" panose="020B0604020202020204" pitchFamily="34" charset="0"/>
              <a:buChar char="•"/>
            </a:pPr>
            <a:r>
              <a:rPr lang="en-US">
                <a:solidFill>
                  <a:prstClr val="black"/>
                </a:solidFill>
                <a:hlinkClick r:id="rId13"/>
              </a:rPr>
              <a:t>Hybrid Analysis</a:t>
            </a:r>
            <a:endParaRPr lang="en-US">
              <a:solidFill>
                <a:prstClr val="black"/>
              </a:solidFill>
            </a:endParaRPr>
          </a:p>
          <a:p>
            <a:pPr>
              <a:buFont typeface="Arial" panose="020B0604020202020204" pitchFamily="34" charset="0"/>
              <a:buChar char="•"/>
            </a:pPr>
            <a:r>
              <a:rPr lang="en-US">
                <a:solidFill>
                  <a:prstClr val="black"/>
                </a:solidFill>
                <a:hlinkClick r:id="rId14"/>
              </a:rPr>
              <a:t>InQuest Labs Deep File Inspection</a:t>
            </a:r>
            <a:endParaRPr lang="en-US">
              <a:solidFill>
                <a:prstClr val="black"/>
              </a:solidFill>
            </a:endParaRPr>
          </a:p>
          <a:p>
            <a:pPr>
              <a:buFont typeface="Arial" panose="020B0604020202020204" pitchFamily="34" charset="0"/>
              <a:buChar char="•"/>
            </a:pPr>
            <a:r>
              <a:rPr lang="en-US">
                <a:solidFill>
                  <a:prstClr val="black"/>
                </a:solidFill>
                <a:hlinkClick r:id="rId15"/>
              </a:rPr>
              <a:t>Joe Sandbox Cloud</a:t>
            </a:r>
            <a:r>
              <a:rPr lang="en-US">
                <a:solidFill>
                  <a:prstClr val="black"/>
                </a:solidFill>
              </a:rPr>
              <a:t> (e</a:t>
            </a:r>
            <a:r>
              <a:rPr lang="ro-RO">
                <a:solidFill>
                  <a:prstClr val="black"/>
                </a:solidFill>
              </a:rPr>
              <a:t>diția comunitară</a:t>
            </a:r>
            <a:r>
              <a:rPr lang="en-US">
                <a:solidFill>
                  <a:prstClr val="black"/>
                </a:solidFill>
              </a:rPr>
              <a:t>)</a:t>
            </a:r>
          </a:p>
          <a:p>
            <a:pPr>
              <a:buFont typeface="Arial" panose="020B0604020202020204" pitchFamily="34" charset="0"/>
              <a:buChar char="•"/>
            </a:pPr>
            <a:r>
              <a:rPr lang="en-US">
                <a:solidFill>
                  <a:prstClr val="black"/>
                </a:solidFill>
                <a:hlinkClick r:id="rId16"/>
              </a:rPr>
              <a:t>Manalyzer</a:t>
            </a:r>
            <a:r>
              <a:rPr lang="en-US">
                <a:solidFill>
                  <a:prstClr val="black"/>
                </a:solidFill>
              </a:rPr>
              <a:t> (analiză statică)</a:t>
            </a:r>
          </a:p>
          <a:p>
            <a:pPr>
              <a:buFont typeface="Arial" panose="020B0604020202020204" pitchFamily="34" charset="0"/>
              <a:buChar char="•"/>
            </a:pPr>
            <a:r>
              <a:rPr lang="en-US">
                <a:solidFill>
                  <a:prstClr val="black"/>
                </a:solidFill>
                <a:hlinkClick r:id="rId17"/>
              </a:rPr>
              <a:t>sandbox.pikker.ee</a:t>
            </a:r>
            <a:endParaRPr lang="en-US">
              <a:solidFill>
                <a:prstClr val="black"/>
              </a:solidFill>
            </a:endParaRPr>
          </a:p>
          <a:p>
            <a:pPr>
              <a:buFont typeface="Arial" panose="020B0604020202020204" pitchFamily="34" charset="0"/>
              <a:buChar char="•"/>
            </a:pPr>
            <a:r>
              <a:rPr lang="en-US">
                <a:solidFill>
                  <a:prstClr val="black"/>
                </a:solidFill>
                <a:hlinkClick r:id="rId18"/>
              </a:rPr>
              <a:t>SandBlast Analysis</a:t>
            </a:r>
            <a:endParaRPr lang="en-US">
              <a:solidFill>
                <a:prstClr val="black"/>
              </a:solidFill>
            </a:endParaRPr>
          </a:p>
          <a:p>
            <a:pPr>
              <a:buFont typeface="Arial" panose="020B0604020202020204" pitchFamily="34" charset="0"/>
              <a:buChar char="•"/>
            </a:pPr>
            <a:r>
              <a:rPr lang="en-US">
                <a:solidFill>
                  <a:prstClr val="black"/>
                </a:solidFill>
                <a:hlinkClick r:id="rId19"/>
              </a:rPr>
              <a:t>SecondWrite</a:t>
            </a:r>
            <a:r>
              <a:rPr lang="en-US">
                <a:solidFill>
                  <a:prstClr val="black"/>
                </a:solidFill>
              </a:rPr>
              <a:t> (versiune gratuită)</a:t>
            </a:r>
          </a:p>
          <a:p>
            <a:pPr>
              <a:buFont typeface="Arial" panose="020B0604020202020204" pitchFamily="34" charset="0"/>
              <a:buChar char="•"/>
            </a:pPr>
            <a:r>
              <a:rPr lang="en-US">
                <a:solidFill>
                  <a:prstClr val="black"/>
                </a:solidFill>
                <a:hlinkClick r:id="rId20"/>
              </a:rPr>
              <a:t>SNDBOX</a:t>
            </a:r>
            <a:endParaRPr lang="en-US">
              <a:solidFill>
                <a:prstClr val="black"/>
              </a:solidFill>
            </a:endParaRPr>
          </a:p>
          <a:p>
            <a:pPr>
              <a:buFont typeface="Arial" panose="020B0604020202020204" pitchFamily="34" charset="0"/>
              <a:buChar char="•"/>
            </a:pPr>
            <a:r>
              <a:rPr lang="en-US">
                <a:solidFill>
                  <a:prstClr val="black"/>
                </a:solidFill>
                <a:hlinkClick r:id="rId21"/>
              </a:rPr>
              <a:t>ThreatConnect</a:t>
            </a:r>
            <a:endParaRPr lang="en-US">
              <a:solidFill>
                <a:prstClr val="black"/>
              </a:solidFill>
            </a:endParaRPr>
          </a:p>
          <a:p>
            <a:pPr>
              <a:buFont typeface="Arial" panose="020B0604020202020204" pitchFamily="34" charset="0"/>
              <a:buChar char="•"/>
            </a:pPr>
            <a:r>
              <a:rPr lang="en-US">
                <a:solidFill>
                  <a:prstClr val="black"/>
                </a:solidFill>
                <a:hlinkClick r:id="rId22"/>
              </a:rPr>
              <a:t>ThreatZone</a:t>
            </a:r>
            <a:endParaRPr lang="en-US">
              <a:solidFill>
                <a:prstClr val="black"/>
              </a:solidFill>
            </a:endParaRPr>
          </a:p>
          <a:p>
            <a:pPr>
              <a:buFont typeface="Arial" panose="020B0604020202020204" pitchFamily="34" charset="0"/>
              <a:buChar char="•"/>
            </a:pPr>
            <a:r>
              <a:rPr lang="en-US">
                <a:solidFill>
                  <a:prstClr val="black"/>
                </a:solidFill>
                <a:hlinkClick r:id="rId23"/>
              </a:rPr>
              <a:t>VirusTotal</a:t>
            </a:r>
            <a:endParaRPr lang="en-US">
              <a:solidFill>
                <a:prstClr val="black"/>
              </a:solidFill>
            </a:endParaRPr>
          </a:p>
          <a:p>
            <a:pPr>
              <a:buFont typeface="Arial" panose="020B0604020202020204" pitchFamily="34" charset="0"/>
              <a:buChar char="•"/>
            </a:pPr>
            <a:r>
              <a:rPr lang="en-US">
                <a:solidFill>
                  <a:prstClr val="black"/>
                </a:solidFill>
                <a:hlinkClick r:id="rId24"/>
              </a:rPr>
              <a:t>Yomi</a:t>
            </a:r>
            <a:endParaRPr lang="en-US">
              <a:solidFill>
                <a:prstClr val="black"/>
              </a:solidFill>
            </a:endParaRPr>
          </a:p>
        </p:txBody>
      </p:sp>
      <p:sp>
        <p:nvSpPr>
          <p:cNvPr id="3" name="Rectangle 2"/>
          <p:cNvSpPr/>
          <p:nvPr/>
        </p:nvSpPr>
        <p:spPr>
          <a:xfrm>
            <a:off x="6675120" y="2965395"/>
            <a:ext cx="4224528" cy="923330"/>
          </a:xfrm>
          <a:prstGeom prst="rect">
            <a:avLst/>
          </a:prstGeom>
        </p:spPr>
        <p:txBody>
          <a:bodyPr wrap="square">
            <a:spAutoFit/>
          </a:bodyPr>
          <a:lstStyle/>
          <a:p>
            <a:r>
              <a:rPr lang="en-US">
                <a:solidFill>
                  <a:prstClr val="black">
                    <a:lumMod val="50000"/>
                    <a:lumOff val="50000"/>
                  </a:prstClr>
                </a:solidFill>
              </a:rPr>
              <a:t>O listă cuprinzătoare de servicii gratuite, găzduite, care efectuează scanări automate de malware.</a:t>
            </a:r>
          </a:p>
        </p:txBody>
      </p:sp>
      <p:sp>
        <p:nvSpPr>
          <p:cNvPr id="6" name="Flowchart: Process 5"/>
          <p:cNvSpPr/>
          <p:nvPr/>
        </p:nvSpPr>
        <p:spPr>
          <a:xfrm>
            <a:off x="6187440" y="2412076"/>
            <a:ext cx="5199888" cy="202996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endParaRPr>
          </a:p>
        </p:txBody>
      </p:sp>
      <p:sp>
        <p:nvSpPr>
          <p:cNvPr id="7" name="Title 1"/>
          <p:cNvSpPr>
            <a:spLocks noGrp="1"/>
          </p:cNvSpPr>
          <p:nvPr>
            <p:ph type="title"/>
          </p:nvPr>
        </p:nvSpPr>
        <p:spPr>
          <a:xfrm>
            <a:off x="5078028" y="665580"/>
            <a:ext cx="6825448" cy="1013800"/>
          </a:xfrm>
        </p:spPr>
        <p:txBody>
          <a:bodyPr>
            <a:normAutofit fontScale="90000"/>
          </a:bodyPr>
          <a:lstStyle/>
          <a:p>
            <a:r>
              <a:rPr lang="en-US" u="sng"/>
              <a:t>Platforme de scanare în cloud</a:t>
            </a:r>
          </a:p>
        </p:txBody>
      </p:sp>
    </p:spTree>
    <p:extLst>
      <p:ext uri="{BB962C8B-B14F-4D97-AF65-F5344CB8AC3E}">
        <p14:creationId xmlns:p14="http://schemas.microsoft.com/office/powerpoint/2010/main" val="25811272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Sandbox Platforms</a:t>
            </a:r>
            <a:br>
              <a:rPr lang="en-US"/>
            </a:br>
            <a:endParaRPr lang="en-US"/>
          </a:p>
        </p:txBody>
      </p:sp>
      <p:graphicFrame>
        <p:nvGraphicFramePr>
          <p:cNvPr id="4" name="Table 3"/>
          <p:cNvGraphicFramePr>
            <a:graphicFrameLocks noGrp="1"/>
          </p:cNvGraphicFramePr>
          <p:nvPr/>
        </p:nvGraphicFramePr>
        <p:xfrm>
          <a:off x="1301496" y="2431574"/>
          <a:ext cx="10128504" cy="2506186"/>
        </p:xfrm>
        <a:graphic>
          <a:graphicData uri="http://schemas.openxmlformats.org/drawingml/2006/table">
            <a:tbl>
              <a:tblPr/>
              <a:tblGrid>
                <a:gridCol w="2051304">
                  <a:extLst>
                    <a:ext uri="{9D8B030D-6E8A-4147-A177-3AD203B41FA5}">
                      <a16:colId xmlns:a16="http://schemas.microsoft.com/office/drawing/2014/main" val="20000"/>
                    </a:ext>
                  </a:extLst>
                </a:gridCol>
                <a:gridCol w="3005328">
                  <a:extLst>
                    <a:ext uri="{9D8B030D-6E8A-4147-A177-3AD203B41FA5}">
                      <a16:colId xmlns:a16="http://schemas.microsoft.com/office/drawing/2014/main" val="20001"/>
                    </a:ext>
                  </a:extLst>
                </a:gridCol>
                <a:gridCol w="5071872">
                  <a:extLst>
                    <a:ext uri="{9D8B030D-6E8A-4147-A177-3AD203B41FA5}">
                      <a16:colId xmlns:a16="http://schemas.microsoft.com/office/drawing/2014/main" val="20002"/>
                    </a:ext>
                  </a:extLst>
                </a:gridCol>
              </a:tblGrid>
              <a:tr h="713962">
                <a:tc>
                  <a:txBody>
                    <a:bodyPr/>
                    <a:lstStyle/>
                    <a:p>
                      <a:r>
                        <a:rPr lang="en-US">
                          <a:solidFill>
                            <a:schemeClr val="tx1">
                              <a:lumMod val="50000"/>
                              <a:lumOff val="50000"/>
                            </a:schemeClr>
                          </a:solidFill>
                        </a:rPr>
                        <a:t>Name</a:t>
                      </a:r>
                    </a:p>
                  </a:txBody>
                  <a:tcPr anchor="ctr">
                    <a:lnL>
                      <a:noFill/>
                    </a:lnL>
                    <a:lnR>
                      <a:noFill/>
                    </a:lnR>
                    <a:lnT>
                      <a:noFill/>
                    </a:lnT>
                    <a:lnB>
                      <a:noFill/>
                    </a:lnB>
                  </a:tcPr>
                </a:tc>
                <a:tc>
                  <a:txBody>
                    <a:bodyPr/>
                    <a:lstStyle/>
                    <a:p>
                      <a:r>
                        <a:rPr lang="en-US">
                          <a:solidFill>
                            <a:schemeClr val="tx1">
                              <a:lumMod val="50000"/>
                              <a:lumOff val="50000"/>
                            </a:schemeClr>
                          </a:solidFill>
                        </a:rPr>
                        <a:t>URL</a:t>
                      </a:r>
                    </a:p>
                  </a:txBody>
                  <a:tcPr anchor="ctr">
                    <a:lnL>
                      <a:noFill/>
                    </a:lnL>
                    <a:lnR>
                      <a:noFill/>
                    </a:lnR>
                    <a:lnT>
                      <a:noFill/>
                    </a:lnT>
                    <a:lnB>
                      <a:noFill/>
                    </a:lnB>
                  </a:tcPr>
                </a:tc>
                <a:tc>
                  <a:txBody>
                    <a:bodyPr/>
                    <a:lstStyle/>
                    <a:p>
                      <a:r>
                        <a:rPr lang="en-US">
                          <a:solidFill>
                            <a:schemeClr val="tx1">
                              <a:lumMod val="50000"/>
                              <a:lumOff val="50000"/>
                            </a:schemeClr>
                          </a:solidFill>
                        </a:rPr>
                        <a:t>Description</a:t>
                      </a: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US" sz="1400" b="1">
                          <a:solidFill>
                            <a:schemeClr val="tx1">
                              <a:lumMod val="50000"/>
                              <a:lumOff val="50000"/>
                            </a:schemeClr>
                          </a:solidFill>
                        </a:rPr>
                        <a:t>Any.run</a:t>
                      </a:r>
                      <a:endParaRPr lang="en-US" sz="1400">
                        <a:solidFill>
                          <a:schemeClr val="tx1">
                            <a:lumMod val="50000"/>
                            <a:lumOff val="50000"/>
                          </a:schemeClr>
                        </a:solidFill>
                      </a:endParaRPr>
                    </a:p>
                  </a:txBody>
                  <a:tcPr anchor="ctr">
                    <a:lnL>
                      <a:noFill/>
                    </a:lnL>
                    <a:lnR>
                      <a:noFill/>
                    </a:lnR>
                    <a:lnT>
                      <a:noFill/>
                    </a:lnT>
                    <a:lnB>
                      <a:noFill/>
                    </a:lnB>
                  </a:tcPr>
                </a:tc>
                <a:tc>
                  <a:txBody>
                    <a:bodyPr/>
                    <a:lstStyle/>
                    <a:p>
                      <a:r>
                        <a:rPr lang="en-US" sz="1400">
                          <a:hlinkClick r:id="rId2"/>
                        </a:rPr>
                        <a:t>https://app.any.run</a:t>
                      </a:r>
                      <a:endParaRPr lang="en-US" sz="1400"/>
                    </a:p>
                  </a:txBody>
                  <a:tcPr anchor="ctr">
                    <a:lnL>
                      <a:noFill/>
                    </a:lnL>
                    <a:lnR>
                      <a:noFill/>
                    </a:lnR>
                    <a:lnT>
                      <a:noFill/>
                    </a:lnT>
                    <a:lnB>
                      <a:noFill/>
                    </a:lnB>
                  </a:tcPr>
                </a:tc>
                <a:tc>
                  <a:txBody>
                    <a:bodyPr/>
                    <a:lstStyle/>
                    <a:p>
                      <a:r>
                        <a:rPr lang="en-US" sz="1400">
                          <a:solidFill>
                            <a:schemeClr val="tx1">
                              <a:lumMod val="50000"/>
                              <a:lumOff val="50000"/>
                            </a:schemeClr>
                          </a:solidFill>
                        </a:rPr>
                        <a:t>Interactive online sandbox with lots of options.</a:t>
                      </a:r>
                    </a:p>
                  </a:txBody>
                  <a:tcPr anchor="ctr">
                    <a:lnL>
                      <a:noFill/>
                    </a:lnL>
                    <a:lnR>
                      <a:noFill/>
                    </a:lnR>
                    <a:lnT>
                      <a:noFill/>
                    </a:lnT>
                    <a:lnB>
                      <a:noFill/>
                    </a:lnB>
                  </a:tcPr>
                </a:tc>
                <a:extLst>
                  <a:ext uri="{0D108BD9-81ED-4DB2-BD59-A6C34878D82A}">
                    <a16:rowId xmlns:a16="http://schemas.microsoft.com/office/drawing/2014/main" val="10001"/>
                  </a:ext>
                </a:extLst>
              </a:tr>
              <a:tr h="536448">
                <a:tc>
                  <a:txBody>
                    <a:bodyPr/>
                    <a:lstStyle/>
                    <a:p>
                      <a:r>
                        <a:rPr lang="en-US" sz="1400" b="1">
                          <a:solidFill>
                            <a:schemeClr val="tx1">
                              <a:lumMod val="50000"/>
                              <a:lumOff val="50000"/>
                            </a:schemeClr>
                          </a:solidFill>
                        </a:rPr>
                        <a:t>Hatching Triage</a:t>
                      </a:r>
                      <a:endParaRPr lang="en-US" sz="1400">
                        <a:solidFill>
                          <a:schemeClr val="tx1">
                            <a:lumMod val="50000"/>
                            <a:lumOff val="50000"/>
                          </a:schemeClr>
                        </a:solidFill>
                      </a:endParaRPr>
                    </a:p>
                  </a:txBody>
                  <a:tcPr anchor="ctr">
                    <a:lnL>
                      <a:noFill/>
                    </a:lnL>
                    <a:lnR>
                      <a:noFill/>
                    </a:lnR>
                    <a:lnT>
                      <a:noFill/>
                    </a:lnT>
                    <a:lnB>
                      <a:noFill/>
                    </a:lnB>
                  </a:tcPr>
                </a:tc>
                <a:tc>
                  <a:txBody>
                    <a:bodyPr/>
                    <a:lstStyle/>
                    <a:p>
                      <a:r>
                        <a:rPr lang="en-US" sz="1400">
                          <a:hlinkClick r:id="rId3"/>
                        </a:rPr>
                        <a:t>https://tria.ge/dashboard</a:t>
                      </a:r>
                      <a:endParaRPr lang="en-US" sz="1400"/>
                    </a:p>
                  </a:txBody>
                  <a:tcPr anchor="ctr">
                    <a:lnL>
                      <a:noFill/>
                    </a:lnL>
                    <a:lnR>
                      <a:noFill/>
                    </a:lnR>
                    <a:lnT>
                      <a:noFill/>
                    </a:lnT>
                    <a:lnB>
                      <a:noFill/>
                    </a:lnB>
                  </a:tcPr>
                </a:tc>
                <a:tc>
                  <a:txBody>
                    <a:bodyPr/>
                    <a:lstStyle/>
                    <a:p>
                      <a:r>
                        <a:rPr lang="en-US" sz="1400">
                          <a:solidFill>
                            <a:schemeClr val="tx1">
                              <a:lumMod val="50000"/>
                              <a:lumOff val="50000"/>
                            </a:schemeClr>
                          </a:solidFill>
                        </a:rPr>
                        <a:t>Sandbox where you can submit files of your own and download others.</a:t>
                      </a:r>
                    </a:p>
                  </a:txBody>
                  <a:tcPr anchor="ctr">
                    <a:lnL>
                      <a:noFill/>
                    </a:lnL>
                    <a:lnR>
                      <a:noFill/>
                    </a:lnR>
                    <a:lnT>
                      <a:noFill/>
                    </a:lnT>
                    <a:lnB>
                      <a:noFill/>
                    </a:lnB>
                  </a:tcPr>
                </a:tc>
                <a:extLst>
                  <a:ext uri="{0D108BD9-81ED-4DB2-BD59-A6C34878D82A}">
                    <a16:rowId xmlns:a16="http://schemas.microsoft.com/office/drawing/2014/main" val="10002"/>
                  </a:ext>
                </a:extLst>
              </a:tr>
              <a:tr h="646176">
                <a:tc>
                  <a:txBody>
                    <a:bodyPr/>
                    <a:lstStyle/>
                    <a:p>
                      <a:r>
                        <a:rPr lang="en-US" sz="1400" b="1">
                          <a:solidFill>
                            <a:schemeClr val="tx1">
                              <a:lumMod val="50000"/>
                              <a:lumOff val="50000"/>
                            </a:schemeClr>
                          </a:solidFill>
                        </a:rPr>
                        <a:t>Hybrid Analysis</a:t>
                      </a:r>
                      <a:endParaRPr lang="en-US" sz="1400">
                        <a:solidFill>
                          <a:schemeClr val="tx1">
                            <a:lumMod val="50000"/>
                            <a:lumOff val="50000"/>
                          </a:schemeClr>
                        </a:solidFill>
                      </a:endParaRPr>
                    </a:p>
                  </a:txBody>
                  <a:tcPr anchor="ctr">
                    <a:lnL>
                      <a:noFill/>
                    </a:lnL>
                    <a:lnR>
                      <a:noFill/>
                    </a:lnR>
                    <a:lnT>
                      <a:noFill/>
                    </a:lnT>
                    <a:lnB>
                      <a:noFill/>
                    </a:lnB>
                  </a:tcPr>
                </a:tc>
                <a:tc>
                  <a:txBody>
                    <a:bodyPr/>
                    <a:lstStyle/>
                    <a:p>
                      <a:r>
                        <a:rPr lang="en-US" sz="1400">
                          <a:hlinkClick r:id="rId4"/>
                        </a:rPr>
                        <a:t>https://www.hybrid-analysis.com/</a:t>
                      </a:r>
                      <a:endParaRPr lang="en-US" sz="1400"/>
                    </a:p>
                  </a:txBody>
                  <a:tcPr anchor="ctr">
                    <a:lnL>
                      <a:noFill/>
                    </a:lnL>
                    <a:lnR>
                      <a:noFill/>
                    </a:lnR>
                    <a:lnT>
                      <a:noFill/>
                    </a:lnT>
                    <a:lnB>
                      <a:noFill/>
                    </a:lnB>
                  </a:tcPr>
                </a:tc>
                <a:tc>
                  <a:txBody>
                    <a:bodyPr/>
                    <a:lstStyle/>
                    <a:p>
                      <a:r>
                        <a:rPr lang="en-US" sz="1400">
                          <a:solidFill>
                            <a:schemeClr val="tx1">
                              <a:lumMod val="50000"/>
                              <a:lumOff val="50000"/>
                            </a:schemeClr>
                          </a:solidFill>
                        </a:rPr>
                        <a:t>Free malware analysis service for the community that detects and analyzes owned by Crowdstrike.</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US" sz="1400" b="1">
                          <a:solidFill>
                            <a:schemeClr val="tx1">
                              <a:lumMod val="50000"/>
                              <a:lumOff val="50000"/>
                            </a:schemeClr>
                          </a:solidFill>
                        </a:rPr>
                        <a:t>SNDBOX</a:t>
                      </a:r>
                      <a:endParaRPr lang="en-US" sz="1400">
                        <a:solidFill>
                          <a:schemeClr val="tx1">
                            <a:lumMod val="50000"/>
                            <a:lumOff val="50000"/>
                          </a:schemeClr>
                        </a:solidFill>
                      </a:endParaRPr>
                    </a:p>
                  </a:txBody>
                  <a:tcPr anchor="ctr">
                    <a:lnL>
                      <a:noFill/>
                    </a:lnL>
                    <a:lnR>
                      <a:noFill/>
                    </a:lnR>
                    <a:lnT>
                      <a:noFill/>
                    </a:lnT>
                    <a:lnB>
                      <a:noFill/>
                    </a:lnB>
                  </a:tcPr>
                </a:tc>
                <a:tc>
                  <a:txBody>
                    <a:bodyPr/>
                    <a:lstStyle/>
                    <a:p>
                      <a:r>
                        <a:rPr lang="en-US" sz="1400">
                          <a:hlinkClick r:id="rId5"/>
                        </a:rPr>
                        <a:t>https://app.sndbox.com/</a:t>
                      </a:r>
                      <a:endParaRPr lang="en-US" sz="1400"/>
                    </a:p>
                  </a:txBody>
                  <a:tcPr anchor="ctr">
                    <a:lnL>
                      <a:noFill/>
                    </a:lnL>
                    <a:lnR>
                      <a:noFill/>
                    </a:lnR>
                    <a:lnT>
                      <a:noFill/>
                    </a:lnT>
                    <a:lnB>
                      <a:noFill/>
                    </a:lnB>
                  </a:tcPr>
                </a:tc>
                <a:tc>
                  <a:txBody>
                    <a:bodyPr/>
                    <a:lstStyle/>
                    <a:p>
                      <a:r>
                        <a:rPr lang="en-US" sz="1400">
                          <a:solidFill>
                            <a:schemeClr val="tx1">
                              <a:lumMod val="50000"/>
                              <a:lumOff val="50000"/>
                            </a:schemeClr>
                          </a:solidFill>
                        </a:rPr>
                        <a:t>Currently under maintenance.</a:t>
                      </a:r>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6" name="Rectangle 5"/>
          <p:cNvSpPr/>
          <p:nvPr/>
        </p:nvSpPr>
        <p:spPr>
          <a:xfrm>
            <a:off x="0" y="3011424"/>
            <a:ext cx="12192000" cy="48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Flowchart: Process 6"/>
          <p:cNvSpPr/>
          <p:nvPr/>
        </p:nvSpPr>
        <p:spPr>
          <a:xfrm>
            <a:off x="690372" y="5352288"/>
            <a:ext cx="10811256" cy="108496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8" name="Rectangle 7"/>
          <p:cNvSpPr/>
          <p:nvPr/>
        </p:nvSpPr>
        <p:spPr>
          <a:xfrm>
            <a:off x="3154088" y="5710105"/>
            <a:ext cx="5131148" cy="369332"/>
          </a:xfrm>
          <a:prstGeom prst="rect">
            <a:avLst/>
          </a:prstGeom>
        </p:spPr>
        <p:txBody>
          <a:bodyPr wrap="none">
            <a:spAutoFit/>
          </a:bodyPr>
          <a:lstStyle/>
          <a:p>
            <a:r>
              <a:rPr lang="en-US">
                <a:solidFill>
                  <a:prstClr val="black"/>
                </a:solidFill>
              </a:rPr>
              <a:t>Platforme Sandbox vs. Platforme de scanare în cloud?</a:t>
            </a:r>
          </a:p>
        </p:txBody>
      </p:sp>
      <p:sp>
        <p:nvSpPr>
          <p:cNvPr id="9" name="Rectangle 8"/>
          <p:cNvSpPr/>
          <p:nvPr/>
        </p:nvSpPr>
        <p:spPr>
          <a:xfrm>
            <a:off x="0" y="5071872"/>
            <a:ext cx="12192000" cy="48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21455616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Instalarea băncii de malware </a:t>
            </a:r>
            <a:br>
              <a:rPr lang="en-US"/>
            </a:br>
            <a:r>
              <a:rPr lang="en-US" sz="2000"/>
              <a:t>din Moodle pe mașina virtuală</a:t>
            </a:r>
          </a:p>
        </p:txBody>
      </p:sp>
      <p:sp>
        <p:nvSpPr>
          <p:cNvPr id="3" name="Content Placeholder 2"/>
          <p:cNvSpPr>
            <a:spLocks noGrp="1"/>
          </p:cNvSpPr>
          <p:nvPr>
            <p:ph idx="1"/>
          </p:nvPr>
        </p:nvSpPr>
        <p:spPr/>
        <p:txBody>
          <a:bodyPr/>
          <a:lstStyle/>
          <a:p>
            <a:r>
              <a:rPr lang="en-US"/>
              <a:t>Dezactivați Windows Defender (temporar)</a:t>
            </a:r>
          </a:p>
          <a:p>
            <a:r>
              <a:rPr lang="en-US"/>
              <a:t>Descărcați </a:t>
            </a:r>
            <a:r>
              <a:rPr lang="en-US" i="1"/>
              <a:t>BancaMalware.zip</a:t>
            </a:r>
            <a:r>
              <a:rPr lang="en-US"/>
              <a:t> de pe Moodle pe mașina gazdă</a:t>
            </a:r>
          </a:p>
          <a:p>
            <a:r>
              <a:rPr lang="en-US"/>
              <a:t>Copiați fișierul </a:t>
            </a:r>
            <a:r>
              <a:rPr lang="en-US" i="1"/>
              <a:t>BancaMalware.zip </a:t>
            </a:r>
            <a:r>
              <a:rPr lang="en-US"/>
              <a:t>din locația de descărcare în directorul DETONATION</a:t>
            </a:r>
          </a:p>
          <a:p>
            <a:r>
              <a:rPr lang="en-US"/>
              <a:t>Porniți mașina virtuală</a:t>
            </a:r>
          </a:p>
          <a:p>
            <a:r>
              <a:rPr lang="en-US"/>
              <a:t>În Mașina Virtuală, copiați fișierul </a:t>
            </a:r>
            <a:r>
              <a:rPr lang="en-US" i="1"/>
              <a:t>BancaMalware.zip</a:t>
            </a:r>
            <a:r>
              <a:rPr lang="en-US"/>
              <a:t> din directorul partajat „DETONARE”, într-un director nou creat pe desktop, numit „malware”</a:t>
            </a:r>
          </a:p>
          <a:p>
            <a:r>
              <a:rPr lang="en-US"/>
              <a:t>Activați Windows Defender pe mașina gazdă.</a:t>
            </a:r>
          </a:p>
          <a:p>
            <a:r>
              <a:rPr lang="en-US"/>
              <a:t>În laboratorul următor, aceste mostre vor fi extrase din </a:t>
            </a:r>
            <a:r>
              <a:rPr lang="en-US" i="1"/>
              <a:t>BancaMalware.zip</a:t>
            </a:r>
            <a:r>
              <a:rPr lang="en-US"/>
              <a:t>, folosind parola „infecție”</a:t>
            </a:r>
          </a:p>
        </p:txBody>
      </p:sp>
      <p:sp>
        <p:nvSpPr>
          <p:cNvPr id="4" name="Flowchart: Process 3"/>
          <p:cNvSpPr/>
          <p:nvPr/>
        </p:nvSpPr>
        <p:spPr>
          <a:xfrm>
            <a:off x="435864" y="2066544"/>
            <a:ext cx="11280648" cy="460235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8440205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lowchart: Process 25"/>
          <p:cNvSpPr/>
          <p:nvPr/>
        </p:nvSpPr>
        <p:spPr>
          <a:xfrm>
            <a:off x="455676" y="1991385"/>
            <a:ext cx="11280648" cy="474256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Windows Defender</a:t>
            </a:r>
            <a:br>
              <a:rPr lang="en-US"/>
            </a:br>
            <a:r>
              <a:rPr lang="en-US" sz="2000"/>
              <a:t>ActivaRE / dezactivaRE</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918195" y="2148772"/>
            <a:ext cx="4607655" cy="3622769"/>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01911" y="2148773"/>
            <a:ext cx="2712419" cy="2132640"/>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01911" y="4376391"/>
            <a:ext cx="2712419" cy="2132639"/>
          </a:xfrm>
          <a:prstGeom prst="rect">
            <a:avLst/>
          </a:prstGeom>
          <a:ln>
            <a:noFill/>
          </a:ln>
          <a:effectLst>
            <a:outerShdw blurRad="190500" algn="tl" rotWithShape="0">
              <a:srgbClr val="000000">
                <a:alpha val="70000"/>
              </a:srgbClr>
            </a:outerShdw>
          </a:effectLst>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4950" y="2148772"/>
            <a:ext cx="2857759" cy="2014796"/>
          </a:xfrm>
          <a:prstGeom prst="rect">
            <a:avLst/>
          </a:prstGeom>
          <a:ln>
            <a:noFill/>
          </a:ln>
          <a:effectLst>
            <a:outerShdw blurRad="190500" algn="tl" rotWithShape="0">
              <a:srgbClr val="000000">
                <a:alpha val="70000"/>
              </a:srgbClr>
            </a:outerShdw>
          </a:effectLst>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4949" y="4281412"/>
            <a:ext cx="2849133" cy="2240131"/>
          </a:xfrm>
          <a:prstGeom prst="rect">
            <a:avLst/>
          </a:prstGeom>
          <a:ln>
            <a:noFill/>
          </a:ln>
          <a:effectLst>
            <a:outerShdw blurRad="190500" algn="tl" rotWithShape="0">
              <a:srgbClr val="000000">
                <a:alpha val="70000"/>
              </a:srgbClr>
            </a:outerShdw>
          </a:effectLst>
        </p:spPr>
      </p:pic>
      <p:grpSp>
        <p:nvGrpSpPr>
          <p:cNvPr id="10" name="Group 9"/>
          <p:cNvGrpSpPr/>
          <p:nvPr/>
        </p:nvGrpSpPr>
        <p:grpSpPr>
          <a:xfrm>
            <a:off x="1991305" y="3929602"/>
            <a:ext cx="736420" cy="473375"/>
            <a:chOff x="219125" y="3833449"/>
            <a:chExt cx="736420" cy="473375"/>
          </a:xfrm>
        </p:grpSpPr>
        <p:sp>
          <p:nvSpPr>
            <p:cNvPr id="11" name="Right Arrow 10"/>
            <p:cNvSpPr/>
            <p:nvPr/>
          </p:nvSpPr>
          <p:spPr>
            <a:xfrm rot="19892808">
              <a:off x="374353" y="383344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Oval 11"/>
            <p:cNvSpPr/>
            <p:nvPr/>
          </p:nvSpPr>
          <p:spPr>
            <a:xfrm>
              <a:off x="219125" y="3863575"/>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13" name="Group 12"/>
          <p:cNvGrpSpPr/>
          <p:nvPr/>
        </p:nvGrpSpPr>
        <p:grpSpPr>
          <a:xfrm>
            <a:off x="531970" y="6088598"/>
            <a:ext cx="736420" cy="473375"/>
            <a:chOff x="219125" y="3833449"/>
            <a:chExt cx="736420" cy="473375"/>
          </a:xfrm>
        </p:grpSpPr>
        <p:sp>
          <p:nvSpPr>
            <p:cNvPr id="14" name="Right Arrow 13"/>
            <p:cNvSpPr/>
            <p:nvPr/>
          </p:nvSpPr>
          <p:spPr>
            <a:xfrm rot="19892808">
              <a:off x="374353" y="383344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Oval 14"/>
            <p:cNvSpPr/>
            <p:nvPr/>
          </p:nvSpPr>
          <p:spPr>
            <a:xfrm>
              <a:off x="219125" y="3863575"/>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6" name="Group 15"/>
          <p:cNvGrpSpPr/>
          <p:nvPr/>
        </p:nvGrpSpPr>
        <p:grpSpPr>
          <a:xfrm>
            <a:off x="3450641" y="4402977"/>
            <a:ext cx="736420" cy="473375"/>
            <a:chOff x="219125" y="3833449"/>
            <a:chExt cx="736420" cy="473375"/>
          </a:xfrm>
        </p:grpSpPr>
        <p:sp>
          <p:nvSpPr>
            <p:cNvPr id="17" name="Right Arrow 16"/>
            <p:cNvSpPr/>
            <p:nvPr/>
          </p:nvSpPr>
          <p:spPr>
            <a:xfrm rot="19892808">
              <a:off x="374353" y="383344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Oval 17"/>
            <p:cNvSpPr/>
            <p:nvPr/>
          </p:nvSpPr>
          <p:spPr>
            <a:xfrm>
              <a:off x="219125" y="3863575"/>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grpSp>
        <p:nvGrpSpPr>
          <p:cNvPr id="19" name="Group 18"/>
          <p:cNvGrpSpPr/>
          <p:nvPr/>
        </p:nvGrpSpPr>
        <p:grpSpPr>
          <a:xfrm>
            <a:off x="8157640" y="3678095"/>
            <a:ext cx="736420" cy="473375"/>
            <a:chOff x="219125" y="3833449"/>
            <a:chExt cx="736420" cy="473375"/>
          </a:xfrm>
        </p:grpSpPr>
        <p:sp>
          <p:nvSpPr>
            <p:cNvPr id="20" name="Right Arrow 19"/>
            <p:cNvSpPr/>
            <p:nvPr/>
          </p:nvSpPr>
          <p:spPr>
            <a:xfrm rot="19892808">
              <a:off x="374353" y="383344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1" name="Oval 20"/>
            <p:cNvSpPr/>
            <p:nvPr/>
          </p:nvSpPr>
          <p:spPr>
            <a:xfrm>
              <a:off x="219125" y="3863575"/>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grpSp>
        <p:nvGrpSpPr>
          <p:cNvPr id="22" name="Group 21"/>
          <p:cNvGrpSpPr/>
          <p:nvPr/>
        </p:nvGrpSpPr>
        <p:grpSpPr>
          <a:xfrm>
            <a:off x="8157640" y="5971108"/>
            <a:ext cx="736420" cy="473375"/>
            <a:chOff x="219125" y="3833449"/>
            <a:chExt cx="736420" cy="473375"/>
          </a:xfrm>
        </p:grpSpPr>
        <p:sp>
          <p:nvSpPr>
            <p:cNvPr id="23" name="Right Arrow 22"/>
            <p:cNvSpPr/>
            <p:nvPr/>
          </p:nvSpPr>
          <p:spPr>
            <a:xfrm rot="19892808">
              <a:off x="374353" y="383344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4" name="Oval 23"/>
            <p:cNvSpPr/>
            <p:nvPr/>
          </p:nvSpPr>
          <p:spPr>
            <a:xfrm>
              <a:off x="219125" y="3863575"/>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5</a:t>
              </a:r>
            </a:p>
          </p:txBody>
        </p:sp>
      </p:grpSp>
    </p:spTree>
    <p:extLst>
      <p:ext uri="{BB962C8B-B14F-4D97-AF65-F5344CB8AC3E}">
        <p14:creationId xmlns:p14="http://schemas.microsoft.com/office/powerpoint/2010/main" val="2088496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6650735" y="1956816"/>
            <a:ext cx="5110048" cy="1840992"/>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6" name="Flowchart: Process 5"/>
          <p:cNvSpPr/>
          <p:nvPr/>
        </p:nvSpPr>
        <p:spPr>
          <a:xfrm>
            <a:off x="457200" y="1956816"/>
            <a:ext cx="5949696" cy="4742688"/>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p:cNvSpPr>
            <a:spLocks noGrp="1"/>
          </p:cNvSpPr>
          <p:nvPr>
            <p:ph type="title"/>
          </p:nvPr>
        </p:nvSpPr>
        <p:spPr/>
        <p:txBody>
          <a:bodyPr/>
          <a:lstStyle/>
          <a:p>
            <a:r>
              <a:rPr lang="en-US"/>
              <a:t>Bibliografie / resurse</a:t>
            </a:r>
          </a:p>
        </p:txBody>
      </p:sp>
      <p:sp>
        <p:nvSpPr>
          <p:cNvPr id="3" name="Content Placeholder 2"/>
          <p:cNvSpPr>
            <a:spLocks noGrp="1"/>
          </p:cNvSpPr>
          <p:nvPr>
            <p:ph idx="1"/>
          </p:nvPr>
        </p:nvSpPr>
        <p:spPr>
          <a:xfrm>
            <a:off x="434888" y="2588928"/>
            <a:ext cx="5831800" cy="3678303"/>
          </a:xfrm>
        </p:spPr>
        <p:txBody>
          <a:bodyPr>
            <a:normAutofit fontScale="25000" lnSpcReduction="20000"/>
          </a:bodyPr>
          <a:lstStyle/>
          <a:p>
            <a:r>
              <a:rPr lang="en-US" sz="5600">
                <a:solidFill>
                  <a:schemeClr val="tx1">
                    <a:lumMod val="65000"/>
                    <a:lumOff val="35000"/>
                  </a:schemeClr>
                </a:solidFill>
              </a:rPr>
              <a:t>Paul A. Gagniuc. </a:t>
            </a:r>
            <a:r>
              <a:rPr lang="en-US" sz="5600" i="1">
                <a:solidFill>
                  <a:schemeClr val="tx1">
                    <a:lumMod val="65000"/>
                    <a:lumOff val="35000"/>
                  </a:schemeClr>
                </a:solidFill>
              </a:rPr>
              <a:t>Antivirus Engines: From Methods to Innovations, Design, and Applications</a:t>
            </a:r>
            <a:r>
              <a:rPr lang="en-US" sz="5600">
                <a:solidFill>
                  <a:schemeClr val="tx1">
                    <a:lumMod val="65000"/>
                    <a:lumOff val="35000"/>
                  </a:schemeClr>
                </a:solidFill>
              </a:rPr>
              <a:t>. Cambridge, MA: Elsevier Syngress, 2024. pp. 1-656.</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An Introduction to Programming Languages: Simultaneous Learning in Multiple Coding Environments. Synthesis Lectures on Computer Science</a:t>
            </a:r>
            <a:r>
              <a:rPr lang="en-US" sz="5600">
                <a:solidFill>
                  <a:schemeClr val="tx1">
                    <a:lumMod val="65000"/>
                    <a:lumOff val="35000"/>
                  </a:schemeClr>
                </a:solidFill>
              </a:rPr>
              <a:t>. Springer International Publishing, 2023, pp. 1-280.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MATLAB</a:t>
            </a:r>
            <a:r>
              <a:rPr lang="en-US" sz="5600">
                <a:solidFill>
                  <a:schemeClr val="tx1">
                    <a:lumMod val="65000"/>
                    <a:lumOff val="35000"/>
                  </a:schemeClr>
                </a:solidFill>
              </a:rPr>
              <a:t>, Springer, 2024, pp. 1-255.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Python</a:t>
            </a:r>
            <a:r>
              <a:rPr lang="en-US" sz="5600">
                <a:solidFill>
                  <a:schemeClr val="tx1">
                    <a:lumMod val="65000"/>
                    <a:lumOff val="35000"/>
                  </a:schemeClr>
                </a:solidFill>
              </a:rPr>
              <a:t>, Springer, 2024, pp. 1-245.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Javascript</a:t>
            </a:r>
            <a:r>
              <a:rPr lang="en-US" sz="5600">
                <a:solidFill>
                  <a:schemeClr val="tx1">
                    <a:lumMod val="65000"/>
                    <a:lumOff val="35000"/>
                  </a:schemeClr>
                </a:solidFill>
              </a:rPr>
              <a:t>, Springer, 2024, pp. 1-240.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Markov chains: from theory to implementation and experimentation</a:t>
            </a:r>
            <a:r>
              <a:rPr lang="en-US" sz="5600">
                <a:solidFill>
                  <a:schemeClr val="tx1">
                    <a:lumMod val="65000"/>
                    <a:lumOff val="35000"/>
                  </a:schemeClr>
                </a:solidFill>
              </a:rPr>
              <a:t>. Hoboken, NJ,  John Wiley &amp; Sons, USA, 2017, ISBN: 978-1-119-38755-8.</a:t>
            </a:r>
          </a:p>
          <a:p>
            <a:endParaRPr lang="en-US"/>
          </a:p>
        </p:txBody>
      </p:sp>
      <p:sp>
        <p:nvSpPr>
          <p:cNvPr id="4" name="Rectangle 3"/>
          <p:cNvSpPr/>
          <p:nvPr/>
        </p:nvSpPr>
        <p:spPr>
          <a:xfrm>
            <a:off x="7866610" y="2687191"/>
            <a:ext cx="267829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https://github.com/gagniuc</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50735" y="3970542"/>
            <a:ext cx="5110048" cy="2728962"/>
          </a:xfrm>
          <a:prstGeom prst="rect">
            <a:avLst/>
          </a:prstGeom>
          <a:ln w="9525" cap="sq">
            <a:solidFill>
              <a:srgbClr val="000000"/>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44047108"/>
      </p:ext>
    </p:extLst>
  </p:cSld>
  <p:clrMapOvr>
    <a:masterClrMapping/>
  </p:clrMapOvr>
</p:sld>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3.xml><?xml version="1.0" encoding="utf-8"?>
<a:theme xmlns:a="http://schemas.openxmlformats.org/drawingml/2006/main" name="2_Main Event">
  <a:themeElements>
    <a:clrScheme name="Main Event">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ppt/theme/theme4.xml><?xml version="1.0" encoding="utf-8"?>
<a:theme xmlns:a="http://schemas.openxmlformats.org/drawingml/2006/main" name="3_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5355</TotalTime>
  <Words>6168</Words>
  <Application>Microsoft Office PowerPoint</Application>
  <PresentationFormat>Widescreen</PresentationFormat>
  <Paragraphs>651</Paragraphs>
  <Slides>61</Slides>
  <Notes>1</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61</vt:i4>
      </vt:variant>
    </vt:vector>
  </HeadingPairs>
  <TitlesOfParts>
    <vt:vector size="76" baseType="lpstr">
      <vt:lpstr>Arial</vt:lpstr>
      <vt:lpstr>Calibri</vt:lpstr>
      <vt:lpstr>Calibri Light</vt:lpstr>
      <vt:lpstr>Cambria Math</vt:lpstr>
      <vt:lpstr>Consolas</vt:lpstr>
      <vt:lpstr>Gill Sans MT</vt:lpstr>
      <vt:lpstr>Impact</vt:lpstr>
      <vt:lpstr>Söhne</vt:lpstr>
      <vt:lpstr>Wingdings</vt:lpstr>
      <vt:lpstr>Wingdings 2</vt:lpstr>
      <vt:lpstr>Office Theme</vt:lpstr>
      <vt:lpstr>Dividend</vt:lpstr>
      <vt:lpstr>2_Main Event</vt:lpstr>
      <vt:lpstr>3_Dividend</vt:lpstr>
      <vt:lpstr>1_Office Theme</vt:lpstr>
      <vt:lpstr>C.5 Materiale și metode în ingineria inversă (II) </vt:lpstr>
      <vt:lpstr>Principalele părți ale prezentării</vt:lpstr>
      <vt:lpstr>Pachetul de fișiere  pentru instrumente</vt:lpstr>
      <vt:lpstr>C.5.2 instrumentele de inginerie inversă</vt:lpstr>
      <vt:lpstr>PowerPoint Presentation</vt:lpstr>
      <vt:lpstr>Analiza dinamică:</vt:lpstr>
      <vt:lpstr>cod malițios: Instrumente de analiză</vt:lpstr>
      <vt:lpstr>System internals aplicatii critice</vt:lpstr>
      <vt:lpstr>Autoruns Principalele caracteristici ale Autoruns includ:</vt:lpstr>
      <vt:lpstr>Exemplu de monitorizare a conexiunilor de rețea tcpview (I) </vt:lpstr>
      <vt:lpstr>Exemplu de monitorizare a conexiunilor de rețea tcpview (II) </vt:lpstr>
      <vt:lpstr>Process Monitor  analiza unui malware într-o mașină virtuală (VM)</vt:lpstr>
      <vt:lpstr>Sfaturi Generale                                         Process Monitor</vt:lpstr>
      <vt:lpstr>Process Monitor Setup pentru salvarea jurnalului (ordinea coloanelor)</vt:lpstr>
      <vt:lpstr>Process Monitor Setup</vt:lpstr>
      <vt:lpstr>Process Explorer oferă o vedere detaliată a proceselor care rulează pe un sistem </vt:lpstr>
      <vt:lpstr>Process Explorer Un task manager avansat</vt:lpstr>
      <vt:lpstr>Process Explorer colaborarea cu virustotal</vt:lpstr>
      <vt:lpstr>Process Hacker Rulare (vizualizarea secțiunilor EXE (PE) încărcate în memorie)</vt:lpstr>
      <vt:lpstr>process hacker                                                  Ce urmarim?</vt:lpstr>
      <vt:lpstr>Process Hacker Codul culorilor</vt:lpstr>
      <vt:lpstr>Process Hacker visualizare memorie (încărcarea secțiunilor)</vt:lpstr>
      <vt:lpstr>Process Hacker visualizare memorie (încărcarea secțiunilor)</vt:lpstr>
      <vt:lpstr>Process Hacker Procese și acces la disc în timp real</vt:lpstr>
      <vt:lpstr>Process Hacker Servicii și rețea</vt:lpstr>
      <vt:lpstr>care este diferenta dintre  process monitor, process explorer si process hacker?</vt:lpstr>
      <vt:lpstr>Diferențe Cheie </vt:lpstr>
      <vt:lpstr>cod malițios: Instrumente de analiză</vt:lpstr>
      <vt:lpstr>Wireshark                        Pornire (filtru; smtp;http)</vt:lpstr>
      <vt:lpstr>Wireshark                    filtre Wireshark care dezvăluie lucruri interesante în trafic</vt:lpstr>
      <vt:lpstr>Wireshark                    filtre Wireshark care dezvăluie lucruri interesante în trafic</vt:lpstr>
      <vt:lpstr>Wireshark                    filtre Wireshark care dezvăluie lucruri interesante în trafic</vt:lpstr>
      <vt:lpstr>Wireshark  (malware si exfiltrari date)                  filtre Wireshark care dezvăluie lucruri interesante în trafic</vt:lpstr>
      <vt:lpstr>Salvați jurnalul ca text pentru a fi utilizat de către ProcDOT Wireshark </vt:lpstr>
      <vt:lpstr>cod malițios: Instrumente de analiză</vt:lpstr>
      <vt:lpstr>procDOT Rularea și utilizarea jurnalelor Procmon și wireshark</vt:lpstr>
      <vt:lpstr>procDOT                                             rezultat final</vt:lpstr>
      <vt:lpstr>AnaLiza in cloud:</vt:lpstr>
      <vt:lpstr>cod malițios: Instrumente de analiză</vt:lpstr>
      <vt:lpstr>PowerPoint Presentation</vt:lpstr>
      <vt:lpstr>  Triage</vt:lpstr>
      <vt:lpstr>C.5.3 Automatizarea mașinii virtuale</vt:lpstr>
      <vt:lpstr>Automatizarea Masinii Virtuale Aceasta este o parte dintr-un script PowerShell ajustați numele mașinii virtuale și căile către executabilele aferente</vt:lpstr>
      <vt:lpstr>PowerShell Remoting (pe scurt)</vt:lpstr>
      <vt:lpstr>administrarea la distanță a mașinilor  executarea de scripturi pe acestea prin sesiuni de PowerShell</vt:lpstr>
      <vt:lpstr>C.5.4 Mostre Malware &amp; protocoale de manipulare</vt:lpstr>
      <vt:lpstr>Parola de la banca malware BancaMalware.zip (directorul DETONARE)</vt:lpstr>
      <vt:lpstr>Sctructura bancii malware (detonare – moodle)</vt:lpstr>
      <vt:lpstr>Mostre malware online – surse de incredere</vt:lpstr>
      <vt:lpstr>Etica în Ingineria Inversă  în Context Militar</vt:lpstr>
      <vt:lpstr>Probleme Etice  în Crearea și Utilizarea Malware-ului</vt:lpstr>
      <vt:lpstr>Moodle: DETONARE</vt:lpstr>
      <vt:lpstr>Manipularea Sigură a Fișierelor Malware</vt:lpstr>
      <vt:lpstr>Detonarea Controlată a Malware-ului </vt:lpstr>
      <vt:lpstr>Reguli finale pentru fișierele malware</vt:lpstr>
      <vt:lpstr>Moodle: Honeypot</vt:lpstr>
      <vt:lpstr>Platforme de scanare în cloud</vt:lpstr>
      <vt:lpstr>Sandbox Platforms </vt:lpstr>
      <vt:lpstr>Instalarea băncii de malware  din Moodle pe mașina virtuală</vt:lpstr>
      <vt:lpstr>Windows Defender ActivaRE / dezactivaRE</vt:lpstr>
      <vt:lpstr>Bibliografie / resurse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Instalare Mediu de Detonare Malware</dc:title>
  <dc:creator>Dr. Paul A. Gagniuc</dc:creator>
  <cp:lastModifiedBy>Paul Gagniuc</cp:lastModifiedBy>
  <cp:revision>382</cp:revision>
  <dcterms:created xsi:type="dcterms:W3CDTF">2024-02-11T11:59:44Z</dcterms:created>
  <dcterms:modified xsi:type="dcterms:W3CDTF">2026-05-24T15:09:22Z</dcterms:modified>
</cp:coreProperties>
</file>