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8" r:id="rId2"/>
    <p:sldMasterId id="2147483714" r:id="rId3"/>
  </p:sldMasterIdLst>
  <p:notesMasterIdLst>
    <p:notesMasterId r:id="rId67"/>
  </p:notesMasterIdLst>
  <p:sldIdLst>
    <p:sldId id="381" r:id="rId4"/>
    <p:sldId id="414" r:id="rId5"/>
    <p:sldId id="423" r:id="rId6"/>
    <p:sldId id="427" r:id="rId7"/>
    <p:sldId id="428" r:id="rId8"/>
    <p:sldId id="429" r:id="rId9"/>
    <p:sldId id="430" r:id="rId10"/>
    <p:sldId id="431" r:id="rId11"/>
    <p:sldId id="511" r:id="rId12"/>
    <p:sldId id="514" r:id="rId13"/>
    <p:sldId id="513" r:id="rId14"/>
    <p:sldId id="525" r:id="rId15"/>
    <p:sldId id="512" r:id="rId16"/>
    <p:sldId id="426" r:id="rId17"/>
    <p:sldId id="432" r:id="rId18"/>
    <p:sldId id="436" r:id="rId19"/>
    <p:sldId id="433" r:id="rId20"/>
    <p:sldId id="435" r:id="rId21"/>
    <p:sldId id="434" r:id="rId22"/>
    <p:sldId id="437" r:id="rId23"/>
    <p:sldId id="438" r:id="rId24"/>
    <p:sldId id="439" r:id="rId25"/>
    <p:sldId id="515" r:id="rId26"/>
    <p:sldId id="505" r:id="rId27"/>
    <p:sldId id="506" r:id="rId28"/>
    <p:sldId id="508" r:id="rId29"/>
    <p:sldId id="507" r:id="rId30"/>
    <p:sldId id="510" r:id="rId31"/>
    <p:sldId id="509" r:id="rId32"/>
    <p:sldId id="516" r:id="rId33"/>
    <p:sldId id="469" r:id="rId34"/>
    <p:sldId id="547" r:id="rId35"/>
    <p:sldId id="490" r:id="rId36"/>
    <p:sldId id="491" r:id="rId37"/>
    <p:sldId id="546" r:id="rId38"/>
    <p:sldId id="492" r:id="rId39"/>
    <p:sldId id="495" r:id="rId40"/>
    <p:sldId id="496" r:id="rId41"/>
    <p:sldId id="526" r:id="rId42"/>
    <p:sldId id="528" r:id="rId43"/>
    <p:sldId id="529" r:id="rId44"/>
    <p:sldId id="413" r:id="rId45"/>
    <p:sldId id="422" r:id="rId46"/>
    <p:sldId id="415" r:id="rId47"/>
    <p:sldId id="416" r:id="rId48"/>
    <p:sldId id="417" r:id="rId49"/>
    <p:sldId id="418" r:id="rId50"/>
    <p:sldId id="447" r:id="rId51"/>
    <p:sldId id="419" r:id="rId52"/>
    <p:sldId id="420" r:id="rId53"/>
    <p:sldId id="335" r:id="rId54"/>
    <p:sldId id="530" r:id="rId55"/>
    <p:sldId id="421" r:id="rId56"/>
    <p:sldId id="518" r:id="rId57"/>
    <p:sldId id="534" r:id="rId58"/>
    <p:sldId id="542" r:id="rId59"/>
    <p:sldId id="536" r:id="rId60"/>
    <p:sldId id="537" r:id="rId61"/>
    <p:sldId id="538" r:id="rId62"/>
    <p:sldId id="329" r:id="rId63"/>
    <p:sldId id="539" r:id="rId64"/>
    <p:sldId id="544" r:id="rId65"/>
    <p:sldId id="481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6658"/>
    <a:srgbClr val="E8EE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3" autoAdjust="0"/>
    <p:restoredTop sz="93409" autoAdjust="0"/>
  </p:normalViewPr>
  <p:slideViewPr>
    <p:cSldViewPr snapToGrid="0">
      <p:cViewPr varScale="1">
        <p:scale>
          <a:sx n="148" d="100"/>
          <a:sy n="148" d="100"/>
        </p:scale>
        <p:origin x="9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06C98-FC35-46CA-A6E3-F5345057F9F0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1FA64-B339-4C6C-88A5-CC64E3C4D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5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1FA64-B339-4C6C-88A5-CC64E3C4D1A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04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1FA64-B339-4C6C-88A5-CC64E3C4D1A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90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4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23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3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1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0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8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1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2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1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49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880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287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205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262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976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77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6169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9974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2668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2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9801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sz="8000" dirty="0">
                <a:solidFill>
                  <a:prstClr val="black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sz="8000" dirty="0">
                <a:solidFill>
                  <a:prstClr val="black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84548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7314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4555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146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2720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1284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5/9/2026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493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5/9/2026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2137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5/9/2026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848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5/9/2026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516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5/9/2026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1686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5/9/2026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6476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5/9/2026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1098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5/9/2026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887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5/9/2026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7128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5/9/2026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1897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5/9/2026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5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7061-03EE-4E2B-BC5F-2023E565848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8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5/9/2026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87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5/9/2026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49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38.png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0.xml"/><Relationship Id="rId4" Type="http://schemas.microsoft.com/office/2007/relationships/hdphoto" Target="../media/hdphoto5.wdp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925067" y="817225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C.6</a:t>
            </a:r>
            <a:r>
              <a:rPr lang="en-US" dirty="0"/>
              <a:t> </a:t>
            </a:r>
            <a:r>
              <a:rPr lang="en-US" dirty="0" err="1"/>
              <a:t>Formatele</a:t>
            </a:r>
            <a:r>
              <a:rPr lang="en-US" dirty="0"/>
              <a:t> de </a:t>
            </a:r>
            <a:r>
              <a:rPr lang="en-US" dirty="0" err="1"/>
              <a:t>fișiere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regimul</a:t>
            </a:r>
            <a:r>
              <a:rPr lang="en-US" dirty="0"/>
              <a:t> de </a:t>
            </a:r>
            <a:r>
              <a:rPr lang="en-US" dirty="0" err="1"/>
              <a:t>compilare</a:t>
            </a:r>
            <a:r>
              <a:rPr lang="en-US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Paul A. Gagniuc</a:t>
            </a:r>
          </a:p>
        </p:txBody>
      </p:sp>
      <p:sp>
        <p:nvSpPr>
          <p:cNvPr id="4" name="Rectangle 3"/>
          <p:cNvSpPr/>
          <p:nvPr/>
        </p:nvSpPr>
        <p:spPr>
          <a:xfrm rot="21419859">
            <a:off x="7300616" y="4413841"/>
            <a:ext cx="3958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629D7D">
                    <a:lumMod val="20000"/>
                    <a:lumOff val="80000"/>
                  </a:srgbClr>
                </a:solidFill>
              </a:rPr>
              <a:t>Academia Tehnică Militară „Ferdinand I”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3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Principalele părți ale prezentării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26641" y="2617111"/>
            <a:ext cx="9956042" cy="2842317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C.6.1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formatele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detectarea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baza de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semnaturi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C.6.2 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Fișiere executabile interpretate vs compilate 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C.6.3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Tipul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informații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ofuscarea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detectarea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criptării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C.6.4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identificarea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punctului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C.6.5 regimUl de compilare în diferite limbaje de programare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C.6.6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Arhitectura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CPU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039546"/>
            <a:ext cx="73340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C.6 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Formatele de fișiere și regimul de compilare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775379"/>
            <a:ext cx="11769811" cy="62386"/>
          </a:xfrm>
          <a:prstGeom prst="rect">
            <a:avLst/>
          </a:prstGeom>
          <a:solidFill>
            <a:srgbClr val="A5A5A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6759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342319" y="1654345"/>
            <a:ext cx="10347724" cy="276652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C.6.1</a:t>
            </a:r>
            <a:br>
              <a:rPr lang="en-US" dirty="0"/>
            </a:br>
            <a:r>
              <a:rPr lang="en-US" dirty="0" err="1"/>
              <a:t>formatele</a:t>
            </a:r>
            <a:r>
              <a:rPr lang="en-US" dirty="0"/>
              <a:t> de </a:t>
            </a:r>
            <a:r>
              <a:rPr lang="en-US" dirty="0" err="1"/>
              <a:t>fișiere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detectarea</a:t>
            </a:r>
            <a:r>
              <a:rPr lang="en-US" dirty="0"/>
              <a:t> pe baza de </a:t>
            </a:r>
            <a:r>
              <a:rPr lang="en-US" dirty="0" err="1"/>
              <a:t>semnaturi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4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8011" y="2172189"/>
            <a:ext cx="4166727" cy="25738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421" y="4845116"/>
            <a:ext cx="4170317" cy="1042579"/>
          </a:xfrm>
          <a:prstGeom prst="rect">
            <a:avLst/>
          </a:prstGeom>
        </p:spPr>
      </p:pic>
      <p:sp>
        <p:nvSpPr>
          <p:cNvPr id="27" name="Flowchart: Process 26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cele mai relevante formate de fișiere</a:t>
            </a:r>
            <a:br>
              <a:rPr lang="en-US" sz="2400"/>
            </a:br>
            <a:r>
              <a:rPr lang="en-US" sz="1800"/>
              <a:t>împărțitE pe categorii: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117" y="6085685"/>
            <a:ext cx="10534137" cy="430863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esențiale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diverse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domenii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de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crearea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distribuția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conținut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digital,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dezvoltarea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software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gestionarea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datelor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Fiecare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format 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avantajele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limitările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sale,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fiind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ales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cerințele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specifice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proiectului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activității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038173" y="3557847"/>
            <a:ext cx="2953265" cy="1056503"/>
            <a:chOff x="3762632" y="4244546"/>
            <a:chExt cx="2953265" cy="1056503"/>
          </a:xfrm>
        </p:grpSpPr>
        <p:sp>
          <p:nvSpPr>
            <p:cNvPr id="5" name="Rectangle 4"/>
            <p:cNvSpPr/>
            <p:nvPr/>
          </p:nvSpPr>
          <p:spPr>
            <a:xfrm>
              <a:off x="3762632" y="4448432"/>
              <a:ext cx="2953265" cy="8526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b="1" dirty="0"/>
                <a:t>.doc </a:t>
              </a:r>
              <a:r>
                <a:rPr lang="en-US" sz="800" b="1" dirty="0" err="1"/>
                <a:t>și</a:t>
              </a:r>
              <a:r>
                <a:rPr lang="en-US" sz="800" b="1" dirty="0"/>
                <a:t> .docx</a:t>
              </a:r>
              <a:r>
                <a:rPr lang="en-US" sz="800" dirty="0"/>
                <a:t>: </a:t>
              </a:r>
              <a:r>
                <a:rPr lang="en-US" sz="800" dirty="0" err="1"/>
                <a:t>Formate</a:t>
              </a:r>
              <a:r>
                <a:rPr lang="en-US" sz="800" dirty="0"/>
                <a:t> Microsoft Word,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documente</a:t>
              </a:r>
              <a:r>
                <a:rPr lang="en-US" sz="800" dirty="0"/>
                <a:t> text.</a:t>
              </a:r>
            </a:p>
            <a:p>
              <a:r>
                <a:rPr lang="en-US" sz="800" b="1" dirty="0"/>
                <a:t>.pdf</a:t>
              </a:r>
              <a:r>
                <a:rPr lang="en-US" sz="800" dirty="0"/>
                <a:t>: </a:t>
              </a:r>
              <a:r>
                <a:rPr lang="en-US" sz="800" dirty="0" err="1"/>
                <a:t>Formatul</a:t>
              </a:r>
              <a:r>
                <a:rPr lang="en-US" sz="800" dirty="0"/>
                <a:t> Portable Document Format de la Adobe.</a:t>
              </a:r>
            </a:p>
            <a:p>
              <a:r>
                <a:rPr lang="en-US" sz="800" b="1" dirty="0"/>
                <a:t>.txt</a:t>
              </a:r>
              <a:r>
                <a:rPr lang="en-US" sz="800" dirty="0"/>
                <a:t>: Text </a:t>
              </a:r>
              <a:r>
                <a:rPr lang="en-US" sz="800" dirty="0" err="1"/>
                <a:t>simplu</a:t>
              </a:r>
              <a:r>
                <a:rPr lang="en-US" sz="800" dirty="0"/>
                <a:t>, </a:t>
              </a:r>
              <a:r>
                <a:rPr lang="en-US" sz="800" dirty="0" err="1"/>
                <a:t>fără</a:t>
              </a:r>
              <a:r>
                <a:rPr lang="en-US" sz="800" dirty="0"/>
                <a:t> </a:t>
              </a:r>
              <a:r>
                <a:rPr lang="en-US" sz="800" dirty="0" err="1"/>
                <a:t>formatare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.rtf</a:t>
              </a:r>
              <a:r>
                <a:rPr lang="en-US" sz="800" dirty="0"/>
                <a:t>: Rich Text Format, </a:t>
              </a:r>
              <a:r>
                <a:rPr lang="en-US" sz="800" dirty="0" err="1"/>
                <a:t>suportă</a:t>
              </a:r>
              <a:r>
                <a:rPr lang="en-US" sz="800" dirty="0"/>
                <a:t> </a:t>
              </a:r>
              <a:r>
                <a:rPr lang="en-US" sz="800" dirty="0" err="1"/>
                <a:t>formatare</a:t>
              </a:r>
              <a:r>
                <a:rPr lang="en-US" sz="800" dirty="0"/>
                <a:t> text, </a:t>
              </a:r>
              <a:r>
                <a:rPr lang="en-US" sz="800" dirty="0" err="1"/>
                <a:t>dar</a:t>
              </a:r>
              <a:r>
                <a:rPr lang="en-US" sz="800" dirty="0"/>
                <a:t> </a:t>
              </a:r>
              <a:r>
                <a:rPr lang="en-US" sz="800" dirty="0" err="1"/>
                <a:t>mai</a:t>
              </a:r>
              <a:r>
                <a:rPr lang="en-US" sz="800" dirty="0"/>
                <a:t> </a:t>
              </a:r>
              <a:r>
                <a:rPr lang="en-US" sz="800" dirty="0" err="1"/>
                <a:t>puțin</a:t>
              </a:r>
              <a:r>
                <a:rPr lang="en-US" sz="800" dirty="0"/>
                <a:t> complex </a:t>
              </a:r>
              <a:r>
                <a:rPr lang="en-US" sz="800" dirty="0" err="1"/>
                <a:t>decât</a:t>
              </a:r>
              <a:r>
                <a:rPr lang="en-US" sz="800" dirty="0"/>
                <a:t> .docx.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762632" y="4244546"/>
              <a:ext cx="2953265" cy="2038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Documente</a:t>
              </a:r>
              <a:endParaRPr lang="en-US" sz="120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38174" y="2264247"/>
            <a:ext cx="2953265" cy="1056503"/>
            <a:chOff x="3762632" y="4244546"/>
            <a:chExt cx="2953265" cy="1056503"/>
          </a:xfrm>
        </p:grpSpPr>
        <p:sp>
          <p:nvSpPr>
            <p:cNvPr id="11" name="Rectangle 10"/>
            <p:cNvSpPr/>
            <p:nvPr/>
          </p:nvSpPr>
          <p:spPr>
            <a:xfrm>
              <a:off x="3762632" y="4448432"/>
              <a:ext cx="2953265" cy="8526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b="1" dirty="0"/>
                <a:t>.</a:t>
              </a:r>
              <a:r>
                <a:rPr lang="en-US" sz="800" b="1" dirty="0" err="1"/>
                <a:t>xls</a:t>
              </a:r>
              <a:r>
                <a:rPr lang="en-US" sz="800" b="1" dirty="0"/>
                <a:t> </a:t>
              </a:r>
              <a:r>
                <a:rPr lang="en-US" sz="800" b="1" dirty="0" err="1"/>
                <a:t>și</a:t>
              </a:r>
              <a:r>
                <a:rPr lang="en-US" sz="800" b="1" dirty="0"/>
                <a:t> .xlsx</a:t>
              </a:r>
              <a:r>
                <a:rPr lang="en-US" sz="800" dirty="0"/>
                <a:t>: </a:t>
              </a:r>
              <a:r>
                <a:rPr lang="en-US" sz="800" dirty="0" err="1"/>
                <a:t>Formate</a:t>
              </a:r>
              <a:r>
                <a:rPr lang="en-US" sz="800" dirty="0"/>
                <a:t> Microsoft Excel,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foi</a:t>
              </a:r>
              <a:r>
                <a:rPr lang="en-US" sz="800" dirty="0"/>
                <a:t> de </a:t>
              </a:r>
              <a:r>
                <a:rPr lang="en-US" sz="800" dirty="0" err="1"/>
                <a:t>calcul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.csv</a:t>
              </a:r>
              <a:r>
                <a:rPr lang="en-US" sz="800" dirty="0"/>
                <a:t>: Valori separate </a:t>
              </a:r>
              <a:r>
                <a:rPr lang="en-US" sz="800" dirty="0" err="1"/>
                <a:t>prin</a:t>
              </a:r>
              <a:r>
                <a:rPr lang="en-US" sz="800" dirty="0"/>
                <a:t> </a:t>
              </a:r>
              <a:r>
                <a:rPr lang="en-US" sz="800" dirty="0" err="1"/>
                <a:t>virgulă</a:t>
              </a:r>
              <a:r>
                <a:rPr lang="en-US" sz="800" dirty="0"/>
                <a:t>, </a:t>
              </a:r>
              <a:r>
                <a:rPr lang="en-US" sz="800" dirty="0" err="1"/>
                <a:t>pentru</a:t>
              </a:r>
              <a:r>
                <a:rPr lang="en-US" sz="800" dirty="0"/>
                <a:t> a </a:t>
              </a:r>
              <a:r>
                <a:rPr lang="en-US" sz="800" dirty="0" err="1"/>
                <a:t>stoca</a:t>
              </a:r>
              <a:r>
                <a:rPr lang="en-US" sz="800" dirty="0"/>
                <a:t> date </a:t>
              </a:r>
              <a:r>
                <a:rPr lang="en-US" sz="800" dirty="0" err="1"/>
                <a:t>tabulare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.ppt </a:t>
              </a:r>
              <a:r>
                <a:rPr lang="en-US" sz="800" b="1" dirty="0" err="1"/>
                <a:t>și</a:t>
              </a:r>
              <a:r>
                <a:rPr lang="en-US" sz="800" b="1" dirty="0"/>
                <a:t> .pptx</a:t>
              </a:r>
              <a:r>
                <a:rPr lang="en-US" sz="800" dirty="0"/>
                <a:t>: </a:t>
              </a:r>
              <a:r>
                <a:rPr lang="en-US" sz="800" dirty="0" err="1"/>
                <a:t>Formate</a:t>
              </a:r>
              <a:r>
                <a:rPr lang="en-US" sz="800" dirty="0"/>
                <a:t> Microsoft PowerPoint,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prezentări</a:t>
              </a:r>
              <a:r>
                <a:rPr lang="en-US" sz="800" dirty="0"/>
                <a:t>.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62632" y="4244546"/>
              <a:ext cx="2953265" cy="2038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/>
                <a:t>Tablouri de date și prezentări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66117" y="3557847"/>
            <a:ext cx="2953265" cy="1056503"/>
            <a:chOff x="3762632" y="4244546"/>
            <a:chExt cx="2953265" cy="1056503"/>
          </a:xfrm>
        </p:grpSpPr>
        <p:sp>
          <p:nvSpPr>
            <p:cNvPr id="14" name="Rectangle 13"/>
            <p:cNvSpPr/>
            <p:nvPr/>
          </p:nvSpPr>
          <p:spPr>
            <a:xfrm>
              <a:off x="3762632" y="4448432"/>
              <a:ext cx="2953265" cy="8526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b="1" dirty="0"/>
                <a:t>.jpg </a:t>
              </a:r>
              <a:r>
                <a:rPr lang="en-US" sz="800" b="1" dirty="0" err="1"/>
                <a:t>sau</a:t>
              </a:r>
              <a:r>
                <a:rPr lang="en-US" sz="800" b="1" dirty="0"/>
                <a:t> .jpeg</a:t>
              </a:r>
              <a:r>
                <a:rPr lang="en-US" sz="800" dirty="0"/>
                <a:t>: Format </a:t>
              </a:r>
              <a:r>
                <a:rPr lang="en-US" sz="800" dirty="0" err="1"/>
                <a:t>comun</a:t>
              </a:r>
              <a:r>
                <a:rPr lang="en-US" sz="800" dirty="0"/>
                <a:t>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fotografii</a:t>
              </a:r>
              <a:r>
                <a:rPr lang="en-US" sz="800" dirty="0"/>
                <a:t>, </a:t>
              </a:r>
              <a:r>
                <a:rPr lang="en-US" sz="800" dirty="0" err="1"/>
                <a:t>folosește</a:t>
              </a:r>
              <a:r>
                <a:rPr lang="en-US" sz="800" dirty="0"/>
                <a:t> </a:t>
              </a:r>
              <a:r>
                <a:rPr lang="en-US" sz="800" dirty="0" err="1"/>
                <a:t>compresie</a:t>
              </a:r>
              <a:r>
                <a:rPr lang="en-US" sz="800" dirty="0"/>
                <a:t> cu </a:t>
              </a:r>
              <a:r>
                <a:rPr lang="en-US" sz="800" dirty="0" err="1"/>
                <a:t>pierdere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</a:t>
              </a:r>
              <a:r>
                <a:rPr lang="en-US" sz="800" b="1" dirty="0" err="1"/>
                <a:t>png</a:t>
              </a:r>
              <a:r>
                <a:rPr lang="en-US" sz="800" dirty="0"/>
                <a:t>: </a:t>
              </a:r>
              <a:r>
                <a:rPr lang="en-US" sz="800" dirty="0" err="1"/>
                <a:t>Suportă</a:t>
              </a:r>
              <a:r>
                <a:rPr lang="en-US" sz="800" dirty="0"/>
                <a:t> </a:t>
              </a:r>
              <a:r>
                <a:rPr lang="en-US" sz="800" dirty="0" err="1"/>
                <a:t>transparența</a:t>
              </a:r>
              <a:r>
                <a:rPr lang="en-US" sz="800" dirty="0"/>
                <a:t> </a:t>
              </a:r>
              <a:r>
                <a:rPr lang="en-US" sz="800" dirty="0" err="1"/>
                <a:t>și</a:t>
              </a:r>
              <a:r>
                <a:rPr lang="en-US" sz="800" dirty="0"/>
                <a:t> este </a:t>
              </a:r>
              <a:r>
                <a:rPr lang="en-US" sz="800" dirty="0" err="1"/>
                <a:t>folosit</a:t>
              </a:r>
              <a:r>
                <a:rPr lang="en-US" sz="800" dirty="0"/>
                <a:t>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imagini</a:t>
              </a:r>
              <a:r>
                <a:rPr lang="en-US" sz="800" dirty="0"/>
                <a:t> web </a:t>
              </a:r>
              <a:r>
                <a:rPr lang="en-US" sz="800" dirty="0" err="1"/>
                <a:t>și</a:t>
              </a:r>
              <a:r>
                <a:rPr lang="en-US" sz="800" dirty="0"/>
                <a:t> </a:t>
              </a:r>
              <a:r>
                <a:rPr lang="en-US" sz="800" dirty="0" err="1"/>
                <a:t>grafice</a:t>
              </a:r>
              <a:r>
                <a:rPr lang="en-US" sz="800" dirty="0"/>
                <a:t>, </a:t>
              </a:r>
              <a:r>
                <a:rPr lang="en-US" sz="800" dirty="0" err="1"/>
                <a:t>compresie</a:t>
              </a:r>
              <a:r>
                <a:rPr lang="en-US" sz="800" dirty="0"/>
                <a:t> </a:t>
              </a:r>
              <a:r>
                <a:rPr lang="en-US" sz="800" dirty="0" err="1"/>
                <a:t>fără</a:t>
              </a:r>
              <a:r>
                <a:rPr lang="en-US" sz="800" dirty="0"/>
                <a:t> </a:t>
              </a:r>
              <a:r>
                <a:rPr lang="en-US" sz="800" dirty="0" err="1"/>
                <a:t>pierdere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.gif</a:t>
              </a:r>
              <a:r>
                <a:rPr lang="en-US" sz="800" dirty="0"/>
                <a:t>: </a:t>
              </a:r>
              <a:r>
                <a:rPr lang="en-US" sz="800" dirty="0" err="1"/>
                <a:t>Folosit</a:t>
              </a:r>
              <a:r>
                <a:rPr lang="en-US" sz="800" dirty="0"/>
                <a:t>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imagini</a:t>
              </a:r>
              <a:r>
                <a:rPr lang="en-US" sz="800" dirty="0"/>
                <a:t> animate </a:t>
              </a:r>
              <a:r>
                <a:rPr lang="en-US" sz="800" dirty="0" err="1"/>
                <a:t>și</a:t>
              </a:r>
              <a:r>
                <a:rPr lang="en-US" sz="800" dirty="0"/>
                <a:t> </a:t>
              </a:r>
              <a:r>
                <a:rPr lang="en-US" sz="800" dirty="0" err="1"/>
                <a:t>grafice</a:t>
              </a:r>
              <a:r>
                <a:rPr lang="en-US" sz="800" dirty="0"/>
                <a:t> simple, </a:t>
              </a:r>
              <a:r>
                <a:rPr lang="en-US" sz="800" dirty="0" err="1"/>
                <a:t>suportă</a:t>
              </a:r>
              <a:r>
                <a:rPr lang="en-US" sz="800" dirty="0"/>
                <a:t> </a:t>
              </a:r>
              <a:r>
                <a:rPr lang="en-US" sz="800" dirty="0" err="1"/>
                <a:t>transparența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</a:t>
              </a:r>
              <a:r>
                <a:rPr lang="en-US" sz="800" b="1" dirty="0" err="1"/>
                <a:t>svg</a:t>
              </a:r>
              <a:r>
                <a:rPr lang="en-US" sz="800" dirty="0"/>
                <a:t>: Graphics </a:t>
              </a:r>
              <a:r>
                <a:rPr lang="en-US" sz="800" dirty="0" err="1"/>
                <a:t>Vectoriale</a:t>
              </a:r>
              <a:r>
                <a:rPr lang="en-US" sz="800" dirty="0"/>
                <a:t> </a:t>
              </a:r>
              <a:r>
                <a:rPr lang="en-US" sz="800" dirty="0" err="1"/>
                <a:t>Scalabile</a:t>
              </a:r>
              <a:r>
                <a:rPr lang="en-US" sz="800" dirty="0"/>
                <a:t>,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grafică</a:t>
              </a:r>
              <a:r>
                <a:rPr lang="en-US" sz="800" dirty="0"/>
                <a:t> </a:t>
              </a:r>
              <a:r>
                <a:rPr lang="en-US" sz="800" dirty="0" err="1"/>
                <a:t>vectorială</a:t>
              </a:r>
              <a:r>
                <a:rPr lang="en-US" sz="800" dirty="0"/>
                <a:t>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762632" y="4244546"/>
              <a:ext cx="2953265" cy="2038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err="1"/>
                <a:t>Imagini</a:t>
              </a:r>
              <a:r>
                <a:rPr lang="fr-FR" sz="1200" dirty="0"/>
                <a:t> </a:t>
              </a:r>
              <a:r>
                <a:rPr lang="fr-FR" sz="1200" dirty="0" err="1"/>
                <a:t>și</a:t>
              </a:r>
              <a:r>
                <a:rPr lang="fr-FR" sz="1200" dirty="0"/>
                <a:t> </a:t>
              </a:r>
              <a:r>
                <a:rPr lang="fr-FR" sz="1200" dirty="0" err="1"/>
                <a:t>grafice</a:t>
              </a:r>
              <a:endParaRPr lang="fr-FR" sz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66117" y="4851447"/>
            <a:ext cx="2953265" cy="1056503"/>
            <a:chOff x="3762632" y="4244546"/>
            <a:chExt cx="2953265" cy="1056503"/>
          </a:xfrm>
        </p:grpSpPr>
        <p:sp>
          <p:nvSpPr>
            <p:cNvPr id="17" name="Rectangle 16"/>
            <p:cNvSpPr/>
            <p:nvPr/>
          </p:nvSpPr>
          <p:spPr>
            <a:xfrm>
              <a:off x="3762632" y="4448432"/>
              <a:ext cx="2953265" cy="8526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b="1" dirty="0"/>
                <a:t>.mp3</a:t>
              </a:r>
              <a:r>
                <a:rPr lang="en-US" sz="800" dirty="0"/>
                <a:t>: Standard </a:t>
              </a:r>
              <a:r>
                <a:rPr lang="en-US" sz="800" dirty="0" err="1"/>
                <a:t>pentru</a:t>
              </a:r>
              <a:r>
                <a:rPr lang="en-US" sz="800" dirty="0"/>
                <a:t> audio </a:t>
              </a:r>
              <a:r>
                <a:rPr lang="en-US" sz="800" dirty="0" err="1"/>
                <a:t>comprimat</a:t>
              </a:r>
              <a:r>
                <a:rPr lang="en-US" sz="800" dirty="0"/>
                <a:t>, </a:t>
              </a:r>
              <a:r>
                <a:rPr lang="en-US" sz="800" dirty="0" err="1"/>
                <a:t>folosit</a:t>
              </a:r>
              <a:r>
                <a:rPr lang="en-US" sz="800" dirty="0"/>
                <a:t> </a:t>
              </a:r>
              <a:r>
                <a:rPr lang="en-US" sz="800" dirty="0" err="1"/>
                <a:t>în</a:t>
              </a:r>
              <a:r>
                <a:rPr lang="en-US" sz="800" dirty="0"/>
                <a:t> mod </a:t>
              </a:r>
              <a:r>
                <a:rPr lang="en-US" sz="800" dirty="0" err="1"/>
                <a:t>larg</a:t>
              </a:r>
              <a:r>
                <a:rPr lang="en-US" sz="800" dirty="0"/>
                <a:t>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muzică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.wav</a:t>
              </a:r>
              <a:r>
                <a:rPr lang="en-US" sz="800" dirty="0"/>
                <a:t>: Audio ne-</a:t>
              </a:r>
              <a:r>
                <a:rPr lang="en-US" sz="800" dirty="0" err="1"/>
                <a:t>comprimat</a:t>
              </a:r>
              <a:r>
                <a:rPr lang="en-US" sz="800" dirty="0"/>
                <a:t>, </a:t>
              </a:r>
              <a:r>
                <a:rPr lang="en-US" sz="800" dirty="0" err="1"/>
                <a:t>calitate</a:t>
              </a:r>
              <a:r>
                <a:rPr lang="en-US" sz="800" dirty="0"/>
                <a:t> </a:t>
              </a:r>
              <a:r>
                <a:rPr lang="en-US" sz="800" dirty="0" err="1"/>
                <a:t>înaltă</a:t>
              </a:r>
              <a:r>
                <a:rPr lang="en-US" sz="800" dirty="0"/>
                <a:t> </a:t>
              </a:r>
              <a:r>
                <a:rPr lang="en-US" sz="800" dirty="0" err="1"/>
                <a:t>dar</a:t>
              </a:r>
              <a:r>
                <a:rPr lang="en-US" sz="800" dirty="0"/>
                <a:t> </a:t>
              </a:r>
              <a:r>
                <a:rPr lang="en-US" sz="800" dirty="0" err="1"/>
                <a:t>fișiere</a:t>
              </a:r>
              <a:r>
                <a:rPr lang="en-US" sz="800" dirty="0"/>
                <a:t> </a:t>
              </a:r>
              <a:r>
                <a:rPr lang="en-US" sz="800" dirty="0" err="1"/>
                <a:t>mari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.mp4</a:t>
              </a:r>
              <a:r>
                <a:rPr lang="en-US" sz="800" dirty="0"/>
                <a:t>: Format video </a:t>
              </a:r>
              <a:r>
                <a:rPr lang="en-US" sz="800" dirty="0" err="1"/>
                <a:t>larg</a:t>
              </a:r>
              <a:r>
                <a:rPr lang="en-US" sz="800" dirty="0"/>
                <a:t> </a:t>
              </a:r>
              <a:r>
                <a:rPr lang="en-US" sz="800" dirty="0" err="1"/>
                <a:t>utilizat</a:t>
              </a:r>
              <a:r>
                <a:rPr lang="en-US" sz="800" dirty="0"/>
                <a:t>, </a:t>
              </a:r>
              <a:r>
                <a:rPr lang="en-US" sz="800" dirty="0" err="1"/>
                <a:t>compatibil</a:t>
              </a:r>
              <a:r>
                <a:rPr lang="en-US" sz="800" dirty="0"/>
                <a:t> cu </a:t>
              </a:r>
              <a:r>
                <a:rPr lang="en-US" sz="800" dirty="0" err="1"/>
                <a:t>multe</a:t>
              </a:r>
              <a:r>
                <a:rPr lang="en-US" sz="800" dirty="0"/>
                <a:t> </a:t>
              </a:r>
              <a:r>
                <a:rPr lang="en-US" sz="800" dirty="0" err="1"/>
                <a:t>dispozitive</a:t>
              </a:r>
              <a:r>
                <a:rPr lang="en-US" sz="800" dirty="0"/>
                <a:t>.</a:t>
              </a:r>
            </a:p>
            <a:p>
              <a:r>
                <a:rPr lang="en-US" sz="800" b="1" dirty="0"/>
                <a:t>.mov</a:t>
              </a:r>
              <a:r>
                <a:rPr lang="en-US" sz="800" dirty="0"/>
                <a:t>: Format video </a:t>
              </a:r>
              <a:r>
                <a:rPr lang="en-US" sz="800" dirty="0" err="1"/>
                <a:t>dezvoltat</a:t>
              </a:r>
              <a:r>
                <a:rPr lang="en-US" sz="800" dirty="0"/>
                <a:t> de Apple, similar cu MP4.</a:t>
              </a:r>
            </a:p>
            <a:p>
              <a:r>
                <a:rPr lang="en-US" sz="800" b="1" dirty="0"/>
                <a:t>.avi</a:t>
              </a:r>
              <a:r>
                <a:rPr lang="en-US" sz="800" dirty="0"/>
                <a:t>: Audio Video Interleave, un format video </a:t>
              </a:r>
              <a:r>
                <a:rPr lang="en-US" sz="800" dirty="0" err="1"/>
                <a:t>tradițional</a:t>
              </a:r>
              <a:r>
                <a:rPr lang="en-US" sz="800" dirty="0"/>
                <a:t> de la Microsoft.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762632" y="4244546"/>
              <a:ext cx="2953265" cy="2038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/>
                <a:t>Audio </a:t>
              </a:r>
              <a:r>
                <a:rPr lang="fr-FR" sz="1200" dirty="0" err="1"/>
                <a:t>și</a:t>
              </a:r>
              <a:r>
                <a:rPr lang="fr-FR" sz="1200" dirty="0"/>
                <a:t> </a:t>
              </a:r>
              <a:r>
                <a:rPr lang="fr-FR" sz="1200" dirty="0" err="1"/>
                <a:t>video</a:t>
              </a:r>
              <a:endParaRPr lang="fr-FR" sz="12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38172" y="4831192"/>
            <a:ext cx="2953265" cy="1056503"/>
            <a:chOff x="3762632" y="4244546"/>
            <a:chExt cx="2953265" cy="1056503"/>
          </a:xfrm>
        </p:grpSpPr>
        <p:sp>
          <p:nvSpPr>
            <p:cNvPr id="20" name="Rectangle 19"/>
            <p:cNvSpPr/>
            <p:nvPr/>
          </p:nvSpPr>
          <p:spPr>
            <a:xfrm>
              <a:off x="3762632" y="4448432"/>
              <a:ext cx="2953265" cy="8526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b="1"/>
                <a:t>.zip: Format de arhivare și compresie de date.</a:t>
              </a:r>
            </a:p>
            <a:p>
              <a:r>
                <a:rPr lang="en-US" sz="800" b="1"/>
                <a:t>.rar: Un alt format popular de arhivare, oferă o rată de compresie mai bună decât .zip.</a:t>
              </a:r>
            </a:p>
            <a:p>
              <a:r>
                <a:rPr lang="en-US" sz="800" b="1"/>
                <a:t>.7z: Format de arhivare cu o rată de compresie foarte înaltă.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762632" y="4244546"/>
              <a:ext cx="2953265" cy="2038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Arhive</a:t>
              </a:r>
              <a:endParaRPr lang="en-US" sz="12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66118" y="2264247"/>
            <a:ext cx="2953265" cy="1056503"/>
            <a:chOff x="3762632" y="4244546"/>
            <a:chExt cx="2953265" cy="1056503"/>
          </a:xfrm>
        </p:grpSpPr>
        <p:sp>
          <p:nvSpPr>
            <p:cNvPr id="23" name="Rectangle 22"/>
            <p:cNvSpPr/>
            <p:nvPr/>
          </p:nvSpPr>
          <p:spPr>
            <a:xfrm>
              <a:off x="3762632" y="4448432"/>
              <a:ext cx="2953265" cy="8526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b="1" dirty="0"/>
                <a:t>.exe</a:t>
              </a:r>
              <a:r>
                <a:rPr lang="en-US" sz="800" dirty="0"/>
                <a:t>: </a:t>
              </a:r>
              <a:r>
                <a:rPr lang="en-US" sz="800" dirty="0" err="1"/>
                <a:t>Executabil</a:t>
              </a:r>
              <a:r>
                <a:rPr lang="en-US" sz="800" dirty="0"/>
                <a:t> </a:t>
              </a:r>
              <a:r>
                <a:rPr lang="en-US" sz="800" dirty="0" err="1"/>
                <a:t>pentru</a:t>
              </a:r>
              <a:r>
                <a:rPr lang="en-US" sz="800" dirty="0"/>
                <a:t> Windows.</a:t>
              </a:r>
            </a:p>
            <a:p>
              <a:r>
                <a:rPr lang="en-US" sz="800" b="1" dirty="0"/>
                <a:t>.app</a:t>
              </a:r>
              <a:r>
                <a:rPr lang="en-US" sz="800" dirty="0"/>
                <a:t>: </a:t>
              </a:r>
              <a:r>
                <a:rPr lang="en-US" sz="800" dirty="0" err="1"/>
                <a:t>Aplicație</a:t>
              </a:r>
              <a:r>
                <a:rPr lang="en-US" sz="800" dirty="0"/>
                <a:t> </a:t>
              </a:r>
              <a:r>
                <a:rPr lang="en-US" sz="800" dirty="0" err="1"/>
                <a:t>pentru</a:t>
              </a:r>
              <a:r>
                <a:rPr lang="en-US" sz="800" dirty="0"/>
                <a:t> macOS.</a:t>
              </a:r>
            </a:p>
            <a:p>
              <a:r>
                <a:rPr lang="en-US" sz="800" b="1" dirty="0"/>
                <a:t>.</a:t>
              </a:r>
              <a:r>
                <a:rPr lang="en-US" sz="800" b="1" dirty="0" err="1"/>
                <a:t>py</a:t>
              </a:r>
              <a:r>
                <a:rPr lang="en-US" sz="800" dirty="0"/>
                <a:t>: Script Python.</a:t>
              </a:r>
            </a:p>
            <a:p>
              <a:r>
                <a:rPr lang="en-US" sz="800" b="1" dirty="0"/>
                <a:t>.java</a:t>
              </a:r>
              <a:r>
                <a:rPr lang="en-US" sz="800" dirty="0"/>
                <a:t>: Cod </a:t>
              </a:r>
              <a:r>
                <a:rPr lang="en-US" sz="800" dirty="0" err="1"/>
                <a:t>sursă</a:t>
              </a:r>
              <a:r>
                <a:rPr lang="en-US" sz="800" dirty="0"/>
                <a:t> Java.</a:t>
              </a:r>
            </a:p>
            <a:p>
              <a:r>
                <a:rPr lang="en-US" sz="800" b="1" dirty="0"/>
                <a:t>.html </a:t>
              </a:r>
              <a:r>
                <a:rPr lang="en-US" sz="800" b="1" dirty="0" err="1"/>
                <a:t>și</a:t>
              </a:r>
              <a:r>
                <a:rPr lang="en-US" sz="800" b="1" dirty="0"/>
                <a:t> .</a:t>
              </a:r>
              <a:r>
                <a:rPr lang="en-US" sz="800" b="1" dirty="0" err="1"/>
                <a:t>css</a:t>
              </a:r>
              <a:r>
                <a:rPr lang="en-US" sz="800" dirty="0"/>
                <a:t>: Cod </a:t>
              </a:r>
              <a:r>
                <a:rPr lang="en-US" sz="800" dirty="0" err="1"/>
                <a:t>pentru</a:t>
              </a:r>
              <a:r>
                <a:rPr lang="en-US" sz="800" dirty="0"/>
                <a:t> </a:t>
              </a:r>
              <a:r>
                <a:rPr lang="en-US" sz="800" dirty="0" err="1"/>
                <a:t>pagini</a:t>
              </a:r>
              <a:r>
                <a:rPr lang="en-US" sz="800" dirty="0"/>
                <a:t> web </a:t>
              </a:r>
              <a:r>
                <a:rPr lang="en-US" sz="800" dirty="0" err="1"/>
                <a:t>și</a:t>
              </a:r>
              <a:r>
                <a:rPr lang="en-US" sz="800" dirty="0"/>
                <a:t> </a:t>
              </a:r>
              <a:r>
                <a:rPr lang="en-US" sz="800" dirty="0" err="1"/>
                <a:t>stilizarea</a:t>
              </a:r>
              <a:r>
                <a:rPr lang="en-US" sz="800" dirty="0"/>
                <a:t> </a:t>
              </a:r>
              <a:r>
                <a:rPr lang="en-US" sz="800" dirty="0" err="1"/>
                <a:t>acestora</a:t>
              </a:r>
              <a:r>
                <a:rPr lang="en-US" sz="800" dirty="0"/>
                <a:t>.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762632" y="4244546"/>
              <a:ext cx="2953265" cy="2038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Cod sursă și executabile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7291264" y="721257"/>
            <a:ext cx="43195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Cele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importante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comune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formate</a:t>
            </a:r>
            <a:r>
              <a:rPr lang="en-US" dirty="0">
                <a:solidFill>
                  <a:schemeClr val="bg1"/>
                </a:solidFill>
              </a:rPr>
              <a:t> pot fi </a:t>
            </a:r>
            <a:r>
              <a:rPr lang="en-US" dirty="0" err="1">
                <a:solidFill>
                  <a:schemeClr val="bg1"/>
                </a:solidFill>
              </a:rPr>
              <a:t>grupate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multe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categorii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funcție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tipul</a:t>
            </a:r>
            <a:r>
              <a:rPr lang="en-US" dirty="0">
                <a:solidFill>
                  <a:schemeClr val="bg1"/>
                </a:solidFill>
              </a:rPr>
              <a:t> de date pe care </a:t>
            </a:r>
            <a:r>
              <a:rPr lang="en-US" dirty="0" err="1">
                <a:solidFill>
                  <a:schemeClr val="bg1"/>
                </a:solidFill>
              </a:rPr>
              <a:t>îl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reprezintă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9322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Process 19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Formatele principale de fișiere </a:t>
            </a:r>
            <a:br>
              <a:rPr lang="en-US"/>
            </a:br>
            <a:r>
              <a:rPr lang="en-US" sz="2000"/>
              <a:t>exploatate de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64724"/>
            <a:ext cx="11029615" cy="46523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Documente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Office</a:t>
            </a:r>
            <a:endParaRPr lang="en-US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.doc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.docx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Documente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Microsoft Word care pot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macro-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rău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intenționate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xls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.xlsx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Excel care,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similare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documentele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Word, pot include macro-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dăunătoare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.ppt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.pptx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Prezentări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PowerPoint,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macro-urile pot fi,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asemenea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sursă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malware.</a:t>
            </a:r>
          </a:p>
          <a:p>
            <a:pPr marL="0" indent="0">
              <a:buNone/>
            </a:pP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PDF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.pdf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Pot include JavaScript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cod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pot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exploatate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atacatori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Arhive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comprimate</a:t>
            </a:r>
            <a:endParaRPr lang="en-US" b="1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.zip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.7z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Pot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utilizate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ascunde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natura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dăunătoare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față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software-ul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securitate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</a:t>
            </a:r>
            <a:endParaRPr lang="en-US" b="1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.exe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dll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biblioteci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dinamice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Windows care pot fi malware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pot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payload-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malware.</a:t>
            </a:r>
          </a:p>
          <a:p>
            <a:pPr marL="0" indent="0">
              <a:buNone/>
            </a:pP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cod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</a:t>
            </a:r>
            <a:endParaRPr lang="en-US" b="1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(JavaScript),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vbs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(VBScript),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.ps1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(PowerShell):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pot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Windows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descărca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rău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intenționat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.bat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cmd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batch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comandă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pot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secvențe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comenzi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dăunătoare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web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.html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htm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php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.asp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Pagini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web care pot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malițioase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redirecționa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utilizatorii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către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site-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dăunătoare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swf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Flash care,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trecut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sursă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comună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exploatare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retragerea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suportului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Adobe Flash Player).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Alte </a:t>
            </a:r>
            <a:r>
              <a:rPr lang="en-US" b="1" u="sng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formate</a:t>
            </a:r>
            <a:endParaRPr lang="en-US" b="1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lnk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Scurtături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pot fi configurate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execute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comenzi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dăunătoare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.iso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img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Imagini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disc care,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odată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montate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pot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dăunătoare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3540" y="702156"/>
            <a:ext cx="524707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Malware-ul </a:t>
            </a:r>
            <a:r>
              <a:rPr lang="en-US" sz="1200" dirty="0" err="1">
                <a:solidFill>
                  <a:schemeClr val="bg1"/>
                </a:solidFill>
              </a:rPr>
              <a:t>poate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exploata</a:t>
            </a:r>
            <a:r>
              <a:rPr lang="en-US" sz="1200" dirty="0">
                <a:solidFill>
                  <a:schemeClr val="bg1"/>
                </a:solidFill>
              </a:rPr>
              <a:t> o </a:t>
            </a:r>
            <a:r>
              <a:rPr lang="en-US" sz="1200" dirty="0" err="1">
                <a:solidFill>
                  <a:schemeClr val="bg1"/>
                </a:solidFill>
              </a:rPr>
              <a:t>varietate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largă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formate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fișiere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pentru</a:t>
            </a:r>
            <a:r>
              <a:rPr lang="en-US" sz="1200" dirty="0">
                <a:solidFill>
                  <a:schemeClr val="bg1"/>
                </a:solidFill>
              </a:rPr>
              <a:t> a-</a:t>
            </a:r>
            <a:r>
              <a:rPr lang="en-US" sz="1200" dirty="0" err="1">
                <a:solidFill>
                  <a:schemeClr val="bg1"/>
                </a:solidFill>
              </a:rPr>
              <a:t>și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răspândi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codul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rău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intenționat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pentru</a:t>
            </a:r>
            <a:r>
              <a:rPr lang="en-US" sz="1200" dirty="0">
                <a:solidFill>
                  <a:schemeClr val="bg1"/>
                </a:solidFill>
              </a:rPr>
              <a:t> a </a:t>
            </a:r>
            <a:r>
              <a:rPr lang="en-US" sz="1200" dirty="0" err="1">
                <a:solidFill>
                  <a:schemeClr val="bg1"/>
                </a:solidFill>
              </a:rPr>
              <a:t>executa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acțiuni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dăunătoare</a:t>
            </a:r>
            <a:r>
              <a:rPr lang="en-US" sz="1200" dirty="0">
                <a:solidFill>
                  <a:schemeClr val="bg1"/>
                </a:solidFill>
              </a:rPr>
              <a:t>. </a:t>
            </a:r>
            <a:r>
              <a:rPr lang="en-US" sz="1200" dirty="0" err="1">
                <a:solidFill>
                  <a:schemeClr val="bg1"/>
                </a:solidFill>
              </a:rPr>
              <a:t>Unele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formate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fișiere</a:t>
            </a:r>
            <a:r>
              <a:rPr lang="en-US" sz="1200" dirty="0">
                <a:solidFill>
                  <a:schemeClr val="bg1"/>
                </a:solidFill>
              </a:rPr>
              <a:t> sunt </a:t>
            </a:r>
            <a:r>
              <a:rPr lang="en-US" sz="1200" dirty="0" err="1">
                <a:solidFill>
                  <a:schemeClr val="bg1"/>
                </a:solidFill>
              </a:rPr>
              <a:t>mai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predispuse</a:t>
            </a:r>
            <a:r>
              <a:rPr lang="en-US" sz="1200" dirty="0">
                <a:solidFill>
                  <a:schemeClr val="bg1"/>
                </a:solidFill>
              </a:rPr>
              <a:t> la </a:t>
            </a:r>
            <a:r>
              <a:rPr lang="en-US" sz="1200" dirty="0" err="1">
                <a:solidFill>
                  <a:schemeClr val="bg1"/>
                </a:solidFill>
              </a:rPr>
              <a:t>exploatare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datorită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popularității</a:t>
            </a:r>
            <a:r>
              <a:rPr lang="en-US" sz="1200" dirty="0">
                <a:solidFill>
                  <a:schemeClr val="bg1"/>
                </a:solidFill>
              </a:rPr>
              <a:t> lor, </a:t>
            </a:r>
            <a:r>
              <a:rPr lang="en-US" sz="1200" dirty="0" err="1">
                <a:solidFill>
                  <a:schemeClr val="bg1"/>
                </a:solidFill>
              </a:rPr>
              <a:t>complexității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și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funcționalităților</a:t>
            </a:r>
            <a:r>
              <a:rPr lang="en-US" sz="1200" dirty="0">
                <a:solidFill>
                  <a:schemeClr val="bg1"/>
                </a:solidFill>
              </a:rPr>
              <a:t> pe care le </a:t>
            </a:r>
            <a:r>
              <a:rPr lang="en-US" sz="1200" dirty="0" err="1">
                <a:solidFill>
                  <a:schemeClr val="bg1"/>
                </a:solidFill>
              </a:rPr>
              <a:t>oferă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ceea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poate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permite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ascunderea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și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executarea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codului</a:t>
            </a:r>
            <a:r>
              <a:rPr lang="en-US" sz="1200" dirty="0">
                <a:solidFill>
                  <a:schemeClr val="bg1"/>
                </a:solidFill>
              </a:rPr>
              <a:t> malware.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678" y="2099550"/>
            <a:ext cx="1244094" cy="12440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389" y="5119611"/>
            <a:ext cx="1081541" cy="132849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883" y="2244126"/>
            <a:ext cx="1120039" cy="112003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066" y="5199469"/>
            <a:ext cx="1227373" cy="122737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005" y="2181782"/>
            <a:ext cx="1156590" cy="113154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446" y="3450662"/>
            <a:ext cx="1130123" cy="113012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595" y="3553136"/>
            <a:ext cx="1316082" cy="131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6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Process 29"/>
          <p:cNvSpPr/>
          <p:nvPr/>
        </p:nvSpPr>
        <p:spPr>
          <a:xfrm>
            <a:off x="451262" y="2299580"/>
            <a:ext cx="11289474" cy="440073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fișierele executabile</a:t>
            </a:r>
            <a:br>
              <a:rPr lang="en-US"/>
            </a:br>
            <a:r>
              <a:rPr lang="en-US"/>
              <a:t>binare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37713" y="2593751"/>
            <a:ext cx="3385752" cy="2691365"/>
            <a:chOff x="3358979" y="4534931"/>
            <a:chExt cx="3385752" cy="2017008"/>
          </a:xfrm>
        </p:grpSpPr>
        <p:sp>
          <p:nvSpPr>
            <p:cNvPr id="5" name="Rectangle 4"/>
            <p:cNvSpPr/>
            <p:nvPr/>
          </p:nvSpPr>
          <p:spPr>
            <a:xfrm>
              <a:off x="3358979" y="4534931"/>
              <a:ext cx="3385752" cy="27184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Windows (92%)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358979" y="4806779"/>
              <a:ext cx="3385752" cy="174516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.exe: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Formatul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standard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pentru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fișierele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executabile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pe Windows.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Acesta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include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aplicații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standalone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și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instalatori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r>
                <a:rPr lang="en-US" sz="9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dll</a:t>
              </a:r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: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Biblioteci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dinamice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legate (Dynamic Link Libraries) sunt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folosite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pentru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a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stoca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cod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și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date care pot fi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utilizate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de multiple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programe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simultan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.sys: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Drivere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sistem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specifice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pentru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Windows, care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rulează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la un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nivel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acces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foarte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înalt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în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sistemul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operare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r>
                <a:rPr lang="en-US" sz="9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scr</a:t>
              </a:r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: 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Screen savers, care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deși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inițial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erau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folosiți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pentru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a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salva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ecranul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arderea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pixelilor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acum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pot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executa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orice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cod, similar cu un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fișier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.exe.</a:t>
              </a:r>
            </a:p>
            <a:p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.com: 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Un format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vechi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executabil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originar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din DOS,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dar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încă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suportat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de Windows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pentru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compatibilitate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164125" y="2593751"/>
            <a:ext cx="3385752" cy="2691364"/>
            <a:chOff x="3358979" y="4534931"/>
            <a:chExt cx="3385752" cy="2017008"/>
          </a:xfrm>
        </p:grpSpPr>
        <p:sp>
          <p:nvSpPr>
            <p:cNvPr id="10" name="Rectangle 9"/>
            <p:cNvSpPr/>
            <p:nvPr/>
          </p:nvSpPr>
          <p:spPr>
            <a:xfrm>
              <a:off x="3358979" y="4534931"/>
              <a:ext cx="3385752" cy="27184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Linux și Unix-like (3%)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58979" y="4806779"/>
              <a:ext cx="3385752" cy="174516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b="1" dirty="0"/>
                <a:t>ELF (Executable and Linkable Format)</a:t>
              </a:r>
              <a:r>
                <a:rPr lang="en-US" sz="900" dirty="0"/>
                <a:t>: </a:t>
              </a:r>
              <a:r>
                <a:rPr lang="en-US" sz="900" dirty="0" err="1"/>
                <a:t>Formatul</a:t>
              </a:r>
              <a:r>
                <a:rPr lang="en-US" sz="900" dirty="0"/>
                <a:t> standard </a:t>
              </a:r>
              <a:r>
                <a:rPr lang="en-US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pentru</a:t>
              </a:r>
              <a:r>
                <a:rPr lang="en-US" sz="900" dirty="0"/>
                <a:t> </a:t>
              </a:r>
              <a:r>
                <a:rPr lang="en-US" sz="900" dirty="0" err="1"/>
                <a:t>executabile</a:t>
              </a:r>
              <a:r>
                <a:rPr lang="en-US" sz="900" dirty="0"/>
                <a:t>, </a:t>
              </a:r>
              <a:r>
                <a:rPr lang="en-US" sz="900" dirty="0" err="1"/>
                <a:t>biblioteci</a:t>
              </a:r>
              <a:r>
                <a:rPr lang="en-US" sz="900" dirty="0"/>
                <a:t> </a:t>
              </a:r>
              <a:r>
                <a:rPr lang="en-US" sz="900" dirty="0" err="1"/>
                <a:t>partajate</a:t>
              </a:r>
              <a:r>
                <a:rPr lang="en-US" sz="900" dirty="0"/>
                <a:t>, </a:t>
              </a:r>
              <a:r>
                <a:rPr lang="en-US" sz="900" dirty="0" err="1"/>
                <a:t>și</a:t>
              </a:r>
              <a:r>
                <a:rPr lang="en-US" sz="900" dirty="0"/>
                <a:t> dump-</a:t>
              </a:r>
              <a:r>
                <a:rPr lang="en-US" sz="900" dirty="0" err="1"/>
                <a:t>uri</a:t>
              </a:r>
              <a:r>
                <a:rPr lang="en-US" sz="900" dirty="0"/>
                <a:t> de core </a:t>
              </a:r>
              <a:r>
                <a:rPr lang="en-US" sz="900" dirty="0" err="1"/>
                <a:t>în</a:t>
              </a:r>
              <a:r>
                <a:rPr lang="en-US" sz="900" dirty="0"/>
                <a:t> </a:t>
              </a:r>
              <a:r>
                <a:rPr lang="en-US" sz="900" dirty="0" err="1"/>
                <a:t>sistemele</a:t>
              </a:r>
              <a:r>
                <a:rPr lang="en-US" sz="900" dirty="0"/>
                <a:t> </a:t>
              </a:r>
              <a:r>
                <a:rPr lang="en-US" sz="900" dirty="0" err="1"/>
                <a:t>bazate</a:t>
              </a:r>
              <a:r>
                <a:rPr lang="en-US" sz="900" dirty="0"/>
                <a:t> pe Linux </a:t>
              </a:r>
              <a:r>
                <a:rPr lang="en-US" sz="900" dirty="0" err="1"/>
                <a:t>și</a:t>
              </a:r>
              <a:r>
                <a:rPr lang="en-US" sz="900" dirty="0"/>
                <a:t> Unix.</a:t>
              </a:r>
            </a:p>
            <a:p>
              <a:endParaRPr lang="en-US" sz="900" dirty="0"/>
            </a:p>
            <a:p>
              <a:r>
                <a:rPr lang="en-US" sz="900" b="1" dirty="0"/>
                <a:t>.a</a:t>
              </a:r>
              <a:r>
                <a:rPr lang="en-US" sz="900" dirty="0"/>
                <a:t>: </a:t>
              </a:r>
              <a:r>
                <a:rPr lang="en-US" sz="900" dirty="0" err="1"/>
                <a:t>Arhive</a:t>
              </a:r>
              <a:r>
                <a:rPr lang="en-US" sz="900" dirty="0"/>
                <a:t> statice, care sunt </a:t>
              </a:r>
              <a:r>
                <a:rPr lang="en-US" sz="900" dirty="0" err="1"/>
                <a:t>colecții</a:t>
              </a:r>
              <a:r>
                <a:rPr lang="en-US" sz="900" dirty="0"/>
                <a:t> de </a:t>
              </a:r>
              <a:r>
                <a:rPr lang="en-US" sz="900" dirty="0" err="1"/>
                <a:t>fișiere</a:t>
              </a:r>
              <a:r>
                <a:rPr lang="en-US" sz="900" dirty="0"/>
                <a:t> </a:t>
              </a:r>
              <a:r>
                <a:rPr lang="en-US" sz="900" dirty="0" err="1"/>
                <a:t>obiect</a:t>
              </a:r>
              <a:r>
                <a:rPr lang="en-US" sz="900" dirty="0"/>
                <a:t> </a:t>
              </a:r>
              <a:r>
                <a:rPr lang="en-US" sz="900" dirty="0" err="1"/>
                <a:t>compilat</a:t>
              </a:r>
              <a:r>
                <a:rPr lang="en-US" sz="900" dirty="0"/>
                <a:t>, </a:t>
              </a:r>
              <a:r>
                <a:rPr lang="en-US" sz="900" dirty="0" err="1"/>
                <a:t>utilizate</a:t>
              </a:r>
              <a:r>
                <a:rPr lang="en-US" sz="900" dirty="0"/>
                <a:t> </a:t>
              </a:r>
              <a:r>
                <a:rPr lang="en-US" sz="900" dirty="0" err="1"/>
                <a:t>pentru</a:t>
              </a:r>
              <a:r>
                <a:rPr lang="en-US" sz="900" dirty="0"/>
                <a:t> a </a:t>
              </a:r>
              <a:r>
                <a:rPr lang="en-US" sz="900" dirty="0" err="1"/>
                <a:t>crea</a:t>
              </a:r>
              <a:r>
                <a:rPr lang="en-US" sz="900" dirty="0"/>
                <a:t> </a:t>
              </a:r>
              <a:r>
                <a:rPr lang="en-US" sz="900" dirty="0" err="1"/>
                <a:t>biblioteci</a:t>
              </a:r>
              <a:r>
                <a:rPr lang="en-US" sz="900" dirty="0"/>
                <a:t> statice.</a:t>
              </a:r>
            </a:p>
            <a:p>
              <a:endParaRPr lang="en-US" sz="900" dirty="0"/>
            </a:p>
            <a:p>
              <a:r>
                <a:rPr lang="en-US" sz="900" b="1" dirty="0"/>
                <a:t>.so</a:t>
              </a:r>
              <a:r>
                <a:rPr lang="en-US" sz="900" dirty="0"/>
                <a:t>: </a:t>
              </a:r>
              <a:r>
                <a:rPr lang="en-US" sz="900" dirty="0" err="1"/>
                <a:t>Biblioteci</a:t>
              </a:r>
              <a:r>
                <a:rPr lang="en-US" sz="900" dirty="0"/>
                <a:t> </a:t>
              </a:r>
              <a:r>
                <a:rPr lang="en-US" sz="900" dirty="0" err="1"/>
                <a:t>partajate</a:t>
              </a:r>
              <a:r>
                <a:rPr lang="en-US" sz="900" dirty="0"/>
                <a:t> (shared objects) </a:t>
              </a:r>
              <a:r>
                <a:rPr lang="en-US" sz="900" dirty="0" err="1"/>
                <a:t>similare</a:t>
              </a:r>
              <a:r>
                <a:rPr lang="en-US" sz="900" dirty="0"/>
                <a:t> cu </a:t>
              </a:r>
              <a:r>
                <a:rPr lang="en-US" sz="900" dirty="0" err="1"/>
                <a:t>fișierele</a:t>
              </a:r>
              <a:r>
                <a:rPr lang="en-US" sz="900" dirty="0"/>
                <a:t> .</a:t>
              </a:r>
              <a:r>
                <a:rPr lang="en-US" sz="900" dirty="0" err="1"/>
                <a:t>dll</a:t>
              </a:r>
              <a:r>
                <a:rPr lang="en-US" sz="900" dirty="0"/>
                <a:t> din Windows.</a:t>
              </a:r>
            </a:p>
            <a:p>
              <a:endParaRPr lang="en-US" sz="900" dirty="0"/>
            </a:p>
            <a:p>
              <a:r>
                <a:rPr lang="en-US" sz="900" b="1" dirty="0"/>
                <a:t>Scripturi shell</a:t>
              </a:r>
              <a:r>
                <a:rPr lang="en-US" sz="900" dirty="0"/>
                <a:t>: </a:t>
              </a:r>
              <a:r>
                <a:rPr lang="en-US" sz="900" dirty="0" err="1"/>
                <a:t>Deși</a:t>
              </a:r>
              <a:r>
                <a:rPr lang="en-US" sz="900" dirty="0"/>
                <a:t> nu sunt </a:t>
              </a:r>
              <a:r>
                <a:rPr lang="en-US" sz="900" dirty="0" err="1"/>
                <a:t>executabile</a:t>
              </a:r>
              <a:r>
                <a:rPr lang="en-US" sz="900" dirty="0"/>
                <a:t> </a:t>
              </a:r>
              <a:r>
                <a:rPr lang="en-US" sz="900" dirty="0" err="1"/>
                <a:t>în</a:t>
              </a:r>
              <a:r>
                <a:rPr lang="en-US" sz="900" dirty="0"/>
                <a:t> </a:t>
              </a:r>
              <a:r>
                <a:rPr lang="en-US" sz="900" dirty="0" err="1"/>
                <a:t>sensul</a:t>
              </a:r>
              <a:r>
                <a:rPr lang="en-US" sz="900" dirty="0"/>
                <a:t> </a:t>
              </a:r>
              <a:r>
                <a:rPr lang="en-US" sz="900" dirty="0" err="1"/>
                <a:t>tradițional</a:t>
              </a:r>
              <a:r>
                <a:rPr lang="en-US" sz="900" dirty="0"/>
                <a:t>, </a:t>
              </a:r>
              <a:r>
                <a:rPr lang="en-US" sz="900" dirty="0" err="1"/>
                <a:t>scripturile</a:t>
              </a:r>
              <a:r>
                <a:rPr lang="en-US" sz="900" dirty="0"/>
                <a:t> (cum </a:t>
              </a:r>
              <a:r>
                <a:rPr lang="en-US" sz="900" dirty="0" err="1"/>
                <a:t>ar</a:t>
              </a:r>
              <a:r>
                <a:rPr lang="en-US" sz="900" dirty="0"/>
                <a:t> fi Bash scripts) pot fi </a:t>
              </a:r>
              <a:r>
                <a:rPr lang="en-US" sz="900" dirty="0" err="1"/>
                <a:t>executate</a:t>
              </a:r>
              <a:r>
                <a:rPr lang="en-US" sz="900" dirty="0"/>
                <a:t> </a:t>
              </a:r>
              <a:r>
                <a:rPr lang="en-US" sz="900" dirty="0" err="1"/>
                <a:t>și</a:t>
              </a:r>
              <a:r>
                <a:rPr lang="en-US" sz="900" dirty="0"/>
                <a:t> pot </a:t>
              </a:r>
              <a:r>
                <a:rPr lang="en-US" sz="900" dirty="0" err="1"/>
                <a:t>servi</a:t>
              </a:r>
              <a:r>
                <a:rPr lang="en-US" sz="900" dirty="0"/>
                <a:t> ca </a:t>
              </a:r>
              <a:r>
                <a:rPr lang="en-US" sz="900" dirty="0" err="1"/>
                <a:t>programe</a:t>
              </a:r>
              <a:r>
                <a:rPr lang="en-US" sz="900" dirty="0"/>
                <a:t> </a:t>
              </a:r>
              <a:r>
                <a:rPr lang="en-US" sz="900" dirty="0" err="1"/>
                <a:t>în</a:t>
              </a:r>
              <a:r>
                <a:rPr lang="en-US" sz="900" dirty="0"/>
                <a:t> </a:t>
              </a:r>
              <a:r>
                <a:rPr lang="en-US" sz="900" dirty="0" err="1"/>
                <a:t>sistemele</a:t>
              </a:r>
              <a:r>
                <a:rPr lang="en-US" sz="900" dirty="0"/>
                <a:t> Unix-like.</a:t>
              </a:r>
            </a:p>
            <a:p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450919" y="2593752"/>
            <a:ext cx="3385752" cy="2691365"/>
            <a:chOff x="3358979" y="4534931"/>
            <a:chExt cx="3385752" cy="2017008"/>
          </a:xfrm>
        </p:grpSpPr>
        <p:sp>
          <p:nvSpPr>
            <p:cNvPr id="13" name="Rectangle 12"/>
            <p:cNvSpPr/>
            <p:nvPr/>
          </p:nvSpPr>
          <p:spPr>
            <a:xfrm>
              <a:off x="3358979" y="4534931"/>
              <a:ext cx="3385752" cy="27184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macOS (5%)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358979" y="4806779"/>
              <a:ext cx="3385752" cy="174516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b="1" dirty="0"/>
                <a:t>Mach-O</a:t>
              </a:r>
              <a:r>
                <a:rPr lang="en-US" sz="900" dirty="0"/>
                <a:t>: </a:t>
              </a:r>
              <a:r>
                <a:rPr lang="en-US" sz="900" dirty="0" err="1"/>
                <a:t>Formatul</a:t>
              </a:r>
              <a:r>
                <a:rPr lang="en-US" sz="900" dirty="0"/>
                <a:t> standard </a:t>
              </a:r>
              <a:r>
                <a:rPr lang="en-US" sz="900" dirty="0" err="1"/>
                <a:t>pentru</a:t>
              </a:r>
              <a:r>
                <a:rPr lang="en-US" sz="900" dirty="0"/>
                <a:t> </a:t>
              </a:r>
              <a:r>
                <a:rPr lang="en-US" sz="900" dirty="0" err="1"/>
                <a:t>executabile</a:t>
              </a:r>
              <a:r>
                <a:rPr lang="en-US" sz="900" dirty="0"/>
                <a:t>, </a:t>
              </a:r>
              <a:r>
                <a:rPr lang="en-US" sz="900" dirty="0" err="1"/>
                <a:t>biblioteci</a:t>
              </a:r>
              <a:r>
                <a:rPr lang="en-US" sz="900" dirty="0"/>
                <a:t> </a:t>
              </a:r>
              <a:r>
                <a:rPr lang="en-US" sz="900" dirty="0" err="1"/>
                <a:t>dinamice</a:t>
              </a:r>
              <a:r>
                <a:rPr lang="en-US" sz="900" dirty="0"/>
                <a:t>, </a:t>
              </a:r>
              <a:r>
                <a:rPr lang="en-US" sz="900" dirty="0" err="1"/>
                <a:t>și</a:t>
              </a:r>
              <a:r>
                <a:rPr lang="en-US" sz="900" dirty="0"/>
                <a:t> bundle-</a:t>
              </a:r>
              <a:r>
                <a:rPr lang="en-US" sz="900" dirty="0" err="1"/>
                <a:t>uri</a:t>
              </a:r>
              <a:r>
                <a:rPr lang="en-US" sz="900" dirty="0"/>
                <a:t> </a:t>
              </a:r>
              <a:r>
                <a:rPr lang="en-US" sz="900" dirty="0" err="1"/>
                <a:t>în</a:t>
              </a:r>
              <a:r>
                <a:rPr lang="en-US" sz="900" dirty="0"/>
                <a:t> macOS </a:t>
              </a:r>
              <a:r>
                <a:rPr lang="en-US" sz="900" dirty="0" err="1"/>
                <a:t>și</a:t>
              </a:r>
              <a:r>
                <a:rPr lang="en-US" sz="900" dirty="0"/>
                <a:t> iOS.</a:t>
              </a:r>
            </a:p>
            <a:p>
              <a:endParaRPr lang="en-US" sz="900" dirty="0"/>
            </a:p>
            <a:p>
              <a:r>
                <a:rPr lang="en-US" sz="900" b="1" dirty="0"/>
                <a:t>.app</a:t>
              </a:r>
              <a:r>
                <a:rPr lang="en-US" sz="900" dirty="0"/>
                <a:t>: Un folder </a:t>
              </a:r>
              <a:r>
                <a:rPr lang="en-US" sz="900" dirty="0" err="1"/>
                <a:t>structurat</a:t>
              </a:r>
              <a:r>
                <a:rPr lang="en-US" sz="900" dirty="0"/>
                <a:t> care </a:t>
              </a:r>
              <a:r>
                <a:rPr lang="en-US" sz="900" dirty="0" err="1"/>
                <a:t>conține</a:t>
              </a:r>
              <a:r>
                <a:rPr lang="en-US" sz="900" dirty="0"/>
                <a:t> un program </a:t>
              </a:r>
              <a:r>
                <a:rPr lang="en-US" sz="900" dirty="0" err="1"/>
                <a:t>executabil</a:t>
              </a:r>
              <a:r>
                <a:rPr lang="en-US" sz="900" dirty="0"/>
                <a:t> </a:t>
              </a:r>
              <a:r>
                <a:rPr lang="en-US" sz="900" dirty="0" err="1"/>
                <a:t>și</a:t>
              </a:r>
              <a:r>
                <a:rPr lang="en-US" sz="900" dirty="0"/>
                <a:t> </a:t>
              </a:r>
              <a:r>
                <a:rPr lang="en-US" sz="900" dirty="0" err="1"/>
                <a:t>toate</a:t>
              </a:r>
              <a:r>
                <a:rPr lang="en-US" sz="900" dirty="0"/>
                <a:t> </a:t>
              </a:r>
              <a:r>
                <a:rPr lang="en-US" sz="900" dirty="0" err="1"/>
                <a:t>resursele</a:t>
              </a:r>
              <a:r>
                <a:rPr lang="en-US" sz="900" dirty="0"/>
                <a:t> </a:t>
              </a:r>
              <a:r>
                <a:rPr lang="en-US" sz="900" dirty="0" err="1"/>
                <a:t>necesare</a:t>
              </a:r>
              <a:r>
                <a:rPr lang="en-US" sz="900" dirty="0"/>
                <a:t> </a:t>
              </a:r>
              <a:r>
                <a:rPr lang="en-US" sz="900" dirty="0" err="1"/>
                <a:t>pentru</a:t>
              </a:r>
              <a:r>
                <a:rPr lang="en-US" sz="900" dirty="0"/>
                <a:t> ca </a:t>
              </a:r>
              <a:r>
                <a:rPr lang="en-US" sz="900" dirty="0" err="1"/>
                <a:t>aplicația</a:t>
              </a:r>
              <a:r>
                <a:rPr lang="en-US" sz="900" dirty="0"/>
                <a:t> </a:t>
              </a:r>
              <a:r>
                <a:rPr lang="en-US" sz="900" dirty="0" err="1"/>
                <a:t>să</a:t>
              </a:r>
              <a:r>
                <a:rPr lang="en-US" sz="900" dirty="0"/>
                <a:t> </a:t>
              </a:r>
              <a:r>
                <a:rPr lang="en-US" sz="900" dirty="0" err="1"/>
                <a:t>ruleze</a:t>
              </a:r>
              <a:r>
                <a:rPr lang="en-US" sz="900" dirty="0"/>
                <a:t> pe macOS. </a:t>
              </a:r>
              <a:r>
                <a:rPr lang="en-US" sz="900" dirty="0" err="1"/>
                <a:t>Deși</a:t>
              </a:r>
              <a:r>
                <a:rPr lang="en-US" sz="900" dirty="0"/>
                <a:t> </a:t>
              </a:r>
              <a:r>
                <a:rPr lang="en-US" sz="900" dirty="0" err="1"/>
                <a:t>apare</a:t>
              </a:r>
              <a:r>
                <a:rPr lang="en-US" sz="900" dirty="0"/>
                <a:t> ca un </a:t>
              </a:r>
              <a:r>
                <a:rPr lang="en-US" sz="900" dirty="0" err="1"/>
                <a:t>singur</a:t>
              </a:r>
              <a:r>
                <a:rPr lang="en-US" sz="900" dirty="0"/>
                <a:t> </a:t>
              </a:r>
              <a:r>
                <a:rPr lang="en-US" sz="900" dirty="0" err="1"/>
                <a:t>fișier</a:t>
              </a:r>
              <a:r>
                <a:rPr lang="en-US" sz="900" dirty="0"/>
                <a:t> </a:t>
              </a:r>
              <a:r>
                <a:rPr lang="en-US" sz="900" dirty="0" err="1"/>
                <a:t>în</a:t>
              </a:r>
              <a:r>
                <a:rPr lang="en-US" sz="900" dirty="0"/>
                <a:t> Finder, este de </a:t>
              </a:r>
              <a:r>
                <a:rPr lang="en-US" sz="900" dirty="0" err="1"/>
                <a:t>fapt</a:t>
              </a:r>
              <a:r>
                <a:rPr lang="en-US" sz="900" dirty="0"/>
                <a:t> un </a:t>
              </a:r>
              <a:r>
                <a:rPr lang="en-US" sz="900" dirty="0" err="1"/>
                <a:t>pachet</a:t>
              </a:r>
              <a:r>
                <a:rPr lang="en-US" sz="900" dirty="0"/>
                <a:t> de </a:t>
              </a:r>
              <a:r>
                <a:rPr lang="en-US" sz="900" dirty="0" err="1"/>
                <a:t>directoare</a:t>
              </a:r>
              <a:r>
                <a:rPr lang="en-US" sz="900" dirty="0"/>
                <a:t>.</a:t>
              </a:r>
            </a:p>
            <a:p>
              <a:endParaRPr lang="en-US" sz="900" dirty="0"/>
            </a:p>
            <a:p>
              <a:r>
                <a:rPr lang="en-US" sz="900" b="1" dirty="0"/>
                <a:t>Universal Binaries</a:t>
              </a:r>
              <a:r>
                <a:rPr lang="en-US" sz="900" dirty="0"/>
                <a:t>: </a:t>
              </a:r>
              <a:r>
                <a:rPr lang="en-US" sz="900" dirty="0" err="1"/>
                <a:t>Fișiere</a:t>
              </a:r>
              <a:r>
                <a:rPr lang="en-US" sz="900" dirty="0"/>
                <a:t> care </a:t>
              </a:r>
              <a:r>
                <a:rPr lang="en-US" sz="900" dirty="0" err="1"/>
                <a:t>conțin</a:t>
              </a:r>
              <a:r>
                <a:rPr lang="en-US" sz="900" dirty="0"/>
                <a:t> cod </a:t>
              </a:r>
              <a:r>
                <a:rPr lang="en-US" sz="900" dirty="0" err="1"/>
                <a:t>executabil</a:t>
              </a:r>
              <a:r>
                <a:rPr lang="en-US" sz="900" dirty="0"/>
                <a:t> </a:t>
              </a:r>
              <a:r>
                <a:rPr lang="en-US" sz="900" dirty="0" err="1"/>
                <a:t>pentru</a:t>
              </a:r>
              <a:r>
                <a:rPr lang="en-US" sz="900" dirty="0"/>
                <a:t> </a:t>
              </a:r>
              <a:r>
                <a:rPr lang="en-US" sz="900" dirty="0" err="1"/>
                <a:t>mai</a:t>
              </a:r>
              <a:r>
                <a:rPr lang="en-US" sz="900" dirty="0"/>
                <a:t> </a:t>
              </a:r>
              <a:r>
                <a:rPr lang="en-US" sz="900" dirty="0" err="1"/>
                <a:t>multe</a:t>
              </a:r>
              <a:r>
                <a:rPr lang="en-US" sz="900" dirty="0"/>
                <a:t> </a:t>
              </a:r>
              <a:r>
                <a:rPr lang="en-US" sz="900" dirty="0" err="1"/>
                <a:t>arhitecturi</a:t>
              </a:r>
              <a:r>
                <a:rPr lang="en-US" sz="900" dirty="0"/>
                <a:t> (de </a:t>
              </a:r>
              <a:r>
                <a:rPr lang="en-US" sz="900" dirty="0" err="1"/>
                <a:t>exemplu</a:t>
              </a:r>
              <a:r>
                <a:rPr lang="en-US" sz="900" dirty="0"/>
                <a:t>, Intel </a:t>
              </a:r>
              <a:r>
                <a:rPr lang="en-US" sz="900" dirty="0" err="1"/>
                <a:t>și</a:t>
              </a:r>
              <a:r>
                <a:rPr lang="en-US" sz="900" dirty="0"/>
                <a:t> ARM </a:t>
              </a:r>
              <a:r>
                <a:rPr lang="en-US" sz="900" dirty="0" err="1"/>
                <a:t>pentru</a:t>
              </a:r>
              <a:r>
                <a:rPr lang="en-US" sz="900" dirty="0"/>
                <a:t> Mac-</a:t>
              </a:r>
              <a:r>
                <a:rPr lang="en-US" sz="900" dirty="0" err="1"/>
                <a:t>uri</a:t>
              </a:r>
              <a:r>
                <a:rPr lang="en-US" sz="900" dirty="0"/>
                <a:t> cu chip M1), </a:t>
              </a:r>
              <a:r>
                <a:rPr lang="en-US" sz="900" dirty="0" err="1"/>
                <a:t>permițând</a:t>
              </a:r>
              <a:r>
                <a:rPr lang="en-US" sz="900" dirty="0"/>
                <a:t> </a:t>
              </a:r>
              <a:r>
                <a:rPr lang="en-US" sz="900" dirty="0" err="1"/>
                <a:t>aplicațiilor</a:t>
              </a:r>
              <a:r>
                <a:rPr lang="en-US" sz="900" dirty="0"/>
                <a:t> </a:t>
              </a:r>
              <a:r>
                <a:rPr lang="en-US" sz="900" dirty="0" err="1"/>
                <a:t>să</a:t>
              </a:r>
              <a:r>
                <a:rPr lang="en-US" sz="900" dirty="0"/>
                <a:t> </a:t>
              </a:r>
              <a:r>
                <a:rPr lang="en-US" sz="900" dirty="0" err="1"/>
                <a:t>ruleze</a:t>
              </a:r>
              <a:r>
                <a:rPr lang="en-US" sz="900" dirty="0"/>
                <a:t> pe </a:t>
              </a:r>
              <a:r>
                <a:rPr lang="en-US" sz="900" dirty="0" err="1"/>
                <a:t>diferite</a:t>
              </a:r>
              <a:r>
                <a:rPr lang="en-US" sz="900" dirty="0"/>
                <a:t> </a:t>
              </a:r>
              <a:r>
                <a:rPr lang="en-US" sz="900" dirty="0" err="1"/>
                <a:t>tipuri</a:t>
              </a:r>
              <a:r>
                <a:rPr lang="en-US" sz="900" dirty="0"/>
                <a:t> de hardware.</a:t>
              </a:r>
            </a:p>
            <a:p>
              <a:endParaRPr lang="en-US" sz="900" dirty="0"/>
            </a:p>
            <a:p>
              <a:endParaRPr lang="en-US" sz="900" dirty="0"/>
            </a:p>
            <a:p>
              <a:endParaRPr lang="en-US" sz="900" dirty="0"/>
            </a:p>
            <a:p>
              <a:endParaRPr lang="en-US" sz="900" dirty="0"/>
            </a:p>
            <a:p>
              <a:endParaRPr lang="en-US" sz="900" dirty="0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737713" y="5548345"/>
            <a:ext cx="108121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tipuri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esențiale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funcționarea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sistemelor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aplicațiilor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Ele permit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utilizatorilor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ruleze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driverele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comunice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hardware-ul,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sistemele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ofere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funcționalități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complexe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intermediul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unor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interfețe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software bine definite.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524" y="664682"/>
            <a:ext cx="3337959" cy="108874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0915948" y="1841839"/>
            <a:ext cx="455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40953" y="1841839"/>
            <a:ext cx="455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22624" y="1841839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92%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58023" y="1843942"/>
            <a:ext cx="1458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Market share:</a:t>
            </a: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32430" y="1989005"/>
            <a:ext cx="36820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(ce procent de mașini folosesc ce sistem de operare …)</a:t>
            </a:r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9960" y="1233768"/>
            <a:ext cx="799556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Process 16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8624592" cy="1013800"/>
          </a:xfrm>
        </p:spPr>
        <p:txBody>
          <a:bodyPr/>
          <a:lstStyle/>
          <a:p>
            <a:r>
              <a:rPr lang="en-US"/>
              <a:t>fișierele executabile</a:t>
            </a:r>
            <a:br>
              <a:rPr lang="en-US"/>
            </a:br>
            <a:r>
              <a:rPr lang="en-US"/>
              <a:t>script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87139" y="2751869"/>
            <a:ext cx="3385752" cy="2691365"/>
            <a:chOff x="3358979" y="4534931"/>
            <a:chExt cx="3385752" cy="2017008"/>
          </a:xfrm>
        </p:grpSpPr>
        <p:sp>
          <p:nvSpPr>
            <p:cNvPr id="5" name="Rectangle 4"/>
            <p:cNvSpPr/>
            <p:nvPr/>
          </p:nvSpPr>
          <p:spPr>
            <a:xfrm>
              <a:off x="3358979" y="4534931"/>
              <a:ext cx="3385752" cy="27184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Scripturi Windows (92%)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358979" y="4806779"/>
              <a:ext cx="3385752" cy="174516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b="1" dirty="0"/>
                <a:t>.bat</a:t>
              </a:r>
              <a:r>
                <a:rPr lang="en-US" sz="1000" dirty="0"/>
                <a:t> </a:t>
              </a:r>
              <a:r>
                <a:rPr lang="en-US" sz="1000" dirty="0" err="1"/>
                <a:t>și</a:t>
              </a:r>
              <a:r>
                <a:rPr lang="en-US" sz="1000" dirty="0"/>
                <a:t> </a:t>
              </a:r>
              <a:r>
                <a:rPr lang="en-US" sz="1000" b="1" dirty="0"/>
                <a:t>.</a:t>
              </a:r>
              <a:r>
                <a:rPr lang="en-US" sz="1000" b="1" dirty="0" err="1"/>
                <a:t>cmd</a:t>
              </a:r>
              <a:r>
                <a:rPr lang="en-US" sz="1000" dirty="0"/>
                <a:t>: </a:t>
              </a:r>
              <a:r>
                <a:rPr lang="en-US" sz="1000" dirty="0" err="1"/>
                <a:t>Fișiere</a:t>
              </a:r>
              <a:r>
                <a:rPr lang="en-US" sz="1000" dirty="0"/>
                <a:t> batch DOS/Windows, care </a:t>
              </a:r>
              <a:r>
                <a:rPr lang="en-US" sz="1000" dirty="0" err="1"/>
                <a:t>conțin</a:t>
              </a:r>
              <a:r>
                <a:rPr lang="en-US" sz="1000" dirty="0"/>
                <a:t> o </a:t>
              </a:r>
              <a:r>
                <a:rPr lang="en-US" sz="1000" dirty="0" err="1"/>
                <a:t>serie</a:t>
              </a:r>
              <a:r>
                <a:rPr lang="en-US" sz="1000" dirty="0"/>
                <a:t> de </a:t>
              </a:r>
              <a:r>
                <a:rPr lang="en-US" sz="1000" dirty="0" err="1"/>
                <a:t>comenzi</a:t>
              </a:r>
              <a:r>
                <a:rPr lang="en-US" sz="1000" dirty="0"/>
                <a:t> DOS care sunt </a:t>
              </a:r>
              <a:r>
                <a:rPr lang="en-US" sz="1000" dirty="0" err="1"/>
                <a:t>executate</a:t>
              </a:r>
              <a:r>
                <a:rPr lang="en-US" sz="1000" dirty="0"/>
                <a:t> de </a:t>
              </a:r>
              <a:r>
                <a:rPr lang="en-US" sz="1000" dirty="0" err="1"/>
                <a:t>către</a:t>
              </a:r>
              <a:r>
                <a:rPr lang="en-US" sz="1000" dirty="0"/>
                <a:t> </a:t>
              </a:r>
              <a:r>
                <a:rPr lang="en-US" sz="1000" dirty="0" err="1"/>
                <a:t>interpretorul</a:t>
              </a:r>
              <a:r>
                <a:rPr lang="en-US" sz="1000" dirty="0"/>
                <a:t> de </a:t>
              </a:r>
              <a:r>
                <a:rPr lang="en-US" sz="1000" dirty="0" err="1"/>
                <a:t>comandă</a:t>
              </a:r>
              <a:r>
                <a:rPr lang="en-US" sz="1000" dirty="0"/>
                <a:t> al Windows (cmd.exe).</a:t>
              </a:r>
            </a:p>
            <a:p>
              <a:endParaRPr lang="en-US" sz="1000" dirty="0"/>
            </a:p>
            <a:p>
              <a:r>
                <a:rPr lang="en-US" sz="1000" b="1" dirty="0"/>
                <a:t>.ps1</a:t>
              </a:r>
              <a:r>
                <a:rPr lang="en-US" sz="1000" dirty="0"/>
                <a:t>: </a:t>
              </a:r>
              <a:r>
                <a:rPr lang="en-US" sz="1000" dirty="0" err="1"/>
                <a:t>Scripturi</a:t>
              </a:r>
              <a:r>
                <a:rPr lang="en-US" sz="1000" dirty="0"/>
                <a:t> PowerShell, </a:t>
              </a:r>
              <a:r>
                <a:rPr lang="en-US" sz="1000" dirty="0" err="1"/>
                <a:t>executate</a:t>
              </a:r>
              <a:r>
                <a:rPr lang="en-US" sz="1000" dirty="0"/>
                <a:t> de </a:t>
              </a:r>
              <a:r>
                <a:rPr lang="en-US" sz="1000" dirty="0" err="1"/>
                <a:t>către</a:t>
              </a:r>
              <a:r>
                <a:rPr lang="en-US" sz="1000" dirty="0"/>
                <a:t> </a:t>
              </a:r>
              <a:r>
                <a:rPr lang="en-US" sz="1000" dirty="0" err="1"/>
                <a:t>motorul</a:t>
              </a:r>
              <a:r>
                <a:rPr lang="en-US" sz="1000" dirty="0"/>
                <a:t> PowerShell, </a:t>
              </a:r>
              <a:r>
                <a:rPr lang="en-US" sz="1000" dirty="0" err="1"/>
                <a:t>oferind</a:t>
              </a:r>
              <a:r>
                <a:rPr lang="en-US" sz="1000" dirty="0"/>
                <a:t> </a:t>
              </a:r>
              <a:r>
                <a:rPr lang="en-US" sz="1000" dirty="0" err="1"/>
                <a:t>acces</a:t>
              </a:r>
              <a:r>
                <a:rPr lang="en-US" sz="1000" dirty="0"/>
                <a:t> la </a:t>
              </a:r>
              <a:r>
                <a:rPr lang="en-US" sz="1000" dirty="0" err="1"/>
                <a:t>funcționalități</a:t>
              </a:r>
              <a:r>
                <a:rPr lang="en-US" sz="1000" dirty="0"/>
                <a:t> </a:t>
              </a:r>
              <a:r>
                <a:rPr lang="en-US" sz="1000" dirty="0" err="1"/>
                <a:t>avansate</a:t>
              </a:r>
              <a:r>
                <a:rPr lang="en-US" sz="1000" dirty="0"/>
                <a:t> de </a:t>
              </a:r>
              <a:r>
                <a:rPr lang="en-US" sz="1000" dirty="0" err="1"/>
                <a:t>automatizare</a:t>
              </a:r>
              <a:r>
                <a:rPr lang="en-US" sz="1000" dirty="0"/>
                <a:t> </a:t>
              </a:r>
              <a:r>
                <a:rPr lang="en-US" sz="1000" dirty="0" err="1"/>
                <a:t>și</a:t>
              </a:r>
              <a:r>
                <a:rPr lang="en-US" sz="1000" dirty="0"/>
                <a:t> </a:t>
              </a:r>
              <a:r>
                <a:rPr lang="en-US" sz="1000" dirty="0" err="1"/>
                <a:t>gestionare</a:t>
              </a:r>
              <a:r>
                <a:rPr lang="en-US" sz="1000" dirty="0"/>
                <a:t> a </a:t>
              </a:r>
              <a:r>
                <a:rPr lang="en-US" sz="1000" dirty="0" err="1"/>
                <a:t>sistemului</a:t>
              </a:r>
              <a:r>
                <a:rPr lang="en-US" sz="1000" dirty="0"/>
                <a:t>.</a:t>
              </a:r>
            </a:p>
            <a:p>
              <a:endParaRPr lang="en-US" sz="1000" dirty="0"/>
            </a:p>
            <a:p>
              <a:r>
                <a:rPr lang="en-US" sz="1000" b="1" dirty="0"/>
                <a:t>.</a:t>
              </a:r>
              <a:r>
                <a:rPr lang="en-US" sz="1000" b="1" dirty="0" err="1"/>
                <a:t>vbs</a:t>
              </a:r>
              <a:r>
                <a:rPr lang="en-US" sz="1000" dirty="0"/>
                <a:t>: </a:t>
              </a:r>
              <a:r>
                <a:rPr lang="en-US" sz="1000" dirty="0" err="1"/>
                <a:t>Scripturi</a:t>
              </a:r>
              <a:r>
                <a:rPr lang="en-US" sz="1000" dirty="0"/>
                <a:t> VBScript, care pot fi </a:t>
              </a:r>
              <a:r>
                <a:rPr lang="en-US" sz="1000" dirty="0" err="1"/>
                <a:t>executate</a:t>
              </a:r>
              <a:r>
                <a:rPr lang="en-US" sz="1000" dirty="0"/>
                <a:t> </a:t>
              </a:r>
              <a:r>
                <a:rPr lang="en-US" sz="1000" dirty="0" err="1"/>
                <a:t>în</a:t>
              </a:r>
              <a:r>
                <a:rPr lang="en-US" sz="1000" dirty="0"/>
                <a:t> Windows </a:t>
              </a:r>
              <a:r>
                <a:rPr lang="en-US" sz="1000" dirty="0" err="1"/>
                <a:t>prin</a:t>
              </a:r>
              <a:r>
                <a:rPr lang="en-US" sz="1000" dirty="0"/>
                <a:t> Windows Script Host </a:t>
              </a:r>
              <a:r>
                <a:rPr lang="en-US" sz="1000" dirty="0" err="1"/>
                <a:t>sau</a:t>
              </a:r>
              <a:r>
                <a:rPr lang="en-US" sz="1000" dirty="0"/>
                <a:t> </a:t>
              </a:r>
              <a:r>
                <a:rPr lang="en-US" sz="1000" dirty="0" err="1"/>
                <a:t>în</a:t>
              </a:r>
              <a:r>
                <a:rPr lang="en-US" sz="1000" dirty="0"/>
                <a:t> </a:t>
              </a:r>
              <a:r>
                <a:rPr lang="en-US" sz="1000" dirty="0" err="1"/>
                <a:t>alte</a:t>
              </a:r>
              <a:r>
                <a:rPr lang="en-US" sz="1000" dirty="0"/>
                <a:t> </a:t>
              </a:r>
              <a:r>
                <a:rPr lang="en-US" sz="1000" dirty="0" err="1"/>
                <a:t>medii</a:t>
              </a:r>
              <a:r>
                <a:rPr lang="en-US" sz="1000" dirty="0"/>
                <a:t> care </a:t>
              </a:r>
              <a:r>
                <a:rPr lang="en-US" sz="1000" dirty="0" err="1"/>
                <a:t>suportă</a:t>
              </a:r>
              <a:r>
                <a:rPr lang="en-US" sz="1000" dirty="0"/>
                <a:t> VBScript, precum </a:t>
              </a:r>
              <a:r>
                <a:rPr lang="en-US" sz="1000" dirty="0" err="1"/>
                <a:t>unele</a:t>
              </a:r>
              <a:r>
                <a:rPr lang="en-US" sz="1000" dirty="0"/>
                <a:t> </a:t>
              </a:r>
              <a:r>
                <a:rPr lang="en-US" sz="1000" dirty="0" err="1"/>
                <a:t>aplicații</a:t>
              </a:r>
              <a:r>
                <a:rPr lang="en-US" sz="1000" dirty="0"/>
                <a:t> web.</a:t>
              </a:r>
            </a:p>
            <a:p>
              <a:endParaRPr lang="en-US" sz="900" dirty="0"/>
            </a:p>
            <a:p>
              <a:endParaRPr lang="en-US" sz="900" dirty="0"/>
            </a:p>
            <a:p>
              <a:endParaRPr lang="en-US" sz="900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712998" y="2047281"/>
            <a:ext cx="107643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Termenul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„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interpretat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-un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sens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larg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include nu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doar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binare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native ale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pot fi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direct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către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interpretorul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interpretare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În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această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gamă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largă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includem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411575" y="2751870"/>
            <a:ext cx="3385752" cy="2691364"/>
            <a:chOff x="3358979" y="4534931"/>
            <a:chExt cx="3385752" cy="2017008"/>
          </a:xfrm>
        </p:grpSpPr>
        <p:sp>
          <p:nvSpPr>
            <p:cNvPr id="9" name="Rectangle 8"/>
            <p:cNvSpPr/>
            <p:nvPr/>
          </p:nvSpPr>
          <p:spPr>
            <a:xfrm>
              <a:off x="3358979" y="4534931"/>
              <a:ext cx="3385752" cy="27184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Linux și Unix-like (3%)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58979" y="4806779"/>
              <a:ext cx="3385752" cy="174516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b="1" dirty="0" err="1"/>
                <a:t>Scripturi</a:t>
              </a:r>
              <a:r>
                <a:rPr lang="en-US" sz="1000" b="1" dirty="0"/>
                <a:t> Shell</a:t>
              </a:r>
              <a:r>
                <a:rPr lang="en-US" sz="1000" dirty="0"/>
                <a:t>: </a:t>
              </a:r>
              <a:r>
                <a:rPr lang="en-US" sz="1000" dirty="0" err="1"/>
                <a:t>Acestea</a:t>
              </a:r>
              <a:r>
                <a:rPr lang="en-US" sz="1000" dirty="0"/>
                <a:t> </a:t>
              </a:r>
              <a:r>
                <a:rPr lang="en-US" sz="1000" dirty="0" err="1"/>
                <a:t>includ</a:t>
              </a:r>
              <a:r>
                <a:rPr lang="en-US" sz="1000" dirty="0"/>
                <a:t> </a:t>
              </a:r>
              <a:r>
                <a:rPr lang="en-US" sz="1000" dirty="0" err="1"/>
                <a:t>scripturi</a:t>
              </a:r>
              <a:r>
                <a:rPr lang="en-US" sz="1000" dirty="0"/>
                <a:t> Bash (.</a:t>
              </a:r>
              <a:r>
                <a:rPr lang="en-US" sz="1000" dirty="0" err="1"/>
                <a:t>sh</a:t>
              </a:r>
              <a:r>
                <a:rPr lang="en-US" sz="1000" dirty="0"/>
                <a:t>), Korn shell (.</a:t>
              </a:r>
              <a:r>
                <a:rPr lang="en-US" sz="1000" dirty="0" err="1"/>
                <a:t>ksh</a:t>
              </a:r>
              <a:r>
                <a:rPr lang="en-US" sz="1000" dirty="0"/>
                <a:t>), C shell (.</a:t>
              </a:r>
              <a:r>
                <a:rPr lang="en-US" sz="1000" dirty="0" err="1"/>
                <a:t>csh</a:t>
              </a:r>
              <a:r>
                <a:rPr lang="en-US" sz="1000" dirty="0"/>
                <a:t>), </a:t>
              </a:r>
              <a:r>
                <a:rPr lang="en-US" sz="1000" dirty="0" err="1"/>
                <a:t>și</a:t>
              </a:r>
              <a:r>
                <a:rPr lang="en-US" sz="1000" dirty="0"/>
                <a:t> </a:t>
              </a:r>
              <a:r>
                <a:rPr lang="en-US" sz="1000" dirty="0" err="1"/>
                <a:t>alte</a:t>
              </a:r>
              <a:r>
                <a:rPr lang="en-US" sz="1000" dirty="0"/>
                <a:t> shell-</a:t>
              </a:r>
              <a:r>
                <a:rPr lang="en-US" sz="1000" dirty="0" err="1"/>
                <a:t>uri</a:t>
              </a:r>
              <a:r>
                <a:rPr lang="en-US" sz="1000" dirty="0"/>
                <a:t> </a:t>
              </a:r>
              <a:r>
                <a:rPr lang="en-US" sz="1000" dirty="0" err="1"/>
                <a:t>disponibile</a:t>
              </a:r>
              <a:r>
                <a:rPr lang="en-US" sz="1000" dirty="0"/>
                <a:t> pe </a:t>
              </a:r>
              <a:r>
                <a:rPr lang="en-US" sz="1000" dirty="0" err="1"/>
                <a:t>sisteme</a:t>
              </a:r>
              <a:r>
                <a:rPr lang="en-US" sz="1000" dirty="0"/>
                <a:t> Unix </a:t>
              </a:r>
              <a:r>
                <a:rPr lang="en-US" sz="1000" dirty="0" err="1"/>
                <a:t>și</a:t>
              </a:r>
              <a:r>
                <a:rPr lang="en-US" sz="1000" dirty="0"/>
                <a:t> Linux. Sunt </a:t>
              </a:r>
              <a:r>
                <a:rPr lang="en-US" sz="1000" dirty="0" err="1"/>
                <a:t>executate</a:t>
              </a:r>
              <a:r>
                <a:rPr lang="en-US" sz="1000" dirty="0"/>
                <a:t> de </a:t>
              </a:r>
              <a:r>
                <a:rPr lang="en-US" sz="1000" dirty="0" err="1"/>
                <a:t>interpretorul</a:t>
              </a:r>
              <a:r>
                <a:rPr lang="en-US" sz="1000" dirty="0"/>
                <a:t> shell </a:t>
              </a:r>
              <a:r>
                <a:rPr lang="en-US" sz="1000" dirty="0" err="1"/>
                <a:t>corespunzător</a:t>
              </a:r>
              <a:r>
                <a:rPr lang="en-US" sz="1000" dirty="0"/>
                <a:t>.</a:t>
              </a:r>
            </a:p>
            <a:p>
              <a:endParaRPr lang="en-US" sz="1000" dirty="0"/>
            </a:p>
            <a:p>
              <a:r>
                <a:rPr lang="en-US" sz="1000" b="1" dirty="0"/>
                <a:t>.</a:t>
              </a:r>
              <a:r>
                <a:rPr lang="en-US" sz="1000" b="1" dirty="0" err="1"/>
                <a:t>py</a:t>
              </a:r>
              <a:r>
                <a:rPr lang="en-US" sz="1000" dirty="0"/>
                <a:t>: </a:t>
              </a:r>
              <a:r>
                <a:rPr lang="en-US" sz="1000" dirty="0" err="1"/>
                <a:t>Deși</a:t>
              </a:r>
              <a:r>
                <a:rPr lang="en-US" sz="1000" dirty="0"/>
                <a:t> Python este multi-</a:t>
              </a:r>
              <a:r>
                <a:rPr lang="en-US" sz="1000" dirty="0" err="1"/>
                <a:t>platformă</a:t>
              </a:r>
              <a:r>
                <a:rPr lang="en-US" sz="1000" dirty="0"/>
                <a:t>, </a:t>
              </a:r>
              <a:r>
                <a:rPr lang="en-US" sz="1000" dirty="0" err="1"/>
                <a:t>scripturile</a:t>
              </a:r>
              <a:r>
                <a:rPr lang="en-US" sz="1000" dirty="0"/>
                <a:t> Python (.</a:t>
              </a:r>
              <a:r>
                <a:rPr lang="en-US" sz="1000" dirty="0" err="1"/>
                <a:t>py</a:t>
              </a:r>
              <a:r>
                <a:rPr lang="en-US" sz="1000" dirty="0"/>
                <a:t>) pot fi </a:t>
              </a:r>
              <a:r>
                <a:rPr lang="en-US" sz="1000" dirty="0" err="1"/>
                <a:t>executate</a:t>
              </a:r>
              <a:r>
                <a:rPr lang="en-US" sz="1000" dirty="0"/>
                <a:t> ca </a:t>
              </a:r>
              <a:r>
                <a:rPr lang="en-US" sz="1000" dirty="0" err="1"/>
                <a:t>scripturi</a:t>
              </a:r>
              <a:r>
                <a:rPr lang="en-US" sz="1000" dirty="0"/>
                <a:t> pe </a:t>
              </a:r>
              <a:r>
                <a:rPr lang="en-US" sz="1000" dirty="0" err="1"/>
                <a:t>sisteme</a:t>
              </a:r>
              <a:r>
                <a:rPr lang="en-US" sz="1000" dirty="0"/>
                <a:t> Unix, Linux, </a:t>
              </a:r>
              <a:r>
                <a:rPr lang="en-US" sz="1000" dirty="0" err="1"/>
                <a:t>și</a:t>
              </a:r>
              <a:r>
                <a:rPr lang="en-US" sz="1000" dirty="0"/>
                <a:t> macOS, precum </a:t>
              </a:r>
              <a:r>
                <a:rPr lang="en-US" sz="1000" dirty="0" err="1"/>
                <a:t>și</a:t>
              </a:r>
              <a:r>
                <a:rPr lang="en-US" sz="1000" dirty="0"/>
                <a:t> pe Windows, </a:t>
              </a:r>
              <a:r>
                <a:rPr lang="en-US" sz="1000" dirty="0" err="1"/>
                <a:t>având</a:t>
              </a:r>
              <a:r>
                <a:rPr lang="en-US" sz="1000" dirty="0"/>
                <a:t> </a:t>
              </a:r>
              <a:r>
                <a:rPr lang="en-US" sz="1000" dirty="0" err="1"/>
                <a:t>nevoie</a:t>
              </a:r>
              <a:r>
                <a:rPr lang="en-US" sz="1000" dirty="0"/>
                <a:t> de </a:t>
              </a:r>
              <a:r>
                <a:rPr lang="en-US" sz="1000" dirty="0" err="1"/>
                <a:t>interpretorul</a:t>
              </a:r>
              <a:r>
                <a:rPr lang="en-US" sz="1000" dirty="0"/>
                <a:t> Python </a:t>
              </a:r>
              <a:r>
                <a:rPr lang="en-US" sz="1000" dirty="0" err="1"/>
                <a:t>instalat</a:t>
              </a:r>
              <a:r>
                <a:rPr lang="en-US" sz="1000" dirty="0"/>
                <a:t>.</a:t>
              </a:r>
            </a:p>
            <a:p>
              <a:endParaRPr lang="en-US" sz="1000" dirty="0"/>
            </a:p>
            <a:p>
              <a:r>
                <a:rPr lang="en-US" sz="1000" b="1" dirty="0"/>
                <a:t>.pl</a:t>
              </a:r>
              <a:r>
                <a:rPr lang="en-US" sz="1000" dirty="0"/>
                <a:t>: </a:t>
              </a:r>
              <a:r>
                <a:rPr lang="en-US" sz="1000" dirty="0" err="1"/>
                <a:t>Scripturi</a:t>
              </a:r>
              <a:r>
                <a:rPr lang="en-US" sz="1000" dirty="0"/>
                <a:t> Perl, care, similar cu Python, </a:t>
              </a:r>
              <a:r>
                <a:rPr lang="en-US" sz="1000" dirty="0" err="1"/>
                <a:t>necesită</a:t>
              </a:r>
              <a:r>
                <a:rPr lang="en-US" sz="1000" dirty="0"/>
                <a:t> </a:t>
              </a:r>
              <a:r>
                <a:rPr lang="en-US" sz="1000" dirty="0" err="1"/>
                <a:t>interpretorul</a:t>
              </a:r>
              <a:r>
                <a:rPr lang="en-US" sz="1000" dirty="0"/>
                <a:t> Perl </a:t>
              </a:r>
              <a:r>
                <a:rPr lang="en-US" sz="1000" dirty="0" err="1"/>
                <a:t>pentru</a:t>
              </a:r>
              <a:r>
                <a:rPr lang="en-US" sz="1000" dirty="0"/>
                <a:t> a fi </a:t>
              </a:r>
              <a:r>
                <a:rPr lang="en-US" sz="1000" dirty="0" err="1"/>
                <a:t>executate</a:t>
              </a:r>
              <a:r>
                <a:rPr lang="en-US" sz="1000" dirty="0"/>
                <a:t>, </a:t>
              </a:r>
              <a:r>
                <a:rPr lang="en-US" sz="1000" dirty="0" err="1"/>
                <a:t>disponibil</a:t>
              </a:r>
              <a:r>
                <a:rPr lang="en-US" sz="1000" dirty="0"/>
                <a:t> pe </a:t>
              </a:r>
              <a:r>
                <a:rPr lang="en-US" sz="1000" dirty="0" err="1"/>
                <a:t>multe</a:t>
              </a:r>
              <a:r>
                <a:rPr lang="en-US" sz="1000" dirty="0"/>
                <a:t> </a:t>
              </a:r>
              <a:r>
                <a:rPr lang="en-US" sz="1000" dirty="0" err="1"/>
                <a:t>platforme</a:t>
              </a:r>
              <a:r>
                <a:rPr lang="en-US" sz="1000" dirty="0"/>
                <a:t>.</a:t>
              </a:r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787139" y="5683225"/>
            <a:ext cx="107301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„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reprezintă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mod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flexibil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puternic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automatiza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sarcini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procesa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date,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gestiona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dezvolta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aplicații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compilabile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cod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mașină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specific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unei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arhitecturi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hardware, cum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binare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pot fi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totuși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direct de un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intermediul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interpretorilor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corespunzători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făcându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-le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deosebit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utile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gamă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largă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aplicații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medii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dezvoltare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091617" y="2751869"/>
            <a:ext cx="3385752" cy="2691365"/>
            <a:chOff x="3358979" y="4534931"/>
            <a:chExt cx="3385752" cy="2017008"/>
          </a:xfrm>
        </p:grpSpPr>
        <p:sp>
          <p:nvSpPr>
            <p:cNvPr id="13" name="Rectangle 12"/>
            <p:cNvSpPr/>
            <p:nvPr/>
          </p:nvSpPr>
          <p:spPr>
            <a:xfrm>
              <a:off x="3358979" y="4534931"/>
              <a:ext cx="3385752" cy="27184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Altele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358979" y="4806779"/>
              <a:ext cx="3385752" cy="174516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b="1" dirty="0"/>
                <a:t>.</a:t>
              </a:r>
              <a:r>
                <a:rPr lang="en-US" sz="1000" b="1" dirty="0" err="1"/>
                <a:t>rb</a:t>
              </a:r>
              <a:r>
                <a:rPr lang="en-US" sz="1000" dirty="0"/>
                <a:t>: Scripturi Ruby, care pot fi </a:t>
              </a:r>
              <a:r>
                <a:rPr lang="en-US" sz="1000" dirty="0" err="1"/>
                <a:t>executate</a:t>
              </a:r>
              <a:r>
                <a:rPr lang="en-US" sz="1000" dirty="0"/>
                <a:t> pe </a:t>
              </a:r>
              <a:r>
                <a:rPr lang="en-US" sz="1000" dirty="0" err="1"/>
                <a:t>orice</a:t>
              </a:r>
              <a:r>
                <a:rPr lang="en-US" sz="1000" dirty="0"/>
                <a:t> </a:t>
              </a:r>
              <a:r>
                <a:rPr lang="en-US" sz="1000" dirty="0" err="1"/>
                <a:t>sistem</a:t>
              </a:r>
              <a:r>
                <a:rPr lang="en-US" sz="1000" dirty="0"/>
                <a:t> cu </a:t>
              </a:r>
              <a:r>
                <a:rPr lang="en-US" sz="1000" dirty="0" err="1"/>
                <a:t>interpretorul</a:t>
              </a:r>
              <a:r>
                <a:rPr lang="en-US" sz="1000" dirty="0"/>
                <a:t> Ruby </a:t>
              </a:r>
              <a:r>
                <a:rPr lang="en-US" sz="1000" dirty="0" err="1"/>
                <a:t>instalat</a:t>
              </a:r>
              <a:r>
                <a:rPr lang="en-US" sz="1000" dirty="0"/>
                <a:t>.</a:t>
              </a:r>
            </a:p>
            <a:p>
              <a:endParaRPr lang="en-US" sz="1000" dirty="0"/>
            </a:p>
            <a:p>
              <a:r>
                <a:rPr lang="en-US" sz="1000" b="1" dirty="0"/>
                <a:t>.</a:t>
              </a:r>
              <a:r>
                <a:rPr lang="en-US" sz="1000" b="1" dirty="0" err="1"/>
                <a:t>php</a:t>
              </a:r>
              <a:r>
                <a:rPr lang="en-US" sz="1000" dirty="0"/>
                <a:t>: </a:t>
              </a:r>
              <a:r>
                <a:rPr lang="en-US" sz="1000" dirty="0" err="1"/>
                <a:t>Deși</a:t>
              </a:r>
              <a:r>
                <a:rPr lang="en-US" sz="1000" dirty="0"/>
                <a:t> </a:t>
              </a:r>
              <a:r>
                <a:rPr lang="en-US" sz="1000" dirty="0" err="1"/>
                <a:t>frecvent</a:t>
              </a:r>
              <a:r>
                <a:rPr lang="en-US" sz="1000" dirty="0"/>
                <a:t> </a:t>
              </a:r>
              <a:r>
                <a:rPr lang="en-US" sz="1000" dirty="0" err="1"/>
                <a:t>asociat</a:t>
              </a:r>
              <a:r>
                <a:rPr lang="en-US" sz="1000" dirty="0"/>
                <a:t> cu </a:t>
              </a:r>
              <a:r>
                <a:rPr lang="en-US" sz="1000" dirty="0" err="1"/>
                <a:t>dezvoltarea</a:t>
              </a:r>
              <a:r>
                <a:rPr lang="en-US" sz="1000" dirty="0"/>
                <a:t> web </a:t>
              </a:r>
              <a:r>
                <a:rPr lang="en-US" sz="1000" dirty="0" err="1"/>
                <a:t>și</a:t>
              </a:r>
              <a:r>
                <a:rPr lang="en-US" sz="1000" dirty="0"/>
                <a:t> </a:t>
              </a:r>
              <a:r>
                <a:rPr lang="en-US" sz="1000" dirty="0" err="1"/>
                <a:t>executat</a:t>
              </a:r>
              <a:r>
                <a:rPr lang="en-US" sz="1000" dirty="0"/>
                <a:t> pe un server web, </a:t>
              </a:r>
              <a:r>
                <a:rPr lang="en-US" sz="1000" dirty="0" err="1"/>
                <a:t>scripturile</a:t>
              </a:r>
              <a:r>
                <a:rPr lang="en-US" sz="1000" dirty="0"/>
                <a:t> PHP pot fi, de </a:t>
              </a:r>
              <a:r>
                <a:rPr lang="en-US" sz="1000" dirty="0" err="1"/>
                <a:t>asemenea</a:t>
              </a:r>
              <a:r>
                <a:rPr lang="en-US" sz="1000" dirty="0"/>
                <a:t>, </a:t>
              </a:r>
              <a:r>
                <a:rPr lang="en-US" sz="1000" dirty="0" err="1"/>
                <a:t>executate</a:t>
              </a:r>
              <a:r>
                <a:rPr lang="en-US" sz="1000" dirty="0"/>
                <a:t> direct de la </a:t>
              </a:r>
              <a:r>
                <a:rPr lang="en-US" sz="1000" dirty="0" err="1"/>
                <a:t>linia</a:t>
              </a:r>
              <a:r>
                <a:rPr lang="en-US" sz="1000" dirty="0"/>
                <a:t> de </a:t>
              </a:r>
              <a:r>
                <a:rPr lang="en-US" sz="1000" dirty="0" err="1"/>
                <a:t>comandă</a:t>
              </a:r>
              <a:r>
                <a:rPr lang="en-US" sz="1000" dirty="0"/>
                <a:t> </a:t>
              </a:r>
              <a:r>
                <a:rPr lang="en-US" sz="1000" dirty="0" err="1"/>
                <a:t>pentru</a:t>
              </a:r>
              <a:r>
                <a:rPr lang="en-US" sz="1000" dirty="0"/>
                <a:t> diverse </a:t>
              </a:r>
              <a:r>
                <a:rPr lang="en-US" sz="1000" dirty="0" err="1"/>
                <a:t>sarcini</a:t>
              </a:r>
              <a:r>
                <a:rPr lang="en-US" sz="1000" dirty="0"/>
                <a:t> de </a:t>
              </a:r>
              <a:r>
                <a:rPr lang="en-US" sz="1000" dirty="0" err="1"/>
                <a:t>scriptare</a:t>
              </a:r>
              <a:r>
                <a:rPr lang="en-US" sz="1000" dirty="0"/>
                <a:t>.</a:t>
              </a:r>
            </a:p>
            <a:p>
              <a:endParaRPr lang="en-US" sz="1000" dirty="0"/>
            </a:p>
            <a:p>
              <a:endParaRPr lang="en-US" sz="900" dirty="0"/>
            </a:p>
            <a:p>
              <a:endParaRPr lang="en-US" sz="900" dirty="0"/>
            </a:p>
            <a:p>
              <a:endParaRPr lang="en-US" sz="900" dirty="0"/>
            </a:p>
            <a:p>
              <a:endParaRPr lang="en-US" sz="900" dirty="0"/>
            </a:p>
            <a:p>
              <a:endParaRPr lang="en-US" sz="900" dirty="0"/>
            </a:p>
            <a:p>
              <a:endParaRPr lang="en-US" sz="900" dirty="0"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849" y="687968"/>
            <a:ext cx="2275278" cy="104217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69960" y="1233768"/>
            <a:ext cx="9045889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8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Alte tipuri de executabile </a:t>
            </a:r>
            <a:br>
              <a:rPr lang="en-US"/>
            </a:br>
            <a:r>
              <a:rPr lang="en-US" sz="2000"/>
              <a:t>binare și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21476"/>
            <a:ext cx="11029615" cy="47202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Bytecode Executables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intermediară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sursă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mașină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Bytecode-ul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adesea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asociat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limbaje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Java (.class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.jar)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.NET 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asemblări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dll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.exe),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necesită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mașină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virtuală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Java Virtual Machine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.NET Runtime)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a-l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interpreta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nici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binare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stocate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-un format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binar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nici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text, ci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reprezintă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set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standardizate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-un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mediu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controlat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Web Executables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lângă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PHP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menționate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anterior,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tehnologii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web, 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JavaScript (JS)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clienți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web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Node.js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server, permit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browsere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servere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obicei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scripturi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text,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mediul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lor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conferă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portabilitate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capacitate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comparabilă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Containerized Executables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În era cloud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microserviciilor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conceptul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containere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Docker,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devenit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esențial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permit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pachetarea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aplicațiilor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dependențelor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lor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unități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standardizate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dezvoltare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software.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sunt "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"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sensul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tradițional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containerele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pot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orice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suportă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tehnologia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containerizare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oferind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portabilă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izolată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Pseudo-Executables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documentele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Office cu macro-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PDF, pot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face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referire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cod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macro-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VBA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JavaScript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PDF-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timp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esență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documente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pot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deveni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vehicule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cod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malițios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adesea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exploatate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scopuri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securitate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SaaS Executables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În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Software-as-a-Service (SaaS)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aplicațiilor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web,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conceptul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„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 se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extinde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aplicații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accesate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printr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-un browser web,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fără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necesară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instalarea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locală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aceasta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interpretare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largă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diferită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reflectă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evoluția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gândim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despre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software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era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digitală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38568" y="702156"/>
            <a:ext cx="58262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Distincția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principală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între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tipurile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executabile</a:t>
            </a:r>
            <a:r>
              <a:rPr lang="en-US" sz="1400" dirty="0">
                <a:solidFill>
                  <a:schemeClr val="bg1"/>
                </a:solidFill>
              </a:rPr>
              <a:t> se face </a:t>
            </a:r>
            <a:r>
              <a:rPr lang="en-US" sz="1400" dirty="0" err="1">
                <a:solidFill>
                  <a:schemeClr val="bg1"/>
                </a:solidFill>
              </a:rPr>
              <a:t>între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executabile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binare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și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executabile</a:t>
            </a:r>
            <a:r>
              <a:rPr lang="en-US" sz="1400" dirty="0">
                <a:solidFill>
                  <a:schemeClr val="bg1"/>
                </a:solidFill>
              </a:rPr>
              <a:t> sub </a:t>
            </a:r>
            <a:r>
              <a:rPr lang="en-US" sz="1400" dirty="0" err="1">
                <a:solidFill>
                  <a:schemeClr val="bg1"/>
                </a:solidFill>
              </a:rPr>
              <a:t>formă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scripturi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dar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aceste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categorii</a:t>
            </a:r>
            <a:r>
              <a:rPr lang="en-US" sz="1400" dirty="0">
                <a:solidFill>
                  <a:schemeClr val="bg1"/>
                </a:solidFill>
              </a:rPr>
              <a:t> pot fi </a:t>
            </a:r>
            <a:r>
              <a:rPr lang="en-US" sz="1400" dirty="0" err="1">
                <a:solidFill>
                  <a:schemeClr val="bg1"/>
                </a:solidFill>
              </a:rPr>
              <a:t>extinse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detaliate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în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multe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moduri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în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funcție</a:t>
            </a:r>
            <a:r>
              <a:rPr lang="en-US" sz="1400" dirty="0">
                <a:solidFill>
                  <a:schemeClr val="bg1"/>
                </a:solidFill>
              </a:rPr>
              <a:t> de context </a:t>
            </a:r>
            <a:r>
              <a:rPr lang="en-US" sz="1400" dirty="0" err="1">
                <a:solidFill>
                  <a:schemeClr val="bg1"/>
                </a:solidFill>
              </a:rPr>
              <a:t>și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modul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în</a:t>
            </a:r>
            <a:r>
              <a:rPr lang="en-US" sz="1400" dirty="0">
                <a:solidFill>
                  <a:schemeClr val="bg1"/>
                </a:solidFill>
              </a:rPr>
              <a:t> care sunt </a:t>
            </a:r>
            <a:r>
              <a:rPr lang="en-US" sz="1400" dirty="0" err="1">
                <a:solidFill>
                  <a:schemeClr val="bg1"/>
                </a:solidFill>
              </a:rPr>
              <a:t>utilizate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executate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Flowchart: Process 5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86926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Process 10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semnaturile de fișiere</a:t>
            </a:r>
            <a:br>
              <a:rPr lang="en-US"/>
            </a:br>
            <a:r>
              <a:rPr lang="en-US" sz="2000"/>
              <a:t>cunoscute și ca „magic numbers”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9330" y="2051427"/>
            <a:ext cx="6023494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Imagini</a:t>
            </a:r>
            <a:endParaRPr kumimoji="0" lang="en-US" sz="1000" b="1" i="0" u="sng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JPEG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FF D8 FF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.jpg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sau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.jpeg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PNG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89 50 4E 47 0D 0A 1A 0A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png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GIF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47 49 46 38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.gif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Documente</a:t>
            </a:r>
            <a:endParaRPr kumimoji="0" lang="en-US" sz="1000" b="1" i="0" u="sng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PDF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25 50 44 46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începe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%PDF) -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.pdf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Microsoft Word/Excel/PowerPoint (2007+)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50 4B 03 04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.docx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.xlsx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.pptx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(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Acesta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este,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fapt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formatul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unui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ZIP,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deoarece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documentele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Office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moderne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sunt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pachete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ZIP care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conțin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XML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alte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tipuri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.)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Executabile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Sisteme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</a:t>
            </a:r>
            <a:endParaRPr kumimoji="0" lang="en-US" sz="1000" b="1" i="0" u="sng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Executabile</a:t>
            </a: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Windows (PE)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4D 5A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dll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.sys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Linux </a:t>
            </a: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alte</a:t>
            </a: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Unix executables (ELF)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7F 45 4C 46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.elf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fără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executabile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</a:t>
            </a: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script Shell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Nu au o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semnătură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hex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specifică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identificarea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se face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shebang (de ex.,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#!/bin/bash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) la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începutul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sz="1000" dirty="0">
                <a:solidFill>
                  <a:srgbClr val="C00000"/>
                </a:solidFill>
                <a:latin typeface="Arial Unicode MS" panose="020B0604020202020204" pitchFamily="34" charset="-128"/>
              </a:rPr>
              <a:t>23 21 2F 62 69 6E 2F 62 61 73 68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Arhive</a:t>
            </a:r>
            <a:endParaRPr kumimoji="0" lang="en-US" sz="1000" b="1" i="0" u="sng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ZIP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50 4B 03 04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.zip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.jar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.docx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.xlsx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.pptx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etc.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RAR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52 61 72 21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rar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7z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37 7A BC AF 27 1C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.7z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Media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MP3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Variază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dar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MP3 cu tag-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uri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ID3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încep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49 44 33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.mp3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Wave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52 49 46 46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urmat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dimensiune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57 41 56 45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.wav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MPEG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lang="en-US" sz="1000" dirty="0">
                <a:solidFill>
                  <a:srgbClr val="C00000"/>
                </a:solidFill>
                <a:latin typeface="Arial" panose="020B0604020202020204" pitchFamily="34" charset="0"/>
              </a:rPr>
              <a:t>00 00 01 BA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sau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000" dirty="0">
                <a:solidFill>
                  <a:srgbClr val="C00000"/>
                </a:solidFill>
                <a:latin typeface="Arial" panose="020B0604020202020204" pitchFamily="34" charset="0"/>
              </a:rPr>
              <a:t>00 00 01 B3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pentru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fișiere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video.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MPEG-4 video file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66 74 79 70 69 73 6F 6D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(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mai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interiorul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) -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: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.mp4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.m4v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Windows shortcut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files: </a:t>
            </a:r>
            <a:r>
              <a:rPr lang="en-US" sz="1000" dirty="0">
                <a:solidFill>
                  <a:srgbClr val="C00000"/>
                </a:solidFill>
                <a:latin typeface="Arial Unicode MS" panose="020B0604020202020204" pitchFamily="34" charset="-128"/>
              </a:rPr>
              <a:t>4C 00 00 00 01 14 02 00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Extensie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.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lnk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7024818" y="3489532"/>
            <a:ext cx="447478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Rețineți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semnături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doar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primele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câțiva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bytes din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unele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(precum MP3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sunt interpretate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varia.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asemenea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cazul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documentelor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Office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arhivelor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ZIP,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același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antet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indica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multe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contextul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conținutul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complet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identificare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precisă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7024818" y="2354569"/>
            <a:ext cx="40159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Semnaturile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cunoscute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 „magic numbers”,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secvențe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bytes la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începutul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fișierelor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ajută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identificarea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formatului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acestora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chiar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absența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extensiei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</a:p>
        </p:txBody>
      </p:sp>
      <p:sp>
        <p:nvSpPr>
          <p:cNvPr id="9" name="Rectangle 8"/>
          <p:cNvSpPr/>
          <p:nvPr/>
        </p:nvSpPr>
        <p:spPr>
          <a:xfrm>
            <a:off x="6821018" y="2095138"/>
            <a:ext cx="55606" cy="43798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24818" y="5270826"/>
            <a:ext cx="44747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semnături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utile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identificarea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rapidă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singura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metodă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determinare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pot fi,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asemenea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ușor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falsificate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anumite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cazuri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malware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corupte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858" y="2337716"/>
            <a:ext cx="987812" cy="98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9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lowchart: Process 22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in cutter</a:t>
            </a:r>
            <a:br>
              <a:rPr lang="en-US" dirty="0"/>
            </a:br>
            <a:r>
              <a:rPr lang="en-US" sz="2000" dirty="0"/>
              <a:t>magic headers (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observați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că .pptx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.zip sunt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identice</a:t>
            </a:r>
            <a:r>
              <a:rPr lang="en-US" sz="2000" dirty="0"/>
              <a:t>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677" y="3641262"/>
            <a:ext cx="4005978" cy="1418784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08" y="2081930"/>
            <a:ext cx="3983588" cy="1398181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677" y="2081930"/>
            <a:ext cx="4019889" cy="1418784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08" y="3641262"/>
            <a:ext cx="3998450" cy="1394808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08" y="5115535"/>
            <a:ext cx="3998450" cy="1404861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677" y="5115535"/>
            <a:ext cx="3994307" cy="1404861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Rounded Rectangular Callout 13"/>
          <p:cNvSpPr/>
          <p:nvPr/>
        </p:nvSpPr>
        <p:spPr>
          <a:xfrm>
            <a:off x="685800" y="2570206"/>
            <a:ext cx="1383957" cy="747584"/>
          </a:xfrm>
          <a:prstGeom prst="wedgeRoundRectCallout">
            <a:avLst>
              <a:gd name="adj1" fmla="val 87649"/>
              <a:gd name="adj2" fmla="val -9039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.pdf</a:t>
            </a:r>
          </a:p>
          <a:p>
            <a:pPr algn="ctr"/>
            <a:r>
              <a:rPr lang="en-US" sz="1200"/>
              <a:t>25 50 44 46 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685799" y="4125098"/>
            <a:ext cx="1383957" cy="747584"/>
          </a:xfrm>
          <a:prstGeom prst="wedgeRoundRectCallout">
            <a:avLst>
              <a:gd name="adj1" fmla="val 87649"/>
              <a:gd name="adj2" fmla="val -9039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.exe</a:t>
            </a:r>
          </a:p>
          <a:p>
            <a:pPr algn="ctr"/>
            <a:r>
              <a:rPr lang="en-US" sz="1200"/>
              <a:t>4D 5A 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685798" y="5679990"/>
            <a:ext cx="1383957" cy="747584"/>
          </a:xfrm>
          <a:prstGeom prst="wedgeRoundRectCallout">
            <a:avLst>
              <a:gd name="adj1" fmla="val 87649"/>
              <a:gd name="adj2" fmla="val -9039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.jpg</a:t>
            </a:r>
          </a:p>
          <a:p>
            <a:pPr algn="ctr"/>
            <a:r>
              <a:rPr lang="en-US" sz="1200"/>
              <a:t>FF D8 FF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10177424" y="2570206"/>
            <a:ext cx="1383957" cy="747584"/>
          </a:xfrm>
          <a:prstGeom prst="wedgeRoundRectCallout">
            <a:avLst>
              <a:gd name="adj1" fmla="val -276637"/>
              <a:gd name="adj2" fmla="val -8212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.pptx</a:t>
            </a:r>
          </a:p>
          <a:p>
            <a:pPr algn="ctr"/>
            <a:r>
              <a:rPr lang="en-US" sz="1200"/>
              <a:t>50 4B 03 04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10177423" y="4131277"/>
            <a:ext cx="1383957" cy="747584"/>
          </a:xfrm>
          <a:prstGeom prst="wedgeRoundRectCallout">
            <a:avLst>
              <a:gd name="adj1" fmla="val -276637"/>
              <a:gd name="adj2" fmla="val -8212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.zip</a:t>
            </a:r>
          </a:p>
          <a:p>
            <a:pPr algn="ctr"/>
            <a:r>
              <a:rPr lang="en-US" sz="1200"/>
              <a:t>50 4B 03 04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10177422" y="5601730"/>
            <a:ext cx="1383957" cy="747584"/>
          </a:xfrm>
          <a:prstGeom prst="wedgeRoundRectCallout">
            <a:avLst>
              <a:gd name="adj1" fmla="val -276637"/>
              <a:gd name="adj2" fmla="val -8212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.lnk</a:t>
            </a:r>
          </a:p>
          <a:p>
            <a:pPr algn="ctr"/>
            <a:r>
              <a:rPr lang="en-US" sz="1200"/>
              <a:t>4C 00 00 00 01</a:t>
            </a:r>
          </a:p>
        </p:txBody>
      </p:sp>
      <p:sp>
        <p:nvSpPr>
          <p:cNvPr id="24" name="Up-Down Arrow 23"/>
          <p:cNvSpPr/>
          <p:nvPr/>
        </p:nvSpPr>
        <p:spPr>
          <a:xfrm>
            <a:off x="10824519" y="3480111"/>
            <a:ext cx="179173" cy="50494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5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Detectia de format</a:t>
            </a:r>
            <a:br>
              <a:rPr lang="en-US"/>
            </a:br>
            <a:r>
              <a:rPr lang="en-US"/>
              <a:t>                                Python file type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9324" y="4065373"/>
            <a:ext cx="5951412" cy="2306231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File "C:\Users\Elitebook\Desktop\IMG\0\0\New folder\sf(3).gif" is a Unknown file type.</a:t>
            </a:r>
          </a:p>
          <a:p>
            <a:r>
              <a:rPr lang="en-US"/>
              <a:t>File "C:\Users\Elitebook\Desktop\IMG\0\0\New folder\sf(4).gif" is a Unknown file type.</a:t>
            </a:r>
          </a:p>
          <a:p>
            <a:r>
              <a:rPr lang="en-US"/>
              <a:t>File "C:\Users\Elitebook\Desktop\IMG\0\0\New folder\sf(5).gif" is a Unknown file type.</a:t>
            </a:r>
          </a:p>
          <a:p>
            <a:r>
              <a:rPr lang="en-US"/>
              <a:t>File "C:\Users\Elitebook\Desktop\IMG\0\0\New folder\sf(6).gif" is a Unknown file type.</a:t>
            </a:r>
          </a:p>
          <a:p>
            <a:r>
              <a:rPr lang="en-US"/>
              <a:t>File "C:\Users\Elitebook\Desktop\IMG\0\0\New folder\spectral forecast.png" is a PNG image.</a:t>
            </a:r>
          </a:p>
          <a:p>
            <a:r>
              <a:rPr lang="en-US"/>
              <a:t>File "C:\Users\Elitebook\Desktop\IMG\0\0\New folder\t.png" is a PNG image.</a:t>
            </a:r>
          </a:p>
          <a:p>
            <a:r>
              <a:rPr lang="en-US"/>
              <a:t>File "C:\Users\Elitebook\Desktop\IMG\0\0\New folder\waveform.png" is a PNG image.</a:t>
            </a:r>
          </a:p>
          <a:p>
            <a:r>
              <a:rPr lang="en-US"/>
              <a:t>File "C:\Users\Elitebook\Desktop\IMG\0\0\New folder\0\signals.zip" is a Unknown file type.</a:t>
            </a:r>
          </a:p>
          <a:p>
            <a:r>
              <a:rPr lang="en-US"/>
              <a:t>File "C:\Users\Elitebook\Desktop\IMG\0\0\New folder\0\sp.html" is a Unknown file type.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1681" y="2024889"/>
            <a:ext cx="4742935" cy="453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magic numbers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file_signatures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b'\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xff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\xd8\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xff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\xe0'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'JPEG image'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b'\x89\x50\x4e\x47\x0d\x0a\x1a\x0a'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'PNG image'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adaugare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dupa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dorinte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detect_file_type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citeste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primii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 bytes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file_type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file_signatures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file_type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"Unknown file type"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search_files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walk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file_type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detect_file_type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'File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}" is a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file_type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}.'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"Calea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interes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search_files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46795" y="2183251"/>
            <a:ext cx="5122119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script Python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definește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dicționar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semnături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diferite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tipuri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oferă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detecta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tipul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citind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începutul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fișierului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Apoi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caută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-un director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specificat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tipărește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căile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fișierelor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împreună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tipurile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detectate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Această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abordare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mult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fiabilă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manipularea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datelor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binare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permite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extensie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ușoară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accepta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multe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tipuri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adăugarea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semnăturilor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acestora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dicționar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6907" y="2183251"/>
            <a:ext cx="55606" cy="43798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/>
          <p:cNvSpPr/>
          <p:nvPr/>
        </p:nvSpPr>
        <p:spPr>
          <a:xfrm>
            <a:off x="5670480" y="3966519"/>
            <a:ext cx="5879997" cy="2465173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88999" y="3575204"/>
            <a:ext cx="15985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Rezultat consolă:</a:t>
            </a:r>
            <a:endParaRPr lang="en-US" sz="1600"/>
          </a:p>
        </p:txBody>
      </p:sp>
      <p:sp>
        <p:nvSpPr>
          <p:cNvPr id="11" name="Rectangle 10"/>
          <p:cNvSpPr/>
          <p:nvPr/>
        </p:nvSpPr>
        <p:spPr>
          <a:xfrm>
            <a:off x="691234" y="1233768"/>
            <a:ext cx="799556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09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/>
          <p:cNvSpPr/>
          <p:nvPr/>
        </p:nvSpPr>
        <p:spPr>
          <a:xfrm>
            <a:off x="6042454" y="1957630"/>
            <a:ext cx="5698282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 ne indică </a:t>
            </a:r>
            <a:br>
              <a:rPr lang="en-US"/>
            </a:br>
            <a:r>
              <a:rPr lang="en-US" sz="1800"/>
              <a:t>Discrepanță între semnătura magică și extensie?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65163"/>
            <a:ext cx="5418013" cy="3614822"/>
          </a:xfrm>
        </p:spPr>
        <p:txBody>
          <a:bodyPr>
            <a:normAutofit/>
          </a:bodyPr>
          <a:lstStyle/>
          <a:p>
            <a:r>
              <a:rPr lang="en-US" dirty="0" err="1"/>
              <a:t>Discrepanță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semnătura</a:t>
            </a:r>
            <a:r>
              <a:rPr lang="en-US" dirty="0"/>
              <a:t> </a:t>
            </a:r>
            <a:r>
              <a:rPr lang="en-US" dirty="0" err="1"/>
              <a:t>magică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extensie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Care </a:t>
            </a:r>
            <a:r>
              <a:rPr lang="en-US" dirty="0" err="1"/>
              <a:t>asociere</a:t>
            </a:r>
            <a:r>
              <a:rPr lang="en-US" dirty="0"/>
              <a:t> este </a:t>
            </a:r>
            <a:r>
              <a:rPr lang="en-US" dirty="0" err="1"/>
              <a:t>suspectă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care nu?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044" y="2597433"/>
            <a:ext cx="4577712" cy="1596876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043" y="4658849"/>
            <a:ext cx="4563229" cy="1591824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6617043" y="2228101"/>
            <a:ext cx="1571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nume_fisier.jpg</a:t>
            </a:r>
          </a:p>
        </p:txBody>
      </p:sp>
      <p:sp>
        <p:nvSpPr>
          <p:cNvPr id="7" name="Rectangle 6"/>
          <p:cNvSpPr/>
          <p:nvPr/>
        </p:nvSpPr>
        <p:spPr>
          <a:xfrm>
            <a:off x="6617043" y="4289517"/>
            <a:ext cx="1278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nume_fisier</a:t>
            </a:r>
          </a:p>
        </p:txBody>
      </p:sp>
      <p:sp>
        <p:nvSpPr>
          <p:cNvPr id="11" name="Flowchart: Process 10"/>
          <p:cNvSpPr/>
          <p:nvPr/>
        </p:nvSpPr>
        <p:spPr>
          <a:xfrm>
            <a:off x="441056" y="1957630"/>
            <a:ext cx="5440759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3549" y="4186344"/>
            <a:ext cx="5127630" cy="555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62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Process 15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Cum obtinem sematurile magice?</a:t>
            </a:r>
            <a:br>
              <a:rPr lang="en-US"/>
            </a:br>
            <a:r>
              <a:rPr lang="en-US" sz="1800"/>
              <a:t>Aliniem fisiere cu extensii de acelasi fel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0295" y="5404630"/>
            <a:ext cx="50230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semnături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utile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identificarea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rapidă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singura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metodă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determinare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pot fi,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asemenea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ușor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falsificate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anumite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cazuri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malware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corupte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660295" y="2357969"/>
            <a:ext cx="4924169" cy="3046661"/>
          </a:xfrm>
        </p:spPr>
        <p:txBody>
          <a:bodyPr>
            <a:normAutofit fontScale="475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1.jpg: ffd8ffe20bf84943435f50524f46494c4500010100000be8000000000200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2.jpg: ffd8ffe000104a46494600010200000100010000fffe00042a00ffe20bf8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3.jpg: ffd8ffe000104a46494600010101007800780000ffe10022457869660000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4.jpg: ffd8ffe20bf84943435f50524f46494c4500010100000be8000000000200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5.jpg: ffd8ffe000104a46494600010100000100010000ffe201d84943435f5052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6.jpg: ffd8ffe000104a46494600010100000100010000ffe201d84943435f5052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7.jpg: ffd8ffe000104a46494600010100000100010000ffe201d84943435f5052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8.jpg: ffd8ffe000104a46494600010100000100010000ffe201d84943435f5052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9.jpg: ffd8ffe000104a46494600010100000100010000ffe201d84943435f5052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Semnatura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'C:\Users\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Elitebook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\Desktop\IMG\1': ffd8ff</a:t>
            </a:r>
          </a:p>
        </p:txBody>
      </p:sp>
      <p:sp>
        <p:nvSpPr>
          <p:cNvPr id="8" name="Rectangle 7"/>
          <p:cNvSpPr/>
          <p:nvPr/>
        </p:nvSpPr>
        <p:spPr>
          <a:xfrm>
            <a:off x="556482" y="1990514"/>
            <a:ext cx="6096000" cy="4867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citeste_primii_30_bytes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gaseste_semnatura_magica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citeste_primii_30_bytes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:]: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bytes_curenti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citeste_primii_30_bytes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bytes_curenti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afiseaza_semnatura_magica_director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listdir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\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isfile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bytes_fisier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citeste_primii_30_bytes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os.path.basename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)}: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bytes_fisier.hex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()}"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gaseste_semnatura_magica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fisiere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nSemnatura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'{director}':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semnatura_magica.hex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()}"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'C:\\Users\\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Elitebook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\\Desktop\\IMG\\1'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afiseaza_semnatura_magica_director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3642" y="2139072"/>
            <a:ext cx="55606" cy="43798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Process 14"/>
          <p:cNvSpPr/>
          <p:nvPr/>
        </p:nvSpPr>
        <p:spPr>
          <a:xfrm>
            <a:off x="6932140" y="2582562"/>
            <a:ext cx="4602649" cy="2580394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5222" y="2197727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Consola:</a:t>
            </a:r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11161682" y="4945119"/>
            <a:ext cx="732897" cy="459511"/>
            <a:chOff x="11161682" y="4945119"/>
            <a:chExt cx="732897" cy="459511"/>
          </a:xfrm>
        </p:grpSpPr>
        <p:sp>
          <p:nvSpPr>
            <p:cNvPr id="19" name="Right Arrow 18"/>
            <p:cNvSpPr/>
            <p:nvPr/>
          </p:nvSpPr>
          <p:spPr>
            <a:xfrm rot="12291639">
              <a:off x="11161682" y="4945119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1430621" y="4961381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4094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133268" y="1053206"/>
            <a:ext cx="10513639" cy="276652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C.6.2</a:t>
            </a:r>
            <a:br>
              <a:rPr lang="en-US" dirty="0"/>
            </a:br>
            <a:r>
              <a:rPr lang="en-US" dirty="0" err="1"/>
              <a:t>Fișiere</a:t>
            </a:r>
            <a:r>
              <a:rPr lang="en-US" dirty="0"/>
              <a:t> </a:t>
            </a:r>
            <a:r>
              <a:rPr lang="en-US" dirty="0" err="1"/>
              <a:t>executabile</a:t>
            </a:r>
            <a:r>
              <a:rPr lang="en-US" dirty="0"/>
              <a:t> interpretate vs compilate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46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/>
          <p:cNvSpPr/>
          <p:nvPr/>
        </p:nvSpPr>
        <p:spPr>
          <a:xfrm>
            <a:off x="4460789" y="1957630"/>
            <a:ext cx="7279947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diferitele tipuri de fișiere executabile</a:t>
            </a:r>
            <a:br>
              <a:rPr lang="en-US"/>
            </a:br>
            <a:r>
              <a:rPr lang="en-US" sz="1800"/>
              <a:t>sub forma unui arbore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70903"/>
            <a:ext cx="11029615" cy="488709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3100" u="sng">
                <a:latin typeface="Consolas" panose="020B0609020204030204" pitchFamily="49" charset="0"/>
              </a:rPr>
              <a:t>Fișiere Executabile</a:t>
            </a:r>
            <a:br>
              <a:rPr lang="en-US" sz="3100" u="sng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├──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Executabile Binare</a:t>
            </a:r>
            <a:b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</a:t>
            </a:r>
            <a:r>
              <a:rPr lang="en-US" sz="3100" b="1" u="sng">
                <a:latin typeface="Consolas" panose="020B0609020204030204" pitchFamily="49" charset="0"/>
              </a:rPr>
              <a:t>Windows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├── .exe (Aplicații Executabile)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├── .dll (Biblioteci Dinamice)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└── .sys (Drivere de Sistem)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</a:t>
            </a:r>
            <a:r>
              <a:rPr lang="en-US" sz="3100" b="1" u="sng">
                <a:latin typeface="Consolas" panose="020B0609020204030204" pitchFamily="49" charset="0"/>
              </a:rPr>
              <a:t>Linux/Unix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├── ELF (Executable and Linkable Format)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│ ├── Aplicații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│ └── Biblioteci Dinamice (.so)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└── Scripturi Executabile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└── .sh (Bash Script)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</a:t>
            </a:r>
            <a:r>
              <a:rPr lang="en-US" sz="3100" b="1" u="sng">
                <a:latin typeface="Consolas" panose="020B0609020204030204" pitchFamily="49" charset="0"/>
              </a:rPr>
              <a:t>macOS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Mach-O (Mach Object)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.app (Pachete de Aplicații)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├──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Executabile Script</a:t>
            </a:r>
            <a:b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</a:t>
            </a:r>
            <a:r>
              <a:rPr lang="en-US" sz="3100" b="1" u="sng">
                <a:latin typeface="Consolas" panose="020B0609020204030204" pitchFamily="49" charset="0"/>
              </a:rPr>
              <a:t>Scripturi Windows</a:t>
            </a:r>
            <a:br>
              <a:rPr lang="en-US" sz="3100" b="1" u="sng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├── .bat/.cmd (Fișiere Batch)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├── .ps1 (PowerShell)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└── .vbs (VBScript)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</a:t>
            </a:r>
            <a:r>
              <a:rPr lang="en-US" sz="3100" b="1" u="sng">
                <a:latin typeface="Consolas" panose="020B0609020204030204" pitchFamily="49" charset="0"/>
              </a:rPr>
              <a:t>Scripturi Unix/Linux</a:t>
            </a:r>
            <a:br>
              <a:rPr lang="en-US" sz="3100" b="1" u="sng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├── .sh (Shell Script)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└── Alte Shell-uri (.csh, .ksh, etc.)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</a:t>
            </a:r>
            <a:r>
              <a:rPr lang="en-US" sz="3100" b="1" u="sng">
                <a:latin typeface="Consolas" panose="020B0609020204030204" pitchFamily="49" charset="0"/>
              </a:rPr>
              <a:t>Alte Scripturi</a:t>
            </a:r>
            <a:br>
              <a:rPr lang="en-US" sz="3100" b="1" u="sng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.py (Python)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.rb (Ruby)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.pl (Perl)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.php (PHP)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├──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Executabile Bytecode</a:t>
            </a:r>
            <a:b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</a:t>
            </a:r>
            <a:r>
              <a:rPr lang="en-US" sz="3100" b="1" u="sng">
                <a:latin typeface="Consolas" panose="020B0609020204030204" pitchFamily="49" charset="0"/>
              </a:rPr>
              <a:t>Java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├── .class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└── .jar (Java Archive)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</a:t>
            </a:r>
            <a:r>
              <a:rPr lang="en-US" sz="3100" b="1" u="sng">
                <a:latin typeface="Consolas" panose="020B0609020204030204" pitchFamily="49" charset="0"/>
              </a:rPr>
              <a:t>.NET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.dll (Biblioteci)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.exe (Aplicații)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├──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Web Executables</a:t>
            </a:r>
            <a:b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Frontend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│ └── .js (JavaScript)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Backend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Node.js (.js)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.php (PHP)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└──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Alte Tipuri</a:t>
            </a:r>
            <a:b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├──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Containerized Executables</a:t>
            </a:r>
            <a:b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Docker (Containere)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├──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Pseudo-Executables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├── Documente Office cu Macro-uri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│ └── .pdf cu JavaScript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└──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SaaS Executables</a:t>
            </a:r>
            <a:br>
              <a:rPr lang="en-US" sz="3100">
                <a:latin typeface="Consolas" panose="020B0609020204030204" pitchFamily="49" charset="0"/>
              </a:rPr>
            </a:br>
            <a:r>
              <a:rPr lang="en-US" sz="3100">
                <a:latin typeface="Consolas" panose="020B0609020204030204" pitchFamily="49" charset="0"/>
              </a:rPr>
              <a:t>└── </a:t>
            </a:r>
            <a:r>
              <a:rPr lang="en-US" sz="3100" b="1">
                <a:solidFill>
                  <a:srgbClr val="C00000"/>
                </a:solidFill>
                <a:latin typeface="Consolas" panose="020B0609020204030204" pitchFamily="49" charset="0"/>
              </a:rPr>
              <a:t>Aplicații Web</a:t>
            </a:r>
          </a:p>
          <a:p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16882" y="2397209"/>
            <a:ext cx="6491843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Această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diagramă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prezintă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viziune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generală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tipurilor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fișiere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executabile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grupate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categorii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largi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err="1">
                <a:solidFill>
                  <a:srgbClr val="C00000"/>
                </a:solidFill>
              </a:rPr>
              <a:t>Executabile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Binare</a:t>
            </a:r>
            <a:r>
              <a:rPr lang="en-US" sz="1400" dirty="0"/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reprezintă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programele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bibliotecile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compilate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nativ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un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sistem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operare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err="1">
                <a:solidFill>
                  <a:srgbClr val="C00000"/>
                </a:solidFill>
              </a:rPr>
              <a:t>Executabile</a:t>
            </a:r>
            <a:r>
              <a:rPr lang="en-US" sz="1400" dirty="0">
                <a:solidFill>
                  <a:srgbClr val="C00000"/>
                </a:solidFill>
              </a:rPr>
              <a:t> Script</a:t>
            </a:r>
            <a:r>
              <a:rPr lang="en-US" sz="1400" dirty="0"/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cuprind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scripturi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interpretate la runtime de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diferite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motoare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scripting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shell-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uri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err="1">
                <a:solidFill>
                  <a:srgbClr val="C00000"/>
                </a:solidFill>
              </a:rPr>
              <a:t>Executabile</a:t>
            </a:r>
            <a:r>
              <a:rPr lang="en-US" sz="1400" dirty="0">
                <a:solidFill>
                  <a:srgbClr val="C00000"/>
                </a:solidFill>
              </a:rPr>
              <a:t> Bytecode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sunt un tip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intermediar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necesitând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mașină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virtuală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execuție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C00000"/>
                </a:solidFill>
              </a:rPr>
              <a:t>Web Executables</a:t>
            </a:r>
            <a:r>
              <a:rPr lang="en-US" sz="1400" dirty="0"/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evidențiază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rolul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limbajelor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programare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web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atât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partea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client,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cât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cea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server.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C00000"/>
                </a:solidFill>
              </a:rPr>
              <a:t>Alte </a:t>
            </a:r>
            <a:r>
              <a:rPr lang="en-US" sz="1400" dirty="0" err="1">
                <a:solidFill>
                  <a:srgbClr val="C00000"/>
                </a:solidFill>
              </a:rPr>
              <a:t>Tipuri</a:t>
            </a:r>
            <a:r>
              <a:rPr lang="en-US" sz="1400" dirty="0"/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acoperă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categorii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puțin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tradiționale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executabile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reflectând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diversitatea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evoluția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tehnologică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din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domeniul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07" y="1722134"/>
            <a:ext cx="55605" cy="49843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80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Fișierele</a:t>
            </a:r>
            <a:r>
              <a:rPr lang="en-US" dirty="0"/>
              <a:t> .exe (Executable files)</a:t>
            </a:r>
            <a:br>
              <a:rPr lang="en-US" dirty="0"/>
            </a:br>
            <a:r>
              <a:rPr lang="en-US" sz="1800" dirty="0" err="1"/>
              <a:t>structura</a:t>
            </a:r>
            <a:r>
              <a:rPr lang="en-US" sz="1800" dirty="0"/>
              <a:t> </a:t>
            </a:r>
            <a:r>
              <a:rPr lang="en-US" sz="1800" dirty="0" err="1"/>
              <a:t>generală</a:t>
            </a:r>
            <a:r>
              <a:rPr lang="en-US" sz="1800" dirty="0"/>
              <a:t> a </a:t>
            </a:r>
            <a:r>
              <a:rPr lang="en-US" sz="1800" dirty="0" err="1"/>
              <a:t>unui</a:t>
            </a:r>
            <a:r>
              <a:rPr lang="en-US" sz="1800" dirty="0"/>
              <a:t> </a:t>
            </a:r>
            <a:r>
              <a:rPr lang="en-US" sz="1800" dirty="0" err="1"/>
              <a:t>fișier</a:t>
            </a:r>
            <a:r>
              <a:rPr lang="en-US" sz="1800" dirty="0"/>
              <a:t> .exe </a:t>
            </a:r>
            <a:r>
              <a:rPr lang="en-US" sz="1800" dirty="0" err="1"/>
              <a:t>în</a:t>
            </a:r>
            <a:r>
              <a:rPr lang="en-US" sz="1800" dirty="0"/>
              <a:t> format PE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192" y="1982029"/>
            <a:ext cx="11314316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Fișier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</a:rPr>
              <a:t>.exe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(Executable File)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Antetul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DOS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(DOS Header)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└──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POINȚEază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către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Antetul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PE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Antetul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PE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(Portable Executable Header)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Antetul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File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Informații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generale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despre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fișier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cum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fi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tipul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mașinii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numărul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secțiuni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timestamp-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etc.)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Antetul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Optional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(Adresa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punctului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intrare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versiunile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minime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ale OS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necesare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dimensiunile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stivei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și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ale heap-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ului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etc.)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└──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Tabelele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de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Secțiuni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Descrie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secțiunile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fișierului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incluzând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permisiunile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memorie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și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dimensiunile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lor)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Secțiuni</a:t>
            </a:r>
            <a:endParaRPr 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.text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Codul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executabil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al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aplicației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.data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(Date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inițializate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inclusiv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variabile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globale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rdata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(Date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doar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citire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cum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fi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constantele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și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șirurile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literale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bss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Secțiune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date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neinițializate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rareori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prezent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direct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în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.exe)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edata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Exporturile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fișierului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rareori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utilizat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în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.exe)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idata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Importurile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fișierului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inclusiv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funcții din DLL-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uri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externe)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reloc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Informații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realocare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important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pentru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aplicațiile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care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suportă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ASLR - Address Space Layout Randomization)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rsrc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Resurse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ale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aplicației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cum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fi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icoane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meniuri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și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dialoguri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│ └──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Alte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secțiuni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specifice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(Pot include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secțiuni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personalizate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dezvoltatori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Tabelul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de Import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(Optional)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└──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Lista de funcții din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alte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DLL-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uri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necesare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pentru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execuție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1192" y="5804391"/>
            <a:ext cx="11083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prstClr val="black"/>
                </a:solidFill>
              </a:rPr>
              <a:t>Fișierele</a:t>
            </a:r>
            <a:r>
              <a:rPr lang="en-US" sz="1000" dirty="0">
                <a:solidFill>
                  <a:prstClr val="black"/>
                </a:solidFill>
              </a:rPr>
              <a:t> .exe sunt, </a:t>
            </a:r>
            <a:r>
              <a:rPr lang="en-US" sz="1000" dirty="0" err="1">
                <a:solidFill>
                  <a:prstClr val="black"/>
                </a:solidFill>
              </a:rPr>
              <a:t>în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esență</a:t>
            </a:r>
            <a:r>
              <a:rPr lang="en-US" sz="1000" dirty="0">
                <a:solidFill>
                  <a:prstClr val="black"/>
                </a:solidFill>
              </a:rPr>
              <a:t>, </a:t>
            </a:r>
            <a:r>
              <a:rPr lang="en-US" sz="1000" dirty="0" err="1">
                <a:solidFill>
                  <a:prstClr val="black"/>
                </a:solidFill>
              </a:rPr>
              <a:t>pachetele</a:t>
            </a:r>
            <a:r>
              <a:rPr lang="en-US" sz="1000" dirty="0">
                <a:solidFill>
                  <a:prstClr val="black"/>
                </a:solidFill>
              </a:rPr>
              <a:t> care </a:t>
            </a:r>
            <a:r>
              <a:rPr lang="en-US" sz="1000" dirty="0" err="1">
                <a:solidFill>
                  <a:prstClr val="black"/>
                </a:solidFill>
              </a:rPr>
              <a:t>conțin</a:t>
            </a:r>
            <a:r>
              <a:rPr lang="en-US" sz="1000" dirty="0">
                <a:solidFill>
                  <a:prstClr val="black"/>
                </a:solidFill>
              </a:rPr>
              <a:t> tot </a:t>
            </a:r>
            <a:r>
              <a:rPr lang="en-US" sz="1000" dirty="0" err="1">
                <a:solidFill>
                  <a:prstClr val="black"/>
                </a:solidFill>
              </a:rPr>
              <a:t>codul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resursele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necesare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pentru</a:t>
            </a:r>
            <a:r>
              <a:rPr lang="en-US" sz="1000" dirty="0">
                <a:solidFill>
                  <a:prstClr val="black"/>
                </a:solidFill>
              </a:rPr>
              <a:t> a </a:t>
            </a:r>
            <a:r>
              <a:rPr lang="en-US" sz="1000" dirty="0" err="1">
                <a:solidFill>
                  <a:prstClr val="black"/>
                </a:solidFill>
              </a:rPr>
              <a:t>rula</a:t>
            </a:r>
            <a:r>
              <a:rPr lang="en-US" sz="1000" dirty="0">
                <a:solidFill>
                  <a:prstClr val="black"/>
                </a:solidFill>
              </a:rPr>
              <a:t> o </a:t>
            </a:r>
            <a:r>
              <a:rPr lang="en-US" sz="1000" dirty="0" err="1">
                <a:solidFill>
                  <a:prstClr val="black"/>
                </a:solidFill>
              </a:rPr>
              <a:t>aplicație</a:t>
            </a:r>
            <a:r>
              <a:rPr lang="en-US" sz="1000" dirty="0">
                <a:solidFill>
                  <a:prstClr val="black"/>
                </a:solidFill>
              </a:rPr>
              <a:t> pe un </a:t>
            </a:r>
            <a:r>
              <a:rPr lang="en-US" sz="1000" dirty="0" err="1">
                <a:solidFill>
                  <a:prstClr val="black"/>
                </a:solidFill>
              </a:rPr>
              <a:t>sistem</a:t>
            </a:r>
            <a:r>
              <a:rPr lang="en-US" sz="1000" dirty="0">
                <a:solidFill>
                  <a:prstClr val="black"/>
                </a:solidFill>
              </a:rPr>
              <a:t> Windows. </a:t>
            </a:r>
            <a:r>
              <a:rPr lang="en-US" sz="1000" dirty="0" err="1">
                <a:solidFill>
                  <a:prstClr val="black"/>
                </a:solidFill>
              </a:rPr>
              <a:t>Punctul</a:t>
            </a:r>
            <a:r>
              <a:rPr lang="en-US" sz="1000" dirty="0">
                <a:solidFill>
                  <a:prstClr val="black"/>
                </a:solidFill>
              </a:rPr>
              <a:t> de </a:t>
            </a:r>
            <a:r>
              <a:rPr lang="en-US" sz="1000" dirty="0" err="1">
                <a:solidFill>
                  <a:prstClr val="black"/>
                </a:solidFill>
              </a:rPr>
              <a:t>intrare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specificat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în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antetul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opțional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indică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locul</a:t>
            </a:r>
            <a:r>
              <a:rPr lang="en-US" sz="1000" dirty="0">
                <a:solidFill>
                  <a:prstClr val="black"/>
                </a:solidFill>
              </a:rPr>
              <a:t> din </a:t>
            </a:r>
            <a:r>
              <a:rPr lang="en-US" sz="1000" dirty="0" err="1">
                <a:solidFill>
                  <a:prstClr val="black"/>
                </a:solidFill>
              </a:rPr>
              <a:t>secțiunea</a:t>
            </a:r>
            <a:r>
              <a:rPr lang="en-US" sz="1000" dirty="0">
                <a:solidFill>
                  <a:prstClr val="black"/>
                </a:solidFill>
              </a:rPr>
              <a:t> .text </a:t>
            </a:r>
            <a:r>
              <a:rPr lang="en-US" sz="1000" dirty="0" err="1">
                <a:solidFill>
                  <a:prstClr val="black"/>
                </a:solidFill>
              </a:rPr>
              <a:t>unde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începe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execuția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programului</a:t>
            </a:r>
            <a:r>
              <a:rPr lang="en-US" sz="1000" dirty="0">
                <a:solidFill>
                  <a:prstClr val="black"/>
                </a:solidFill>
              </a:rPr>
              <a:t>. În </a:t>
            </a:r>
            <a:r>
              <a:rPr lang="en-US" sz="1000" dirty="0" err="1">
                <a:solidFill>
                  <a:prstClr val="black"/>
                </a:solidFill>
              </a:rPr>
              <a:t>timp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ce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secțiunile</a:t>
            </a:r>
            <a:r>
              <a:rPr lang="en-US" sz="1000" dirty="0">
                <a:solidFill>
                  <a:prstClr val="black"/>
                </a:solidFill>
              </a:rPr>
              <a:t> .data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.</a:t>
            </a:r>
            <a:r>
              <a:rPr lang="en-US" sz="1000" dirty="0" err="1">
                <a:solidFill>
                  <a:prstClr val="black"/>
                </a:solidFill>
              </a:rPr>
              <a:t>rdata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stochează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datele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necesare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rulării</a:t>
            </a:r>
            <a:r>
              <a:rPr lang="en-US" sz="1000" dirty="0">
                <a:solidFill>
                  <a:prstClr val="black"/>
                </a:solidFill>
              </a:rPr>
              <a:t>, </a:t>
            </a:r>
            <a:r>
              <a:rPr lang="en-US" sz="1000" dirty="0" err="1">
                <a:solidFill>
                  <a:prstClr val="black"/>
                </a:solidFill>
              </a:rPr>
              <a:t>secțiunea</a:t>
            </a:r>
            <a:r>
              <a:rPr lang="en-US" sz="1000" dirty="0">
                <a:solidFill>
                  <a:prstClr val="black"/>
                </a:solidFill>
              </a:rPr>
              <a:t> .</a:t>
            </a:r>
            <a:r>
              <a:rPr lang="en-US" sz="1000" dirty="0" err="1">
                <a:solidFill>
                  <a:prstClr val="black"/>
                </a:solidFill>
              </a:rPr>
              <a:t>rsrc</a:t>
            </a:r>
            <a:r>
              <a:rPr lang="en-US" sz="1000" dirty="0">
                <a:solidFill>
                  <a:prstClr val="black"/>
                </a:solidFill>
              </a:rPr>
              <a:t> este </a:t>
            </a:r>
            <a:r>
              <a:rPr lang="en-US" sz="1000" dirty="0" err="1">
                <a:solidFill>
                  <a:prstClr val="black"/>
                </a:solidFill>
              </a:rPr>
              <a:t>folosită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pentru</a:t>
            </a:r>
            <a:r>
              <a:rPr lang="en-US" sz="1000" dirty="0">
                <a:solidFill>
                  <a:prstClr val="black"/>
                </a:solidFill>
              </a:rPr>
              <a:t> a </a:t>
            </a:r>
            <a:r>
              <a:rPr lang="en-US" sz="1000" dirty="0" err="1">
                <a:solidFill>
                  <a:prstClr val="black"/>
                </a:solidFill>
              </a:rPr>
              <a:t>încorpora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resurse</a:t>
            </a:r>
            <a:r>
              <a:rPr lang="en-US" sz="1000" dirty="0">
                <a:solidFill>
                  <a:prstClr val="black"/>
                </a:solidFill>
              </a:rPr>
              <a:t> statice </a:t>
            </a:r>
            <a:r>
              <a:rPr lang="en-US" sz="1000" dirty="0" err="1">
                <a:solidFill>
                  <a:prstClr val="black"/>
                </a:solidFill>
              </a:rPr>
              <a:t>în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executabil</a:t>
            </a:r>
            <a:r>
              <a:rPr lang="en-US" sz="1000" dirty="0">
                <a:solidFill>
                  <a:prstClr val="black"/>
                </a:solidFill>
              </a:rPr>
              <a:t>. Un aspect important al </a:t>
            </a:r>
            <a:r>
              <a:rPr lang="en-US" sz="1000" dirty="0" err="1">
                <a:solidFill>
                  <a:prstClr val="black"/>
                </a:solidFill>
              </a:rPr>
              <a:t>fișierelor</a:t>
            </a:r>
            <a:r>
              <a:rPr lang="en-US" sz="1000" dirty="0">
                <a:solidFill>
                  <a:prstClr val="black"/>
                </a:solidFill>
              </a:rPr>
              <a:t> .exe este că, </a:t>
            </a:r>
            <a:r>
              <a:rPr lang="en-US" sz="1000" dirty="0" err="1">
                <a:solidFill>
                  <a:prstClr val="black"/>
                </a:solidFill>
              </a:rPr>
              <a:t>deși</a:t>
            </a:r>
            <a:r>
              <a:rPr lang="en-US" sz="1000" dirty="0">
                <a:solidFill>
                  <a:prstClr val="black"/>
                </a:solidFill>
              </a:rPr>
              <a:t> pot include </a:t>
            </a:r>
            <a:r>
              <a:rPr lang="en-US" sz="1000" dirty="0" err="1">
                <a:solidFill>
                  <a:prstClr val="black"/>
                </a:solidFill>
              </a:rPr>
              <a:t>informații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pentru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importuri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exporturi</a:t>
            </a:r>
            <a:r>
              <a:rPr lang="en-US" sz="1000" dirty="0">
                <a:solidFill>
                  <a:prstClr val="black"/>
                </a:solidFill>
              </a:rPr>
              <a:t> (</a:t>
            </a:r>
            <a:r>
              <a:rPr lang="en-US" sz="1000" dirty="0" err="1">
                <a:solidFill>
                  <a:prstClr val="black"/>
                </a:solidFill>
              </a:rPr>
              <a:t>prin</a:t>
            </a:r>
            <a:r>
              <a:rPr lang="en-US" sz="1000" dirty="0">
                <a:solidFill>
                  <a:prstClr val="black"/>
                </a:solidFill>
              </a:rPr>
              <a:t> .</a:t>
            </a:r>
            <a:r>
              <a:rPr lang="en-US" sz="1000" dirty="0" err="1">
                <a:solidFill>
                  <a:prstClr val="black"/>
                </a:solidFill>
              </a:rPr>
              <a:t>idata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.</a:t>
            </a:r>
            <a:r>
              <a:rPr lang="en-US" sz="1000" dirty="0" err="1">
                <a:solidFill>
                  <a:prstClr val="black"/>
                </a:solidFill>
              </a:rPr>
              <a:t>edata</a:t>
            </a:r>
            <a:r>
              <a:rPr lang="en-US" sz="1000" dirty="0">
                <a:solidFill>
                  <a:prstClr val="black"/>
                </a:solidFill>
              </a:rPr>
              <a:t>), de </a:t>
            </a:r>
            <a:r>
              <a:rPr lang="en-US" sz="1000" dirty="0" err="1">
                <a:solidFill>
                  <a:prstClr val="black"/>
                </a:solidFill>
              </a:rPr>
              <a:t>obicei</a:t>
            </a:r>
            <a:r>
              <a:rPr lang="en-US" sz="1000" dirty="0">
                <a:solidFill>
                  <a:prstClr val="black"/>
                </a:solidFill>
              </a:rPr>
              <a:t>, </a:t>
            </a:r>
            <a:r>
              <a:rPr lang="en-US" sz="1000" dirty="0" err="1">
                <a:solidFill>
                  <a:prstClr val="black"/>
                </a:solidFill>
              </a:rPr>
              <a:t>ele</a:t>
            </a:r>
            <a:r>
              <a:rPr lang="en-US" sz="1000" dirty="0">
                <a:solidFill>
                  <a:prstClr val="black"/>
                </a:solidFill>
              </a:rPr>
              <a:t> nu </a:t>
            </a:r>
            <a:r>
              <a:rPr lang="en-US" sz="1000" dirty="0" err="1">
                <a:solidFill>
                  <a:prstClr val="black"/>
                </a:solidFill>
              </a:rPr>
              <a:t>exportă</a:t>
            </a:r>
            <a:r>
              <a:rPr lang="en-US" sz="1000" dirty="0">
                <a:solidFill>
                  <a:prstClr val="black"/>
                </a:solidFill>
              </a:rPr>
              <a:t> funcții </a:t>
            </a:r>
            <a:r>
              <a:rPr lang="en-US" sz="1000" dirty="0" err="1">
                <a:solidFill>
                  <a:prstClr val="black"/>
                </a:solidFill>
              </a:rPr>
              <a:t>către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alte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programe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în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modul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în</a:t>
            </a:r>
            <a:r>
              <a:rPr lang="en-US" sz="1000" dirty="0">
                <a:solidFill>
                  <a:prstClr val="black"/>
                </a:solidFill>
              </a:rPr>
              <a:t> care o fac </a:t>
            </a:r>
            <a:r>
              <a:rPr lang="en-US" sz="1000" dirty="0" err="1">
                <a:solidFill>
                  <a:prstClr val="black"/>
                </a:solidFill>
              </a:rPr>
              <a:t>fișierele</a:t>
            </a:r>
            <a:r>
              <a:rPr lang="en-US" sz="1000" dirty="0">
                <a:solidFill>
                  <a:prstClr val="black"/>
                </a:solidFill>
              </a:rPr>
              <a:t> .</a:t>
            </a:r>
            <a:r>
              <a:rPr lang="en-US" sz="1000" dirty="0" err="1">
                <a:solidFill>
                  <a:prstClr val="black"/>
                </a:solidFill>
              </a:rPr>
              <a:t>dll</a:t>
            </a:r>
            <a:r>
              <a:rPr lang="en-US" sz="1000" dirty="0">
                <a:solidFill>
                  <a:prstClr val="black"/>
                </a:solidFill>
              </a:rPr>
              <a:t>. În </a:t>
            </a:r>
            <a:r>
              <a:rPr lang="en-US" sz="1000" dirty="0" err="1">
                <a:solidFill>
                  <a:prstClr val="black"/>
                </a:solidFill>
              </a:rPr>
              <a:t>schimb</a:t>
            </a:r>
            <a:r>
              <a:rPr lang="en-US" sz="1000" dirty="0">
                <a:solidFill>
                  <a:prstClr val="black"/>
                </a:solidFill>
              </a:rPr>
              <a:t>, </a:t>
            </a:r>
            <a:r>
              <a:rPr lang="en-US" sz="1000" dirty="0" err="1">
                <a:solidFill>
                  <a:prstClr val="black"/>
                </a:solidFill>
              </a:rPr>
              <a:t>ele</a:t>
            </a:r>
            <a:r>
              <a:rPr lang="en-US" sz="1000" dirty="0">
                <a:solidFill>
                  <a:prstClr val="black"/>
                </a:solidFill>
              </a:rPr>
              <a:t> sunt </a:t>
            </a:r>
            <a:r>
              <a:rPr lang="en-US" sz="1000" dirty="0" err="1">
                <a:solidFill>
                  <a:prstClr val="black"/>
                </a:solidFill>
              </a:rPr>
              <a:t>punctul</a:t>
            </a:r>
            <a:r>
              <a:rPr lang="en-US" sz="1000" dirty="0">
                <a:solidFill>
                  <a:prstClr val="black"/>
                </a:solidFill>
              </a:rPr>
              <a:t> de start </a:t>
            </a:r>
            <a:r>
              <a:rPr lang="en-US" sz="1000" dirty="0" err="1">
                <a:solidFill>
                  <a:prstClr val="black"/>
                </a:solidFill>
              </a:rPr>
              <a:t>pentru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execuția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aplicațiilor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pot face </a:t>
            </a:r>
            <a:r>
              <a:rPr lang="en-US" sz="1000" dirty="0" err="1">
                <a:solidFill>
                  <a:prstClr val="black"/>
                </a:solidFill>
              </a:rPr>
              <a:t>apeluri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către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funcțiile</a:t>
            </a:r>
            <a:r>
              <a:rPr lang="en-US" sz="1000" dirty="0">
                <a:solidFill>
                  <a:prstClr val="black"/>
                </a:solidFill>
              </a:rPr>
              <a:t> din </a:t>
            </a:r>
            <a:r>
              <a:rPr lang="en-US" sz="1000" dirty="0" err="1">
                <a:solidFill>
                  <a:prstClr val="black"/>
                </a:solidFill>
              </a:rPr>
              <a:t>bibliotecile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dinamice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partajate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pentru</a:t>
            </a:r>
            <a:r>
              <a:rPr lang="en-US" sz="1000" dirty="0">
                <a:solidFill>
                  <a:prstClr val="black"/>
                </a:solidFill>
              </a:rPr>
              <a:t> a </a:t>
            </a:r>
            <a:r>
              <a:rPr lang="en-US" sz="1000" dirty="0" err="1">
                <a:solidFill>
                  <a:prstClr val="black"/>
                </a:solidFill>
              </a:rPr>
              <a:t>accesa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funcționalități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suplimentare</a:t>
            </a:r>
            <a:r>
              <a:rPr lang="en-US" sz="10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9642" y="2011876"/>
            <a:ext cx="70003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prstClr val="black"/>
                </a:solidFill>
              </a:rPr>
              <a:t>Fișierele</a:t>
            </a:r>
            <a:r>
              <a:rPr lang="en-US" sz="1000" dirty="0">
                <a:solidFill>
                  <a:prstClr val="black"/>
                </a:solidFill>
              </a:rPr>
              <a:t> .exe (Executable files) </a:t>
            </a:r>
            <a:r>
              <a:rPr lang="en-US" sz="1000" dirty="0" err="1">
                <a:solidFill>
                  <a:prstClr val="black"/>
                </a:solidFill>
              </a:rPr>
              <a:t>în</a:t>
            </a:r>
            <a:r>
              <a:rPr lang="en-US" sz="1000" dirty="0">
                <a:solidFill>
                  <a:prstClr val="black"/>
                </a:solidFill>
              </a:rPr>
              <a:t> Windows </a:t>
            </a:r>
            <a:r>
              <a:rPr lang="en-US" sz="1000" dirty="0" err="1">
                <a:solidFill>
                  <a:prstClr val="black"/>
                </a:solidFill>
              </a:rPr>
              <a:t>reprezintă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aplicațiile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executabile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propriu-zise</a:t>
            </a:r>
            <a:r>
              <a:rPr lang="en-US" sz="1000" dirty="0">
                <a:solidFill>
                  <a:prstClr val="black"/>
                </a:solidFill>
              </a:rPr>
              <a:t>, </a:t>
            </a:r>
            <a:r>
              <a:rPr lang="en-US" sz="1000" dirty="0" err="1">
                <a:solidFill>
                  <a:prstClr val="black"/>
                </a:solidFill>
              </a:rPr>
              <a:t>fiind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principalul</a:t>
            </a:r>
            <a:r>
              <a:rPr lang="en-US" sz="1000" dirty="0">
                <a:solidFill>
                  <a:prstClr val="black"/>
                </a:solidFill>
              </a:rPr>
              <a:t> tip de </a:t>
            </a:r>
            <a:r>
              <a:rPr lang="en-US" sz="1000" dirty="0" err="1">
                <a:solidFill>
                  <a:prstClr val="black"/>
                </a:solidFill>
              </a:rPr>
              <a:t>fișiere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folosit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pentru</a:t>
            </a:r>
            <a:r>
              <a:rPr lang="en-US" sz="1000" dirty="0">
                <a:solidFill>
                  <a:prstClr val="black"/>
                </a:solidFill>
              </a:rPr>
              <a:t> a </a:t>
            </a:r>
            <a:r>
              <a:rPr lang="en-US" sz="1000" dirty="0" err="1">
                <a:solidFill>
                  <a:prstClr val="black"/>
                </a:solidFill>
              </a:rPr>
              <a:t>lansa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programe</a:t>
            </a:r>
            <a:r>
              <a:rPr lang="en-US" sz="1000" dirty="0">
                <a:solidFill>
                  <a:prstClr val="black"/>
                </a:solidFill>
              </a:rPr>
              <a:t>. La </a:t>
            </a:r>
            <a:r>
              <a:rPr lang="en-US" sz="1000" dirty="0" err="1">
                <a:solidFill>
                  <a:prstClr val="black"/>
                </a:solidFill>
              </a:rPr>
              <a:t>fel</a:t>
            </a:r>
            <a:r>
              <a:rPr lang="en-US" sz="1000" dirty="0">
                <a:solidFill>
                  <a:prstClr val="black"/>
                </a:solidFill>
              </a:rPr>
              <a:t> ca </a:t>
            </a:r>
            <a:r>
              <a:rPr lang="en-US" sz="1000" dirty="0" err="1">
                <a:solidFill>
                  <a:prstClr val="black"/>
                </a:solidFill>
              </a:rPr>
              <a:t>fișierele</a:t>
            </a:r>
            <a:r>
              <a:rPr lang="en-US" sz="1000" dirty="0">
                <a:solidFill>
                  <a:prstClr val="black"/>
                </a:solidFill>
              </a:rPr>
              <a:t> .</a:t>
            </a:r>
            <a:r>
              <a:rPr lang="en-US" sz="1000" dirty="0" err="1">
                <a:solidFill>
                  <a:prstClr val="black"/>
                </a:solidFill>
              </a:rPr>
              <a:t>dll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.sys,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acestea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utilizează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formatul</a:t>
            </a:r>
            <a:r>
              <a:rPr lang="en-US" sz="1000" dirty="0">
                <a:solidFill>
                  <a:prstClr val="black"/>
                </a:solidFill>
              </a:rPr>
              <a:t> Portable Executable (PE) </a:t>
            </a:r>
            <a:r>
              <a:rPr lang="en-US" sz="1000" dirty="0" err="1">
                <a:solidFill>
                  <a:prstClr val="black"/>
                </a:solidFill>
              </a:rPr>
              <a:t>pentru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structura</a:t>
            </a:r>
            <a:r>
              <a:rPr lang="en-US" sz="1000" dirty="0">
                <a:solidFill>
                  <a:prstClr val="black"/>
                </a:solidFill>
              </a:rPr>
              <a:t> lor, care este </a:t>
            </a:r>
            <a:r>
              <a:rPr lang="en-US" sz="1000" dirty="0" err="1">
                <a:solidFill>
                  <a:prstClr val="black"/>
                </a:solidFill>
              </a:rPr>
              <a:t>flexibil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suportă</a:t>
            </a:r>
            <a:r>
              <a:rPr lang="en-US" sz="1000" dirty="0">
                <a:solidFill>
                  <a:prstClr val="black"/>
                </a:solidFill>
              </a:rPr>
              <a:t> o </a:t>
            </a:r>
            <a:r>
              <a:rPr lang="en-US" sz="1000" dirty="0" err="1">
                <a:solidFill>
                  <a:prstClr val="black"/>
                </a:solidFill>
              </a:rPr>
              <a:t>varietate</a:t>
            </a:r>
            <a:r>
              <a:rPr lang="en-US" sz="1000" dirty="0">
                <a:solidFill>
                  <a:prstClr val="black"/>
                </a:solidFill>
              </a:rPr>
              <a:t> de </a:t>
            </a:r>
            <a:r>
              <a:rPr lang="en-US" sz="1000" dirty="0" err="1">
                <a:solidFill>
                  <a:prstClr val="black"/>
                </a:solidFill>
              </a:rPr>
              <a:t>scenarii</a:t>
            </a:r>
            <a:r>
              <a:rPr lang="en-US" sz="1000" dirty="0">
                <a:solidFill>
                  <a:prstClr val="black"/>
                </a:solidFill>
              </a:rPr>
              <a:t> de </a:t>
            </a:r>
            <a:r>
              <a:rPr lang="en-US" sz="1000" dirty="0" err="1">
                <a:solidFill>
                  <a:prstClr val="black"/>
                </a:solidFill>
              </a:rPr>
              <a:t>utilizare</a:t>
            </a:r>
            <a:r>
              <a:rPr lang="en-US" sz="1000" dirty="0">
                <a:solidFill>
                  <a:prstClr val="black"/>
                </a:solidFill>
              </a:rPr>
              <a:t>, de la </a:t>
            </a:r>
            <a:r>
              <a:rPr lang="en-US" sz="1000" dirty="0" err="1">
                <a:solidFill>
                  <a:prstClr val="black"/>
                </a:solidFill>
              </a:rPr>
              <a:t>aplicații</a:t>
            </a:r>
            <a:r>
              <a:rPr lang="en-US" sz="1000" dirty="0">
                <a:solidFill>
                  <a:prstClr val="black"/>
                </a:solidFill>
              </a:rPr>
              <a:t> simple la </a:t>
            </a:r>
            <a:r>
              <a:rPr lang="en-US" sz="1000" dirty="0" err="1">
                <a:solidFill>
                  <a:prstClr val="black"/>
                </a:solidFill>
              </a:rPr>
              <a:t>jocuri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complexe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și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aplicații</a:t>
            </a:r>
            <a:r>
              <a:rPr lang="en-US" sz="1000" dirty="0">
                <a:solidFill>
                  <a:prstClr val="black"/>
                </a:solidFill>
              </a:rPr>
              <a:t> cu </a:t>
            </a:r>
            <a:r>
              <a:rPr lang="en-US" sz="1000" dirty="0" err="1">
                <a:solidFill>
                  <a:prstClr val="black"/>
                </a:solidFill>
              </a:rPr>
              <a:t>interfață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grafică</a:t>
            </a:r>
            <a:r>
              <a:rPr lang="en-US" sz="1000" dirty="0">
                <a:solidFill>
                  <a:prstClr val="black"/>
                </a:solidFill>
              </a:rPr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6971411" y="732002"/>
            <a:ext cx="47736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Un </a:t>
            </a:r>
            <a:r>
              <a:rPr lang="en-US" sz="1400" dirty="0" err="1">
                <a:solidFill>
                  <a:schemeClr val="bg1"/>
                </a:solidFill>
              </a:rPr>
              <a:t>executabil</a:t>
            </a:r>
            <a:r>
              <a:rPr lang="en-US" sz="1400" dirty="0">
                <a:solidFill>
                  <a:schemeClr val="bg1"/>
                </a:solidFill>
              </a:rPr>
              <a:t> Windows, de </a:t>
            </a:r>
            <a:r>
              <a:rPr lang="en-US" sz="1400" dirty="0" err="1">
                <a:solidFill>
                  <a:schemeClr val="bg1"/>
                </a:solidFill>
              </a:rPr>
              <a:t>obicei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în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formatul</a:t>
            </a:r>
            <a:r>
              <a:rPr lang="en-US" sz="1400" dirty="0">
                <a:solidFill>
                  <a:schemeClr val="bg1"/>
                </a:solidFill>
              </a:rPr>
              <a:t> PE (Portable Executable), </a:t>
            </a:r>
            <a:r>
              <a:rPr lang="en-US" sz="1400" dirty="0" err="1">
                <a:solidFill>
                  <a:schemeClr val="bg1"/>
                </a:solidFill>
              </a:rPr>
              <a:t>poate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conține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multe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tipuri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secțiuni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fiecare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având</a:t>
            </a:r>
            <a:r>
              <a:rPr lang="en-US" sz="1400" dirty="0">
                <a:solidFill>
                  <a:schemeClr val="bg1"/>
                </a:solidFill>
              </a:rPr>
              <a:t> un </a:t>
            </a:r>
            <a:r>
              <a:rPr lang="en-US" sz="1400" dirty="0" err="1">
                <a:solidFill>
                  <a:schemeClr val="bg1"/>
                </a:solidFill>
              </a:rPr>
              <a:t>rol</a:t>
            </a:r>
            <a:r>
              <a:rPr lang="en-US" sz="1400" dirty="0">
                <a:solidFill>
                  <a:schemeClr val="bg1"/>
                </a:solidFill>
              </a:rPr>
              <a:t> specific </a:t>
            </a:r>
            <a:r>
              <a:rPr lang="en-US" sz="1400" dirty="0" err="1">
                <a:solidFill>
                  <a:schemeClr val="bg1"/>
                </a:solidFill>
              </a:rPr>
              <a:t>în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funcționarea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aplicației</a:t>
            </a:r>
            <a:r>
              <a:rPr lang="en-US" sz="1400" dirty="0">
                <a:solidFill>
                  <a:schemeClr val="bg1"/>
                </a:solidFill>
              </a:rPr>
              <a:t>. </a:t>
            </a:r>
            <a:r>
              <a:rPr lang="en-US" sz="1400" dirty="0" err="1">
                <a:solidFill>
                  <a:schemeClr val="bg1"/>
                </a:solidFill>
              </a:rPr>
              <a:t>Aceste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secțiuni</a:t>
            </a:r>
            <a:r>
              <a:rPr lang="en-US" sz="1400" dirty="0">
                <a:solidFill>
                  <a:schemeClr val="bg1"/>
                </a:solidFill>
              </a:rPr>
              <a:t> sunt definite </a:t>
            </a:r>
            <a:r>
              <a:rPr lang="en-US" sz="1400" dirty="0" err="1">
                <a:solidFill>
                  <a:schemeClr val="bg1"/>
                </a:solidFill>
              </a:rPr>
              <a:t>în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antetul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executabilului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Flowchart: Process 7"/>
          <p:cNvSpPr/>
          <p:nvPr/>
        </p:nvSpPr>
        <p:spPr>
          <a:xfrm>
            <a:off x="4460789" y="1957630"/>
            <a:ext cx="7279947" cy="66200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432486" y="5671750"/>
            <a:ext cx="11308250" cy="972961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53292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Fișierele .sys</a:t>
            </a:r>
            <a:br>
              <a:rPr lang="en-US"/>
            </a:br>
            <a:r>
              <a:rPr lang="en-US" sz="1800"/>
              <a:t>Diagrama generală a structurii unui fișier .sys (și, prin extensie, a oricărui fișier PE)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06036" y="2146843"/>
            <a:ext cx="674738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Fișier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.sys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(Driver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Sistem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├── </a:t>
            </a: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Antetul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DOS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(DOS Header)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└──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POINȚEază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către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Antetul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PE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├── </a:t>
            </a: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Antetul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PE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(Portable Executable Header)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Antetul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File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Informații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generale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despre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fișier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Antetul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Optional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Setări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specifice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adrese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intrare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etc.)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└──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Tabelele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Secțiuni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Descrie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secțiunile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fișierului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├── </a:t>
            </a: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Secțiuni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.text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Codul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executabil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.data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(Date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inițializate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rdata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(Date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doar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pentru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citire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bss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(Date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neinițializate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edata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Exporturile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fișierului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idata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Importurile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fișierului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reloc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Informații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pentru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realocare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├──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rsrc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Resurse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ex.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icoane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│ └──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Alte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secțiuni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specifice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Depinde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de driver)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Tabelul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de Import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(Optional)</a:t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└── 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Lista de funcții din </a:t>
            </a: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alte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DLL-</a:t>
            </a: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necesare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4363125"/>
            <a:ext cx="56470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Fișierele</a:t>
            </a:r>
            <a:r>
              <a:rPr lang="en-US" sz="1000" dirty="0"/>
              <a:t> .sys pot </a:t>
            </a:r>
            <a:r>
              <a:rPr lang="en-US" sz="1000" dirty="0" err="1"/>
              <a:t>conține</a:t>
            </a:r>
            <a:r>
              <a:rPr lang="en-US" sz="1000" dirty="0"/>
              <a:t>, de </a:t>
            </a:r>
            <a:r>
              <a:rPr lang="en-US" sz="1000" dirty="0" err="1"/>
              <a:t>asemenea</a:t>
            </a:r>
            <a:r>
              <a:rPr lang="en-US" sz="1000" dirty="0"/>
              <a:t>, </a:t>
            </a:r>
            <a:r>
              <a:rPr lang="en-US" sz="1000" dirty="0" err="1"/>
              <a:t>informații</a:t>
            </a:r>
            <a:r>
              <a:rPr lang="en-US" sz="1000" dirty="0"/>
              <a:t> </a:t>
            </a:r>
            <a:r>
              <a:rPr lang="en-US" sz="1000" dirty="0" err="1"/>
              <a:t>specifice</a:t>
            </a:r>
            <a:r>
              <a:rPr lang="en-US" sz="1000" dirty="0"/>
              <a:t> </a:t>
            </a:r>
            <a:r>
              <a:rPr lang="en-US" sz="1000" dirty="0" err="1"/>
              <a:t>driverelor</a:t>
            </a:r>
            <a:r>
              <a:rPr lang="en-US" sz="1000" dirty="0"/>
              <a:t>, cum </a:t>
            </a:r>
            <a:r>
              <a:rPr lang="en-US" sz="1000" dirty="0" err="1"/>
              <a:t>ar</a:t>
            </a:r>
            <a:r>
              <a:rPr lang="en-US" sz="1000" dirty="0"/>
              <a:t> fi </a:t>
            </a:r>
            <a:r>
              <a:rPr lang="en-US" sz="1000" dirty="0" err="1"/>
              <a:t>tabelul</a:t>
            </a:r>
            <a:r>
              <a:rPr lang="en-US" sz="1000" dirty="0"/>
              <a:t> de </a:t>
            </a:r>
            <a:r>
              <a:rPr lang="en-US" sz="1000" dirty="0" err="1"/>
              <a:t>realocare</a:t>
            </a:r>
            <a:r>
              <a:rPr lang="en-US" sz="1000" dirty="0"/>
              <a:t>, care este </a:t>
            </a:r>
            <a:r>
              <a:rPr lang="en-US" sz="1000" dirty="0" err="1"/>
              <a:t>folosit</a:t>
            </a:r>
            <a:r>
              <a:rPr lang="en-US" sz="1000" dirty="0"/>
              <a:t> </a:t>
            </a:r>
            <a:r>
              <a:rPr lang="en-US" sz="1000" dirty="0" err="1"/>
              <a:t>când</a:t>
            </a:r>
            <a:r>
              <a:rPr lang="en-US" sz="1000" dirty="0"/>
              <a:t> </a:t>
            </a:r>
            <a:r>
              <a:rPr lang="en-US" sz="1000" dirty="0" err="1"/>
              <a:t>driverul</a:t>
            </a:r>
            <a:r>
              <a:rPr lang="en-US" sz="1000" dirty="0"/>
              <a:t> este </a:t>
            </a:r>
            <a:r>
              <a:rPr lang="en-US" sz="1000" dirty="0" err="1"/>
              <a:t>încărcat</a:t>
            </a:r>
            <a:r>
              <a:rPr lang="en-US" sz="1000" dirty="0"/>
              <a:t> </a:t>
            </a:r>
            <a:r>
              <a:rPr lang="en-US" sz="1000" dirty="0" err="1"/>
              <a:t>într</a:t>
            </a:r>
            <a:r>
              <a:rPr lang="en-US" sz="1000" dirty="0"/>
              <a:t>-o </a:t>
            </a:r>
            <a:r>
              <a:rPr lang="en-US" sz="1000" dirty="0" err="1"/>
              <a:t>adresă</a:t>
            </a:r>
            <a:r>
              <a:rPr lang="en-US" sz="1000" dirty="0"/>
              <a:t> de </a:t>
            </a:r>
            <a:r>
              <a:rPr lang="en-US" sz="1000" dirty="0" err="1"/>
              <a:t>memorie</a:t>
            </a:r>
            <a:r>
              <a:rPr lang="en-US" sz="1000" dirty="0"/>
              <a:t> </a:t>
            </a:r>
            <a:r>
              <a:rPr lang="en-US" sz="1000" dirty="0" err="1"/>
              <a:t>diferită</a:t>
            </a:r>
            <a:r>
              <a:rPr lang="en-US" sz="1000" dirty="0"/>
              <a:t> de </a:t>
            </a:r>
            <a:r>
              <a:rPr lang="en-US" sz="1000" dirty="0" err="1"/>
              <a:t>cea</a:t>
            </a:r>
            <a:r>
              <a:rPr lang="en-US" sz="1000" dirty="0"/>
              <a:t> </a:t>
            </a:r>
            <a:r>
              <a:rPr lang="en-US" sz="1000" dirty="0" err="1"/>
              <a:t>presupusă</a:t>
            </a:r>
            <a:r>
              <a:rPr lang="en-US" sz="1000" dirty="0"/>
              <a:t> </a:t>
            </a:r>
            <a:r>
              <a:rPr lang="en-US" sz="1000" dirty="0" err="1"/>
              <a:t>inițial</a:t>
            </a:r>
            <a:r>
              <a:rPr lang="en-US" sz="1000" dirty="0"/>
              <a:t>. De </a:t>
            </a:r>
            <a:r>
              <a:rPr lang="en-US" sz="1000" dirty="0" err="1"/>
              <a:t>asemenea</a:t>
            </a:r>
            <a:r>
              <a:rPr lang="en-US" sz="1000" dirty="0"/>
              <a:t>, pot include </a:t>
            </a:r>
            <a:r>
              <a:rPr lang="en-US" sz="1000" dirty="0" err="1"/>
              <a:t>secțiuni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datele</a:t>
            </a:r>
            <a:r>
              <a:rPr lang="en-US" sz="1000" dirty="0"/>
              <a:t> </a:t>
            </a:r>
            <a:r>
              <a:rPr lang="en-US" sz="1000" dirty="0" err="1"/>
              <a:t>specifice</a:t>
            </a:r>
            <a:r>
              <a:rPr lang="en-US" sz="1000" dirty="0"/>
              <a:t> </a:t>
            </a:r>
            <a:r>
              <a:rPr lang="en-US" sz="1000" dirty="0" err="1"/>
              <a:t>driverului</a:t>
            </a:r>
            <a:r>
              <a:rPr lang="en-US" sz="1000" dirty="0"/>
              <a:t>, cum </a:t>
            </a:r>
            <a:r>
              <a:rPr lang="en-US" sz="1000" dirty="0" err="1"/>
              <a:t>ar</a:t>
            </a:r>
            <a:r>
              <a:rPr lang="en-US" sz="1000" dirty="0"/>
              <a:t> fi </a:t>
            </a:r>
            <a:r>
              <a:rPr lang="en-US" sz="1000" dirty="0" err="1"/>
              <a:t>configurări</a:t>
            </a:r>
            <a:r>
              <a:rPr lang="en-US" sz="1000" dirty="0"/>
              <a:t> </a:t>
            </a:r>
            <a:r>
              <a:rPr lang="en-US" sz="1000" dirty="0" err="1"/>
              <a:t>sau</a:t>
            </a:r>
            <a:r>
              <a:rPr lang="en-US" sz="1000" dirty="0"/>
              <a:t> </a:t>
            </a:r>
            <a:r>
              <a:rPr lang="en-US" sz="1000" dirty="0" err="1"/>
              <a:t>informații</a:t>
            </a:r>
            <a:r>
              <a:rPr lang="en-US" sz="1000" dirty="0"/>
              <a:t> </a:t>
            </a:r>
            <a:r>
              <a:rPr lang="en-US" sz="1000" dirty="0" err="1"/>
              <a:t>despre</a:t>
            </a:r>
            <a:r>
              <a:rPr lang="en-US" sz="1000" dirty="0"/>
              <a:t> </a:t>
            </a:r>
            <a:r>
              <a:rPr lang="en-US" sz="1000" dirty="0" err="1"/>
              <a:t>dispozitiv</a:t>
            </a:r>
            <a:r>
              <a:rPr lang="en-US" sz="1000" dirty="0"/>
              <a:t>.</a:t>
            </a:r>
          </a:p>
          <a:p>
            <a:endParaRPr lang="en-US" sz="1000" dirty="0"/>
          </a:p>
          <a:p>
            <a:r>
              <a:rPr lang="en-US" sz="1000" dirty="0"/>
              <a:t>Structura </a:t>
            </a:r>
            <a:r>
              <a:rPr lang="en-US" sz="1000" dirty="0" err="1"/>
              <a:t>detaliată</a:t>
            </a:r>
            <a:r>
              <a:rPr lang="en-US" sz="1000" dirty="0"/>
              <a:t> a </a:t>
            </a:r>
            <a:r>
              <a:rPr lang="en-US" sz="1000" dirty="0" err="1"/>
              <a:t>fișierului</a:t>
            </a:r>
            <a:r>
              <a:rPr lang="en-US" sz="1000" dirty="0"/>
              <a:t> PE este </a:t>
            </a:r>
            <a:r>
              <a:rPr lang="en-US" sz="1000" dirty="0" err="1"/>
              <a:t>complexă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permite</a:t>
            </a:r>
            <a:r>
              <a:rPr lang="en-US" sz="1000" dirty="0"/>
              <a:t> o mare </a:t>
            </a:r>
            <a:r>
              <a:rPr lang="en-US" sz="1000" dirty="0" err="1"/>
              <a:t>flexibilitate</a:t>
            </a:r>
            <a:r>
              <a:rPr lang="en-US" sz="1000" dirty="0"/>
              <a:t>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ceea</a:t>
            </a:r>
            <a:r>
              <a:rPr lang="en-US" sz="1000" dirty="0"/>
              <a:t> </a:t>
            </a:r>
            <a:r>
              <a:rPr lang="en-US" sz="1000" dirty="0" err="1"/>
              <a:t>ce</a:t>
            </a:r>
            <a:r>
              <a:rPr lang="en-US" sz="1000" dirty="0"/>
              <a:t> </a:t>
            </a:r>
            <a:r>
              <a:rPr lang="en-US" sz="1000" dirty="0" err="1"/>
              <a:t>privește</a:t>
            </a:r>
            <a:r>
              <a:rPr lang="en-US" sz="1000" dirty="0"/>
              <a:t> </a:t>
            </a:r>
            <a:r>
              <a:rPr lang="en-US" sz="1000" dirty="0" err="1"/>
              <a:t>modul</a:t>
            </a:r>
            <a:r>
              <a:rPr lang="en-US" sz="1000" dirty="0"/>
              <a:t> </a:t>
            </a:r>
            <a:r>
              <a:rPr lang="en-US" sz="1000" dirty="0" err="1"/>
              <a:t>în</a:t>
            </a:r>
            <a:r>
              <a:rPr lang="en-US" sz="1000" dirty="0"/>
              <a:t> care </a:t>
            </a:r>
            <a:r>
              <a:rPr lang="en-US" sz="1000" dirty="0" err="1"/>
              <a:t>datele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codul</a:t>
            </a:r>
            <a:r>
              <a:rPr lang="en-US" sz="1000" dirty="0"/>
              <a:t> sunt </a:t>
            </a:r>
            <a:r>
              <a:rPr lang="en-US" sz="1000" dirty="0" err="1"/>
              <a:t>organizate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stocate</a:t>
            </a:r>
            <a:r>
              <a:rPr lang="en-US" sz="1000" dirty="0"/>
              <a:t>. </a:t>
            </a:r>
            <a:r>
              <a:rPr lang="en-US" sz="1000" dirty="0" err="1"/>
              <a:t>Această</a:t>
            </a:r>
            <a:r>
              <a:rPr lang="en-US" sz="1000" dirty="0"/>
              <a:t> </a:t>
            </a:r>
            <a:r>
              <a:rPr lang="en-US" sz="1000" dirty="0" err="1"/>
              <a:t>structură</a:t>
            </a:r>
            <a:r>
              <a:rPr lang="en-US" sz="1000" dirty="0"/>
              <a:t> </a:t>
            </a:r>
            <a:r>
              <a:rPr lang="en-US" sz="1000" dirty="0" err="1"/>
              <a:t>facilitează</a:t>
            </a:r>
            <a:r>
              <a:rPr lang="en-US" sz="1000" dirty="0"/>
              <a:t>, de </a:t>
            </a:r>
            <a:r>
              <a:rPr lang="en-US" sz="1000" dirty="0" err="1"/>
              <a:t>asemenea</a:t>
            </a:r>
            <a:r>
              <a:rPr lang="en-US" sz="1000" dirty="0"/>
              <a:t>, </a:t>
            </a:r>
            <a:r>
              <a:rPr lang="en-US" sz="1000" dirty="0" err="1"/>
              <a:t>utilizarea</a:t>
            </a:r>
            <a:r>
              <a:rPr lang="en-US" sz="1000" dirty="0"/>
              <a:t> </a:t>
            </a:r>
            <a:r>
              <a:rPr lang="en-US" sz="1000" dirty="0" err="1"/>
              <a:t>funcțiilor</a:t>
            </a:r>
            <a:r>
              <a:rPr lang="en-US" sz="1000" dirty="0"/>
              <a:t> din </a:t>
            </a:r>
            <a:r>
              <a:rPr lang="en-US" sz="1000" dirty="0" err="1"/>
              <a:t>alte</a:t>
            </a:r>
            <a:r>
              <a:rPr lang="en-US" sz="1000" dirty="0"/>
              <a:t> </a:t>
            </a:r>
            <a:r>
              <a:rPr lang="en-US" sz="1000" dirty="0" err="1"/>
              <a:t>biblioteci</a:t>
            </a:r>
            <a:r>
              <a:rPr lang="en-US" sz="1000" dirty="0"/>
              <a:t>, </a:t>
            </a:r>
            <a:r>
              <a:rPr lang="en-US" sz="1000" dirty="0" err="1"/>
              <a:t>încărcarea</a:t>
            </a:r>
            <a:r>
              <a:rPr lang="en-US" sz="1000" dirty="0"/>
              <a:t> </a:t>
            </a:r>
            <a:r>
              <a:rPr lang="en-US" sz="1000" dirty="0" err="1"/>
              <a:t>dinamică</a:t>
            </a:r>
            <a:r>
              <a:rPr lang="en-US" sz="1000" dirty="0"/>
              <a:t> a </a:t>
            </a:r>
            <a:r>
              <a:rPr lang="en-US" sz="1000" dirty="0" err="1"/>
              <a:t>resurselor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adaptabilitatea</a:t>
            </a:r>
            <a:r>
              <a:rPr lang="en-US" sz="1000" dirty="0"/>
              <a:t> la </a:t>
            </a:r>
            <a:r>
              <a:rPr lang="en-US" sz="1000" dirty="0" err="1"/>
              <a:t>diferite</a:t>
            </a:r>
            <a:r>
              <a:rPr lang="en-US" sz="1000" dirty="0"/>
              <a:t> </a:t>
            </a:r>
            <a:r>
              <a:rPr lang="en-US" sz="1000" dirty="0" err="1"/>
              <a:t>versiuni</a:t>
            </a:r>
            <a:r>
              <a:rPr lang="en-US" sz="1000" dirty="0"/>
              <a:t> ale </a:t>
            </a:r>
            <a:r>
              <a:rPr lang="en-US" sz="1000" dirty="0" err="1"/>
              <a:t>sistemului</a:t>
            </a:r>
            <a:r>
              <a:rPr lang="en-US" sz="1000" dirty="0"/>
              <a:t> de </a:t>
            </a:r>
            <a:r>
              <a:rPr lang="en-US" sz="1000" dirty="0" err="1"/>
              <a:t>operare</a:t>
            </a:r>
            <a:r>
              <a:rPr lang="en-US" sz="1000" dirty="0"/>
              <a:t> Windows.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2019340"/>
            <a:ext cx="564703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Fișierele</a:t>
            </a:r>
            <a:r>
              <a:rPr lang="en-US" sz="1000" dirty="0"/>
              <a:t> .sys din Windows sunt, de </a:t>
            </a:r>
            <a:r>
              <a:rPr lang="en-US" sz="1000" dirty="0" err="1"/>
              <a:t>obicei</a:t>
            </a:r>
            <a:r>
              <a:rPr lang="en-US" sz="1000" dirty="0"/>
              <a:t>, </a:t>
            </a:r>
            <a:r>
              <a:rPr lang="en-US" sz="1000" dirty="0" err="1"/>
              <a:t>drivere</a:t>
            </a:r>
            <a:r>
              <a:rPr lang="en-US" sz="1000" dirty="0"/>
              <a:t> de </a:t>
            </a:r>
            <a:r>
              <a:rPr lang="en-US" sz="1000" dirty="0" err="1"/>
              <a:t>sistem</a:t>
            </a:r>
            <a:r>
              <a:rPr lang="en-US" sz="1000" dirty="0"/>
              <a:t> </a:t>
            </a:r>
            <a:r>
              <a:rPr lang="en-US" sz="1000" dirty="0" err="1"/>
              <a:t>sau</a:t>
            </a:r>
            <a:r>
              <a:rPr lang="en-US" sz="1000" dirty="0"/>
              <a:t> </a:t>
            </a:r>
            <a:r>
              <a:rPr lang="en-US" sz="1000" dirty="0" err="1"/>
              <a:t>fișiere</a:t>
            </a:r>
            <a:r>
              <a:rPr lang="en-US" sz="1000" dirty="0"/>
              <a:t> de driver de </a:t>
            </a:r>
            <a:r>
              <a:rPr lang="en-US" sz="1000" dirty="0" err="1"/>
              <a:t>dispozitiv</a:t>
            </a:r>
            <a:r>
              <a:rPr lang="en-US" sz="1000" dirty="0"/>
              <a:t> care permit hardware-</a:t>
            </a:r>
            <a:r>
              <a:rPr lang="en-US" sz="1000" dirty="0" err="1"/>
              <a:t>ului</a:t>
            </a:r>
            <a:r>
              <a:rPr lang="en-US" sz="1000" dirty="0"/>
              <a:t> </a:t>
            </a:r>
            <a:r>
              <a:rPr lang="en-US" sz="1000" dirty="0" err="1"/>
              <a:t>să</a:t>
            </a:r>
            <a:r>
              <a:rPr lang="en-US" sz="1000" dirty="0"/>
              <a:t> </a:t>
            </a:r>
            <a:r>
              <a:rPr lang="en-US" sz="1000" dirty="0" err="1"/>
              <a:t>comunice</a:t>
            </a:r>
            <a:r>
              <a:rPr lang="en-US" sz="1000" dirty="0"/>
              <a:t> cu </a:t>
            </a:r>
            <a:r>
              <a:rPr lang="en-US" sz="1000" dirty="0" err="1"/>
              <a:t>sistemul</a:t>
            </a:r>
            <a:r>
              <a:rPr lang="en-US" sz="1000" dirty="0"/>
              <a:t> de </a:t>
            </a:r>
            <a:r>
              <a:rPr lang="en-US" sz="1000" dirty="0" err="1"/>
              <a:t>operare</a:t>
            </a:r>
            <a:r>
              <a:rPr lang="en-US" sz="1000" dirty="0"/>
              <a:t> Windows. </a:t>
            </a:r>
            <a:r>
              <a:rPr lang="en-US" sz="1000" dirty="0" err="1"/>
              <a:t>Structura</a:t>
            </a:r>
            <a:r>
              <a:rPr lang="en-US" sz="1000" dirty="0"/>
              <a:t> lor </a:t>
            </a:r>
            <a:r>
              <a:rPr lang="en-US" sz="1000" dirty="0" err="1"/>
              <a:t>internă</a:t>
            </a:r>
            <a:r>
              <a:rPr lang="en-US" sz="1000" dirty="0"/>
              <a:t> este </a:t>
            </a:r>
            <a:r>
              <a:rPr lang="en-US" sz="1000" dirty="0" err="1"/>
              <a:t>similară</a:t>
            </a:r>
            <a:r>
              <a:rPr lang="en-US" sz="1000" dirty="0"/>
              <a:t> cu </a:t>
            </a:r>
            <a:r>
              <a:rPr lang="en-US" sz="1000" dirty="0" err="1"/>
              <a:t>cea</a:t>
            </a:r>
            <a:r>
              <a:rPr lang="en-US" sz="1000" dirty="0"/>
              <a:t> a </a:t>
            </a:r>
            <a:r>
              <a:rPr lang="en-US" sz="1000" dirty="0" err="1"/>
              <a:t>fișierelor</a:t>
            </a:r>
            <a:r>
              <a:rPr lang="en-US" sz="1000" dirty="0"/>
              <a:t> </a:t>
            </a:r>
            <a:r>
              <a:rPr lang="en-US" sz="1000" dirty="0" err="1"/>
              <a:t>executabile</a:t>
            </a:r>
            <a:r>
              <a:rPr lang="en-US" sz="1000" dirty="0"/>
              <a:t> PE (Portable Executable), care este </a:t>
            </a:r>
            <a:r>
              <a:rPr lang="en-US" sz="1000" dirty="0" err="1"/>
              <a:t>formatul</a:t>
            </a:r>
            <a:r>
              <a:rPr lang="en-US" sz="1000" dirty="0"/>
              <a:t> standard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executabile</a:t>
            </a:r>
            <a:r>
              <a:rPr lang="en-US" sz="1000" dirty="0"/>
              <a:t>, DLL-</a:t>
            </a:r>
            <a:r>
              <a:rPr lang="en-US" sz="1000" dirty="0" err="1"/>
              <a:t>uri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drivere</a:t>
            </a:r>
            <a:r>
              <a:rPr lang="en-US" sz="1000" dirty="0"/>
              <a:t>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sistemele</a:t>
            </a:r>
            <a:r>
              <a:rPr lang="en-US" sz="1000" dirty="0"/>
              <a:t> de </a:t>
            </a:r>
            <a:r>
              <a:rPr lang="en-US" sz="1000" dirty="0" err="1"/>
              <a:t>operare</a:t>
            </a:r>
            <a:r>
              <a:rPr lang="en-US" sz="1000" dirty="0"/>
              <a:t> Windows. Aceasta </a:t>
            </a:r>
            <a:r>
              <a:rPr lang="en-US" sz="1000" dirty="0" err="1"/>
              <a:t>înseamnă</a:t>
            </a:r>
            <a:r>
              <a:rPr lang="en-US" sz="1000" dirty="0"/>
              <a:t> că </a:t>
            </a:r>
            <a:r>
              <a:rPr lang="en-US" sz="1000" dirty="0" err="1"/>
              <a:t>fișierele</a:t>
            </a:r>
            <a:r>
              <a:rPr lang="en-US" sz="1000" dirty="0"/>
              <a:t> .sys </a:t>
            </a:r>
            <a:r>
              <a:rPr lang="en-US" sz="1000" dirty="0" err="1"/>
              <a:t>conțin</a:t>
            </a:r>
            <a:r>
              <a:rPr lang="en-US" sz="1000" dirty="0"/>
              <a:t> </a:t>
            </a:r>
            <a:r>
              <a:rPr lang="en-US" sz="1000" dirty="0" err="1"/>
              <a:t>atât</a:t>
            </a:r>
            <a:r>
              <a:rPr lang="en-US" sz="1000" dirty="0"/>
              <a:t> cod </a:t>
            </a:r>
            <a:r>
              <a:rPr lang="en-US" sz="1000" dirty="0" err="1"/>
              <a:t>executabil</a:t>
            </a:r>
            <a:r>
              <a:rPr lang="en-US" sz="1000" dirty="0"/>
              <a:t>, </a:t>
            </a:r>
            <a:r>
              <a:rPr lang="en-US" sz="1000" dirty="0" err="1"/>
              <a:t>cât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date, </a:t>
            </a:r>
            <a:r>
              <a:rPr lang="en-US" sz="1000" dirty="0" err="1"/>
              <a:t>și</a:t>
            </a:r>
            <a:r>
              <a:rPr lang="en-US" sz="1000" dirty="0"/>
              <a:t> sunt </a:t>
            </a:r>
            <a:r>
              <a:rPr lang="en-US" sz="1000" dirty="0" err="1"/>
              <a:t>organizate</a:t>
            </a:r>
            <a:r>
              <a:rPr lang="en-US" sz="1000" dirty="0"/>
              <a:t> </a:t>
            </a:r>
            <a:r>
              <a:rPr lang="en-US" sz="1000" dirty="0" err="1"/>
              <a:t>într</a:t>
            </a:r>
            <a:r>
              <a:rPr lang="en-US" sz="1000" dirty="0"/>
              <a:t>-o </a:t>
            </a:r>
            <a:r>
              <a:rPr lang="en-US" sz="1000" dirty="0" err="1"/>
              <a:t>serie</a:t>
            </a:r>
            <a:r>
              <a:rPr lang="en-US" sz="1000" dirty="0"/>
              <a:t> de </a:t>
            </a:r>
            <a:r>
              <a:rPr lang="en-US" sz="1000" dirty="0" err="1"/>
              <a:t>secțiuni</a:t>
            </a:r>
            <a:r>
              <a:rPr lang="en-US" sz="1000" dirty="0"/>
              <a:t> cu </a:t>
            </a:r>
            <a:r>
              <a:rPr lang="en-US" sz="1000" dirty="0" err="1"/>
              <a:t>diferite</a:t>
            </a:r>
            <a:r>
              <a:rPr lang="en-US" sz="1000" dirty="0"/>
              <a:t> </a:t>
            </a:r>
            <a:r>
              <a:rPr lang="en-US" sz="1000" dirty="0" err="1"/>
              <a:t>scopuri</a:t>
            </a:r>
            <a:r>
              <a:rPr lang="en-US" sz="1000" dirty="0"/>
              <a:t>.</a:t>
            </a:r>
          </a:p>
        </p:txBody>
      </p:sp>
      <p:sp>
        <p:nvSpPr>
          <p:cNvPr id="7" name="Flowchart: Process 6"/>
          <p:cNvSpPr/>
          <p:nvPr/>
        </p:nvSpPr>
        <p:spPr>
          <a:xfrm>
            <a:off x="6036275" y="4287793"/>
            <a:ext cx="5713849" cy="1624915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6036274" y="1959539"/>
            <a:ext cx="5713849" cy="98754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84504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Fișierele</a:t>
            </a:r>
            <a:r>
              <a:rPr lang="en-US" dirty="0"/>
              <a:t> .</a:t>
            </a:r>
            <a:r>
              <a:rPr lang="en-US" dirty="0" err="1"/>
              <a:t>dll</a:t>
            </a:r>
            <a:r>
              <a:rPr lang="en-US" dirty="0"/>
              <a:t> (Dynamic Link Libraries) </a:t>
            </a:r>
            <a:br>
              <a:rPr lang="en-US" dirty="0"/>
            </a:br>
            <a:r>
              <a:rPr lang="en-US" sz="1800" dirty="0" err="1"/>
              <a:t>Structura</a:t>
            </a:r>
            <a:r>
              <a:rPr lang="en-US" sz="1800" dirty="0"/>
              <a:t> </a:t>
            </a:r>
            <a:r>
              <a:rPr lang="en-US" sz="1800" dirty="0" err="1"/>
              <a:t>unui</a:t>
            </a:r>
            <a:r>
              <a:rPr lang="en-US" sz="1800" dirty="0"/>
              <a:t> </a:t>
            </a:r>
            <a:r>
              <a:rPr lang="en-US" sz="1800" dirty="0" err="1"/>
              <a:t>fișier</a:t>
            </a:r>
            <a:r>
              <a:rPr lang="en-US" sz="1800" dirty="0"/>
              <a:t> .</a:t>
            </a:r>
            <a:r>
              <a:rPr lang="en-US" sz="1800" dirty="0" err="1"/>
              <a:t>dll</a:t>
            </a:r>
            <a:r>
              <a:rPr lang="en-US" sz="1800" dirty="0"/>
              <a:t> este, </a:t>
            </a:r>
            <a:r>
              <a:rPr lang="en-US" sz="1800" dirty="0" err="1"/>
              <a:t>prin</a:t>
            </a:r>
            <a:r>
              <a:rPr lang="en-US" sz="1800" dirty="0"/>
              <a:t> </a:t>
            </a:r>
            <a:r>
              <a:rPr lang="en-US" sz="1800" dirty="0" err="1"/>
              <a:t>urmare</a:t>
            </a:r>
            <a:r>
              <a:rPr lang="en-US" sz="1800" dirty="0"/>
              <a:t>, </a:t>
            </a:r>
            <a:r>
              <a:rPr lang="en-US" sz="1800" dirty="0" err="1"/>
              <a:t>similară</a:t>
            </a:r>
            <a:r>
              <a:rPr lang="en-US" sz="1800" dirty="0"/>
              <a:t> cu </a:t>
            </a:r>
            <a:r>
              <a:rPr lang="en-US" sz="1800" dirty="0" err="1"/>
              <a:t>cea</a:t>
            </a:r>
            <a:r>
              <a:rPr lang="en-US" sz="1800" dirty="0"/>
              <a:t> a </a:t>
            </a:r>
            <a:r>
              <a:rPr lang="en-US" sz="1800" dirty="0" err="1"/>
              <a:t>altor</a:t>
            </a:r>
            <a:r>
              <a:rPr lang="en-US" sz="1800" dirty="0"/>
              <a:t> </a:t>
            </a:r>
            <a:r>
              <a:rPr lang="en-US" sz="1800" dirty="0" err="1"/>
              <a:t>fișiere</a:t>
            </a:r>
            <a:r>
              <a:rPr lang="en-US" sz="1800" dirty="0"/>
              <a:t> PE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06036" y="2146843"/>
            <a:ext cx="10421443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Fișier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dll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(Dynamic Link Library)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Antetul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 DOS (DOS Header)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└──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POINȚEază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către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Antetul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PE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Antetul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 PE (Portable Executable Header)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Antetul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File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Informații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generale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despre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fișier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Antetul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Optional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Setări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specifice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adrese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intrare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etc.)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└──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Tabelele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de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Secțiuni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Descrie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secțiunile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fișierului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Secțiuni</a:t>
            </a:r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.text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Codul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executabil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.data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(Date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inițializate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rdata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(Date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doar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pentru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citire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inclusiv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informații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de import/export)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bss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(Date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neinițializate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rareori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prezent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în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DLL-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uri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edata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Exporturile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fișierului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funcțiile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disponibile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pentru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alte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programe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idata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Importurile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fișierului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funcțiile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utilizate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din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alte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DLL-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uri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reloc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Informații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pentru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realocare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DLL-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uri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care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trebuie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să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fie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flexibile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la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adresele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memorie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├──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rsrc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Resurse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ex.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icoane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șiruri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caractere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│ └──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Alte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secțiuni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specifice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Depinde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bibliotecă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├──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Tabelul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 de Import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(Optional)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└──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Lista de funcții din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alte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 DLL-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uri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necesare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82497" y="5641124"/>
            <a:ext cx="552728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00" dirty="0"/>
          </a:p>
          <a:p>
            <a:r>
              <a:rPr lang="en-US" sz="1000" dirty="0" err="1"/>
              <a:t>Diferența</a:t>
            </a:r>
            <a:r>
              <a:rPr lang="en-US" sz="1000" dirty="0"/>
              <a:t> </a:t>
            </a:r>
            <a:r>
              <a:rPr lang="en-US" sz="1000" dirty="0" err="1"/>
              <a:t>majoră</a:t>
            </a:r>
            <a:r>
              <a:rPr lang="en-US" sz="1000" dirty="0"/>
              <a:t> </a:t>
            </a:r>
            <a:r>
              <a:rPr lang="en-US" sz="1000" dirty="0" err="1"/>
              <a:t>între</a:t>
            </a:r>
            <a:r>
              <a:rPr lang="en-US" sz="1000" dirty="0"/>
              <a:t> un </a:t>
            </a:r>
            <a:r>
              <a:rPr lang="en-US" sz="1000" dirty="0" err="1"/>
              <a:t>fișier</a:t>
            </a:r>
            <a:r>
              <a:rPr lang="en-US" sz="1000" dirty="0"/>
              <a:t> .</a:t>
            </a:r>
            <a:r>
              <a:rPr lang="en-US" sz="1000" dirty="0" err="1"/>
              <a:t>dll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un </a:t>
            </a:r>
            <a:r>
              <a:rPr lang="en-US" sz="1000" dirty="0" err="1"/>
              <a:t>executabil</a:t>
            </a:r>
            <a:r>
              <a:rPr lang="en-US" sz="1000" dirty="0"/>
              <a:t> (.exe) </a:t>
            </a:r>
            <a:r>
              <a:rPr lang="en-US" sz="1000" dirty="0" err="1"/>
              <a:t>sau</a:t>
            </a:r>
            <a:r>
              <a:rPr lang="en-US" sz="1000" dirty="0"/>
              <a:t> un </a:t>
            </a:r>
            <a:r>
              <a:rPr lang="en-US" sz="1000" dirty="0" err="1"/>
              <a:t>fișier</a:t>
            </a:r>
            <a:r>
              <a:rPr lang="en-US" sz="1000" dirty="0"/>
              <a:t> de driver (.sys) </a:t>
            </a:r>
            <a:r>
              <a:rPr lang="en-US" sz="1000" dirty="0" err="1"/>
              <a:t>constă</a:t>
            </a:r>
            <a:r>
              <a:rPr lang="en-US" sz="1000" dirty="0"/>
              <a:t>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modul</a:t>
            </a:r>
            <a:r>
              <a:rPr lang="en-US" sz="1000" dirty="0"/>
              <a:t> de </a:t>
            </a:r>
            <a:r>
              <a:rPr lang="en-US" sz="1000" dirty="0" err="1"/>
              <a:t>utilizare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scop. DLL-urile sunt </a:t>
            </a:r>
            <a:r>
              <a:rPr lang="en-US" sz="1000" dirty="0" err="1"/>
              <a:t>concepute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a fi </a:t>
            </a:r>
            <a:r>
              <a:rPr lang="en-US" sz="1000" dirty="0" err="1"/>
              <a:t>încărcate</a:t>
            </a:r>
            <a:r>
              <a:rPr lang="en-US" sz="1000" dirty="0"/>
              <a:t> </a:t>
            </a:r>
            <a:r>
              <a:rPr lang="en-US" sz="1000" dirty="0" err="1"/>
              <a:t>dinamic</a:t>
            </a:r>
            <a:r>
              <a:rPr lang="en-US" sz="1000" dirty="0"/>
              <a:t> de </a:t>
            </a:r>
            <a:r>
              <a:rPr lang="en-US" sz="1000" dirty="0" err="1"/>
              <a:t>alte</a:t>
            </a:r>
            <a:r>
              <a:rPr lang="en-US" sz="1000" dirty="0"/>
              <a:t> </a:t>
            </a:r>
            <a:r>
              <a:rPr lang="en-US" sz="1000" dirty="0" err="1"/>
              <a:t>programe</a:t>
            </a:r>
            <a:r>
              <a:rPr lang="en-US" sz="1000" dirty="0"/>
              <a:t> la </a:t>
            </a:r>
            <a:r>
              <a:rPr lang="en-US" sz="1000" dirty="0" err="1"/>
              <a:t>nevoie</a:t>
            </a:r>
            <a:r>
              <a:rPr lang="en-US" sz="1000" dirty="0"/>
              <a:t>, </a:t>
            </a:r>
            <a:r>
              <a:rPr lang="en-US" sz="1000" dirty="0" err="1"/>
              <a:t>oferind</a:t>
            </a:r>
            <a:r>
              <a:rPr lang="en-US" sz="1000" dirty="0"/>
              <a:t> </a:t>
            </a:r>
            <a:r>
              <a:rPr lang="en-US" sz="1000" dirty="0" err="1"/>
              <a:t>astfel</a:t>
            </a:r>
            <a:r>
              <a:rPr lang="en-US" sz="1000" dirty="0"/>
              <a:t> o </a:t>
            </a:r>
            <a:r>
              <a:rPr lang="en-US" sz="1000" dirty="0" err="1"/>
              <a:t>modularitate</a:t>
            </a:r>
            <a:r>
              <a:rPr lang="en-US" sz="1000" dirty="0"/>
              <a:t> </a:t>
            </a:r>
            <a:r>
              <a:rPr lang="en-US" sz="1000" dirty="0" err="1"/>
              <a:t>crescută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permitând</a:t>
            </a:r>
            <a:r>
              <a:rPr lang="en-US" sz="1000" dirty="0"/>
              <a:t> </a:t>
            </a:r>
            <a:r>
              <a:rPr lang="en-US" sz="1000" dirty="0" err="1"/>
              <a:t>actualizări</a:t>
            </a:r>
            <a:r>
              <a:rPr lang="en-US" sz="1000" dirty="0"/>
              <a:t> ale </a:t>
            </a:r>
            <a:r>
              <a:rPr lang="en-US" sz="1000" dirty="0" err="1"/>
              <a:t>funcționalităților</a:t>
            </a:r>
            <a:r>
              <a:rPr lang="en-US" sz="1000" dirty="0"/>
              <a:t> </a:t>
            </a:r>
            <a:r>
              <a:rPr lang="en-US" sz="1000" dirty="0" err="1"/>
              <a:t>fără</a:t>
            </a:r>
            <a:r>
              <a:rPr lang="en-US" sz="1000" dirty="0"/>
              <a:t> a </a:t>
            </a:r>
            <a:r>
              <a:rPr lang="en-US" sz="1000" dirty="0" err="1"/>
              <a:t>necesita</a:t>
            </a:r>
            <a:r>
              <a:rPr lang="en-US" sz="1000" dirty="0"/>
              <a:t> </a:t>
            </a:r>
            <a:r>
              <a:rPr lang="en-US" sz="1000" dirty="0" err="1"/>
              <a:t>recompilarea</a:t>
            </a:r>
            <a:r>
              <a:rPr lang="en-US" sz="1000" dirty="0"/>
              <a:t> </a:t>
            </a:r>
            <a:r>
              <a:rPr lang="en-US" sz="1000" dirty="0" err="1"/>
              <a:t>aplicațiilor</a:t>
            </a:r>
            <a:r>
              <a:rPr lang="en-US" sz="1000" dirty="0"/>
              <a:t> care le </a:t>
            </a:r>
            <a:r>
              <a:rPr lang="en-US" sz="1000" dirty="0" err="1"/>
              <a:t>folosesc</a:t>
            </a:r>
            <a:r>
              <a:rPr lang="en-US" sz="10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6757" y="2072703"/>
            <a:ext cx="59065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Fișierele</a:t>
            </a:r>
            <a:r>
              <a:rPr lang="en-US" sz="1000" dirty="0"/>
              <a:t> .</a:t>
            </a:r>
            <a:r>
              <a:rPr lang="en-US" sz="1000" dirty="0" err="1"/>
              <a:t>dll</a:t>
            </a:r>
            <a:r>
              <a:rPr lang="en-US" sz="1000" dirty="0"/>
              <a:t> (Dynamic Link Libraries) </a:t>
            </a:r>
            <a:r>
              <a:rPr lang="en-US" sz="1000" dirty="0" err="1"/>
              <a:t>în</a:t>
            </a:r>
            <a:r>
              <a:rPr lang="en-US" sz="1000" dirty="0"/>
              <a:t> Windows sunt </a:t>
            </a:r>
            <a:r>
              <a:rPr lang="en-US" sz="1000" dirty="0" err="1"/>
              <a:t>biblioteci</a:t>
            </a:r>
            <a:r>
              <a:rPr lang="en-US" sz="1000" dirty="0"/>
              <a:t> </a:t>
            </a:r>
            <a:r>
              <a:rPr lang="en-US" sz="1000" dirty="0" err="1"/>
              <a:t>partajate</a:t>
            </a:r>
            <a:r>
              <a:rPr lang="en-US" sz="1000" dirty="0"/>
              <a:t> care </a:t>
            </a:r>
            <a:r>
              <a:rPr lang="en-US" sz="1000" dirty="0" err="1"/>
              <a:t>conțin</a:t>
            </a:r>
            <a:r>
              <a:rPr lang="en-US" sz="1000" dirty="0"/>
              <a:t> cod </a:t>
            </a:r>
            <a:r>
              <a:rPr lang="en-US" sz="1000" dirty="0" err="1"/>
              <a:t>și</a:t>
            </a:r>
            <a:r>
              <a:rPr lang="en-US" sz="1000" dirty="0"/>
              <a:t> date care pot fi </a:t>
            </a:r>
            <a:r>
              <a:rPr lang="en-US" sz="1000" dirty="0" err="1"/>
              <a:t>utilizate</a:t>
            </a:r>
            <a:r>
              <a:rPr lang="en-US" sz="1000" dirty="0"/>
              <a:t> de </a:t>
            </a:r>
            <a:r>
              <a:rPr lang="en-US" sz="1000" dirty="0" err="1"/>
              <a:t>mai</a:t>
            </a:r>
            <a:r>
              <a:rPr lang="en-US" sz="1000" dirty="0"/>
              <a:t> </a:t>
            </a:r>
            <a:r>
              <a:rPr lang="en-US" sz="1000" dirty="0" err="1"/>
              <a:t>multe</a:t>
            </a:r>
            <a:r>
              <a:rPr lang="en-US" sz="1000" dirty="0"/>
              <a:t> </a:t>
            </a:r>
            <a:r>
              <a:rPr lang="en-US" sz="1000" dirty="0" err="1"/>
              <a:t>programe</a:t>
            </a:r>
            <a:r>
              <a:rPr lang="en-US" sz="1000" dirty="0"/>
              <a:t> </a:t>
            </a:r>
            <a:r>
              <a:rPr lang="en-US" sz="1000" dirty="0" err="1"/>
              <a:t>simultan</a:t>
            </a:r>
            <a:r>
              <a:rPr lang="en-US" sz="1000" dirty="0"/>
              <a:t>. La </a:t>
            </a:r>
            <a:r>
              <a:rPr lang="en-US" sz="1000" dirty="0" err="1"/>
              <a:t>fel</a:t>
            </a:r>
            <a:r>
              <a:rPr lang="en-US" sz="1000" dirty="0"/>
              <a:t> ca </a:t>
            </a:r>
            <a:r>
              <a:rPr lang="en-US" sz="1000" dirty="0" err="1"/>
              <a:t>fișierele</a:t>
            </a:r>
            <a:r>
              <a:rPr lang="en-US" sz="1000" dirty="0"/>
              <a:t> .sys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executabilele</a:t>
            </a:r>
            <a:r>
              <a:rPr lang="en-US" sz="1000" dirty="0"/>
              <a:t> standard, </a:t>
            </a:r>
            <a:r>
              <a:rPr lang="en-US" sz="1000" dirty="0" err="1"/>
              <a:t>fișierele</a:t>
            </a:r>
            <a:r>
              <a:rPr lang="en-US" sz="1000" dirty="0"/>
              <a:t> .</a:t>
            </a:r>
            <a:r>
              <a:rPr lang="en-US" sz="1000" dirty="0" err="1"/>
              <a:t>dll</a:t>
            </a:r>
            <a:r>
              <a:rPr lang="en-US" sz="1000" dirty="0"/>
              <a:t> </a:t>
            </a:r>
            <a:r>
              <a:rPr lang="en-US" sz="1000" dirty="0" err="1"/>
              <a:t>folosesc</a:t>
            </a:r>
            <a:r>
              <a:rPr lang="en-US" sz="1000" dirty="0"/>
              <a:t> </a:t>
            </a:r>
            <a:r>
              <a:rPr lang="en-US" sz="1000" dirty="0" err="1"/>
              <a:t>formatul</a:t>
            </a:r>
            <a:r>
              <a:rPr lang="en-US" sz="1000" dirty="0"/>
              <a:t> Portable Executable (PE) </a:t>
            </a:r>
            <a:r>
              <a:rPr lang="en-US" sz="1000" dirty="0" err="1"/>
              <a:t>pentru</a:t>
            </a:r>
            <a:r>
              <a:rPr lang="en-US" sz="1000" dirty="0"/>
              <a:t> </a:t>
            </a:r>
            <a:r>
              <a:rPr lang="en-US" sz="1000" dirty="0" err="1"/>
              <a:t>organizarea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stocarea</a:t>
            </a:r>
            <a:r>
              <a:rPr lang="en-US" sz="1000" dirty="0"/>
              <a:t> </a:t>
            </a:r>
            <a:r>
              <a:rPr lang="en-US" sz="1000" dirty="0" err="1"/>
              <a:t>conținutului</a:t>
            </a:r>
            <a:r>
              <a:rPr lang="en-US" sz="1000" dirty="0"/>
              <a:t> lor. 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5903" y="2983448"/>
            <a:ext cx="393738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Fișierele</a:t>
            </a:r>
            <a:r>
              <a:rPr lang="en-US" sz="1000" dirty="0"/>
              <a:t> .</a:t>
            </a:r>
            <a:r>
              <a:rPr lang="en-US" sz="1000" dirty="0" err="1"/>
              <a:t>dll</a:t>
            </a:r>
            <a:r>
              <a:rPr lang="en-US" sz="1000" dirty="0"/>
              <a:t> pot fi </a:t>
            </a:r>
            <a:r>
              <a:rPr lang="en-US" sz="1000" dirty="0" err="1"/>
              <a:t>utilizate</a:t>
            </a:r>
            <a:r>
              <a:rPr lang="en-US" sz="1000" dirty="0"/>
              <a:t> </a:t>
            </a:r>
            <a:r>
              <a:rPr lang="en-US" sz="1000" dirty="0" err="1"/>
              <a:t>pentru</a:t>
            </a:r>
            <a:r>
              <a:rPr lang="en-US" sz="1000" dirty="0"/>
              <a:t> a </a:t>
            </a:r>
            <a:r>
              <a:rPr lang="en-US" sz="1000" dirty="0" err="1"/>
              <a:t>oferi</a:t>
            </a:r>
            <a:r>
              <a:rPr lang="en-US" sz="1000" dirty="0"/>
              <a:t> o </a:t>
            </a:r>
            <a:r>
              <a:rPr lang="en-US" sz="1000" dirty="0" err="1"/>
              <a:t>varietate</a:t>
            </a:r>
            <a:r>
              <a:rPr lang="en-US" sz="1000" dirty="0"/>
              <a:t> de funcții, de la </a:t>
            </a:r>
            <a:r>
              <a:rPr lang="en-US" sz="1000" dirty="0" err="1"/>
              <a:t>operații</a:t>
            </a:r>
            <a:r>
              <a:rPr lang="en-US" sz="1000" dirty="0"/>
              <a:t> simple de </a:t>
            </a:r>
            <a:r>
              <a:rPr lang="en-US" sz="1000" dirty="0" err="1"/>
              <a:t>manipulare</a:t>
            </a:r>
            <a:r>
              <a:rPr lang="en-US" sz="1000" dirty="0"/>
              <a:t> a </a:t>
            </a:r>
            <a:r>
              <a:rPr lang="en-US" sz="1000" dirty="0" err="1"/>
              <a:t>datelor</a:t>
            </a:r>
            <a:r>
              <a:rPr lang="en-US" sz="1000" dirty="0"/>
              <a:t> </a:t>
            </a:r>
            <a:r>
              <a:rPr lang="en-US" sz="1000" dirty="0" err="1"/>
              <a:t>până</a:t>
            </a:r>
            <a:r>
              <a:rPr lang="en-US" sz="1000" dirty="0"/>
              <a:t> la </a:t>
            </a:r>
            <a:r>
              <a:rPr lang="en-US" sz="1000" dirty="0" err="1"/>
              <a:t>execuția</a:t>
            </a:r>
            <a:r>
              <a:rPr lang="en-US" sz="1000" dirty="0"/>
              <a:t> de UI </a:t>
            </a:r>
            <a:r>
              <a:rPr lang="en-US" sz="1000" dirty="0" err="1"/>
              <a:t>complexe</a:t>
            </a:r>
            <a:r>
              <a:rPr lang="en-US" sz="1000" dirty="0"/>
              <a:t> </a:t>
            </a:r>
            <a:r>
              <a:rPr lang="en-US" sz="1000" dirty="0" err="1"/>
              <a:t>sau</a:t>
            </a:r>
            <a:r>
              <a:rPr lang="en-US" sz="1000" dirty="0"/>
              <a:t> </a:t>
            </a:r>
            <a:r>
              <a:rPr lang="en-US" sz="1000" dirty="0" err="1"/>
              <a:t>operații</a:t>
            </a:r>
            <a:r>
              <a:rPr lang="en-US" sz="1000" dirty="0"/>
              <a:t> de </a:t>
            </a:r>
            <a:r>
              <a:rPr lang="en-US" sz="1000" dirty="0" err="1"/>
              <a:t>rețea</a:t>
            </a:r>
            <a:r>
              <a:rPr lang="en-US" sz="1000" dirty="0"/>
              <a:t>. </a:t>
            </a:r>
            <a:r>
              <a:rPr lang="en-US" sz="1000" dirty="0" err="1"/>
              <a:t>Avantajul</a:t>
            </a:r>
            <a:r>
              <a:rPr lang="en-US" sz="1000" dirty="0"/>
              <a:t> principal al </a:t>
            </a:r>
            <a:r>
              <a:rPr lang="en-US" sz="1000" dirty="0" err="1"/>
              <a:t>utilizării</a:t>
            </a:r>
            <a:r>
              <a:rPr lang="en-US" sz="1000" dirty="0"/>
              <a:t> DLL-</a:t>
            </a:r>
            <a:r>
              <a:rPr lang="en-US" sz="1000" dirty="0" err="1"/>
              <a:t>urilor</a:t>
            </a:r>
            <a:r>
              <a:rPr lang="en-US" sz="1000" dirty="0"/>
              <a:t> este </a:t>
            </a:r>
            <a:r>
              <a:rPr lang="en-US" sz="1000" dirty="0" err="1"/>
              <a:t>reutilizarea</a:t>
            </a:r>
            <a:r>
              <a:rPr lang="en-US" sz="1000" dirty="0"/>
              <a:t> </a:t>
            </a:r>
            <a:r>
              <a:rPr lang="en-US" sz="1000" dirty="0" err="1"/>
              <a:t>codului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</a:t>
            </a:r>
            <a:r>
              <a:rPr lang="en-US" sz="1000" dirty="0" err="1"/>
              <a:t>eficiența</a:t>
            </a:r>
            <a:r>
              <a:rPr lang="en-US" sz="1000" dirty="0"/>
              <a:t> </a:t>
            </a:r>
            <a:r>
              <a:rPr lang="en-US" sz="1000" dirty="0" err="1"/>
              <a:t>memoriei</a:t>
            </a:r>
            <a:r>
              <a:rPr lang="en-US" sz="1000" dirty="0"/>
              <a:t>, </a:t>
            </a:r>
            <a:r>
              <a:rPr lang="en-US" sz="1000" dirty="0" err="1"/>
              <a:t>deoarece</a:t>
            </a:r>
            <a:r>
              <a:rPr lang="en-US" sz="1000" dirty="0"/>
              <a:t> un </a:t>
            </a:r>
            <a:r>
              <a:rPr lang="en-US" sz="1000" dirty="0" err="1"/>
              <a:t>singur</a:t>
            </a:r>
            <a:r>
              <a:rPr lang="en-US" sz="1000" dirty="0"/>
              <a:t> DLL </a:t>
            </a:r>
            <a:r>
              <a:rPr lang="en-US" sz="1000" dirty="0" err="1"/>
              <a:t>poate</a:t>
            </a:r>
            <a:r>
              <a:rPr lang="en-US" sz="1000" dirty="0"/>
              <a:t> fi </a:t>
            </a:r>
            <a:r>
              <a:rPr lang="en-US" sz="1000" dirty="0" err="1"/>
              <a:t>încărcat</a:t>
            </a:r>
            <a:r>
              <a:rPr lang="en-US" sz="1000" dirty="0"/>
              <a:t>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memorie</a:t>
            </a:r>
            <a:r>
              <a:rPr lang="en-US" sz="1000" dirty="0"/>
              <a:t> o </a:t>
            </a:r>
            <a:r>
              <a:rPr lang="en-US" sz="1000" dirty="0" err="1"/>
              <a:t>singură</a:t>
            </a:r>
            <a:r>
              <a:rPr lang="en-US" sz="1000" dirty="0"/>
              <a:t> </a:t>
            </a:r>
            <a:r>
              <a:rPr lang="en-US" sz="1000" dirty="0" err="1"/>
              <a:t>dată</a:t>
            </a:r>
            <a:r>
              <a:rPr lang="en-US" sz="1000" dirty="0"/>
              <a:t>, </a:t>
            </a:r>
            <a:r>
              <a:rPr lang="en-US" sz="1000" dirty="0" err="1"/>
              <a:t>dar</a:t>
            </a:r>
            <a:r>
              <a:rPr lang="en-US" sz="1000" dirty="0"/>
              <a:t> </a:t>
            </a:r>
            <a:r>
              <a:rPr lang="en-US" sz="1000" dirty="0" err="1"/>
              <a:t>utilizat</a:t>
            </a:r>
            <a:r>
              <a:rPr lang="en-US" sz="1000" dirty="0"/>
              <a:t> de </a:t>
            </a:r>
            <a:r>
              <a:rPr lang="en-US" sz="1000" dirty="0" err="1"/>
              <a:t>mai</a:t>
            </a:r>
            <a:r>
              <a:rPr lang="en-US" sz="1000" dirty="0"/>
              <a:t> </a:t>
            </a:r>
            <a:r>
              <a:rPr lang="en-US" sz="1000" dirty="0" err="1"/>
              <a:t>multe</a:t>
            </a:r>
            <a:r>
              <a:rPr lang="en-US" sz="1000" dirty="0"/>
              <a:t> </a:t>
            </a:r>
            <a:r>
              <a:rPr lang="en-US" sz="1000" dirty="0" err="1"/>
              <a:t>aplicații</a:t>
            </a:r>
            <a:r>
              <a:rPr lang="en-US" sz="1000" dirty="0"/>
              <a:t> </a:t>
            </a:r>
            <a:r>
              <a:rPr lang="en-US" sz="1000" dirty="0" err="1"/>
              <a:t>simultan</a:t>
            </a:r>
            <a:r>
              <a:rPr lang="en-US" sz="1000" dirty="0"/>
              <a:t>.</a:t>
            </a:r>
          </a:p>
        </p:txBody>
      </p:sp>
      <p:sp>
        <p:nvSpPr>
          <p:cNvPr id="7" name="Flowchart: Process 6"/>
          <p:cNvSpPr/>
          <p:nvPr/>
        </p:nvSpPr>
        <p:spPr>
          <a:xfrm>
            <a:off x="5659394" y="1955547"/>
            <a:ext cx="6050388" cy="787653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7574692" y="2912987"/>
            <a:ext cx="4135090" cy="1140030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Flowchart: Process 8"/>
          <p:cNvSpPr/>
          <p:nvPr/>
        </p:nvSpPr>
        <p:spPr>
          <a:xfrm>
            <a:off x="6104238" y="5702643"/>
            <a:ext cx="5605544" cy="87115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30954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diferențe semnificative </a:t>
            </a:r>
            <a:br>
              <a:rPr lang="en-US"/>
            </a:br>
            <a:r>
              <a:rPr lang="en-US"/>
              <a:t>.exe, .dll, și .sys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81192" y="2174016"/>
            <a:ext cx="1102961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Utilizare</a:t>
            </a:r>
            <a:endParaRPr kumimoji="0" lang="en-US" sz="1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.exe (Executable Files)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executabile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propriu-zise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care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conțin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pot fi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aplicații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Fiecare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reprezintă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aplicație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separată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executabil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dll</a:t>
            </a: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(Dynamic Link Libraries)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Conțin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date care pot fi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simultan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facilitând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reutilizarea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eficiența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memoriei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partajarea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funcționalităților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Bibliotecile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nu pot fi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direct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utilizator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schimb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încărcate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aplicațiile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care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necesită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funcțiile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datele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 care le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oferă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.sys (System Files)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Sunt,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dispozitiv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interacționează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un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scăzut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hardware-ul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nucleul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.sys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esențiale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funcționarea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hardware-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facilitarea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comunicării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între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componentele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hardware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restul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sistemului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Execuție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Încărcare</a:t>
            </a:r>
            <a:endParaRPr kumimoji="0" lang="en-US" sz="1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.exe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lansate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cu un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punct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inițializează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execuția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încărcate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spațiul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memorie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existent, fie la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lansarea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 le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dinamic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timpul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execuției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Ele nu au un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punct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defini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funcții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inițializare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curățare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.sys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încărcate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kernel,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obicei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timpul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boot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când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nou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dispozitiv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interacțiunea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dintre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hardware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Exporturi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Importuri</a:t>
            </a:r>
            <a:endParaRPr kumimoji="0" lang="en-US" sz="1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.exe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funcții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date din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obicei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nu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exportă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funcții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către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programe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Proiectate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funcții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către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inclusiv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fișiere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.sys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Similar cu 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pot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exporta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funcționalități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acestea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mare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orientate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furnizarea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interfețe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nivel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kernel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drivere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dispozitiv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Contextul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Securitate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Stabilitate</a:t>
            </a:r>
            <a:endParaRPr kumimoji="0" lang="en-US" sz="1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.exe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Rulează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spațiul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separându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nucleul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sistemului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asigura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stabilitatea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securitatea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.sys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Rulează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spațiul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kernel,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având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hardware,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ceea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conferă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ridicat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privilegiu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urmare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necesită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precauții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securitate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996" y="702157"/>
            <a:ext cx="987812" cy="987812"/>
          </a:xfrm>
          <a:prstGeom prst="rect">
            <a:avLst/>
          </a:prstGeom>
        </p:spPr>
      </p:pic>
      <p:sp>
        <p:nvSpPr>
          <p:cNvPr id="8" name="Flowchart: Process 7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95856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Fișierele Executable  &amp; extensiile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93973" y="2027556"/>
            <a:ext cx="10898912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Portable Executable (PE)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 pot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reflectând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scopuri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moduri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chiar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dacă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lor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Diferențele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între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tipuri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sunt,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obicei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intenția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lor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degrabă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decât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lor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O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extensiilor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afară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lang="en-US" sz="1200" dirty="0">
                <a:solidFill>
                  <a:schemeClr val="tx1"/>
                </a:solidFill>
                <a:latin typeface="Arial Unicode MS" panose="020B0604020202020204" pitchFamily="34" charset="-128"/>
              </a:rPr>
              <a:t>)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poate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fi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observata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jos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dll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Dynamic Link Libraries: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Biblioteci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partajate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conțin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date care pot fi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simultan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esențiale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reutilizarea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codului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modularitatea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aplicațiilor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.sys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dispozitiv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interacționa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hardware-ul PC-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ului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Acestea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rulează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un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privilegiu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înalt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scr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Screen savers: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Tehnic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executabile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Windows ca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protecții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ecran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Windows le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tratează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special,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permițându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fie activate ca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protecții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ecran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ocx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OLE Control Extension: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controalele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ActiveX, care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obiecte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reutilizabile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pot fi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încorporate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aplicații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special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Internet Explorer.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cpl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Control Panel items: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din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Panoul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Control,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permitând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utilizatorilor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acceseze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setări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sistemului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drv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Vechi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dispozitiv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În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vechi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acestea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erau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dispozitiv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sunt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obicei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.sys.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pif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Program Information Files: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vechi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cum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trebui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DOS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inclusiv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setările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setările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tastatură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etc.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executabile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sine,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configurează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execuția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unui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executabil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tipuri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conține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executabil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distinse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Windows. În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cazul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fișierelor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pif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bazează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formatul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lor specific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diferențiază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standard.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tratate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protecții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ecran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pot fi configurate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dialogul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proprietăți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protecției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ecran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timp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pif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folosite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degrabă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oferi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informații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despre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cum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ruleze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aplicație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medii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specifice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decât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conține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cod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executabil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propriu-zis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Flowchart: Process 4"/>
          <p:cNvSpPr/>
          <p:nvPr/>
        </p:nvSpPr>
        <p:spPr>
          <a:xfrm>
            <a:off x="451263" y="1929458"/>
            <a:ext cx="11289474" cy="4535846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20405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Fișierele .com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192" y="2182067"/>
            <a:ext cx="1067344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sunt un tip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vechi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executabil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folosit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sistemele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operare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DOS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primele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versiuni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Windows.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Spre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deosebire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formatul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Portable Executable (PE)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utilizat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dll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.sys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alte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extensii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sistemele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operare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moderne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Windows,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mult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simple din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punct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vedere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structural.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Structura</a:t>
            </a:r>
            <a:r>
              <a:rPr kumimoji="0" lang="en-US" sz="12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Fișierelor </a:t>
            </a:r>
            <a:r>
              <a:rPr kumimoji="0" lang="en-US" sz="1200" b="1" i="0" u="sng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.com</a:t>
            </a:r>
            <a:endParaRPr kumimoji="0" lang="en-US" sz="1200" b="1" i="0" u="sng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Simplă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liniară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nu au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antete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sau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secțiuni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Ele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executate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real al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procesorului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care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oferă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acces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direct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complet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la hardware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la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toate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adresele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memorie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Dimensiune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limitată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trebuie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încapă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într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-un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singur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segment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memorie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64 KB,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deoarece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executate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real, care nu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suportă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adrese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memorie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peste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această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limită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Aceasta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include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datele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stiva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programului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Cod de start la 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început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Execuția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unui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începe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la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primul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byte din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fără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nicio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instrucțiune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inițializare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specială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sau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setup,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spre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deosebire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PE, care au un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punct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intrare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specificat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antet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Lipsa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funcționalităților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avansate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Nu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suportă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caracteristici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moderne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precum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bibliotecile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dinamice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execuția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modul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protejat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alte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funcționalități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complexe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disponibile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formatul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PE.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Principala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diferență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între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format PE (cum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fi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.exe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dll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.sys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) este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complexitatea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Fișierele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sunt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mult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simple,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fără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structură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internă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complexă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menite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execuție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directă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rapidă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medii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limitate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precum DOS-ul. Pe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altă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parte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formatul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PE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suportă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o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multitudine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caracteristici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avansate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necesare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aplicațiile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moderne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inclusiv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modularitatea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compatibilitatea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cu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mai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multe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platforme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hardware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suportul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execuție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medii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operare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protejate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multi-tasking.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996" y="702157"/>
            <a:ext cx="987812" cy="987812"/>
          </a:xfrm>
          <a:prstGeom prst="rect">
            <a:avLst/>
          </a:prstGeom>
        </p:spPr>
      </p:pic>
      <p:sp>
        <p:nvSpPr>
          <p:cNvPr id="7" name="Flowchart: Process 6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1471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Fișierele .com</a:t>
            </a:r>
            <a:br>
              <a:rPr lang="en-US"/>
            </a:br>
            <a:r>
              <a:rPr lang="en-US"/>
              <a:t>compatibilitate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12508" y="2374073"/>
            <a:ext cx="1102961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teorie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Windows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menține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compatibilitate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executa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tradiționale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din era DOS,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dar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practică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care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aceste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sunt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tratate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executate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versiunile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moderne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Windows, cum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fi Windows 10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sau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Windows 11,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diferit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față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care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erau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executate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DOS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sau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primele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versiuni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Windows.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Când se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încearcă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rularea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unui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.com pe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Windows modern: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Compatibilitatea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Windows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încearcă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ruleze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într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mediu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virtualizat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sau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emulat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DOS,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obicei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prin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intermediul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NTVDM (NT Virtual DOS Machine) pe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versiunile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32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biți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ale Windows. Pe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sistemele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64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biți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suportul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NTVDM este absent,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ceea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înseamnă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că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nu pot fi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rulate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direct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fără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un emulator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terțe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părți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cum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fi DOSBox.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Securitatea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Sistemele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moderne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inclusiv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Windows,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impun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restricții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stricte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securitate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izolare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proceselor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limitând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accesul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direct la hardware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spațiul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memorie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Aceasta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înseamnă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că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chiar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dacă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executat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nu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avea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același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nivel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acces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direct la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resursele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sistemului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cum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avea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DOS.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Compatibilitatea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cu hardware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Majoritatea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hardware-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modern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mediilor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operare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sunt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construite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jurul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unor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modele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securitate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arhitectură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care nu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suportă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modul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real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tehnicile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programare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utilizate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Deci,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chiar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dacă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teoretic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poți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plasa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cod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mașină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într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-un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încerci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execuți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pe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sistem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Windows modern,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există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mai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multe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straturi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compatibilitate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securitate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care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vor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influența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cum 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dacă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)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acel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cod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fi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executat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Pe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sistem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64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biți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vei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avea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nevoie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un emulator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rula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fișierele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.com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996" y="702157"/>
            <a:ext cx="987812" cy="98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89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108554" y="1640151"/>
            <a:ext cx="10513639" cy="276652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C.6.3</a:t>
            </a:r>
            <a:br>
              <a:rPr lang="en-US" dirty="0"/>
            </a:b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informații</a:t>
            </a:r>
            <a:r>
              <a:rPr lang="en-US" dirty="0"/>
              <a:t>, </a:t>
            </a:r>
            <a:r>
              <a:rPr lang="en-US" dirty="0" err="1"/>
              <a:t>ofuscarea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detectarea</a:t>
            </a:r>
            <a:r>
              <a:rPr lang="en-US" dirty="0"/>
              <a:t> </a:t>
            </a:r>
            <a:r>
              <a:rPr lang="en-US" dirty="0" err="1"/>
              <a:t>criptării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45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 </a:t>
            </a:r>
            <a:r>
              <a:rPr lang="en-US" dirty="0" err="1"/>
              <a:t>determinăm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br>
              <a:rPr lang="en-US" dirty="0"/>
            </a:br>
            <a:r>
              <a:rPr lang="en-US" sz="1800" dirty="0"/>
              <a:t>un </a:t>
            </a:r>
            <a:r>
              <a:rPr lang="en-US" sz="1800" dirty="0" err="1"/>
              <a:t>fișier</a:t>
            </a:r>
            <a:r>
              <a:rPr lang="en-US" sz="1800" dirty="0"/>
              <a:t> este text (human-readable)?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697" y="2052077"/>
            <a:ext cx="11029615" cy="36783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1.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Verificarea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Caracterelor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de Control</a:t>
            </a:r>
          </a:p>
          <a:p>
            <a:pPr marL="0" indent="0">
              <a:buNone/>
            </a:pPr>
            <a:r>
              <a:rPr lang="en-US" dirty="0" err="1"/>
              <a:t>Fișierele</a:t>
            </a:r>
            <a:r>
              <a:rPr lang="en-US" dirty="0"/>
              <a:t> text sunt de </a:t>
            </a:r>
            <a:r>
              <a:rPr lang="en-US" dirty="0" err="1"/>
              <a:t>obicei</a:t>
            </a:r>
            <a:r>
              <a:rPr lang="en-US" dirty="0"/>
              <a:t> </a:t>
            </a:r>
            <a:r>
              <a:rPr lang="en-US" dirty="0" err="1"/>
              <a:t>compuse</a:t>
            </a:r>
            <a:r>
              <a:rPr lang="en-US" dirty="0"/>
              <a:t> din </a:t>
            </a:r>
            <a:r>
              <a:rPr lang="en-US" dirty="0" err="1"/>
              <a:t>caractere</a:t>
            </a:r>
            <a:r>
              <a:rPr lang="en-US" dirty="0"/>
              <a:t> </a:t>
            </a:r>
            <a:r>
              <a:rPr lang="en-US" dirty="0" err="1"/>
              <a:t>imprimabile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câteva</a:t>
            </a:r>
            <a:r>
              <a:rPr lang="en-US" dirty="0"/>
              <a:t> </a:t>
            </a:r>
            <a:r>
              <a:rPr lang="en-US" dirty="0" err="1"/>
              <a:t>caractere</a:t>
            </a:r>
            <a:r>
              <a:rPr lang="en-US" dirty="0"/>
              <a:t> de control </a:t>
            </a:r>
            <a:r>
              <a:rPr lang="en-US" dirty="0" err="1"/>
              <a:t>specifice</a:t>
            </a:r>
            <a:r>
              <a:rPr lang="en-US" dirty="0"/>
              <a:t>, cum </a:t>
            </a:r>
            <a:r>
              <a:rPr lang="en-US" dirty="0" err="1"/>
              <a:t>ar</a:t>
            </a:r>
            <a:r>
              <a:rPr lang="en-US" dirty="0"/>
              <a:t> fi newline (LF, \n, hex 0A) </a:t>
            </a:r>
            <a:r>
              <a:rPr lang="en-US" dirty="0" err="1"/>
              <a:t>sau</a:t>
            </a:r>
            <a:r>
              <a:rPr lang="en-US" dirty="0"/>
              <a:t> carriage return (CR, \r, hex 0D). O </a:t>
            </a:r>
            <a:r>
              <a:rPr lang="en-US" dirty="0" err="1"/>
              <a:t>metodă</a:t>
            </a:r>
            <a:r>
              <a:rPr lang="en-US" dirty="0"/>
              <a:t> </a:t>
            </a:r>
            <a:r>
              <a:rPr lang="en-US" dirty="0" err="1"/>
              <a:t>comună</a:t>
            </a:r>
            <a:r>
              <a:rPr lang="en-US" dirty="0"/>
              <a:t> este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verifici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principal </a:t>
            </a:r>
            <a:r>
              <a:rPr lang="en-US" dirty="0" err="1"/>
              <a:t>caractere</a:t>
            </a:r>
            <a:r>
              <a:rPr lang="en-US" dirty="0"/>
              <a:t> </a:t>
            </a:r>
            <a:r>
              <a:rPr lang="en-US" dirty="0" err="1"/>
              <a:t>imprimabile</a:t>
            </a:r>
            <a:r>
              <a:rPr lang="en-US" dirty="0"/>
              <a:t> (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codificarea</a:t>
            </a:r>
            <a:r>
              <a:rPr lang="en-US" dirty="0"/>
              <a:t> ASCII, </a:t>
            </a:r>
            <a:r>
              <a:rPr lang="en-US" dirty="0" err="1"/>
              <a:t>caracterele</a:t>
            </a:r>
            <a:r>
              <a:rPr lang="en-US" dirty="0"/>
              <a:t> </a:t>
            </a:r>
            <a:r>
              <a:rPr lang="en-US" dirty="0" err="1"/>
              <a:t>imprimabile</a:t>
            </a:r>
            <a:r>
              <a:rPr lang="en-US" dirty="0"/>
              <a:t> sunt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intervalul</a:t>
            </a:r>
            <a:r>
              <a:rPr lang="en-US" dirty="0"/>
              <a:t> hex 20 </a:t>
            </a:r>
            <a:r>
              <a:rPr lang="en-US" dirty="0" err="1"/>
              <a:t>până</a:t>
            </a:r>
            <a:r>
              <a:rPr lang="en-US" dirty="0"/>
              <a:t> la 7E, plus 0A </a:t>
            </a:r>
            <a:r>
              <a:rPr lang="en-US" dirty="0" err="1"/>
              <a:t>și</a:t>
            </a:r>
            <a:r>
              <a:rPr lang="en-US" dirty="0"/>
              <a:t> 0D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linii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întoarcere</a:t>
            </a:r>
            <a:r>
              <a:rPr lang="en-US" dirty="0"/>
              <a:t> la </a:t>
            </a:r>
            <a:r>
              <a:rPr lang="en-US" dirty="0" err="1"/>
              <a:t>începutul</a:t>
            </a:r>
            <a:r>
              <a:rPr lang="en-US" dirty="0"/>
              <a:t> </a:t>
            </a:r>
            <a:r>
              <a:rPr lang="en-US" dirty="0" err="1"/>
              <a:t>liniei</a:t>
            </a:r>
            <a:r>
              <a:rPr lang="en-US" dirty="0"/>
              <a:t>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ai un </a:t>
            </a:r>
            <a:r>
              <a:rPr lang="en-US" dirty="0" err="1"/>
              <a:t>număr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mic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deloc</a:t>
            </a:r>
            <a:r>
              <a:rPr lang="en-US" dirty="0"/>
              <a:t> de </a:t>
            </a:r>
            <a:r>
              <a:rPr lang="en-US" dirty="0" err="1"/>
              <a:t>caractere</a:t>
            </a:r>
            <a:r>
              <a:rPr lang="en-US" dirty="0"/>
              <a:t> din afara </a:t>
            </a:r>
            <a:r>
              <a:rPr lang="en-US" dirty="0" err="1"/>
              <a:t>acestui</a:t>
            </a:r>
            <a:r>
              <a:rPr lang="en-US" dirty="0"/>
              <a:t> interval.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2.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Verificarea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Prezenței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Caracterelor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Non-Text</a:t>
            </a:r>
          </a:p>
          <a:p>
            <a:pPr marL="0" indent="0">
              <a:buNone/>
            </a:pPr>
            <a:r>
              <a:rPr lang="en-US" dirty="0" err="1"/>
              <a:t>Fișierele</a:t>
            </a:r>
            <a:r>
              <a:rPr lang="en-US" dirty="0"/>
              <a:t> </a:t>
            </a:r>
            <a:r>
              <a:rPr lang="en-US" dirty="0" err="1"/>
              <a:t>binare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adesea</a:t>
            </a:r>
            <a:r>
              <a:rPr lang="en-US" dirty="0"/>
              <a:t> un </a:t>
            </a:r>
            <a:r>
              <a:rPr lang="en-US" dirty="0" err="1"/>
              <a:t>număr</a:t>
            </a:r>
            <a:r>
              <a:rPr lang="en-US" dirty="0"/>
              <a:t> mare de </a:t>
            </a:r>
            <a:r>
              <a:rPr lang="en-US" dirty="0" err="1"/>
              <a:t>caractere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afara </a:t>
            </a:r>
            <a:r>
              <a:rPr lang="en-US" dirty="0" err="1"/>
              <a:t>intervalului</a:t>
            </a:r>
            <a:r>
              <a:rPr lang="en-US" dirty="0"/>
              <a:t> de </a:t>
            </a:r>
            <a:r>
              <a:rPr lang="en-US" dirty="0" err="1"/>
              <a:t>caractere</a:t>
            </a:r>
            <a:r>
              <a:rPr lang="en-US" dirty="0"/>
              <a:t> </a:t>
            </a:r>
            <a:r>
              <a:rPr lang="en-US" dirty="0" err="1"/>
              <a:t>imprimabile</a:t>
            </a:r>
            <a:r>
              <a:rPr lang="en-US" dirty="0"/>
              <a:t> ASCII.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găsești</a:t>
            </a:r>
            <a:r>
              <a:rPr lang="en-US" dirty="0"/>
              <a:t> o </a:t>
            </a:r>
            <a:r>
              <a:rPr lang="en-US" dirty="0" err="1"/>
              <a:t>cantitate</a:t>
            </a:r>
            <a:r>
              <a:rPr lang="en-US" dirty="0"/>
              <a:t> </a:t>
            </a:r>
            <a:r>
              <a:rPr lang="en-US" dirty="0" err="1"/>
              <a:t>semnificativă</a:t>
            </a:r>
            <a:r>
              <a:rPr lang="en-US" dirty="0"/>
              <a:t> de date </a:t>
            </a:r>
            <a:r>
              <a:rPr lang="en-US" dirty="0" err="1"/>
              <a:t>în</a:t>
            </a:r>
            <a:r>
              <a:rPr lang="en-US" dirty="0"/>
              <a:t> afara </a:t>
            </a:r>
            <a:r>
              <a:rPr lang="en-US" dirty="0" err="1"/>
              <a:t>intervalului</a:t>
            </a:r>
            <a:r>
              <a:rPr lang="en-US" dirty="0"/>
              <a:t> 20-7E, 0A, </a:t>
            </a:r>
            <a:r>
              <a:rPr lang="en-US" dirty="0" err="1"/>
              <a:t>și</a:t>
            </a:r>
            <a:r>
              <a:rPr lang="en-US" dirty="0"/>
              <a:t> 0D </a:t>
            </a:r>
            <a:r>
              <a:rPr lang="en-US" dirty="0" err="1"/>
              <a:t>într</a:t>
            </a:r>
            <a:r>
              <a:rPr lang="en-US" dirty="0"/>
              <a:t>-un </a:t>
            </a:r>
            <a:r>
              <a:rPr lang="en-US" dirty="0" err="1"/>
              <a:t>eșantion</a:t>
            </a:r>
            <a:r>
              <a:rPr lang="en-US" dirty="0"/>
              <a:t> de date din </a:t>
            </a:r>
            <a:r>
              <a:rPr lang="en-US" dirty="0" err="1"/>
              <a:t>fișier</a:t>
            </a:r>
            <a:r>
              <a:rPr lang="en-US" dirty="0"/>
              <a:t>, este </a:t>
            </a:r>
            <a:r>
              <a:rPr lang="en-US" dirty="0" err="1"/>
              <a:t>probabil</a:t>
            </a:r>
            <a:r>
              <a:rPr lang="en-US" dirty="0"/>
              <a:t> ca </a:t>
            </a:r>
            <a:r>
              <a:rPr lang="en-US" dirty="0" err="1"/>
              <a:t>fișierul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binar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3.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Verificarea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Antetului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Fișierului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fișiere</a:t>
            </a:r>
            <a:r>
              <a:rPr lang="en-US" dirty="0"/>
              <a:t> </a:t>
            </a:r>
            <a:r>
              <a:rPr lang="en-US" dirty="0" err="1"/>
              <a:t>binare</a:t>
            </a:r>
            <a:r>
              <a:rPr lang="en-US" dirty="0"/>
              <a:t> </a:t>
            </a:r>
            <a:r>
              <a:rPr lang="en-US" dirty="0" err="1"/>
              <a:t>încep</a:t>
            </a:r>
            <a:r>
              <a:rPr lang="en-US" dirty="0"/>
              <a:t> cu </a:t>
            </a:r>
            <a:r>
              <a:rPr lang="en-US" dirty="0" err="1"/>
              <a:t>semnături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(magic numbers), cum am </a:t>
            </a:r>
            <a:r>
              <a:rPr lang="en-US" dirty="0" err="1"/>
              <a:t>menționat</a:t>
            </a:r>
            <a:r>
              <a:rPr lang="en-US" dirty="0"/>
              <a:t> anterior. </a:t>
            </a:r>
            <a:r>
              <a:rPr lang="en-US" dirty="0" err="1"/>
              <a:t>Poți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primele</a:t>
            </a:r>
            <a:r>
              <a:rPr lang="en-US" dirty="0"/>
              <a:t> </a:t>
            </a:r>
            <a:r>
              <a:rPr lang="en-US" dirty="0" err="1"/>
              <a:t>câteva</a:t>
            </a:r>
            <a:r>
              <a:rPr lang="en-US" dirty="0"/>
              <a:t> </a:t>
            </a:r>
            <a:r>
              <a:rPr lang="en-US" dirty="0" err="1"/>
              <a:t>octeți</a:t>
            </a:r>
            <a:r>
              <a:rPr lang="en-US" dirty="0"/>
              <a:t> ai </a:t>
            </a:r>
            <a:r>
              <a:rPr lang="en-US" dirty="0" err="1"/>
              <a:t>fișierului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semnături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identifica</a:t>
            </a:r>
            <a:r>
              <a:rPr lang="en-US" dirty="0"/>
              <a:t> rapid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este de un tip </a:t>
            </a:r>
            <a:r>
              <a:rPr lang="en-US" dirty="0" err="1"/>
              <a:t>cunoscut</a:t>
            </a:r>
            <a:r>
              <a:rPr lang="en-US" dirty="0"/>
              <a:t> non-text (de </a:t>
            </a:r>
            <a:r>
              <a:rPr lang="en-US" dirty="0" err="1"/>
              <a:t>exemplu</a:t>
            </a:r>
            <a:r>
              <a:rPr lang="en-US" dirty="0"/>
              <a:t>, </a:t>
            </a:r>
            <a:r>
              <a:rPr lang="en-US" dirty="0" err="1"/>
              <a:t>imagini</a:t>
            </a:r>
            <a:r>
              <a:rPr lang="en-US" dirty="0"/>
              <a:t>, </a:t>
            </a:r>
            <a:r>
              <a:rPr lang="en-US" dirty="0" err="1"/>
              <a:t>arhive</a:t>
            </a:r>
            <a:r>
              <a:rPr lang="en-US" dirty="0"/>
              <a:t>, </a:t>
            </a:r>
            <a:r>
              <a:rPr lang="en-US" dirty="0" err="1"/>
              <a:t>executabile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4.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Utilizarea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Utilitarelor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Sistemului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Sistemele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adesea</a:t>
            </a:r>
            <a:r>
              <a:rPr lang="en-US" dirty="0"/>
              <a:t> </a:t>
            </a:r>
            <a:r>
              <a:rPr lang="en-US" dirty="0" err="1"/>
              <a:t>utilitare</a:t>
            </a:r>
            <a:r>
              <a:rPr lang="en-US" dirty="0"/>
              <a:t> care pot </a:t>
            </a:r>
            <a:r>
              <a:rPr lang="en-US" dirty="0" err="1"/>
              <a:t>ajuta</a:t>
            </a:r>
            <a:r>
              <a:rPr lang="en-US" dirty="0"/>
              <a:t> la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tipului</a:t>
            </a:r>
            <a:r>
              <a:rPr lang="en-US" dirty="0"/>
              <a:t> de </a:t>
            </a:r>
            <a:r>
              <a:rPr lang="en-US" dirty="0" err="1"/>
              <a:t>fișier</a:t>
            </a:r>
            <a:r>
              <a:rPr lang="en-US" dirty="0"/>
              <a:t>. De </a:t>
            </a:r>
            <a:r>
              <a:rPr lang="en-US" dirty="0" err="1"/>
              <a:t>exemplu</a:t>
            </a:r>
            <a:r>
              <a:rPr lang="en-US" dirty="0"/>
              <a:t>, pe </a:t>
            </a:r>
            <a:r>
              <a:rPr lang="en-US" dirty="0" err="1"/>
              <a:t>sistemele</a:t>
            </a:r>
            <a:r>
              <a:rPr lang="en-US" dirty="0"/>
              <a:t> Unix-like (</a:t>
            </a:r>
            <a:r>
              <a:rPr lang="en-US" dirty="0" err="1"/>
              <a:t>inclusiv</a:t>
            </a:r>
            <a:r>
              <a:rPr lang="en-US" dirty="0"/>
              <a:t> Linux </a:t>
            </a:r>
            <a:r>
              <a:rPr lang="en-US" dirty="0" err="1"/>
              <a:t>și</a:t>
            </a:r>
            <a:r>
              <a:rPr lang="en-US" dirty="0"/>
              <a:t> macOS), </a:t>
            </a:r>
            <a:r>
              <a:rPr lang="en-US" dirty="0" err="1"/>
              <a:t>poți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file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analiza</a:t>
            </a:r>
            <a:r>
              <a:rPr lang="en-US" dirty="0"/>
              <a:t> un </a:t>
            </a:r>
            <a:r>
              <a:rPr lang="en-US" dirty="0" err="1"/>
              <a:t>fișier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obține</a:t>
            </a:r>
            <a:r>
              <a:rPr lang="en-US" dirty="0"/>
              <a:t> o </a:t>
            </a:r>
            <a:r>
              <a:rPr lang="en-US" dirty="0" err="1"/>
              <a:t>descriere</a:t>
            </a:r>
            <a:r>
              <a:rPr lang="en-US" dirty="0"/>
              <a:t> a </a:t>
            </a:r>
            <a:r>
              <a:rPr lang="en-US" dirty="0" err="1"/>
              <a:t>tipului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, </a:t>
            </a:r>
            <a:r>
              <a:rPr lang="en-US" dirty="0" err="1"/>
              <a:t>bazată</a:t>
            </a:r>
            <a:r>
              <a:rPr lang="en-US" dirty="0"/>
              <a:t> pe </a:t>
            </a:r>
            <a:r>
              <a:rPr lang="en-US" dirty="0" err="1"/>
              <a:t>conținutul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pe </a:t>
            </a:r>
            <a:r>
              <a:rPr lang="en-US" dirty="0" err="1"/>
              <a:t>semnăturile</a:t>
            </a:r>
            <a:r>
              <a:rPr lang="en-US" dirty="0"/>
              <a:t> de </a:t>
            </a:r>
            <a:r>
              <a:rPr lang="en-US" dirty="0" err="1"/>
              <a:t>fișiere</a:t>
            </a:r>
            <a:r>
              <a:rPr lang="en-US" dirty="0"/>
              <a:t> </a:t>
            </a:r>
            <a:r>
              <a:rPr lang="en-US" dirty="0" err="1"/>
              <a:t>cunoscute</a:t>
            </a:r>
            <a:r>
              <a:rPr lang="en-US" dirty="0"/>
              <a:t> (file [</a:t>
            </a:r>
            <a:r>
              <a:rPr lang="en-US" dirty="0" err="1"/>
              <a:t>nume_fisier</a:t>
            </a:r>
            <a:r>
              <a:rPr lang="en-US" dirty="0"/>
              <a:t>]).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5. Tentative 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Decodificare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Încercarea</a:t>
            </a:r>
            <a:r>
              <a:rPr lang="en-US" dirty="0"/>
              <a:t> de a </a:t>
            </a:r>
            <a:r>
              <a:rPr lang="en-US" dirty="0" err="1"/>
              <a:t>decoda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codificări</a:t>
            </a:r>
            <a:r>
              <a:rPr lang="en-US" dirty="0"/>
              <a:t> de text </a:t>
            </a:r>
            <a:r>
              <a:rPr lang="en-US" dirty="0" err="1"/>
              <a:t>comune</a:t>
            </a:r>
            <a:r>
              <a:rPr lang="en-US" dirty="0"/>
              <a:t> (cum </a:t>
            </a:r>
            <a:r>
              <a:rPr lang="en-US" dirty="0" err="1"/>
              <a:t>ar</a:t>
            </a:r>
            <a:r>
              <a:rPr lang="en-US" dirty="0"/>
              <a:t> fi UTF-8, ASCII)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rezultatul</a:t>
            </a:r>
            <a:r>
              <a:rPr lang="en-US" dirty="0"/>
              <a:t> este </a:t>
            </a:r>
            <a:r>
              <a:rPr lang="en-US" dirty="0" err="1"/>
              <a:t>sensibil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oferi</a:t>
            </a:r>
            <a:r>
              <a:rPr lang="en-US" dirty="0"/>
              <a:t>, 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indicii</a:t>
            </a:r>
            <a:r>
              <a:rPr lang="en-US" dirty="0"/>
              <a:t>. </a:t>
            </a:r>
            <a:r>
              <a:rPr lang="en-US" dirty="0" err="1"/>
              <a:t>Fișierele</a:t>
            </a:r>
            <a:r>
              <a:rPr lang="en-US" dirty="0"/>
              <a:t> text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decodeze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text </a:t>
            </a:r>
            <a:r>
              <a:rPr lang="en-US" dirty="0" err="1"/>
              <a:t>lizibil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fișierele</a:t>
            </a:r>
            <a:r>
              <a:rPr lang="en-US" dirty="0"/>
              <a:t> </a:t>
            </a:r>
            <a:r>
              <a:rPr lang="en-US" dirty="0" err="1"/>
              <a:t>binare</a:t>
            </a:r>
            <a:r>
              <a:rPr lang="en-US" dirty="0"/>
              <a:t> </a:t>
            </a:r>
            <a:r>
              <a:rPr lang="en-US" dirty="0" err="1"/>
              <a:t>adesea</a:t>
            </a:r>
            <a:r>
              <a:rPr lang="en-US" dirty="0"/>
              <a:t> nu </a:t>
            </a:r>
            <a:r>
              <a:rPr lang="en-US" dirty="0" err="1"/>
              <a:t>vor</a:t>
            </a:r>
            <a:r>
              <a:rPr lang="en-US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191" y="5818308"/>
            <a:ext cx="10873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În </a:t>
            </a:r>
            <a:r>
              <a:rPr lang="en-US" sz="1200" dirty="0" err="1"/>
              <a:t>practică</a:t>
            </a:r>
            <a:r>
              <a:rPr lang="en-US" sz="1200" dirty="0"/>
              <a:t>, </a:t>
            </a:r>
            <a:r>
              <a:rPr lang="en-US" sz="1200" dirty="0" err="1"/>
              <a:t>combinarea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multor</a:t>
            </a:r>
            <a:r>
              <a:rPr lang="en-US" sz="1200" dirty="0"/>
              <a:t> </a:t>
            </a:r>
            <a:r>
              <a:rPr lang="en-US" sz="1200" dirty="0" err="1"/>
              <a:t>dintre</a:t>
            </a:r>
            <a:r>
              <a:rPr lang="en-US" sz="1200" dirty="0"/>
              <a:t> </a:t>
            </a:r>
            <a:r>
              <a:rPr lang="en-US" sz="1200" dirty="0" err="1"/>
              <a:t>aceste</a:t>
            </a:r>
            <a:r>
              <a:rPr lang="en-US" sz="1200" dirty="0"/>
              <a:t> </a:t>
            </a:r>
            <a:r>
              <a:rPr lang="en-US" sz="1200" dirty="0" err="1"/>
              <a:t>metode</a:t>
            </a:r>
            <a:r>
              <a:rPr lang="en-US" sz="1200" dirty="0"/>
              <a:t> </a:t>
            </a:r>
            <a:r>
              <a:rPr lang="en-US" sz="1200" dirty="0" err="1"/>
              <a:t>va</a:t>
            </a:r>
            <a:r>
              <a:rPr lang="en-US" sz="1200" dirty="0"/>
              <a:t> </a:t>
            </a:r>
            <a:r>
              <a:rPr lang="en-US" sz="1200" dirty="0" err="1"/>
              <a:t>oferi</a:t>
            </a:r>
            <a:r>
              <a:rPr lang="en-US" sz="1200" dirty="0"/>
              <a:t> </a:t>
            </a:r>
            <a:r>
              <a:rPr lang="en-US" sz="1200" dirty="0" err="1"/>
              <a:t>cele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bune</a:t>
            </a:r>
            <a:r>
              <a:rPr lang="en-US" sz="1200" dirty="0"/>
              <a:t> </a:t>
            </a:r>
            <a:r>
              <a:rPr lang="en-US" sz="1200" dirty="0" err="1"/>
              <a:t>rezultate</a:t>
            </a:r>
            <a:r>
              <a:rPr lang="en-US" sz="1200" dirty="0"/>
              <a:t>. Este important de </a:t>
            </a:r>
            <a:r>
              <a:rPr lang="en-US" sz="1200" dirty="0" err="1"/>
              <a:t>reținut</a:t>
            </a:r>
            <a:r>
              <a:rPr lang="en-US" sz="1200" dirty="0"/>
              <a:t> că </a:t>
            </a:r>
            <a:r>
              <a:rPr lang="en-US" sz="1200" dirty="0" err="1"/>
              <a:t>unele</a:t>
            </a:r>
            <a:r>
              <a:rPr lang="en-US" sz="1200" dirty="0"/>
              <a:t> </a:t>
            </a:r>
            <a:r>
              <a:rPr lang="en-US" sz="1200" dirty="0" err="1"/>
              <a:t>fișiere</a:t>
            </a:r>
            <a:r>
              <a:rPr lang="en-US" sz="1200" dirty="0"/>
              <a:t> pot fi </a:t>
            </a:r>
            <a:r>
              <a:rPr lang="en-US" sz="1200" dirty="0" err="1"/>
              <a:t>teoretic</a:t>
            </a:r>
            <a:r>
              <a:rPr lang="en-US" sz="1200" dirty="0"/>
              <a:t> </a:t>
            </a:r>
            <a:r>
              <a:rPr lang="en-US" sz="1200" dirty="0" err="1"/>
              <a:t>binare</a:t>
            </a:r>
            <a:r>
              <a:rPr lang="en-US" sz="1200" dirty="0"/>
              <a:t>, </a:t>
            </a:r>
            <a:r>
              <a:rPr lang="en-US" sz="1200" dirty="0" err="1"/>
              <a:t>dar</a:t>
            </a:r>
            <a:r>
              <a:rPr lang="en-US" sz="1200" dirty="0"/>
              <a:t> </a:t>
            </a:r>
            <a:r>
              <a:rPr lang="en-US" sz="1200" dirty="0" err="1"/>
              <a:t>să</a:t>
            </a:r>
            <a:r>
              <a:rPr lang="en-US" sz="1200" dirty="0"/>
              <a:t> </a:t>
            </a:r>
            <a:r>
              <a:rPr lang="en-US" sz="1200" dirty="0" err="1"/>
              <a:t>conțină</a:t>
            </a:r>
            <a:r>
              <a:rPr lang="en-US" sz="1200" dirty="0"/>
              <a:t> </a:t>
            </a:r>
            <a:r>
              <a:rPr lang="en-US" sz="1200" dirty="0" err="1"/>
              <a:t>secțiuni</a:t>
            </a:r>
            <a:r>
              <a:rPr lang="en-US" sz="1200" dirty="0"/>
              <a:t> </a:t>
            </a:r>
            <a:r>
              <a:rPr lang="en-US" sz="1200" dirty="0" err="1"/>
              <a:t>lizibile</a:t>
            </a:r>
            <a:r>
              <a:rPr lang="en-US" sz="1200" dirty="0"/>
              <a:t> de text (de </a:t>
            </a:r>
            <a:r>
              <a:rPr lang="en-US" sz="1200" dirty="0" err="1"/>
              <a:t>exemplu</a:t>
            </a:r>
            <a:r>
              <a:rPr lang="en-US" sz="1200" dirty="0"/>
              <a:t>, </a:t>
            </a:r>
            <a:r>
              <a:rPr lang="en-US" sz="1200" dirty="0" err="1"/>
              <a:t>fișiere</a:t>
            </a:r>
            <a:r>
              <a:rPr lang="en-US" sz="1200" dirty="0"/>
              <a:t> </a:t>
            </a:r>
            <a:r>
              <a:rPr lang="en-US" sz="1200" dirty="0" err="1"/>
              <a:t>executabile</a:t>
            </a:r>
            <a:r>
              <a:rPr lang="en-US" sz="1200" dirty="0"/>
              <a:t> cu </a:t>
            </a:r>
            <a:r>
              <a:rPr lang="en-US" sz="1200" dirty="0" err="1"/>
              <a:t>șiruri</a:t>
            </a:r>
            <a:r>
              <a:rPr lang="en-US" sz="1200" dirty="0"/>
              <a:t> de </a:t>
            </a:r>
            <a:r>
              <a:rPr lang="en-US" sz="1200" dirty="0" err="1"/>
              <a:t>caractere</a:t>
            </a:r>
            <a:r>
              <a:rPr lang="en-US" sz="1200" dirty="0"/>
              <a:t> </a:t>
            </a:r>
            <a:r>
              <a:rPr lang="en-US" sz="1200" dirty="0" err="1"/>
              <a:t>lizibile</a:t>
            </a:r>
            <a:r>
              <a:rPr lang="en-US" sz="1200" dirty="0"/>
              <a:t>). Prin </a:t>
            </a:r>
            <a:r>
              <a:rPr lang="en-US" sz="1200" dirty="0" err="1"/>
              <a:t>urmare</a:t>
            </a:r>
            <a:r>
              <a:rPr lang="en-US" sz="1200" dirty="0"/>
              <a:t>, </a:t>
            </a:r>
            <a:r>
              <a:rPr lang="en-US" sz="1200" dirty="0" err="1"/>
              <a:t>determinarea</a:t>
            </a:r>
            <a:r>
              <a:rPr lang="en-US" sz="1200" dirty="0"/>
              <a:t> </a:t>
            </a:r>
            <a:r>
              <a:rPr lang="en-US" sz="1200" dirty="0" err="1"/>
              <a:t>dacă</a:t>
            </a:r>
            <a:r>
              <a:rPr lang="en-US" sz="1200" dirty="0"/>
              <a:t> un </a:t>
            </a:r>
            <a:r>
              <a:rPr lang="en-US" sz="1200" dirty="0" err="1"/>
              <a:t>fișier</a:t>
            </a:r>
            <a:r>
              <a:rPr lang="en-US" sz="1200" dirty="0"/>
              <a:t> este „text” </a:t>
            </a:r>
            <a:r>
              <a:rPr lang="en-US" sz="1200" dirty="0" err="1"/>
              <a:t>poate</a:t>
            </a:r>
            <a:r>
              <a:rPr lang="en-US" sz="1200" dirty="0"/>
              <a:t> </a:t>
            </a:r>
            <a:r>
              <a:rPr lang="en-US" sz="1200" dirty="0" err="1"/>
              <a:t>uneori</a:t>
            </a:r>
            <a:r>
              <a:rPr lang="en-US" sz="1200" dirty="0"/>
              <a:t> </a:t>
            </a:r>
            <a:r>
              <a:rPr lang="en-US" sz="1200" dirty="0" err="1"/>
              <a:t>să</a:t>
            </a:r>
            <a:r>
              <a:rPr lang="en-US" sz="1200" dirty="0"/>
              <a:t> </a:t>
            </a:r>
            <a:r>
              <a:rPr lang="en-US" sz="1200" dirty="0" err="1"/>
              <a:t>necesite</a:t>
            </a:r>
            <a:r>
              <a:rPr lang="en-US" sz="1200" dirty="0"/>
              <a:t> un context </a:t>
            </a:r>
            <a:r>
              <a:rPr lang="en-US" sz="1200" dirty="0" err="1"/>
              <a:t>suplimentar</a:t>
            </a:r>
            <a:r>
              <a:rPr lang="en-US" sz="1200" dirty="0"/>
              <a:t> </a:t>
            </a:r>
            <a:r>
              <a:rPr lang="en-US" sz="1200" dirty="0" err="1"/>
              <a:t>sau</a:t>
            </a:r>
            <a:r>
              <a:rPr lang="en-US" sz="1200" dirty="0"/>
              <a:t> o </a:t>
            </a:r>
            <a:r>
              <a:rPr lang="en-US" sz="1200" dirty="0" err="1"/>
              <a:t>analiză</a:t>
            </a:r>
            <a:r>
              <a:rPr lang="en-US" sz="1200" dirty="0"/>
              <a:t> </a:t>
            </a:r>
            <a:r>
              <a:rPr lang="en-US" sz="1200" dirty="0" err="1"/>
              <a:t>mai</a:t>
            </a:r>
            <a:r>
              <a:rPr lang="en-US" sz="1200" dirty="0"/>
              <a:t> </a:t>
            </a:r>
            <a:r>
              <a:rPr lang="en-US" sz="1200" dirty="0" err="1"/>
              <a:t>detaliată</a:t>
            </a:r>
            <a:r>
              <a:rPr lang="en-US" sz="12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26211" y="858129"/>
            <a:ext cx="59296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Determinarea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dacă</a:t>
            </a:r>
            <a:r>
              <a:rPr lang="en-US" sz="1200" dirty="0">
                <a:solidFill>
                  <a:schemeClr val="bg1"/>
                </a:solidFill>
              </a:rPr>
              <a:t> un </a:t>
            </a:r>
            <a:r>
              <a:rPr lang="en-US" sz="1200" dirty="0" err="1">
                <a:solidFill>
                  <a:schemeClr val="bg1"/>
                </a:solidFill>
              </a:rPr>
              <a:t>fișier</a:t>
            </a:r>
            <a:r>
              <a:rPr lang="en-US" sz="1200" dirty="0">
                <a:solidFill>
                  <a:schemeClr val="bg1"/>
                </a:solidFill>
              </a:rPr>
              <a:t> este text (</a:t>
            </a:r>
            <a:r>
              <a:rPr lang="en-US" sz="1200" dirty="0" err="1">
                <a:solidFill>
                  <a:schemeClr val="bg1"/>
                </a:solidFill>
              </a:rPr>
              <a:t>adică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lizibil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către</a:t>
            </a:r>
            <a:r>
              <a:rPr lang="en-US" sz="1200" dirty="0">
                <a:solidFill>
                  <a:schemeClr val="bg1"/>
                </a:solidFill>
              </a:rPr>
              <a:t> om) </a:t>
            </a:r>
            <a:r>
              <a:rPr lang="en-US" sz="1200" dirty="0" err="1">
                <a:solidFill>
                  <a:schemeClr val="bg1"/>
                </a:solidFill>
              </a:rPr>
              <a:t>implică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câteva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verificări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și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euristici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deoarece</a:t>
            </a:r>
            <a:r>
              <a:rPr lang="en-US" sz="1200" dirty="0">
                <a:solidFill>
                  <a:schemeClr val="bg1"/>
                </a:solidFill>
              </a:rPr>
              <a:t> nu </a:t>
            </a:r>
            <a:r>
              <a:rPr lang="en-US" sz="1200" dirty="0" err="1">
                <a:solidFill>
                  <a:schemeClr val="bg1"/>
                </a:solidFill>
              </a:rPr>
              <a:t>există</a:t>
            </a:r>
            <a:r>
              <a:rPr lang="en-US" sz="1200" dirty="0">
                <a:solidFill>
                  <a:schemeClr val="bg1"/>
                </a:solidFill>
              </a:rPr>
              <a:t> o </a:t>
            </a:r>
            <a:r>
              <a:rPr lang="en-US" sz="1200" dirty="0" err="1">
                <a:solidFill>
                  <a:schemeClr val="bg1"/>
                </a:solidFill>
              </a:rPr>
              <a:t>semnătură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unică</a:t>
            </a:r>
            <a:r>
              <a:rPr lang="en-US" sz="1200" dirty="0">
                <a:solidFill>
                  <a:schemeClr val="bg1"/>
                </a:solidFill>
              </a:rPr>
              <a:t> care </a:t>
            </a:r>
            <a:r>
              <a:rPr lang="en-US" sz="1200" dirty="0" err="1">
                <a:solidFill>
                  <a:schemeClr val="bg1"/>
                </a:solidFill>
              </a:rPr>
              <a:t>să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distingă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în</a:t>
            </a:r>
            <a:r>
              <a:rPr lang="en-US" sz="1200" dirty="0">
                <a:solidFill>
                  <a:schemeClr val="bg1"/>
                </a:solidFill>
              </a:rPr>
              <a:t> mod </a:t>
            </a:r>
            <a:r>
              <a:rPr lang="en-US" sz="1200" dirty="0" err="1">
                <a:solidFill>
                  <a:schemeClr val="bg1"/>
                </a:solidFill>
              </a:rPr>
              <a:t>clar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fișierele</a:t>
            </a:r>
            <a:r>
              <a:rPr lang="en-US" sz="1200" dirty="0">
                <a:solidFill>
                  <a:schemeClr val="bg1"/>
                </a:solidFill>
              </a:rPr>
              <a:t> text de </a:t>
            </a:r>
            <a:r>
              <a:rPr lang="en-US" sz="1200" dirty="0" err="1">
                <a:solidFill>
                  <a:schemeClr val="bg1"/>
                </a:solidFill>
              </a:rPr>
              <a:t>cele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binare</a:t>
            </a:r>
            <a:r>
              <a:rPr lang="en-US" sz="1200" dirty="0">
                <a:solidFill>
                  <a:schemeClr val="bg1"/>
                </a:solidFill>
              </a:rPr>
              <a:t>. </a:t>
            </a:r>
            <a:r>
              <a:rPr lang="en-US" sz="1200" dirty="0" err="1">
                <a:solidFill>
                  <a:schemeClr val="bg1"/>
                </a:solidFill>
              </a:rPr>
              <a:t>Aici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avem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câțiva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pași</a:t>
            </a:r>
            <a:r>
              <a:rPr lang="en-US" sz="1200" dirty="0">
                <a:solidFill>
                  <a:schemeClr val="bg1"/>
                </a:solidFill>
              </a:rPr>
              <a:t> pe care </a:t>
            </a:r>
            <a:r>
              <a:rPr lang="en-US" sz="1200" dirty="0" err="1">
                <a:solidFill>
                  <a:schemeClr val="bg1"/>
                </a:solidFill>
              </a:rPr>
              <a:t>îi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putem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urma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pentru</a:t>
            </a:r>
            <a:r>
              <a:rPr lang="en-US" sz="1200" dirty="0">
                <a:solidFill>
                  <a:schemeClr val="bg1"/>
                </a:solidFill>
              </a:rPr>
              <a:t> a </a:t>
            </a:r>
            <a:r>
              <a:rPr lang="en-US" sz="1200" dirty="0" err="1">
                <a:solidFill>
                  <a:schemeClr val="bg1"/>
                </a:solidFill>
              </a:rPr>
              <a:t>determina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dacă</a:t>
            </a:r>
            <a:r>
              <a:rPr lang="en-US" sz="1200" dirty="0">
                <a:solidFill>
                  <a:schemeClr val="bg1"/>
                </a:solidFill>
              </a:rPr>
              <a:t> un </a:t>
            </a:r>
            <a:r>
              <a:rPr lang="en-US" sz="1200" dirty="0" err="1">
                <a:solidFill>
                  <a:schemeClr val="bg1"/>
                </a:solidFill>
              </a:rPr>
              <a:t>fișier</a:t>
            </a:r>
            <a:r>
              <a:rPr lang="en-US" sz="1200" dirty="0">
                <a:solidFill>
                  <a:schemeClr val="bg1"/>
                </a:solidFill>
              </a:rPr>
              <a:t> este text:</a:t>
            </a:r>
          </a:p>
        </p:txBody>
      </p:sp>
      <p:sp>
        <p:nvSpPr>
          <p:cNvPr id="7" name="Flowchart: Process 6"/>
          <p:cNvSpPr/>
          <p:nvPr/>
        </p:nvSpPr>
        <p:spPr>
          <a:xfrm>
            <a:off x="653697" y="2267466"/>
            <a:ext cx="3090400" cy="210064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653697" y="3027285"/>
            <a:ext cx="3090400" cy="210064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Flowchart: Process 8"/>
          <p:cNvSpPr/>
          <p:nvPr/>
        </p:nvSpPr>
        <p:spPr>
          <a:xfrm>
            <a:off x="653697" y="3656901"/>
            <a:ext cx="3090400" cy="210064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653697" y="4277478"/>
            <a:ext cx="3090400" cy="210064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653697" y="4898897"/>
            <a:ext cx="3090400" cy="210064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592940" y="5818307"/>
            <a:ext cx="10966805" cy="646331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Flowchart: Process 12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87242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 </a:t>
            </a:r>
            <a:r>
              <a:rPr lang="en-US" dirty="0" err="1"/>
              <a:t>determinăm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br>
              <a:rPr lang="en-US" dirty="0"/>
            </a:br>
            <a:r>
              <a:rPr lang="en-US" sz="2000" dirty="0"/>
              <a:t>un </a:t>
            </a:r>
            <a:r>
              <a:rPr lang="en-US" sz="2000" dirty="0" err="1"/>
              <a:t>fișier</a:t>
            </a:r>
            <a:r>
              <a:rPr lang="en-US" sz="2000" dirty="0"/>
              <a:t> este text (human-readable)?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9311" y="1965118"/>
            <a:ext cx="5430370" cy="4442726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Pentru a </a:t>
            </a:r>
            <a:r>
              <a:rPr lang="en-US" dirty="0" err="1"/>
              <a:t>crea</a:t>
            </a:r>
            <a:r>
              <a:rPr lang="en-US" dirty="0"/>
              <a:t> un program Python cu o </a:t>
            </a:r>
            <a:r>
              <a:rPr lang="en-US" dirty="0" err="1"/>
              <a:t>interfață</a:t>
            </a:r>
            <a:r>
              <a:rPr lang="en-US" dirty="0"/>
              <a:t> </a:t>
            </a:r>
            <a:r>
              <a:rPr lang="en-US" dirty="0" err="1"/>
              <a:t>grafică</a:t>
            </a:r>
            <a:r>
              <a:rPr lang="en-US" dirty="0"/>
              <a:t> (GUI) care </a:t>
            </a:r>
            <a:r>
              <a:rPr lang="en-US" dirty="0" err="1"/>
              <a:t>verifică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un </a:t>
            </a:r>
            <a:r>
              <a:rPr lang="en-US" dirty="0" err="1"/>
              <a:t>fișier</a:t>
            </a:r>
            <a:r>
              <a:rPr lang="en-US" dirty="0"/>
              <a:t> este text (</a:t>
            </a:r>
            <a:r>
              <a:rPr lang="en-US" dirty="0" err="1"/>
              <a:t>lizibil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om)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binar</a:t>
            </a:r>
            <a:r>
              <a:rPr lang="en-US" dirty="0"/>
              <a:t>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biblioteca</a:t>
            </a:r>
            <a:r>
              <a:rPr lang="en-US" dirty="0"/>
              <a:t> </a:t>
            </a:r>
            <a:r>
              <a:rPr lang="en-US" dirty="0" err="1"/>
              <a:t>Tkinter</a:t>
            </a:r>
            <a:r>
              <a:rPr lang="en-US" dirty="0"/>
              <a:t>, care este </a:t>
            </a:r>
            <a:r>
              <a:rPr lang="en-US" dirty="0" err="1"/>
              <a:t>inclusă</a:t>
            </a:r>
            <a:r>
              <a:rPr lang="en-US" dirty="0"/>
              <a:t> standard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instalațiilor</a:t>
            </a:r>
            <a:r>
              <a:rPr lang="en-US" dirty="0"/>
              <a:t> Python.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de cod </a:t>
            </a:r>
            <a:r>
              <a:rPr lang="en-US" dirty="0" err="1"/>
              <a:t>va</a:t>
            </a:r>
            <a:r>
              <a:rPr lang="en-US" dirty="0"/>
              <a:t> include o </a:t>
            </a:r>
            <a:r>
              <a:rPr lang="en-US" dirty="0" err="1"/>
              <a:t>fereastră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selectarea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fișier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afișa</a:t>
            </a:r>
            <a:r>
              <a:rPr lang="en-US" dirty="0"/>
              <a:t>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analizei</a:t>
            </a:r>
            <a:r>
              <a:rPr lang="en-US" dirty="0"/>
              <a:t>.</a:t>
            </a:r>
          </a:p>
          <a:p>
            <a:r>
              <a:rPr lang="en-US" dirty="0" err="1"/>
              <a:t>Codul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o </a:t>
            </a:r>
            <a:r>
              <a:rPr lang="en-US" dirty="0" err="1"/>
              <a:t>euristică</a:t>
            </a:r>
            <a:r>
              <a:rPr lang="en-US" dirty="0"/>
              <a:t> </a:t>
            </a:r>
            <a:r>
              <a:rPr lang="en-US" dirty="0" err="1"/>
              <a:t>simplă</a:t>
            </a:r>
            <a:r>
              <a:rPr lang="en-US" dirty="0"/>
              <a:t> </a:t>
            </a:r>
            <a:r>
              <a:rPr lang="en-US" dirty="0" err="1"/>
              <a:t>bazată</a:t>
            </a:r>
            <a:r>
              <a:rPr lang="en-US" dirty="0"/>
              <a:t> pe </a:t>
            </a:r>
            <a:r>
              <a:rPr lang="en-US" dirty="0" err="1"/>
              <a:t>prezența</a:t>
            </a:r>
            <a:r>
              <a:rPr lang="en-US" dirty="0"/>
              <a:t> </a:t>
            </a:r>
            <a:r>
              <a:rPr lang="en-US" dirty="0" err="1"/>
              <a:t>caracterelor</a:t>
            </a:r>
            <a:r>
              <a:rPr lang="en-US" dirty="0"/>
              <a:t> non-text </a:t>
            </a:r>
            <a:r>
              <a:rPr lang="en-US" dirty="0" err="1"/>
              <a:t>într</a:t>
            </a:r>
            <a:r>
              <a:rPr lang="en-US" dirty="0"/>
              <a:t>-un </a:t>
            </a:r>
            <a:r>
              <a:rPr lang="en-US" dirty="0" err="1"/>
              <a:t>eșantion</a:t>
            </a:r>
            <a:r>
              <a:rPr lang="en-US" dirty="0"/>
              <a:t> din </a:t>
            </a:r>
            <a:r>
              <a:rPr lang="en-US" dirty="0" err="1"/>
              <a:t>fișier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determina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este </a:t>
            </a:r>
            <a:r>
              <a:rPr lang="en-US" dirty="0" err="1"/>
              <a:t>considerat</a:t>
            </a:r>
            <a:r>
              <a:rPr lang="en-US" dirty="0"/>
              <a:t> text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binar</a:t>
            </a:r>
            <a:r>
              <a:rPr lang="en-US" dirty="0"/>
              <a:t>.</a:t>
            </a:r>
          </a:p>
          <a:p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dorești</a:t>
            </a:r>
            <a:r>
              <a:rPr lang="en-US" dirty="0"/>
              <a:t> o </a:t>
            </a:r>
            <a:r>
              <a:rPr lang="en-US" dirty="0" err="1"/>
              <a:t>versiune</a:t>
            </a:r>
            <a:r>
              <a:rPr lang="en-US" dirty="0"/>
              <a:t> </a:t>
            </a:r>
            <a:r>
              <a:rPr lang="en-US" dirty="0" err="1"/>
              <a:t>simplificată</a:t>
            </a:r>
            <a:r>
              <a:rPr lang="en-US" dirty="0"/>
              <a:t>, </a:t>
            </a:r>
            <a:r>
              <a:rPr lang="en-US" dirty="0" err="1"/>
              <a:t>fără</a:t>
            </a:r>
            <a:r>
              <a:rPr lang="en-US" dirty="0"/>
              <a:t> GUI,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verifice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un </a:t>
            </a:r>
            <a:r>
              <a:rPr lang="en-US" dirty="0" err="1"/>
              <a:t>fișier</a:t>
            </a:r>
            <a:r>
              <a:rPr lang="en-US" dirty="0"/>
              <a:t> este text (</a:t>
            </a:r>
            <a:r>
              <a:rPr lang="en-US" dirty="0" err="1"/>
              <a:t>lizibil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om) </a:t>
            </a:r>
            <a:r>
              <a:rPr lang="en-US" dirty="0" err="1"/>
              <a:t>sau</a:t>
            </a:r>
            <a:r>
              <a:rPr lang="en-US" dirty="0"/>
              <a:t> un </a:t>
            </a:r>
            <a:r>
              <a:rPr lang="en-US" dirty="0" err="1"/>
              <a:t>șir</a:t>
            </a:r>
            <a:r>
              <a:rPr lang="en-US" dirty="0"/>
              <a:t> de </a:t>
            </a:r>
            <a:r>
              <a:rPr lang="en-US" dirty="0" err="1"/>
              <a:t>biți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mașini</a:t>
            </a:r>
            <a:r>
              <a:rPr lang="en-US" dirty="0"/>
              <a:t> (</a:t>
            </a:r>
            <a:r>
              <a:rPr lang="en-US" dirty="0" err="1"/>
              <a:t>binar</a:t>
            </a:r>
            <a:r>
              <a:rPr lang="en-US" dirty="0"/>
              <a:t>), </a:t>
            </a:r>
            <a:r>
              <a:rPr lang="en-US" dirty="0" err="1"/>
              <a:t>poți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următorul</a:t>
            </a:r>
            <a:r>
              <a:rPr lang="en-US" dirty="0"/>
              <a:t> cod Python. </a:t>
            </a:r>
            <a:r>
              <a:rPr lang="en-US" dirty="0" err="1"/>
              <a:t>Acest</a:t>
            </a:r>
            <a:r>
              <a:rPr lang="en-US" dirty="0"/>
              <a:t> script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solicita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introducă</a:t>
            </a:r>
            <a:r>
              <a:rPr lang="en-US" dirty="0"/>
              <a:t> </a:t>
            </a:r>
            <a:r>
              <a:rPr lang="en-US" dirty="0" err="1"/>
              <a:t>calea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pe care </a:t>
            </a:r>
            <a:r>
              <a:rPr lang="en-US" dirty="0" err="1"/>
              <a:t>dorește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verifice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afișa</a:t>
            </a:r>
            <a:r>
              <a:rPr lang="en-US" dirty="0"/>
              <a:t>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linia</a:t>
            </a:r>
            <a:r>
              <a:rPr lang="en-US" dirty="0"/>
              <a:t> de </a:t>
            </a:r>
            <a:r>
              <a:rPr lang="en-US" dirty="0" err="1"/>
              <a:t>comandă</a:t>
            </a:r>
            <a:r>
              <a:rPr lang="en-US" dirty="0"/>
              <a:t>:</a:t>
            </a:r>
          </a:p>
          <a:p>
            <a:r>
              <a:rPr lang="en-US" dirty="0"/>
              <a:t>Cum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folosești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cod:</a:t>
            </a:r>
          </a:p>
          <a:p>
            <a:r>
              <a:rPr lang="en-US" dirty="0"/>
              <a:t>    </a:t>
            </a:r>
            <a:r>
              <a:rPr lang="en-US" dirty="0" err="1"/>
              <a:t>Salvează</a:t>
            </a:r>
            <a:r>
              <a:rPr lang="en-US" dirty="0"/>
              <a:t> </a:t>
            </a:r>
            <a:r>
              <a:rPr lang="en-US" dirty="0" err="1"/>
              <a:t>codul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</a:t>
            </a:r>
            <a:r>
              <a:rPr lang="en-US" dirty="0" err="1"/>
              <a:t>fișier</a:t>
            </a:r>
            <a:r>
              <a:rPr lang="en-US" dirty="0"/>
              <a:t> .</a:t>
            </a:r>
            <a:r>
              <a:rPr lang="en-US" dirty="0" err="1"/>
              <a:t>py</a:t>
            </a:r>
            <a:r>
              <a:rPr lang="en-US" dirty="0"/>
              <a:t>, de </a:t>
            </a:r>
            <a:r>
              <a:rPr lang="en-US" dirty="0" err="1"/>
              <a:t>exemplu</a:t>
            </a:r>
            <a:r>
              <a:rPr lang="en-US" dirty="0"/>
              <a:t>, check_file_type.py.</a:t>
            </a:r>
          </a:p>
          <a:p>
            <a:r>
              <a:rPr lang="en-US" dirty="0"/>
              <a:t>    </a:t>
            </a:r>
            <a:r>
              <a:rPr lang="en-US" dirty="0" err="1"/>
              <a:t>Deschide</a:t>
            </a:r>
            <a:r>
              <a:rPr lang="en-US" dirty="0"/>
              <a:t> un terminal </a:t>
            </a:r>
            <a:r>
              <a:rPr lang="en-US" dirty="0" err="1"/>
              <a:t>sau</a:t>
            </a:r>
            <a:r>
              <a:rPr lang="en-US" dirty="0"/>
              <a:t> prompt de </a:t>
            </a:r>
            <a:r>
              <a:rPr lang="en-US" dirty="0" err="1"/>
              <a:t>comandă</a:t>
            </a:r>
            <a:r>
              <a:rPr lang="en-US" dirty="0"/>
              <a:t>.</a:t>
            </a:r>
          </a:p>
          <a:p>
            <a:r>
              <a:rPr lang="en-US" dirty="0"/>
              <a:t>    </a:t>
            </a:r>
            <a:r>
              <a:rPr lang="en-US" dirty="0" err="1"/>
              <a:t>Navighează</a:t>
            </a:r>
            <a:r>
              <a:rPr lang="en-US" dirty="0"/>
              <a:t> la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ai </a:t>
            </a:r>
            <a:r>
              <a:rPr lang="en-US" dirty="0" err="1"/>
              <a:t>salvat</a:t>
            </a:r>
            <a:r>
              <a:rPr lang="en-US" dirty="0"/>
              <a:t> </a:t>
            </a:r>
            <a:r>
              <a:rPr lang="en-US" dirty="0" err="1"/>
              <a:t>scriptul</a:t>
            </a:r>
            <a:r>
              <a:rPr lang="en-US" dirty="0"/>
              <a:t>.</a:t>
            </a:r>
          </a:p>
          <a:p>
            <a:r>
              <a:rPr lang="en-US" dirty="0"/>
              <a:t>    </a:t>
            </a:r>
            <a:r>
              <a:rPr lang="en-US" dirty="0" err="1"/>
              <a:t>Rulează</a:t>
            </a:r>
            <a:r>
              <a:rPr lang="en-US" dirty="0"/>
              <a:t> </a:t>
            </a:r>
            <a:r>
              <a:rPr lang="en-US" dirty="0" err="1"/>
              <a:t>scriptul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Python, de </a:t>
            </a:r>
            <a:r>
              <a:rPr lang="en-US" dirty="0" err="1"/>
              <a:t>exemplu</a:t>
            </a:r>
            <a:r>
              <a:rPr lang="en-US" dirty="0"/>
              <a:t>, python check_file_type.py.</a:t>
            </a:r>
          </a:p>
          <a:p>
            <a:r>
              <a:rPr lang="en-US" dirty="0"/>
              <a:t>    </a:t>
            </a:r>
            <a:r>
              <a:rPr lang="en-US" dirty="0" err="1"/>
              <a:t>Introdu</a:t>
            </a:r>
            <a:r>
              <a:rPr lang="en-US" dirty="0"/>
              <a:t> </a:t>
            </a:r>
            <a:r>
              <a:rPr lang="en-US" dirty="0" err="1"/>
              <a:t>calea</a:t>
            </a:r>
            <a:r>
              <a:rPr lang="en-US" dirty="0"/>
              <a:t> </a:t>
            </a:r>
            <a:r>
              <a:rPr lang="en-US" dirty="0" err="1"/>
              <a:t>completă</a:t>
            </a:r>
            <a:r>
              <a:rPr lang="en-US" dirty="0"/>
              <a:t> a </a:t>
            </a:r>
            <a:r>
              <a:rPr lang="en-US" dirty="0" err="1"/>
              <a:t>fișierului</a:t>
            </a:r>
            <a:r>
              <a:rPr lang="en-US" dirty="0"/>
              <a:t> pe care </a:t>
            </a:r>
            <a:r>
              <a:rPr lang="en-US" dirty="0" err="1"/>
              <a:t>dorești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verifici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scriptul</a:t>
            </a:r>
            <a:r>
              <a:rPr lang="en-US" dirty="0"/>
              <a:t> o </a:t>
            </a:r>
            <a:r>
              <a:rPr lang="en-US" dirty="0" err="1"/>
              <a:t>solicită</a:t>
            </a:r>
            <a:r>
              <a:rPr lang="en-US" dirty="0"/>
              <a:t>.</a:t>
            </a:r>
          </a:p>
          <a:p>
            <a:r>
              <a:rPr lang="en-US" dirty="0"/>
              <a:t>    </a:t>
            </a:r>
            <a:r>
              <a:rPr lang="en-US" dirty="0" err="1"/>
              <a:t>Scriptul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afișa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este </a:t>
            </a:r>
            <a:r>
              <a:rPr lang="en-US" dirty="0" err="1"/>
              <a:t>considerat</a:t>
            </a:r>
            <a:r>
              <a:rPr lang="en-US" dirty="0"/>
              <a:t> a fi text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binar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Acest</a:t>
            </a:r>
            <a:r>
              <a:rPr lang="en-US" dirty="0"/>
              <a:t> cod este util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scenarii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 de </a:t>
            </a:r>
            <a:r>
              <a:rPr lang="en-US" dirty="0" err="1"/>
              <a:t>verificare</a:t>
            </a:r>
            <a:r>
              <a:rPr lang="en-US" dirty="0"/>
              <a:t> a </a:t>
            </a:r>
            <a:r>
              <a:rPr lang="en-US" dirty="0" err="1"/>
              <a:t>tipului</a:t>
            </a:r>
            <a:r>
              <a:rPr lang="en-US" dirty="0"/>
              <a:t> de </a:t>
            </a:r>
            <a:r>
              <a:rPr lang="en-US" dirty="0" err="1"/>
              <a:t>fișier</a:t>
            </a:r>
            <a:r>
              <a:rPr lang="en-US" dirty="0"/>
              <a:t> direct din </a:t>
            </a:r>
            <a:r>
              <a:rPr lang="en-US" dirty="0" err="1"/>
              <a:t>linia</a:t>
            </a:r>
            <a:r>
              <a:rPr lang="en-US" dirty="0"/>
              <a:t> de </a:t>
            </a:r>
            <a:r>
              <a:rPr lang="en-US" dirty="0" err="1"/>
              <a:t>comandă</a:t>
            </a:r>
            <a:r>
              <a:rPr lang="en-US" dirty="0"/>
              <a:t>,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necesitatea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interfețe</a:t>
            </a:r>
            <a:r>
              <a:rPr lang="en-US" dirty="0"/>
              <a:t> </a:t>
            </a:r>
            <a:r>
              <a:rPr lang="en-US" dirty="0" err="1"/>
              <a:t>grafice</a:t>
            </a:r>
            <a:r>
              <a:rPr lang="en-US" dirty="0"/>
              <a:t>.</a:t>
            </a:r>
          </a:p>
          <a:p>
            <a:r>
              <a:rPr lang="en-US" dirty="0" err="1"/>
              <a:t>Introduceți</a:t>
            </a:r>
            <a:r>
              <a:rPr lang="en-US" dirty="0"/>
              <a:t> </a:t>
            </a:r>
            <a:r>
              <a:rPr lang="en-US" dirty="0" err="1"/>
              <a:t>calea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fișierul</a:t>
            </a:r>
            <a:r>
              <a:rPr lang="en-US" dirty="0"/>
              <a:t> de </a:t>
            </a:r>
            <a:r>
              <a:rPr lang="en-US" dirty="0" err="1"/>
              <a:t>verificat</a:t>
            </a:r>
            <a:r>
              <a:rPr lang="en-US" dirty="0"/>
              <a:t>: C:\Users\Elitebook\Desktop\OffVis\DevExpress.XtraTreeList.v9.1.dll</a:t>
            </a:r>
          </a:p>
          <a:p>
            <a:r>
              <a:rPr lang="en-US" dirty="0" err="1"/>
              <a:t>Fișierul</a:t>
            </a:r>
            <a:r>
              <a:rPr lang="en-US" dirty="0"/>
              <a:t> </a:t>
            </a:r>
            <a:r>
              <a:rPr lang="en-US" dirty="0" err="1"/>
              <a:t>selectat</a:t>
            </a:r>
            <a:r>
              <a:rPr lang="en-US" dirty="0"/>
              <a:t> este </a:t>
            </a:r>
            <a:r>
              <a:rPr lang="en-US" dirty="0" err="1"/>
              <a:t>binar</a:t>
            </a:r>
            <a:r>
              <a:rPr lang="en-US" dirty="0"/>
              <a:t> (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mașini</a:t>
            </a:r>
            <a:r>
              <a:rPr lang="en-US" dirty="0"/>
              <a:t>/</a:t>
            </a:r>
            <a:r>
              <a:rPr lang="en-US" dirty="0" err="1"/>
              <a:t>computere</a:t>
            </a:r>
            <a:r>
              <a:rPr lang="en-US" dirty="0"/>
              <a:t>).</a:t>
            </a:r>
          </a:p>
          <a:p>
            <a:r>
              <a:rPr lang="en-US" dirty="0"/>
              <a:t>(base) PS C:\Users\Elitebook&gt;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532583" y="2034339"/>
            <a:ext cx="6096000" cy="43735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is_text_file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sample_size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512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este text,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bazat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prezența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caracterelor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non-text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eșantion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text_chars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bytearray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\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0x20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0x100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0x7f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sample_size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sample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conține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caractere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permise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text.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text_chars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Solicită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utilizatorului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filepath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Introduceți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calea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verificat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este text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afișează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rezultatul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is_text_file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selectat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este text (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lizibil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om)."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selectat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mașini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lowchart: Process 5"/>
          <p:cNvSpPr/>
          <p:nvPr/>
        </p:nvSpPr>
        <p:spPr>
          <a:xfrm>
            <a:off x="451262" y="1957630"/>
            <a:ext cx="5103100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Flowchart: Process 6"/>
          <p:cNvSpPr/>
          <p:nvPr/>
        </p:nvSpPr>
        <p:spPr>
          <a:xfrm>
            <a:off x="5694647" y="1957630"/>
            <a:ext cx="6044272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34167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Cum identificăm </a:t>
            </a:r>
            <a:br>
              <a:rPr lang="en-US"/>
            </a:br>
            <a:r>
              <a:rPr lang="en-US" sz="2000"/>
              <a:t>tipul de codificare al unui fișier text?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476" y="2446167"/>
            <a:ext cx="10546066" cy="3678303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UTF-8.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Este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variabilă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lungimii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folosește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octeți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(bytes)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reprezenta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fiecare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Universal Character Set (UCS)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Universal Coded Character Set (Unicode).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compatibilă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ASCII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comună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web,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deoarece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reprezenta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fiecare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Unicode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eficientă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texte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folosesc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frecvent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ASCII.</a:t>
            </a:r>
          </a:p>
          <a:p>
            <a:r>
              <a:rPr lang="en-US" dirty="0">
                <a:solidFill>
                  <a:srgbClr val="C00000"/>
                </a:solidFill>
              </a:rPr>
              <a:t>ISO-8859-1.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Cunoscută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 Latin-1, este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un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singur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octet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reprezenta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până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256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proiectată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acoperi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majoritatea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limbilor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vest-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europene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inclusiv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diacritice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CP1252.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un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singur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octet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Windows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limba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engleză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limbi vest-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europene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Este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extensie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ISO-8859-1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include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suplimentare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simboluri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tipografice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diacritice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Latin-1.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Termenul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"Latin-1" se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referă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adesea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ISO-8859-1,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fi,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asemenea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mod informal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se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referi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CP1252,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deoarece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ambele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foarte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similare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uneori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confundate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ASCII.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Este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standardizată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englezești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7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biți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reprezenta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128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simboluri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inclusiv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literele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alfabetul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englez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cifrele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simbolurile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punctuație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controalele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terminalului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simplă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veche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submulțime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multe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codificări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sus.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codificări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create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gestiona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diversitatea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limbilor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simbolurilor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utilizate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computere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având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vedere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regiuni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limbi au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nevoie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seturi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înainte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adoptarea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scară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largă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Unicode,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mulți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seturi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erau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limitate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un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singur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limbaj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un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grup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limbi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asemănătoare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În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prezent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Unicode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particular UTF-8 au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devenit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standardele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dominante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capabile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reprezinte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gamă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largă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limbi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simboluri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Descrierea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Python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încearcă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identifice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textului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dat.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încearcă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citească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codificări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reușește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citească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fără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arunce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excepție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presupune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corectă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începe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presupunerea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textul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UTF-8,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apoi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trece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ISO-8859-1, CP1252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Latin-1.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niciuna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reușește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presupune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ASCII,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confidență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redusă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Această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abordare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euristică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garantează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detectarea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corectă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codificării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orice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20945" y="739696"/>
            <a:ext cx="579943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</a:rPr>
              <a:t>Diversele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codificări</a:t>
            </a:r>
            <a:r>
              <a:rPr lang="en-US" sz="1100" dirty="0">
                <a:solidFill>
                  <a:schemeClr val="bg1"/>
                </a:solidFill>
              </a:rPr>
              <a:t> de </a:t>
            </a:r>
            <a:r>
              <a:rPr lang="en-US" sz="1100" dirty="0" err="1">
                <a:solidFill>
                  <a:schemeClr val="bg1"/>
                </a:solidFill>
              </a:rPr>
              <a:t>caractere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există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pentru</a:t>
            </a:r>
            <a:r>
              <a:rPr lang="en-US" sz="1100" dirty="0">
                <a:solidFill>
                  <a:schemeClr val="bg1"/>
                </a:solidFill>
              </a:rPr>
              <a:t> a </a:t>
            </a:r>
            <a:r>
              <a:rPr lang="en-US" sz="1100" dirty="0" err="1">
                <a:solidFill>
                  <a:schemeClr val="bg1"/>
                </a:solidFill>
              </a:rPr>
              <a:t>gestiona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modul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în</a:t>
            </a:r>
            <a:r>
              <a:rPr lang="en-US" sz="1100" dirty="0">
                <a:solidFill>
                  <a:schemeClr val="bg1"/>
                </a:solidFill>
              </a:rPr>
              <a:t> care </a:t>
            </a:r>
            <a:r>
              <a:rPr lang="en-US" sz="1100" dirty="0" err="1">
                <a:solidFill>
                  <a:schemeClr val="bg1"/>
                </a:solidFill>
              </a:rPr>
              <a:t>caracterele</a:t>
            </a:r>
            <a:r>
              <a:rPr lang="en-US" sz="1100" dirty="0">
                <a:solidFill>
                  <a:schemeClr val="bg1"/>
                </a:solidFill>
              </a:rPr>
              <a:t> din text sunt </a:t>
            </a:r>
            <a:r>
              <a:rPr lang="en-US" sz="1100" dirty="0" err="1">
                <a:solidFill>
                  <a:schemeClr val="bg1"/>
                </a:solidFill>
              </a:rPr>
              <a:t>reprezentate</a:t>
            </a:r>
            <a:r>
              <a:rPr lang="en-US" sz="1100" dirty="0">
                <a:solidFill>
                  <a:schemeClr val="bg1"/>
                </a:solidFill>
              </a:rPr>
              <a:t> ca </a:t>
            </a:r>
            <a:r>
              <a:rPr lang="en-US" sz="1100" dirty="0" err="1">
                <a:solidFill>
                  <a:schemeClr val="bg1"/>
                </a:solidFill>
              </a:rPr>
              <a:t>numere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în</a:t>
            </a:r>
            <a:r>
              <a:rPr lang="en-US" sz="1100" dirty="0">
                <a:solidFill>
                  <a:schemeClr val="bg1"/>
                </a:solidFill>
              </a:rPr>
              <a:t> memoria </a:t>
            </a:r>
            <a:r>
              <a:rPr lang="en-US" sz="1100" dirty="0" err="1">
                <a:solidFill>
                  <a:schemeClr val="bg1"/>
                </a:solidFill>
              </a:rPr>
              <a:t>computerelor</a:t>
            </a:r>
            <a:r>
              <a:rPr lang="en-US" sz="1100" dirty="0">
                <a:solidFill>
                  <a:schemeClr val="bg1"/>
                </a:solidFill>
              </a:rPr>
              <a:t>. </a:t>
            </a:r>
            <a:r>
              <a:rPr lang="en-US" sz="1100" dirty="0" err="1">
                <a:solidFill>
                  <a:schemeClr val="bg1"/>
                </a:solidFill>
              </a:rPr>
              <a:t>Textul</a:t>
            </a:r>
            <a:r>
              <a:rPr lang="en-US" sz="1100" dirty="0">
                <a:solidFill>
                  <a:schemeClr val="bg1"/>
                </a:solidFill>
              </a:rPr>
              <a:t> pe care </a:t>
            </a:r>
            <a:r>
              <a:rPr lang="en-US" sz="1100" dirty="0" err="1">
                <a:solidFill>
                  <a:schemeClr val="bg1"/>
                </a:solidFill>
              </a:rPr>
              <a:t>îl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citim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și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îl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scriem</a:t>
            </a:r>
            <a:r>
              <a:rPr lang="en-US" sz="1100" dirty="0">
                <a:solidFill>
                  <a:schemeClr val="bg1"/>
                </a:solidFill>
              </a:rPr>
              <a:t>, fie că este </a:t>
            </a:r>
            <a:r>
              <a:rPr lang="en-US" sz="1100" dirty="0" err="1">
                <a:solidFill>
                  <a:schemeClr val="bg1"/>
                </a:solidFill>
              </a:rPr>
              <a:t>în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limbajul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nostru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nativ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sau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în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simboluri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speciale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trebuie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să</a:t>
            </a:r>
            <a:r>
              <a:rPr lang="en-US" sz="1100" dirty="0">
                <a:solidFill>
                  <a:schemeClr val="bg1"/>
                </a:solidFill>
              </a:rPr>
              <a:t> fie </a:t>
            </a:r>
            <a:r>
              <a:rPr lang="en-US" sz="1100" dirty="0" err="1">
                <a:solidFill>
                  <a:schemeClr val="bg1"/>
                </a:solidFill>
              </a:rPr>
              <a:t>stocat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și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procesat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într</a:t>
            </a:r>
            <a:r>
              <a:rPr lang="en-US" sz="1100" dirty="0">
                <a:solidFill>
                  <a:schemeClr val="bg1"/>
                </a:solidFill>
              </a:rPr>
              <a:t>-o </a:t>
            </a:r>
            <a:r>
              <a:rPr lang="en-US" sz="1100" dirty="0" err="1">
                <a:solidFill>
                  <a:schemeClr val="bg1"/>
                </a:solidFill>
              </a:rPr>
              <a:t>formă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binară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pentru</a:t>
            </a:r>
            <a:r>
              <a:rPr lang="en-US" sz="1100" dirty="0">
                <a:solidFill>
                  <a:schemeClr val="bg1"/>
                </a:solidFill>
              </a:rPr>
              <a:t> ca </a:t>
            </a:r>
            <a:r>
              <a:rPr lang="en-US" sz="1100" dirty="0" err="1">
                <a:solidFill>
                  <a:schemeClr val="bg1"/>
                </a:solidFill>
              </a:rPr>
              <a:t>sistemele</a:t>
            </a:r>
            <a:r>
              <a:rPr lang="en-US" sz="1100" dirty="0">
                <a:solidFill>
                  <a:schemeClr val="bg1"/>
                </a:solidFill>
              </a:rPr>
              <a:t> de </a:t>
            </a:r>
            <a:r>
              <a:rPr lang="en-US" sz="1100" dirty="0" err="1">
                <a:solidFill>
                  <a:schemeClr val="bg1"/>
                </a:solidFill>
              </a:rPr>
              <a:t>computere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să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îl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poată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manipula</a:t>
            </a:r>
            <a:r>
              <a:rPr lang="en-US" sz="1100" dirty="0">
                <a:solidFill>
                  <a:schemeClr val="bg1"/>
                </a:solidFill>
              </a:rPr>
              <a:t>. </a:t>
            </a:r>
            <a:r>
              <a:rPr lang="en-US" sz="1100" dirty="0" err="1">
                <a:solidFill>
                  <a:schemeClr val="bg1"/>
                </a:solidFill>
              </a:rPr>
              <a:t>Fiecare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codificare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definește</a:t>
            </a:r>
            <a:r>
              <a:rPr lang="en-US" sz="1100" dirty="0">
                <a:solidFill>
                  <a:schemeClr val="bg1"/>
                </a:solidFill>
              </a:rPr>
              <a:t> o </a:t>
            </a:r>
            <a:r>
              <a:rPr lang="en-US" sz="1100" dirty="0" err="1">
                <a:solidFill>
                  <a:schemeClr val="bg1"/>
                </a:solidFill>
              </a:rPr>
              <a:t>hartă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unică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sau</a:t>
            </a:r>
            <a:r>
              <a:rPr lang="en-US" sz="1100" dirty="0">
                <a:solidFill>
                  <a:schemeClr val="bg1"/>
                </a:solidFill>
              </a:rPr>
              <a:t> un set de </a:t>
            </a:r>
            <a:r>
              <a:rPr lang="en-US" sz="1100" dirty="0" err="1">
                <a:solidFill>
                  <a:schemeClr val="bg1"/>
                </a:solidFill>
              </a:rPr>
              <a:t>hărți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pentru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conversia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între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caractere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și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numerele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binare</a:t>
            </a:r>
            <a:r>
              <a:rPr lang="en-US" sz="1100" dirty="0">
                <a:solidFill>
                  <a:schemeClr val="bg1"/>
                </a:solidFill>
              </a:rPr>
              <a:t> care le </a:t>
            </a:r>
            <a:r>
              <a:rPr lang="en-US" sz="1100" dirty="0" err="1">
                <a:solidFill>
                  <a:schemeClr val="bg1"/>
                </a:solidFill>
              </a:rPr>
              <a:t>reprezintă</a:t>
            </a:r>
            <a:r>
              <a:rPr lang="en-US" sz="11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6" name="Flowchart: Process 5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9476" y="4701746"/>
            <a:ext cx="1054606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29476" y="2076835"/>
            <a:ext cx="2415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Codificări de caractere: </a:t>
            </a:r>
          </a:p>
        </p:txBody>
      </p:sp>
    </p:spTree>
    <p:extLst>
      <p:ext uri="{BB962C8B-B14F-4D97-AF65-F5344CB8AC3E}">
        <p14:creationId xmlns:p14="http://schemas.microsoft.com/office/powerpoint/2010/main" val="168481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Cum identificăm tipul de codificare al unui fișier text?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7369" y="2119304"/>
            <a:ext cx="6272483" cy="305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detect_file_encoding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encodings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'utf-8'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'iso-8859-1'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'cp1252'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'latin1'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encodari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commune.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encodings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daca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stim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sigur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UnicodeDecodeError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LookupError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'ascii'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daca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altceva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 este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detectat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presupunem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Solicită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utilizatorului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filepath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Introduceți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calea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verificat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Detectează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codificarea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afișează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rezultatul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detect_file_encoding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filepath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"Codificarea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detectată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{encoding} cu o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confidență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{confidence*100:.2f}%"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075877" y="1987436"/>
            <a:ext cx="4534931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Funcția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detect_file_encoding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filepath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)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Aceasta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o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funcție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definită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a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ghici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codificarea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unui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text.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acceptă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un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singur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argument,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filepath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care este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calea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către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trebuie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verificat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Lista 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encodings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Conține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o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listă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codificări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caractere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comune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pe care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scriptul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le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testa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Encodările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încercate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sunt: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utf-8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O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codificare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Unicode care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poate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reprezenta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toate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caracterele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standard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internaționale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foarte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des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utilizată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pe web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documentele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moderne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iso-8859-1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Cunoscută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ca Latin-1, este o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codificare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limbile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vest-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europene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poate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reprezenta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caractere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din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aceste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limbi.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Cp1252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O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codificare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caractere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folosită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Windows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sistemele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sale occidentale; este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similară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cu ISO-8859-1,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dar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include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caractere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grafice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suplimentare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Latin1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Un alt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nume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ISO-8859-1.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Buclele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for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try-except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Scriptul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încearcă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deschidă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folosind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fiecare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codificare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din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listă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Dacă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poate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fi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citit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fără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declanșeze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o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excepție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UnicodeDecodeError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(care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ar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indica că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codificarea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greșită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pentru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conținutul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fișierului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)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sau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LookupError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(care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apare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atunci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când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se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încearcă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utilizarea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unei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codificări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necunoscute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),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atunci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codificarea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considerată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corectă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funcția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returnează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numele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codificării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împreună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cu un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nivel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încredere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100%.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caz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eșec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Dacă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niciuna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dintre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codificările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testate nu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reușește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deschidă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citească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corect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funcția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returnează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ascii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ca o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presupunere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bază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cu un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nivel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încredere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mai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scăzut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(50%).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Interacțiunea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utilizatorul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Scriptul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solicită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utilizatorului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introducă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calea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către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fișierul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verificat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printr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-o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intrare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consolă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Apelul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funcției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afișarea</a:t>
            </a: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rezultatelor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Funcția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este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apelată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calea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furnizată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apoi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scriptul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afișează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rezultatul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detectării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codificării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împreună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nivelul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încredere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asociat</a:t>
            </a:r>
            <a:r>
              <a:rPr kumimoji="0" 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9852" y="1643449"/>
            <a:ext cx="45719" cy="52145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5202205"/>
            <a:ext cx="6899394" cy="2810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4051" y="5708943"/>
            <a:ext cx="62786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Introduceți calea către fișierul de verificat: C:\Users\Elitebook\Desktop\test.exe</a:t>
            </a:r>
          </a:p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Codificarea detectată: iso-8859-1 cu o confidență de 100.00%</a:t>
            </a:r>
          </a:p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(base) PS C:\Users\Elitebook&gt;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262" y="5175525"/>
            <a:ext cx="7601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Output:</a:t>
            </a:r>
          </a:p>
        </p:txBody>
      </p:sp>
      <p:sp>
        <p:nvSpPr>
          <p:cNvPr id="11" name="Flowchart: Process 10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95039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Cum ne dăm seama dacă </a:t>
            </a:r>
            <a:br>
              <a:rPr lang="en-US"/>
            </a:br>
            <a:r>
              <a:rPr lang="en-US" sz="2000"/>
              <a:t>un script Python (fișier text) a fost ofuscat?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00216" y="2421453"/>
            <a:ext cx="11029615" cy="36783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Nume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Variabile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Funcții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Neobișnuite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dintre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comune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ofuscării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utilizarea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nume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variabile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funcții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clase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neobișnuite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par a fi generate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aleatoriu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a1_b2, xYz_123, etc.).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Folosirea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Excesivă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Codului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Compact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ofuscat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foarte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lungi de cod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expresii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încâlcite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efectuează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operațiuni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complexe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singură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face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dificil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înțeles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Encodarea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Criptarea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Datelor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Șirurilor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ofuscat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include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șiruri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caractere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encodate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criptate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runtime,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făcând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analiza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dificilă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Folosirea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Tehnici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Avansate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Tehnici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metaprogramarea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reflexia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injecția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cod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uneori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ofuscat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dinamic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părți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cod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modifica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comportamentul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neașteptate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Prezența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Codului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Împiedică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Decompilarea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Analiza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Codul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ofuscat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mecanisme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proiectate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împiedice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îngreuneze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decompilarea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analiza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statică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cum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verificări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mediului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autodistrugerea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anumite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condiții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8703" y="793557"/>
            <a:ext cx="438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u="sng" dirty="0" err="1">
                <a:solidFill>
                  <a:schemeClr val="bg1"/>
                </a:solidFill>
              </a:rPr>
              <a:t>Ofuscarea</a:t>
            </a:r>
            <a:r>
              <a:rPr lang="en-US" sz="1200" dirty="0">
                <a:solidFill>
                  <a:schemeClr val="bg1"/>
                </a:solidFill>
              </a:rPr>
              <a:t> este </a:t>
            </a:r>
            <a:r>
              <a:rPr lang="en-US" sz="1200" dirty="0" err="1">
                <a:solidFill>
                  <a:schemeClr val="bg1"/>
                </a:solidFill>
              </a:rPr>
              <a:t>procesul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transformare</a:t>
            </a:r>
            <a:r>
              <a:rPr lang="en-US" sz="1200" dirty="0">
                <a:solidFill>
                  <a:schemeClr val="bg1"/>
                </a:solidFill>
              </a:rPr>
              <a:t> a </a:t>
            </a:r>
            <a:r>
              <a:rPr lang="en-US" sz="1200" dirty="0" err="1">
                <a:solidFill>
                  <a:schemeClr val="bg1"/>
                </a:solidFill>
              </a:rPr>
              <a:t>codului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într</a:t>
            </a:r>
            <a:r>
              <a:rPr lang="en-US" sz="1200" dirty="0">
                <a:solidFill>
                  <a:schemeClr val="bg1"/>
                </a:solidFill>
              </a:rPr>
              <a:t>-o </a:t>
            </a:r>
            <a:r>
              <a:rPr lang="en-US" sz="1200" dirty="0" err="1">
                <a:solidFill>
                  <a:schemeClr val="bg1"/>
                </a:solidFill>
              </a:rPr>
              <a:t>formă</a:t>
            </a:r>
            <a:r>
              <a:rPr lang="en-US" sz="1200" dirty="0">
                <a:solidFill>
                  <a:schemeClr val="bg1"/>
                </a:solidFill>
              </a:rPr>
              <a:t> care este </a:t>
            </a:r>
            <a:r>
              <a:rPr lang="en-US" sz="1200" dirty="0" err="1">
                <a:solidFill>
                  <a:schemeClr val="bg1"/>
                </a:solidFill>
              </a:rPr>
              <a:t>dificil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înțeles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pentru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oameni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dar</a:t>
            </a:r>
            <a:r>
              <a:rPr lang="en-US" sz="1200" dirty="0">
                <a:solidFill>
                  <a:schemeClr val="bg1"/>
                </a:solidFill>
              </a:rPr>
              <a:t> care </a:t>
            </a:r>
            <a:r>
              <a:rPr lang="en-US" sz="1200" dirty="0" err="1">
                <a:solidFill>
                  <a:schemeClr val="bg1"/>
                </a:solidFill>
              </a:rPr>
              <a:t>rămâne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complet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funcțional</a:t>
            </a:r>
            <a:r>
              <a:rPr lang="en-US" sz="1200" dirty="0">
                <a:solidFill>
                  <a:schemeClr val="bg1"/>
                </a:solidFill>
              </a:rPr>
              <a:t>. </a:t>
            </a:r>
            <a:r>
              <a:rPr lang="en-US" sz="1200" dirty="0" err="1">
                <a:solidFill>
                  <a:schemeClr val="bg1"/>
                </a:solidFill>
              </a:rPr>
              <a:t>Scopul</a:t>
            </a:r>
            <a:r>
              <a:rPr lang="en-US" sz="1200" dirty="0">
                <a:solidFill>
                  <a:schemeClr val="bg1"/>
                </a:solidFill>
              </a:rPr>
              <a:t> este </a:t>
            </a:r>
            <a:r>
              <a:rPr lang="en-US" sz="1200" dirty="0" err="1">
                <a:solidFill>
                  <a:schemeClr val="bg1"/>
                </a:solidFill>
              </a:rPr>
              <a:t>adesea</a:t>
            </a:r>
            <a:r>
              <a:rPr lang="en-US" sz="1200" dirty="0">
                <a:solidFill>
                  <a:schemeClr val="bg1"/>
                </a:solidFill>
              </a:rPr>
              <a:t> de a </a:t>
            </a:r>
            <a:r>
              <a:rPr lang="en-US" sz="1200" dirty="0" err="1">
                <a:solidFill>
                  <a:schemeClr val="bg1"/>
                </a:solidFill>
              </a:rPr>
              <a:t>proteja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proprietatea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intelectuală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sau</a:t>
            </a:r>
            <a:r>
              <a:rPr lang="en-US" sz="1200" dirty="0">
                <a:solidFill>
                  <a:schemeClr val="bg1"/>
                </a:solidFill>
              </a:rPr>
              <a:t> de a </a:t>
            </a:r>
            <a:r>
              <a:rPr lang="en-US" sz="1200" dirty="0" err="1">
                <a:solidFill>
                  <a:schemeClr val="bg1"/>
                </a:solidFill>
              </a:rPr>
              <a:t>îngreuna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analiza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și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ingineria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inversă</a:t>
            </a:r>
            <a:r>
              <a:rPr lang="en-US" sz="1200" dirty="0">
                <a:solidFill>
                  <a:schemeClr val="bg1"/>
                </a:solidFill>
              </a:rPr>
              <a:t> a </a:t>
            </a:r>
            <a:r>
              <a:rPr lang="en-US" sz="1200" dirty="0" err="1">
                <a:solidFill>
                  <a:schemeClr val="bg1"/>
                </a:solidFill>
              </a:rPr>
              <a:t>codului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Flowchart: Process 7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Flowchart: Process 8"/>
          <p:cNvSpPr/>
          <p:nvPr/>
        </p:nvSpPr>
        <p:spPr>
          <a:xfrm>
            <a:off x="700216" y="2474622"/>
            <a:ext cx="4026243" cy="274756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700216" y="3213201"/>
            <a:ext cx="4026243" cy="274756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689311" y="3951780"/>
            <a:ext cx="4037148" cy="274756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700216" y="4552981"/>
            <a:ext cx="4026243" cy="274756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Flowchart: Process 12"/>
          <p:cNvSpPr/>
          <p:nvPr/>
        </p:nvSpPr>
        <p:spPr>
          <a:xfrm>
            <a:off x="700216" y="5291560"/>
            <a:ext cx="5218670" cy="274756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88169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Detectare Automată</a:t>
            </a:r>
            <a:br>
              <a:rPr lang="en-US"/>
            </a:br>
            <a:r>
              <a:rPr lang="en-US" sz="2200"/>
              <a:t>Cum ne dăm seama dacă un script Python (fișier text) a fost ofuscat?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822" y="2063727"/>
            <a:ext cx="5218670" cy="2279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en-US" sz="90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tokenize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check_for_obfuscation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'rb'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tokenize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tokenize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readline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toknum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tokval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toknum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r'^[a-zA-Z_][a-zA-Z0-9_]*$'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tokval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\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tokval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"Suspicious name found: {tokval}"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'C:\\Users\\Elitebook\\Desktop\\ofcat.py'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check_for_obfuscation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74492" y="2063727"/>
            <a:ext cx="4850452" cy="2463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IdDG_0v5lX42t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0x173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,*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LdDG0v51X42tf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I6DGOv51X4Rt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reversed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0x66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0o164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0b1110101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0x20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)])).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strip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)&gt;-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I6DGOv51X4Rt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IdDGOv51X42t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IdDGOv51X4Rt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IdDGOv51X42t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readlines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IdDGOv51X4Rt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LdDG0v51X42tf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LdDG0v51X42tf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LdDG0v51X42tx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LdDG0v51X42tf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Ld_DG0v51X42tf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append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LdDG0v51X42tx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LdDG0v51X42tf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]*</a:t>
            </a:r>
            <a:r>
              <a:rPr lang="en-US" sz="9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I6DG0v51X42t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I6DG0v51X42t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9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IdDG0v51X42t</a:t>
            </a:r>
            <a:r>
              <a:rPr lang="en-US" sz="9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9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822" y="4618463"/>
            <a:ext cx="22901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IdDG0v51X42t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I6DGOv51X4Rt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IdDGOv51X42t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IdDGOv51X4Rt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IdDGOv51X42t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LdDG0v51X42tf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Ld_DG0v51X42tf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LdDG0v51X42tx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LdDG0v51X42tf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IdDG0v51X42t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I6DG0v51X42t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I6DG0v51X42t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Suspicious name found: IdDG0v51X42t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(base) PS C:\Users\Elitebook&gt;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8327" y="4960839"/>
            <a:ext cx="47388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script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simplu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verifică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numele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variabile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identifică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nu se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potrivesc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un pattern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obișnuit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neobișnuit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lungi,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putea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indica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ofuscarea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Rețineți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un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foarte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simplu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acoperă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tehnicile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ofuscăre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servind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mult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 un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pornire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analiza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manuală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12" name="Flowchart: Process 11"/>
          <p:cNvSpPr/>
          <p:nvPr/>
        </p:nvSpPr>
        <p:spPr>
          <a:xfrm>
            <a:off x="6110416" y="4843848"/>
            <a:ext cx="4956727" cy="1600201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39712" y="1643449"/>
            <a:ext cx="45719" cy="52145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4447315"/>
            <a:ext cx="5785431" cy="529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68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78843" y="1657376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C.6.4</a:t>
            </a:r>
            <a:br>
              <a:rPr lang="en-US" dirty="0"/>
            </a:b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punctului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executabile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52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35" y="2056411"/>
            <a:ext cx="7876190" cy="4209524"/>
          </a:xfrm>
          <a:prstGeom prst="rect">
            <a:avLst/>
          </a:prstGeom>
        </p:spPr>
      </p:pic>
      <p:sp>
        <p:nvSpPr>
          <p:cNvPr id="6" name="Flowchart: Process 5"/>
          <p:cNvSpPr/>
          <p:nvPr/>
        </p:nvSpPr>
        <p:spPr>
          <a:xfrm>
            <a:off x="451262" y="1957630"/>
            <a:ext cx="3657360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Calcularea entry point</a:t>
            </a:r>
            <a:br>
              <a:rPr lang="en-US"/>
            </a:br>
            <a:r>
              <a:rPr lang="en-US" sz="2000"/>
              <a:t>ce ne intereseaza?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03" y="1957630"/>
            <a:ext cx="3469874" cy="4906621"/>
          </a:xfrm>
        </p:spPr>
      </p:pic>
      <p:sp>
        <p:nvSpPr>
          <p:cNvPr id="7" name="Flowchart: Process 6"/>
          <p:cNvSpPr/>
          <p:nvPr/>
        </p:nvSpPr>
        <p:spPr>
          <a:xfrm>
            <a:off x="4250724" y="1957630"/>
            <a:ext cx="7490012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900579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65299A1-DDBA-EB51-8469-BE5EFCC0B41D}"/>
              </a:ext>
            </a:extLst>
          </p:cNvPr>
          <p:cNvSpPr/>
          <p:nvPr/>
        </p:nvSpPr>
        <p:spPr>
          <a:xfrm>
            <a:off x="260985" y="285517"/>
            <a:ext cx="11694177" cy="630490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63D41-F0A5-7471-9B9F-46CD4903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În debugger 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950FB-F9A3-03DC-F324-66FD1637B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417"/>
            <a:ext cx="10515600" cy="149307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Când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deschideți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executabil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(i.e. x64dbg),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primul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loc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unde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oprește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execuția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într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-o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funcție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din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ntdll.dll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nu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codul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nostru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din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.text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073A1C-BB70-1425-3E0A-BB9AAF060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93912"/>
            <a:ext cx="1038001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Când un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fișier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EXE este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încărcat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Windows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creează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procesul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toate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resursele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spațiul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adresă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virtuală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Inițializează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loader-ul intern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→ cod care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rulează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din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Unicode MS" panose="020B0604020202020204" pitchFamily="34" charset="-128"/>
              </a:rPr>
              <a:t>ntdll.dll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Abia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apoi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face salt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către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Unicode MS" panose="020B0604020202020204" pitchFamily="34" charset="-128"/>
              </a:rPr>
              <a:t>EntryPoint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-ul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definit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în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PE Header-ul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executabilului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27731711-EE22-3D54-86B1-31299E932F64}"/>
              </a:ext>
            </a:extLst>
          </p:cNvPr>
          <p:cNvSpPr/>
          <p:nvPr/>
        </p:nvSpPr>
        <p:spPr>
          <a:xfrm>
            <a:off x="9879647" y="3850101"/>
            <a:ext cx="1829353" cy="1033652"/>
          </a:xfrm>
          <a:prstGeom prst="wedgeRectCallout">
            <a:avLst>
              <a:gd name="adj1" fmla="val -142447"/>
              <a:gd name="adj2" fmla="val -2608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Funcții </a:t>
            </a:r>
            <a:r>
              <a:rPr lang="en-US" sz="1200" dirty="0">
                <a:solidFill>
                  <a:schemeClr val="bg1"/>
                </a:solidFill>
              </a:rPr>
              <a:t>precum </a:t>
            </a:r>
            <a:r>
              <a:rPr lang="en-US" sz="1200" b="1" dirty="0" err="1">
                <a:solidFill>
                  <a:schemeClr val="bg1"/>
                </a:solidFill>
              </a:rPr>
              <a:t>RtlUserThreadStart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b="1" dirty="0" err="1">
                <a:solidFill>
                  <a:schemeClr val="bg1"/>
                </a:solidFill>
              </a:rPr>
              <a:t>LdrpInitializeProcess</a:t>
            </a:r>
            <a:r>
              <a:rPr lang="en-US" sz="1200" dirty="0">
                <a:solidFill>
                  <a:schemeClr val="bg1"/>
                </a:solidFill>
              </a:rPr>
              <a:t>, etc.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193B0-ECA2-007C-67B0-2457C1E4223D}"/>
              </a:ext>
            </a:extLst>
          </p:cNvPr>
          <p:cNvSpPr txBox="1"/>
          <p:nvPr/>
        </p:nvSpPr>
        <p:spPr>
          <a:xfrm>
            <a:off x="791207" y="5123025"/>
            <a:ext cx="529052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Doar </a:t>
            </a:r>
            <a:r>
              <a:rPr lang="en-US" sz="1100" dirty="0" err="1"/>
              <a:t>câteva</a:t>
            </a:r>
            <a:r>
              <a:rPr lang="en-US" sz="1100" dirty="0"/>
              <a:t> </a:t>
            </a:r>
            <a:r>
              <a:rPr lang="en-US" sz="1100" dirty="0" err="1"/>
              <a:t>dintre</a:t>
            </a:r>
            <a:r>
              <a:rPr lang="en-US" sz="1100" dirty="0"/>
              <a:t> </a:t>
            </a:r>
            <a:r>
              <a:rPr lang="en-US" sz="1100" dirty="0" err="1"/>
              <a:t>funcțiile</a:t>
            </a:r>
            <a:r>
              <a:rPr lang="en-US" sz="1100" dirty="0"/>
              <a:t> din ntdll.dll care </a:t>
            </a:r>
            <a:r>
              <a:rPr lang="en-US" sz="1100" dirty="0" err="1"/>
              <a:t>rulează</a:t>
            </a:r>
            <a:r>
              <a:rPr lang="en-US" sz="1100" dirty="0"/>
              <a:t> exact </a:t>
            </a:r>
            <a:r>
              <a:rPr lang="en-US" sz="1100" dirty="0" err="1"/>
              <a:t>în</a:t>
            </a:r>
            <a:r>
              <a:rPr lang="en-US" sz="1100" dirty="0"/>
              <a:t> </a:t>
            </a:r>
            <a:r>
              <a:rPr lang="en-US" sz="1100" dirty="0" err="1"/>
              <a:t>etapa</a:t>
            </a:r>
            <a:r>
              <a:rPr lang="en-US" sz="1100" dirty="0"/>
              <a:t> 2:</a:t>
            </a:r>
          </a:p>
          <a:p>
            <a:endParaRPr lang="en-US" sz="1100" dirty="0"/>
          </a:p>
          <a:p>
            <a:r>
              <a:rPr lang="en-US" sz="1100" u="sng" dirty="0" err="1"/>
              <a:t>RtlUserThreadStart</a:t>
            </a:r>
            <a:r>
              <a:rPr lang="en-US" sz="1100" dirty="0"/>
              <a:t> </a:t>
            </a:r>
            <a:r>
              <a:rPr lang="en-US" sz="1100" dirty="0" err="1"/>
              <a:t>este</a:t>
            </a:r>
            <a:r>
              <a:rPr lang="en-US" sz="1100" dirty="0"/>
              <a:t> </a:t>
            </a:r>
            <a:r>
              <a:rPr lang="en-US" sz="1100" dirty="0" err="1"/>
              <a:t>rutina</a:t>
            </a:r>
            <a:r>
              <a:rPr lang="en-US" sz="1100" dirty="0"/>
              <a:t> de „bootstrap” care </a:t>
            </a:r>
            <a:r>
              <a:rPr lang="en-US" sz="1100" dirty="0" err="1"/>
              <a:t>pornește</a:t>
            </a:r>
            <a:r>
              <a:rPr lang="en-US" sz="1100" dirty="0"/>
              <a:t> </a:t>
            </a:r>
            <a:r>
              <a:rPr lang="en-US" sz="1100" dirty="0" err="1"/>
              <a:t>firul</a:t>
            </a:r>
            <a:r>
              <a:rPr lang="en-US" sz="1100" dirty="0"/>
              <a:t> principal al </a:t>
            </a:r>
            <a:r>
              <a:rPr lang="en-US" sz="1100" dirty="0" err="1"/>
              <a:t>procesului</a:t>
            </a:r>
            <a:r>
              <a:rPr lang="en-US" sz="1100" dirty="0"/>
              <a:t>. </a:t>
            </a:r>
            <a:r>
              <a:rPr lang="en-US" sz="1100" dirty="0" err="1"/>
              <a:t>Ea</a:t>
            </a:r>
            <a:r>
              <a:rPr lang="en-US" sz="1100" dirty="0"/>
              <a:t> </a:t>
            </a:r>
            <a:r>
              <a:rPr lang="en-US" sz="1100" dirty="0" err="1"/>
              <a:t>apelează</a:t>
            </a:r>
            <a:r>
              <a:rPr lang="en-US" sz="1100" dirty="0"/>
              <a:t> </a:t>
            </a:r>
            <a:r>
              <a:rPr lang="en-US" sz="1100" dirty="0" err="1"/>
              <a:t>mai</a:t>
            </a:r>
            <a:r>
              <a:rPr lang="en-US" sz="1100" dirty="0"/>
              <a:t> </a:t>
            </a:r>
            <a:r>
              <a:rPr lang="en-US" sz="1100" dirty="0" err="1"/>
              <a:t>departe</a:t>
            </a:r>
            <a:r>
              <a:rPr lang="en-US" sz="1100" dirty="0"/>
              <a:t> loader-ul </a:t>
            </a:r>
            <a:r>
              <a:rPr lang="en-US" sz="1100" dirty="0" err="1"/>
              <a:t>și</a:t>
            </a:r>
            <a:r>
              <a:rPr lang="en-US" sz="1100" dirty="0"/>
              <a:t> </a:t>
            </a:r>
            <a:r>
              <a:rPr lang="en-US" sz="1100" dirty="0" err="1"/>
              <a:t>apoi</a:t>
            </a:r>
            <a:r>
              <a:rPr lang="en-US" sz="1100" dirty="0"/>
              <a:t> </a:t>
            </a:r>
            <a:r>
              <a:rPr lang="en-US" sz="1100" dirty="0" err="1"/>
              <a:t>transferă</a:t>
            </a:r>
            <a:r>
              <a:rPr lang="en-US" sz="1100" dirty="0"/>
              <a:t> </a:t>
            </a:r>
            <a:r>
              <a:rPr lang="en-US" sz="1100" dirty="0" err="1"/>
              <a:t>controlul</a:t>
            </a:r>
            <a:r>
              <a:rPr lang="en-US" sz="1100" dirty="0"/>
              <a:t> </a:t>
            </a:r>
            <a:r>
              <a:rPr lang="en-US" sz="1100" dirty="0" err="1"/>
              <a:t>către</a:t>
            </a:r>
            <a:r>
              <a:rPr lang="en-US" sz="1100" dirty="0"/>
              <a:t> Entry Point-ul real.</a:t>
            </a:r>
          </a:p>
          <a:p>
            <a:r>
              <a:rPr lang="en-US" sz="1100" u="sng" dirty="0" err="1"/>
              <a:t>LdrpInitializeProcess</a:t>
            </a:r>
            <a:r>
              <a:rPr lang="en-US" sz="1100" dirty="0"/>
              <a:t> face </a:t>
            </a:r>
            <a:r>
              <a:rPr lang="en-US" sz="1100" dirty="0" err="1"/>
              <a:t>parte</a:t>
            </a:r>
            <a:r>
              <a:rPr lang="en-US" sz="1100" dirty="0"/>
              <a:t> din loader-ul intern („</a:t>
            </a:r>
            <a:r>
              <a:rPr lang="en-US" sz="1100" dirty="0" err="1"/>
              <a:t>Ldr</a:t>
            </a:r>
            <a:r>
              <a:rPr lang="en-US" sz="1100" dirty="0"/>
              <a:t>”) </a:t>
            </a:r>
            <a:r>
              <a:rPr lang="en-US" sz="1100" dirty="0" err="1"/>
              <a:t>și</a:t>
            </a:r>
            <a:r>
              <a:rPr lang="en-US" sz="1100" dirty="0"/>
              <a:t> se </a:t>
            </a:r>
            <a:r>
              <a:rPr lang="en-US" sz="1100" dirty="0" err="1"/>
              <a:t>ocupă</a:t>
            </a:r>
            <a:r>
              <a:rPr lang="en-US" sz="1100" dirty="0"/>
              <a:t> de </a:t>
            </a:r>
            <a:r>
              <a:rPr lang="en-US" sz="1100" dirty="0" err="1"/>
              <a:t>inițializarea</a:t>
            </a:r>
            <a:r>
              <a:rPr lang="en-US" sz="1100" dirty="0"/>
              <a:t> </a:t>
            </a:r>
            <a:r>
              <a:rPr lang="en-US" sz="1100" dirty="0" err="1"/>
              <a:t>procesului</a:t>
            </a:r>
            <a:r>
              <a:rPr lang="en-US" sz="1100" dirty="0"/>
              <a:t>: </a:t>
            </a:r>
            <a:r>
              <a:rPr lang="en-US" sz="1100" dirty="0" err="1"/>
              <a:t>încarcă</a:t>
            </a:r>
            <a:r>
              <a:rPr lang="en-US" sz="1100" dirty="0"/>
              <a:t> </a:t>
            </a:r>
            <a:r>
              <a:rPr lang="en-US" sz="1100" dirty="0" err="1"/>
              <a:t>toate</a:t>
            </a:r>
            <a:r>
              <a:rPr lang="en-US" sz="1100" dirty="0"/>
              <a:t> DLL-urile </a:t>
            </a:r>
            <a:r>
              <a:rPr lang="en-US" sz="1100" dirty="0" err="1"/>
              <a:t>necesare</a:t>
            </a:r>
            <a:r>
              <a:rPr lang="en-US" sz="1100" dirty="0"/>
              <a:t>, </a:t>
            </a:r>
            <a:r>
              <a:rPr lang="en-US" sz="1100" dirty="0" err="1"/>
              <a:t>rezolvă</a:t>
            </a:r>
            <a:r>
              <a:rPr lang="en-US" sz="1100" dirty="0"/>
              <a:t> </a:t>
            </a:r>
            <a:r>
              <a:rPr lang="en-US" sz="1100" dirty="0" err="1"/>
              <a:t>adresele</a:t>
            </a:r>
            <a:r>
              <a:rPr lang="en-US" sz="1100" dirty="0"/>
              <a:t> </a:t>
            </a:r>
            <a:r>
              <a:rPr lang="en-US" sz="1100" dirty="0" err="1"/>
              <a:t>funcțiilor</a:t>
            </a:r>
            <a:r>
              <a:rPr lang="en-US" sz="1100" dirty="0"/>
              <a:t> </a:t>
            </a:r>
            <a:r>
              <a:rPr lang="en-US" sz="1100" dirty="0" err="1"/>
              <a:t>importate</a:t>
            </a:r>
            <a:r>
              <a:rPr lang="en-US" sz="1100" dirty="0"/>
              <a:t> </a:t>
            </a:r>
            <a:r>
              <a:rPr lang="en-US" sz="1100" dirty="0" err="1"/>
              <a:t>și</a:t>
            </a:r>
            <a:r>
              <a:rPr lang="en-US" sz="1100" dirty="0"/>
              <a:t> </a:t>
            </a:r>
            <a:r>
              <a:rPr lang="en-US" sz="1100" dirty="0" err="1"/>
              <a:t>execută</a:t>
            </a:r>
            <a:r>
              <a:rPr lang="en-US" sz="1100" dirty="0"/>
              <a:t> </a:t>
            </a:r>
            <a:r>
              <a:rPr lang="en-US" sz="1100" dirty="0" err="1"/>
              <a:t>rutinele</a:t>
            </a:r>
            <a:r>
              <a:rPr lang="en-US" sz="1100" dirty="0"/>
              <a:t> TLS/ CRT </a:t>
            </a:r>
            <a:r>
              <a:rPr lang="en-US" sz="1100" dirty="0" err="1"/>
              <a:t>înainte</a:t>
            </a:r>
            <a:r>
              <a:rPr lang="en-US" sz="1100" dirty="0"/>
              <a:t> </a:t>
            </a:r>
            <a:r>
              <a:rPr lang="en-US" sz="1100" dirty="0" err="1"/>
              <a:t>să</a:t>
            </a:r>
            <a:r>
              <a:rPr lang="en-US" sz="1100" dirty="0"/>
              <a:t> </a:t>
            </a:r>
            <a:r>
              <a:rPr lang="en-US" sz="1100" dirty="0" err="1"/>
              <a:t>ajungă</a:t>
            </a:r>
            <a:r>
              <a:rPr lang="en-US" sz="1100" dirty="0"/>
              <a:t> la </a:t>
            </a:r>
            <a:r>
              <a:rPr lang="en-US" sz="1100" dirty="0" err="1"/>
              <a:t>codul</a:t>
            </a:r>
            <a:r>
              <a:rPr lang="en-US" sz="1100" dirty="0"/>
              <a:t> </a:t>
            </a:r>
            <a:r>
              <a:rPr lang="en-US" sz="1100" dirty="0" err="1"/>
              <a:t>nostru</a:t>
            </a:r>
            <a:r>
              <a:rPr lang="en-US" sz="11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1F205-669D-F3B6-D006-226F028593C1}"/>
              </a:ext>
            </a:extLst>
          </p:cNvPr>
          <p:cNvSpPr txBox="1"/>
          <p:nvPr/>
        </p:nvSpPr>
        <p:spPr>
          <a:xfrm>
            <a:off x="6515093" y="5152583"/>
            <a:ext cx="515698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TLS </a:t>
            </a:r>
            <a:r>
              <a:rPr lang="en-US" sz="1100" dirty="0" err="1"/>
              <a:t>în</a:t>
            </a:r>
            <a:r>
              <a:rPr lang="en-US" sz="1100" dirty="0"/>
              <a:t> </a:t>
            </a:r>
            <a:r>
              <a:rPr lang="en-US" sz="1100" dirty="0" err="1"/>
              <a:t>contextul</a:t>
            </a:r>
            <a:r>
              <a:rPr lang="en-US" sz="1100" dirty="0"/>
              <a:t> </a:t>
            </a:r>
            <a:r>
              <a:rPr lang="en-US" sz="1100" dirty="0" err="1"/>
              <a:t>încărcării</a:t>
            </a:r>
            <a:r>
              <a:rPr lang="en-US" sz="1100" dirty="0"/>
              <a:t> </a:t>
            </a:r>
            <a:r>
              <a:rPr lang="en-US" sz="1100" dirty="0" err="1"/>
              <a:t>unui</a:t>
            </a:r>
            <a:r>
              <a:rPr lang="en-US" sz="1100" dirty="0"/>
              <a:t> </a:t>
            </a:r>
            <a:r>
              <a:rPr lang="en-US" sz="1100" dirty="0" err="1"/>
              <a:t>proces</a:t>
            </a:r>
            <a:r>
              <a:rPr lang="en-US" sz="1100" dirty="0"/>
              <a:t> Windows se </a:t>
            </a:r>
            <a:r>
              <a:rPr lang="en-US" sz="1100" dirty="0" err="1"/>
              <a:t>referă</a:t>
            </a:r>
            <a:r>
              <a:rPr lang="en-US" sz="1100" dirty="0"/>
              <a:t> la </a:t>
            </a:r>
            <a:r>
              <a:rPr lang="en-US" sz="1100" b="1" dirty="0"/>
              <a:t>Thread Local Storage</a:t>
            </a:r>
            <a:r>
              <a:rPr lang="en-US" sz="1100" dirty="0"/>
              <a:t>, </a:t>
            </a:r>
            <a:r>
              <a:rPr lang="en-US" sz="1100" dirty="0" err="1"/>
              <a:t>mecanismul</a:t>
            </a:r>
            <a:r>
              <a:rPr lang="en-US" sz="1100" dirty="0"/>
              <a:t> care </a:t>
            </a:r>
            <a:r>
              <a:rPr lang="en-US" sz="1100" dirty="0" err="1"/>
              <a:t>alocă</a:t>
            </a:r>
            <a:r>
              <a:rPr lang="en-US" sz="1100" dirty="0"/>
              <a:t> date private </a:t>
            </a:r>
            <a:r>
              <a:rPr lang="en-US" sz="1100" dirty="0" err="1"/>
              <a:t>fiecărui</a:t>
            </a:r>
            <a:r>
              <a:rPr lang="en-US" sz="1100" dirty="0"/>
              <a:t> fir de </a:t>
            </a:r>
            <a:r>
              <a:rPr lang="en-US" sz="1100" dirty="0" err="1"/>
              <a:t>execuţie</a:t>
            </a:r>
            <a:r>
              <a:rPr lang="en-US" sz="1100" dirty="0"/>
              <a:t>, precum </a:t>
            </a:r>
            <a:r>
              <a:rPr lang="en-US" sz="1100" dirty="0" err="1"/>
              <a:t>variabile</a:t>
            </a:r>
            <a:r>
              <a:rPr lang="en-US" sz="1100" dirty="0"/>
              <a:t> statice </a:t>
            </a:r>
            <a:r>
              <a:rPr lang="en-US" sz="1100" dirty="0" err="1"/>
              <a:t>declarate</a:t>
            </a:r>
            <a:r>
              <a:rPr lang="en-US" sz="1100" dirty="0"/>
              <a:t> cu __</a:t>
            </a:r>
            <a:r>
              <a:rPr lang="en-US" sz="1100" dirty="0" err="1"/>
              <a:t>declspec</a:t>
            </a:r>
            <a:r>
              <a:rPr lang="en-US" sz="1100" dirty="0"/>
              <a:t>(thread) </a:t>
            </a:r>
            <a:r>
              <a:rPr lang="en-US" sz="1100" dirty="0" err="1"/>
              <a:t>sau</a:t>
            </a:r>
            <a:r>
              <a:rPr lang="en-US" sz="1100" dirty="0"/>
              <a:t> callback-urile de tip „TLS callbacks”.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6DEA04-0739-6D96-17CF-98A06D175071}"/>
              </a:ext>
            </a:extLst>
          </p:cNvPr>
          <p:cNvSpPr txBox="1"/>
          <p:nvPr/>
        </p:nvSpPr>
        <p:spPr>
          <a:xfrm>
            <a:off x="6500375" y="5763040"/>
            <a:ext cx="50831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CRT </a:t>
            </a:r>
            <a:r>
              <a:rPr lang="en-US" sz="1100" dirty="0" err="1"/>
              <a:t>înseamnă</a:t>
            </a:r>
            <a:r>
              <a:rPr lang="en-US" sz="1100" dirty="0"/>
              <a:t> </a:t>
            </a:r>
            <a:r>
              <a:rPr lang="en-US" sz="1100" b="1" dirty="0"/>
              <a:t>C Run-Time, </a:t>
            </a:r>
            <a:r>
              <a:rPr lang="en-US" sz="1100" dirty="0" err="1"/>
              <a:t>adica</a:t>
            </a:r>
            <a:r>
              <a:rPr lang="en-US" sz="1100" dirty="0"/>
              <a:t> </a:t>
            </a:r>
            <a:r>
              <a:rPr lang="en-US" sz="1100" dirty="0" err="1"/>
              <a:t>colecţia</a:t>
            </a:r>
            <a:r>
              <a:rPr lang="en-US" sz="1100" dirty="0"/>
              <a:t> de </a:t>
            </a:r>
            <a:r>
              <a:rPr lang="en-US" sz="1100" dirty="0" err="1"/>
              <a:t>rutine</a:t>
            </a:r>
            <a:r>
              <a:rPr lang="en-US" sz="1100" dirty="0"/>
              <a:t> de </a:t>
            </a:r>
            <a:r>
              <a:rPr lang="en-US" sz="1100" dirty="0" err="1"/>
              <a:t>iniţializare</a:t>
            </a:r>
            <a:r>
              <a:rPr lang="en-US" sz="1100" dirty="0"/>
              <a:t> </a:t>
            </a:r>
            <a:r>
              <a:rPr lang="en-US" sz="1100" dirty="0" err="1"/>
              <a:t>şi</a:t>
            </a:r>
            <a:r>
              <a:rPr lang="en-US" sz="1100" dirty="0"/>
              <a:t> </a:t>
            </a:r>
            <a:r>
              <a:rPr lang="en-US" sz="1100" dirty="0" err="1"/>
              <a:t>biblioteci</a:t>
            </a:r>
            <a:r>
              <a:rPr lang="en-US" sz="1100" dirty="0"/>
              <a:t> standard C/C++ (startup code, </a:t>
            </a:r>
            <a:r>
              <a:rPr lang="en-US" sz="1100" dirty="0" err="1"/>
              <a:t>gestionarea</a:t>
            </a:r>
            <a:r>
              <a:rPr lang="en-US" sz="1100" dirty="0"/>
              <a:t> heap-</a:t>
            </a:r>
            <a:r>
              <a:rPr lang="en-US" sz="1100" dirty="0" err="1"/>
              <a:t>ului</a:t>
            </a:r>
            <a:r>
              <a:rPr lang="en-US" sz="1100" dirty="0"/>
              <a:t>, </a:t>
            </a:r>
            <a:r>
              <a:rPr lang="en-US" sz="1100" dirty="0" err="1"/>
              <a:t>printf</a:t>
            </a:r>
            <a:r>
              <a:rPr lang="en-US" sz="1100" dirty="0"/>
              <a:t>, malloc, </a:t>
            </a:r>
            <a:r>
              <a:rPr lang="en-US" sz="1100" dirty="0" err="1"/>
              <a:t>constructori</a:t>
            </a:r>
            <a:r>
              <a:rPr lang="en-US" sz="1100" dirty="0"/>
              <a:t>/</a:t>
            </a:r>
            <a:r>
              <a:rPr lang="en-US" sz="1100" dirty="0" err="1"/>
              <a:t>destructorii</a:t>
            </a:r>
            <a:r>
              <a:rPr lang="en-US" sz="1100" dirty="0"/>
              <a:t> </a:t>
            </a:r>
            <a:r>
              <a:rPr lang="en-US" sz="1100" dirty="0" err="1"/>
              <a:t>pentru</a:t>
            </a:r>
            <a:r>
              <a:rPr lang="en-US" sz="1100" dirty="0"/>
              <a:t> </a:t>
            </a:r>
            <a:r>
              <a:rPr lang="en-US" sz="1100" dirty="0" err="1"/>
              <a:t>obiecte</a:t>
            </a:r>
            <a:r>
              <a:rPr lang="en-US" sz="1100" dirty="0"/>
              <a:t> </a:t>
            </a:r>
            <a:r>
              <a:rPr lang="en-US" sz="1100" dirty="0" err="1"/>
              <a:t>globale</a:t>
            </a:r>
            <a:r>
              <a:rPr lang="en-US" sz="1100" dirty="0"/>
              <a:t> etc.).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C5097E08-A831-762D-A601-5C3C57877FBB}"/>
              </a:ext>
            </a:extLst>
          </p:cNvPr>
          <p:cNvSpPr/>
          <p:nvPr/>
        </p:nvSpPr>
        <p:spPr>
          <a:xfrm>
            <a:off x="598602" y="5037069"/>
            <a:ext cx="5483132" cy="140849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71F77D1B-2EE2-B3EE-2115-8BCE39C05BE7}"/>
              </a:ext>
            </a:extLst>
          </p:cNvPr>
          <p:cNvSpPr/>
          <p:nvPr/>
        </p:nvSpPr>
        <p:spPr>
          <a:xfrm>
            <a:off x="6309435" y="5032840"/>
            <a:ext cx="5399565" cy="140849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AF5D09-6C29-F04D-8E65-052B5D1277E3}"/>
              </a:ext>
            </a:extLst>
          </p:cNvPr>
          <p:cNvSpPr/>
          <p:nvPr/>
        </p:nvSpPr>
        <p:spPr>
          <a:xfrm>
            <a:off x="901611" y="1523251"/>
            <a:ext cx="10380017" cy="70339"/>
          </a:xfrm>
          <a:prstGeom prst="rect">
            <a:avLst/>
          </a:prstGeom>
          <a:solidFill>
            <a:srgbClr val="3666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348E83-AA7C-E3BD-7E29-931AE44867C6}"/>
              </a:ext>
            </a:extLst>
          </p:cNvPr>
          <p:cNvSpPr/>
          <p:nvPr/>
        </p:nvSpPr>
        <p:spPr>
          <a:xfrm>
            <a:off x="901611" y="3418464"/>
            <a:ext cx="10380017" cy="70339"/>
          </a:xfrm>
          <a:prstGeom prst="rect">
            <a:avLst/>
          </a:prstGeom>
          <a:solidFill>
            <a:srgbClr val="3666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5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718" y="3197827"/>
            <a:ext cx="5596889" cy="2991324"/>
          </a:xfrm>
          <a:prstGeom prst="rect">
            <a:avLst/>
          </a:prstGeom>
        </p:spPr>
      </p:pic>
      <p:sp>
        <p:nvSpPr>
          <p:cNvPr id="13" name="Flowchart: Process 12"/>
          <p:cNvSpPr/>
          <p:nvPr/>
        </p:nvSpPr>
        <p:spPr>
          <a:xfrm>
            <a:off x="352167" y="395416"/>
            <a:ext cx="11516497" cy="630490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2F205D-C5B5-45D5-B137-5C1DD26DC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54" y="782072"/>
            <a:ext cx="5343777" cy="55653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2B3BB8-356E-4B40-896C-A37894790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769" y="782072"/>
            <a:ext cx="5579325" cy="1904589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7" name="Group 6"/>
          <p:cNvGrpSpPr/>
          <p:nvPr/>
        </p:nvGrpSpPr>
        <p:grpSpPr>
          <a:xfrm>
            <a:off x="1192187" y="1469435"/>
            <a:ext cx="463958" cy="727667"/>
            <a:chOff x="-331003" y="4352362"/>
            <a:chExt cx="463958" cy="727667"/>
          </a:xfrm>
        </p:grpSpPr>
        <p:sp>
          <p:nvSpPr>
            <p:cNvPr id="8" name="Right Arrow 7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471212" y="1469435"/>
            <a:ext cx="463958" cy="727667"/>
            <a:chOff x="-331003" y="4352362"/>
            <a:chExt cx="463958" cy="727667"/>
          </a:xfrm>
        </p:grpSpPr>
        <p:sp>
          <p:nvSpPr>
            <p:cNvPr id="11" name="Right Arrow 10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2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549631" y="429134"/>
            <a:ext cx="954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X64dbg: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AC1F6C-1378-3ABF-DAA9-9BA29C2FB523}"/>
              </a:ext>
            </a:extLst>
          </p:cNvPr>
          <p:cNvSpPr txBox="1"/>
          <p:nvPr/>
        </p:nvSpPr>
        <p:spPr>
          <a:xfrm>
            <a:off x="296531" y="42478"/>
            <a:ext cx="1159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Identificarea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adresei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antetului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PE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folosind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imageBase + 0x3C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E8C50-60A1-C367-F2BE-6C80B7C48276}"/>
              </a:ext>
            </a:extLst>
          </p:cNvPr>
          <p:cNvSpPr txBox="1"/>
          <p:nvPr/>
        </p:nvSpPr>
        <p:spPr>
          <a:xfrm>
            <a:off x="487923" y="6369960"/>
            <a:ext cx="11244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Atentie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Dacă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alegeti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.text → Follow in Dump,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ajungeti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la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începutul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secțiunii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.text, nu la adresa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exactă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a Entry Point-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ului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9660915-FE35-FE2C-7C8E-91B33CE60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8283" y="2731822"/>
            <a:ext cx="575830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(1)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Executarea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codului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în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debugger la o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adresă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virtuală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din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modulul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ntdll.dll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(2)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Selectarea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fișierului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messageboxa.exe din Memory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(3)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Imagine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completă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a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structurii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antetului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DOS + PE + Optional Header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pentru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arhitectură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64-bit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83F3FFB6-A953-30CC-247B-58FDA3063652}"/>
              </a:ext>
            </a:extLst>
          </p:cNvPr>
          <p:cNvSpPr/>
          <p:nvPr/>
        </p:nvSpPr>
        <p:spPr>
          <a:xfrm>
            <a:off x="2256830" y="1975477"/>
            <a:ext cx="3538574" cy="1131934"/>
          </a:xfrm>
          <a:prstGeom prst="wedgeRectCallout">
            <a:avLst>
              <a:gd name="adj1" fmla="val -64676"/>
              <a:gd name="adj2" fmla="val -9188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Este un </a:t>
            </a:r>
            <a:r>
              <a:rPr lang="en-US" sz="1600" dirty="0" err="1">
                <a:solidFill>
                  <a:schemeClr val="bg1"/>
                </a:solidFill>
              </a:rPr>
              <a:t>punct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intrare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temporar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gestionat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sistemul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operare</a:t>
            </a:r>
            <a:r>
              <a:rPr lang="en-US" sz="1600" dirty="0">
                <a:solidFill>
                  <a:schemeClr val="bg1"/>
                </a:solidFill>
              </a:rPr>
              <a:t> (Windows loader), </a:t>
            </a:r>
            <a:r>
              <a:rPr lang="en-US" sz="1600" dirty="0" err="1">
                <a:solidFill>
                  <a:schemeClr val="bg1"/>
                </a:solidFill>
              </a:rPr>
              <a:t>în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modulul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i="1" dirty="0">
                <a:solidFill>
                  <a:schemeClr val="bg1"/>
                </a:solidFill>
              </a:rPr>
              <a:t>ntdll.dll</a:t>
            </a: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7A73B47F-11F7-B45D-A12D-05D469A2FD46}"/>
              </a:ext>
            </a:extLst>
          </p:cNvPr>
          <p:cNvSpPr/>
          <p:nvPr/>
        </p:nvSpPr>
        <p:spPr>
          <a:xfrm>
            <a:off x="6274955" y="1704304"/>
            <a:ext cx="1698665" cy="794515"/>
          </a:xfrm>
          <a:prstGeom prst="wedgeRectCallout">
            <a:avLst>
              <a:gd name="adj1" fmla="val -22093"/>
              <a:gd name="adj2" fmla="val -7084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imageBase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(baza </a:t>
            </a:r>
            <a:r>
              <a:rPr lang="en-US" sz="1400" dirty="0" err="1">
                <a:solidFill>
                  <a:schemeClr val="bg1"/>
                </a:solidFill>
              </a:rPr>
              <a:t>imaginii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9E979-DF66-48EB-0D88-92FE82A01F1F}"/>
              </a:ext>
            </a:extLst>
          </p:cNvPr>
          <p:cNvSpPr txBox="1"/>
          <p:nvPr/>
        </p:nvSpPr>
        <p:spPr>
          <a:xfrm>
            <a:off x="5853630" y="429134"/>
            <a:ext cx="6097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00007FF7A58C0000 este adresa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virtuală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la care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fișierul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este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încărcat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memorie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9681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Process 29"/>
          <p:cNvSpPr/>
          <p:nvPr/>
        </p:nvSpPr>
        <p:spPr>
          <a:xfrm>
            <a:off x="6409079" y="4623018"/>
            <a:ext cx="5368404" cy="1755129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5" name="Flowchart: Process 24"/>
          <p:cNvSpPr/>
          <p:nvPr/>
        </p:nvSpPr>
        <p:spPr>
          <a:xfrm>
            <a:off x="260985" y="285517"/>
            <a:ext cx="11694177" cy="630490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8F7BF-5EB7-4C9E-896A-354754832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88" y="426909"/>
            <a:ext cx="5746380" cy="59846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1A71A1-8565-4700-A5DC-AC556D61C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416" y="432814"/>
            <a:ext cx="5364066" cy="1834907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C40683-5461-498F-940A-154FE160B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416" y="2405223"/>
            <a:ext cx="5364066" cy="2027973"/>
          </a:xfrm>
          <a:prstGeom prst="rect">
            <a:avLst/>
          </a:prstGeom>
          <a:ln w="635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D3ADCF-0016-41C5-878D-2B005CC4D6A8}"/>
              </a:ext>
            </a:extLst>
          </p:cNvPr>
          <p:cNvSpPr txBox="1"/>
          <p:nvPr/>
        </p:nvSpPr>
        <p:spPr>
          <a:xfrm>
            <a:off x="6544962" y="4700114"/>
            <a:ext cx="51210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Rezultatul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adăugării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00007FF7A58C0000 (baza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imaginii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) la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pointerul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3C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în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hexazecimal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este 7FF7A58C003C. 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De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ce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“3C”?</a:t>
            </a:r>
          </a:p>
          <a:p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öhne"/>
            </a:endParaRP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Offset-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0x3C este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locația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standard din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antetul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unui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găsește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pointerul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către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antetul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(PE Header)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802387" y="5057334"/>
            <a:ext cx="463958" cy="733846"/>
            <a:chOff x="-351394" y="3953548"/>
            <a:chExt cx="463958" cy="733846"/>
          </a:xfrm>
        </p:grpSpPr>
        <p:sp>
          <p:nvSpPr>
            <p:cNvPr id="11" name="Right Arrow 10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312983" y="1049177"/>
            <a:ext cx="463958" cy="727667"/>
            <a:chOff x="-331003" y="4352362"/>
            <a:chExt cx="463958" cy="727667"/>
          </a:xfrm>
        </p:grpSpPr>
        <p:sp>
          <p:nvSpPr>
            <p:cNvPr id="14" name="Right Arrow 13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3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1034343" y="1243742"/>
            <a:ext cx="463958" cy="727667"/>
            <a:chOff x="-331003" y="4352362"/>
            <a:chExt cx="463958" cy="727667"/>
          </a:xfrm>
        </p:grpSpPr>
        <p:sp>
          <p:nvSpPr>
            <p:cNvPr id="17" name="Right Arrow 16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4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92537" y="2827770"/>
            <a:ext cx="463958" cy="727667"/>
            <a:chOff x="-331003" y="4352362"/>
            <a:chExt cx="463958" cy="727667"/>
          </a:xfrm>
        </p:grpSpPr>
        <p:sp>
          <p:nvSpPr>
            <p:cNvPr id="20" name="Right Arrow 19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5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880646" y="2821591"/>
            <a:ext cx="463958" cy="733846"/>
            <a:chOff x="-351394" y="3953548"/>
            <a:chExt cx="463958" cy="733846"/>
          </a:xfrm>
        </p:grpSpPr>
        <p:sp>
          <p:nvSpPr>
            <p:cNvPr id="23" name="Right Arrow 22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2B4DBD9-6160-4189-A221-C25847582AD3}"/>
              </a:ext>
            </a:extLst>
          </p:cNvPr>
          <p:cNvSpPr txBox="1"/>
          <p:nvPr/>
        </p:nvSpPr>
        <p:spPr>
          <a:xfrm>
            <a:off x="210744" y="-10795"/>
            <a:ext cx="11744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Identificarea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adresei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antetului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PE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folosind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imageBase + 0x3C</a:t>
            </a: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68AB998A-3AE3-69C7-6C59-DBEB0C93A634}"/>
              </a:ext>
            </a:extLst>
          </p:cNvPr>
          <p:cNvSpPr/>
          <p:nvPr/>
        </p:nvSpPr>
        <p:spPr>
          <a:xfrm>
            <a:off x="653550" y="2395348"/>
            <a:ext cx="1698665" cy="794515"/>
          </a:xfrm>
          <a:prstGeom prst="wedgeRectCallout">
            <a:avLst>
              <a:gd name="adj1" fmla="val -24320"/>
              <a:gd name="adj2" fmla="val 8472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imageBase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(baza </a:t>
            </a:r>
            <a:r>
              <a:rPr lang="en-US" sz="1400" dirty="0" err="1">
                <a:solidFill>
                  <a:schemeClr val="bg1"/>
                </a:solidFill>
              </a:rPr>
              <a:t>imaginii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FC4787E2-F90A-1D4F-F856-50DE59474AA2}"/>
              </a:ext>
            </a:extLst>
          </p:cNvPr>
          <p:cNvSpPr/>
          <p:nvPr/>
        </p:nvSpPr>
        <p:spPr>
          <a:xfrm>
            <a:off x="4192465" y="1910663"/>
            <a:ext cx="1698665" cy="794515"/>
          </a:xfrm>
          <a:prstGeom prst="wedgeRectCallout">
            <a:avLst>
              <a:gd name="adj1" fmla="val 81856"/>
              <a:gd name="adj2" fmla="val 617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imageBase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(baza </a:t>
            </a:r>
            <a:r>
              <a:rPr lang="en-US" sz="1400" dirty="0" err="1">
                <a:solidFill>
                  <a:schemeClr val="bg1"/>
                </a:solidFill>
              </a:rPr>
              <a:t>imaginii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F79832-CA61-A71A-F4EB-F358C472C333}"/>
              </a:ext>
            </a:extLst>
          </p:cNvPr>
          <p:cNvSpPr txBox="1"/>
          <p:nvPr/>
        </p:nvSpPr>
        <p:spPr>
          <a:xfrm>
            <a:off x="186597" y="6567633"/>
            <a:ext cx="11744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imageBase = 00007FF7A58C0000 → adresa de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încărcare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memorie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fișierului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executabil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(EXE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DLL) de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către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sistemul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operare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Windows.</a:t>
            </a:r>
          </a:p>
        </p:txBody>
      </p:sp>
    </p:spTree>
    <p:extLst>
      <p:ext uri="{BB962C8B-B14F-4D97-AF65-F5344CB8AC3E}">
        <p14:creationId xmlns:p14="http://schemas.microsoft.com/office/powerpoint/2010/main" val="2753974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59FEDD45-4CAF-2F3D-3F18-82AD711E5012}"/>
              </a:ext>
            </a:extLst>
          </p:cNvPr>
          <p:cNvSpPr/>
          <p:nvPr/>
        </p:nvSpPr>
        <p:spPr>
          <a:xfrm>
            <a:off x="6432772" y="3595704"/>
            <a:ext cx="4848856" cy="103525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571CFA3D-6A26-44DE-4C7B-557D134A35D9}"/>
              </a:ext>
            </a:extLst>
          </p:cNvPr>
          <p:cNvSpPr/>
          <p:nvPr/>
        </p:nvSpPr>
        <p:spPr>
          <a:xfrm>
            <a:off x="284205" y="151162"/>
            <a:ext cx="11516497" cy="6509129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68833-4B16-BB30-13DF-FE14C485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838" y="390703"/>
            <a:ext cx="10908323" cy="1325563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Pe scurt … structura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început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unui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C642F-9DA9-68C4-33BF-C4CEF4085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56217" cy="254457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0x00 -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începe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cu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semnătura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MZ = 4D 5A (2 bytes)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Urmează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câteva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câmpuri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specifice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antetului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DOS 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nefolosite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de Windows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în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general)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0x3C - la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acest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offset fix (60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zecimal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), se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află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un DWORD (4 bytes) care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indică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offsetul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unde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începe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antetul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PE 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adică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locul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unde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se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găsește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semnătura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PE\0\0)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CF4817-38EE-6896-F901-9ED88D171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596" y="4091206"/>
            <a:ext cx="625681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Deci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fluxul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este: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Windows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încarcă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fișierul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in RAM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Citește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primii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64 de bytes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antetul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DOS).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duce la offset 0x3C,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citește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un DWORD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peHeaderOffset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Sare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la imageBase +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peHeaderOffset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Acolo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începe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analiza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structurii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PE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importuri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secțiuni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9FC17-A02C-DBC0-1091-A8323D6C6297}"/>
              </a:ext>
            </a:extLst>
          </p:cNvPr>
          <p:cNvSpPr txBox="1"/>
          <p:nvPr/>
        </p:nvSpPr>
        <p:spPr>
          <a:xfrm>
            <a:off x="6559532" y="3697376"/>
            <a:ext cx="46773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Nota: Antetul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DOS (MS-DOS Header)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începe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cu 4D 5A,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adică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semnătura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"MZ" (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inițialele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lui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Mark Zbikowski,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unul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dintre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arhitecții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MS-DOS)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6DD10B-54A7-215D-8FD0-9483C4D9364E}"/>
              </a:ext>
            </a:extLst>
          </p:cNvPr>
          <p:cNvSpPr/>
          <p:nvPr/>
        </p:nvSpPr>
        <p:spPr>
          <a:xfrm>
            <a:off x="901611" y="3418464"/>
            <a:ext cx="10380017" cy="70339"/>
          </a:xfrm>
          <a:prstGeom prst="rect">
            <a:avLst/>
          </a:prstGeom>
          <a:solidFill>
            <a:srgbClr val="3666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328509-D5AC-D005-E794-6B2C7EEECE49}"/>
              </a:ext>
            </a:extLst>
          </p:cNvPr>
          <p:cNvSpPr/>
          <p:nvPr/>
        </p:nvSpPr>
        <p:spPr>
          <a:xfrm>
            <a:off x="5511978" y="4776124"/>
            <a:ext cx="5769650" cy="69552"/>
          </a:xfrm>
          <a:prstGeom prst="rect">
            <a:avLst/>
          </a:prstGeom>
          <a:solidFill>
            <a:srgbClr val="3666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B88D47-2322-FBB0-5373-9694E41AC07A}"/>
              </a:ext>
            </a:extLst>
          </p:cNvPr>
          <p:cNvSpPr/>
          <p:nvPr/>
        </p:nvSpPr>
        <p:spPr>
          <a:xfrm>
            <a:off x="901612" y="4515364"/>
            <a:ext cx="5262596" cy="69552"/>
          </a:xfrm>
          <a:prstGeom prst="rect">
            <a:avLst/>
          </a:prstGeom>
          <a:solidFill>
            <a:srgbClr val="3666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373DCA-C875-734E-D07D-A10B52A4A6D5}"/>
              </a:ext>
            </a:extLst>
          </p:cNvPr>
          <p:cNvSpPr/>
          <p:nvPr/>
        </p:nvSpPr>
        <p:spPr>
          <a:xfrm>
            <a:off x="284205" y="1533510"/>
            <a:ext cx="11516497" cy="70339"/>
          </a:xfrm>
          <a:prstGeom prst="rect">
            <a:avLst/>
          </a:prstGeom>
          <a:solidFill>
            <a:srgbClr val="3666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20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745" y="360887"/>
            <a:ext cx="5596889" cy="2991324"/>
          </a:xfrm>
          <a:prstGeom prst="rect">
            <a:avLst/>
          </a:prstGeom>
        </p:spPr>
      </p:pic>
      <p:sp>
        <p:nvSpPr>
          <p:cNvPr id="28" name="Flowchart: Process 27"/>
          <p:cNvSpPr/>
          <p:nvPr/>
        </p:nvSpPr>
        <p:spPr>
          <a:xfrm>
            <a:off x="284205" y="151162"/>
            <a:ext cx="11516497" cy="6509129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AEF5E-B477-413D-9664-06F16593FF51}"/>
              </a:ext>
            </a:extLst>
          </p:cNvPr>
          <p:cNvSpPr txBox="1"/>
          <p:nvPr/>
        </p:nvSpPr>
        <p:spPr>
          <a:xfrm>
            <a:off x="6896650" y="4154092"/>
            <a:ext cx="4490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Se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adăugă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00007FF7A58C0000 (baza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imaginii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)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pointerul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3C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hexazecimal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(imageBase + 3C):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7FF7A58C003C.</a:t>
            </a:r>
          </a:p>
        </p:txBody>
      </p:sp>
      <p:sp>
        <p:nvSpPr>
          <p:cNvPr id="36" name="Flowchart: Process 35"/>
          <p:cNvSpPr/>
          <p:nvPr/>
        </p:nvSpPr>
        <p:spPr>
          <a:xfrm>
            <a:off x="6798091" y="4036365"/>
            <a:ext cx="4657982" cy="2082113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BC66E-7CA9-422D-88E5-8B6BB10420E3}"/>
              </a:ext>
            </a:extLst>
          </p:cNvPr>
          <p:cNvSpPr txBox="1"/>
          <p:nvPr/>
        </p:nvSpPr>
        <p:spPr>
          <a:xfrm>
            <a:off x="6896650" y="5223700"/>
            <a:ext cx="4404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Se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adăuga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00007FF7A58C0000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valoarea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80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hexazecimal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si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obtinem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 7FF7A58C0080.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DC13A5-ABE9-4F05-8B24-8929063D6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11" y="2433843"/>
            <a:ext cx="3255520" cy="1938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F242D3-88A9-42A4-A584-6EDBDB590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11" y="338185"/>
            <a:ext cx="4974897" cy="19250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BB106B-5B1A-4D83-9F73-7D17AB313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11" y="4528751"/>
            <a:ext cx="5066500" cy="1927314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124825" y="3472662"/>
            <a:ext cx="463958" cy="733846"/>
            <a:chOff x="-351394" y="3953548"/>
            <a:chExt cx="463958" cy="733846"/>
          </a:xfrm>
        </p:grpSpPr>
        <p:sp>
          <p:nvSpPr>
            <p:cNvPr id="11" name="Right Arrow 10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5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186008" y="4957698"/>
            <a:ext cx="463958" cy="727667"/>
            <a:chOff x="-331003" y="4352362"/>
            <a:chExt cx="463958" cy="727667"/>
          </a:xfrm>
        </p:grpSpPr>
        <p:sp>
          <p:nvSpPr>
            <p:cNvPr id="19" name="Right Arrow 18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6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51619" y="752010"/>
            <a:ext cx="463958" cy="727667"/>
            <a:chOff x="-331003" y="4352362"/>
            <a:chExt cx="463958" cy="727667"/>
          </a:xfrm>
        </p:grpSpPr>
        <p:sp>
          <p:nvSpPr>
            <p:cNvPr id="22" name="Right Arrow 21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9257585" y="1508684"/>
            <a:ext cx="463958" cy="727667"/>
            <a:chOff x="-331003" y="4352362"/>
            <a:chExt cx="463958" cy="727667"/>
          </a:xfrm>
        </p:grpSpPr>
        <p:sp>
          <p:nvSpPr>
            <p:cNvPr id="25" name="Right Arrow 24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2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4001289" y="2551466"/>
            <a:ext cx="2547792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Hexadecimal</a:t>
            </a: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hex_value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"00007FF7A58C0000"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hex_add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"3C"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Convertire la decimal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dec_value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hex_value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dec_add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hex_add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sumare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result_dec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dec_value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dec_add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reconverite la hexadecimal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result_hex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result_dec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lowchart: Process 26"/>
          <p:cNvSpPr/>
          <p:nvPr/>
        </p:nvSpPr>
        <p:spPr>
          <a:xfrm>
            <a:off x="3995111" y="2450276"/>
            <a:ext cx="2430403" cy="1921761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590316" y="1929348"/>
            <a:ext cx="463958" cy="733846"/>
            <a:chOff x="-351394" y="3953548"/>
            <a:chExt cx="463958" cy="733846"/>
          </a:xfrm>
        </p:grpSpPr>
        <p:sp>
          <p:nvSpPr>
            <p:cNvPr id="31" name="Right Arrow 30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4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302070" y="1981626"/>
            <a:ext cx="463958" cy="733846"/>
            <a:chOff x="-351394" y="3953548"/>
            <a:chExt cx="463958" cy="733846"/>
          </a:xfrm>
        </p:grpSpPr>
        <p:sp>
          <p:nvSpPr>
            <p:cNvPr id="34" name="Right Arrow 33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3</a:t>
              </a:r>
            </a:p>
          </p:txBody>
        </p:sp>
      </p:grp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38DE3EC-F1CC-0019-F5B5-20FC96691EC8}"/>
              </a:ext>
            </a:extLst>
          </p:cNvPr>
          <p:cNvSpPr/>
          <p:nvPr/>
        </p:nvSpPr>
        <p:spPr>
          <a:xfrm>
            <a:off x="1464696" y="947390"/>
            <a:ext cx="1555977" cy="902827"/>
          </a:xfrm>
          <a:prstGeom prst="wedgeRectCallout">
            <a:avLst>
              <a:gd name="adj1" fmla="val -43254"/>
              <a:gd name="adj2" fmla="val -7401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imageBase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(baza </a:t>
            </a:r>
            <a:r>
              <a:rPr lang="en-US" sz="1400" dirty="0" err="1">
                <a:solidFill>
                  <a:schemeClr val="bg1"/>
                </a:solidFill>
              </a:rPr>
              <a:t>imaginii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2F6A924-0838-5B9C-DE70-7C3EA33E16DA}"/>
              </a:ext>
            </a:extLst>
          </p:cNvPr>
          <p:cNvSpPr/>
          <p:nvPr/>
        </p:nvSpPr>
        <p:spPr>
          <a:xfrm>
            <a:off x="111225" y="5793478"/>
            <a:ext cx="1698665" cy="726338"/>
          </a:xfrm>
          <a:prstGeom prst="wedgeRectCallout">
            <a:avLst>
              <a:gd name="adj1" fmla="val -16524"/>
              <a:gd name="adj2" fmla="val -16460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imageBase + 3C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(7FF7A58C003C)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94F33-11EF-9A91-C807-4EE01213C7C2}"/>
              </a:ext>
            </a:extLst>
          </p:cNvPr>
          <p:cNvSpPr txBox="1"/>
          <p:nvPr/>
        </p:nvSpPr>
        <p:spPr>
          <a:xfrm>
            <a:off x="5812847" y="214609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Calculul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adresei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antetului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PE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baza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valorii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din offset-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0x3C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F4C202-B130-D2A2-169D-339367EF5654}"/>
              </a:ext>
            </a:extLst>
          </p:cNvPr>
          <p:cNvSpPr txBox="1"/>
          <p:nvPr/>
        </p:nvSpPr>
        <p:spPr>
          <a:xfrm>
            <a:off x="1785772" y="6400734"/>
            <a:ext cx="3919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se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extrage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valoarea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-pointer (0x80) care duce la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semnătura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 PE\0\0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6D14E3E5-137F-5C2D-69B2-9762277FF80B}"/>
              </a:ext>
            </a:extLst>
          </p:cNvPr>
          <p:cNvSpPr/>
          <p:nvPr/>
        </p:nvSpPr>
        <p:spPr>
          <a:xfrm>
            <a:off x="4992333" y="5636363"/>
            <a:ext cx="1698665" cy="726338"/>
          </a:xfrm>
          <a:prstGeom prst="wedgeRectCallout">
            <a:avLst>
              <a:gd name="adj1" fmla="val 64037"/>
              <a:gd name="adj2" fmla="val -14637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Se </a:t>
            </a:r>
            <a:r>
              <a:rPr lang="en-US" sz="1100" dirty="0" err="1">
                <a:solidFill>
                  <a:schemeClr val="bg1"/>
                </a:solidFill>
              </a:rPr>
              <a:t>folosește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valoarea</a:t>
            </a:r>
            <a:r>
              <a:rPr lang="en-US" sz="1100" dirty="0">
                <a:solidFill>
                  <a:schemeClr val="bg1"/>
                </a:solidFill>
              </a:rPr>
              <a:t> de la </a:t>
            </a:r>
            <a:r>
              <a:rPr lang="en-US" sz="1100" dirty="0" err="1">
                <a:solidFill>
                  <a:schemeClr val="bg1"/>
                </a:solidFill>
              </a:rPr>
              <a:t>acest</a:t>
            </a:r>
            <a:r>
              <a:rPr lang="en-US" sz="1100" dirty="0">
                <a:solidFill>
                  <a:schemeClr val="bg1"/>
                </a:solidFill>
              </a:rPr>
              <a:t> offset (0x80) </a:t>
            </a:r>
            <a:r>
              <a:rPr lang="en-US" sz="1100" dirty="0" err="1">
                <a:solidFill>
                  <a:schemeClr val="bg1"/>
                </a:solidFill>
              </a:rPr>
              <a:t>pentru</a:t>
            </a:r>
            <a:r>
              <a:rPr lang="en-US" sz="1100" dirty="0">
                <a:solidFill>
                  <a:schemeClr val="bg1"/>
                </a:solidFill>
              </a:rPr>
              <a:t> a </a:t>
            </a:r>
            <a:r>
              <a:rPr lang="en-US" sz="1100" dirty="0" err="1">
                <a:solidFill>
                  <a:schemeClr val="bg1"/>
                </a:solidFill>
              </a:rPr>
              <a:t>localiza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efectiv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antetul</a:t>
            </a:r>
            <a:r>
              <a:rPr lang="en-US" sz="1100" dirty="0">
                <a:solidFill>
                  <a:schemeClr val="bg1"/>
                </a:solidFill>
              </a:rPr>
              <a:t> PE </a:t>
            </a:r>
            <a:r>
              <a:rPr lang="en-US" sz="1100" dirty="0" err="1">
                <a:solidFill>
                  <a:schemeClr val="bg1"/>
                </a:solidFill>
              </a:rPr>
              <a:t>în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memorie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A16506AC-9D80-6C7B-ABD2-FC0AD230B1D1}"/>
              </a:ext>
            </a:extLst>
          </p:cNvPr>
          <p:cNvSpPr/>
          <p:nvPr/>
        </p:nvSpPr>
        <p:spPr>
          <a:xfrm>
            <a:off x="3654690" y="5522961"/>
            <a:ext cx="1009507" cy="324807"/>
          </a:xfrm>
          <a:prstGeom prst="wedgeRectCallout">
            <a:avLst>
              <a:gd name="adj1" fmla="val 52863"/>
              <a:gd name="adj2" fmla="val -10363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PE\0\0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422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lowchart: Process 41"/>
          <p:cNvSpPr/>
          <p:nvPr/>
        </p:nvSpPr>
        <p:spPr>
          <a:xfrm>
            <a:off x="6932220" y="5743260"/>
            <a:ext cx="1323687" cy="348574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1" name="Flowchart: Process 40"/>
          <p:cNvSpPr/>
          <p:nvPr/>
        </p:nvSpPr>
        <p:spPr>
          <a:xfrm>
            <a:off x="8974198" y="5304271"/>
            <a:ext cx="2636610" cy="127425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707" y="1837745"/>
            <a:ext cx="6207720" cy="3317790"/>
          </a:xfrm>
          <a:prstGeom prst="rect">
            <a:avLst/>
          </a:prstGeom>
        </p:spPr>
      </p:pic>
      <p:sp>
        <p:nvSpPr>
          <p:cNvPr id="7" name="Flowchart: Process 6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X64dbg:</a:t>
            </a:r>
            <a:br>
              <a:rPr lang="en-US" dirty="0"/>
            </a:br>
            <a:r>
              <a:rPr lang="en-US" sz="2000" dirty="0"/>
              <a:t>Little-Endian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B4748-BB0E-4FC9-80D8-1D34F0725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46" y="2063578"/>
            <a:ext cx="4078929" cy="2428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4D8A21-2FAE-437D-B76C-CE7A0611D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9" y="4607606"/>
            <a:ext cx="5058361" cy="1931506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6091881" y="4670855"/>
            <a:ext cx="673443" cy="259492"/>
          </a:xfrm>
          <a:prstGeom prst="wedgeRoundRectCallout">
            <a:avLst>
              <a:gd name="adj1" fmla="val -415328"/>
              <a:gd name="adj2" fmla="val -883184"/>
              <a:gd name="adj3" fmla="val 16667"/>
            </a:avLst>
          </a:prstGeom>
          <a:solidFill>
            <a:schemeClr val="accent1"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2131541" y="2545492"/>
            <a:ext cx="899984" cy="210065"/>
          </a:xfrm>
          <a:prstGeom prst="wedgeRoundRectCallout">
            <a:avLst>
              <a:gd name="adj1" fmla="val -107411"/>
              <a:gd name="adj2" fmla="val 1085333"/>
              <a:gd name="adj3" fmla="val 16667"/>
            </a:avLst>
          </a:prstGeom>
          <a:solidFill>
            <a:schemeClr val="accent1"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ular Callout 10"/>
          <p:cNvSpPr/>
          <p:nvPr/>
        </p:nvSpPr>
        <p:spPr>
          <a:xfrm>
            <a:off x="1876168" y="4930348"/>
            <a:ext cx="731108" cy="142102"/>
          </a:xfrm>
          <a:prstGeom prst="wedgeRoundRectCallout">
            <a:avLst>
              <a:gd name="adj1" fmla="val 638136"/>
              <a:gd name="adj2" fmla="val 63482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3073339" y="3580702"/>
            <a:ext cx="463958" cy="733846"/>
            <a:chOff x="-351394" y="3953548"/>
            <a:chExt cx="463958" cy="733846"/>
          </a:xfrm>
        </p:grpSpPr>
        <p:sp>
          <p:nvSpPr>
            <p:cNvPr id="13" name="Right Arrow 12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5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349554" y="2761220"/>
            <a:ext cx="463958" cy="727667"/>
            <a:chOff x="-331003" y="4352362"/>
            <a:chExt cx="463958" cy="727667"/>
          </a:xfrm>
        </p:grpSpPr>
        <p:sp>
          <p:nvSpPr>
            <p:cNvPr id="17" name="Right Arrow 16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4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898190" y="4870431"/>
            <a:ext cx="463958" cy="727667"/>
            <a:chOff x="-331003" y="4352362"/>
            <a:chExt cx="463958" cy="727667"/>
          </a:xfrm>
        </p:grpSpPr>
        <p:sp>
          <p:nvSpPr>
            <p:cNvPr id="20" name="Right Arrow 19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2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127620" y="2493460"/>
            <a:ext cx="463958" cy="727667"/>
            <a:chOff x="-331003" y="4352362"/>
            <a:chExt cx="463958" cy="727667"/>
          </a:xfrm>
        </p:grpSpPr>
        <p:sp>
          <p:nvSpPr>
            <p:cNvPr id="23" name="Right Arrow 22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3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543755" y="1683799"/>
            <a:ext cx="463958" cy="733846"/>
            <a:chOff x="-351394" y="3953548"/>
            <a:chExt cx="463958" cy="733846"/>
          </a:xfrm>
        </p:grpSpPr>
        <p:sp>
          <p:nvSpPr>
            <p:cNvPr id="26" name="Right Arrow 25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9154006" y="3132806"/>
            <a:ext cx="463958" cy="727667"/>
            <a:chOff x="-331003" y="4352362"/>
            <a:chExt cx="463958" cy="727667"/>
          </a:xfrm>
        </p:grpSpPr>
        <p:sp>
          <p:nvSpPr>
            <p:cNvPr id="32" name="Right Arrow 31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777764" y="5092056"/>
            <a:ext cx="463958" cy="727667"/>
            <a:chOff x="-331003" y="4352362"/>
            <a:chExt cx="463958" cy="727667"/>
          </a:xfrm>
        </p:grpSpPr>
        <p:sp>
          <p:nvSpPr>
            <p:cNvPr id="35" name="Right Arrow 34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6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9070306" y="5369986"/>
            <a:ext cx="23736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Byte Index:      0  1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---------------------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Big-Endian:     13 D4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Little-Endian:  D4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2652" y="5743260"/>
            <a:ext cx="1353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Little-Endian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850760-0CEB-B99E-FBB6-1EFD5D3470DA}"/>
              </a:ext>
            </a:extLst>
          </p:cNvPr>
          <p:cNvSpPr txBox="1"/>
          <p:nvPr/>
        </p:nvSpPr>
        <p:spPr>
          <a:xfrm>
            <a:off x="4851887" y="760469"/>
            <a:ext cx="6982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 adresa 7FF7A58C0080 ne așteptăm </a:t>
            </a:r>
            <a:r>
              <a:rPr lang="en-US" dirty="0" err="1">
                <a:solidFill>
                  <a:schemeClr val="bg1"/>
                </a:solidFill>
              </a:rPr>
              <a:t>să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găsim</a:t>
            </a:r>
            <a:r>
              <a:rPr lang="en-US" dirty="0">
                <a:solidFill>
                  <a:schemeClr val="bg1"/>
                </a:solidFill>
              </a:rPr>
              <a:t> „PE 00 00 .. ”</a:t>
            </a:r>
          </a:p>
          <a:p>
            <a:r>
              <a:rPr lang="en-US" dirty="0">
                <a:solidFill>
                  <a:schemeClr val="bg1"/>
                </a:solidFill>
              </a:rPr>
              <a:t>La 7FF7A58C0080 + 28, </a:t>
            </a:r>
            <a:r>
              <a:rPr lang="en-US" dirty="0" err="1">
                <a:solidFill>
                  <a:schemeClr val="bg1"/>
                </a:solidFill>
              </a:rPr>
              <a:t>adică</a:t>
            </a:r>
            <a:r>
              <a:rPr lang="en-US" dirty="0">
                <a:solidFill>
                  <a:schemeClr val="bg1"/>
                </a:solidFill>
              </a:rPr>
              <a:t> la 00007FF7A58C00A8 ne așteptăm la o </a:t>
            </a:r>
            <a:r>
              <a:rPr lang="en-US" dirty="0" err="1">
                <a:solidFill>
                  <a:schemeClr val="bg1"/>
                </a:solidFill>
              </a:rPr>
              <a:t>valoare</a:t>
            </a:r>
            <a:r>
              <a:rPr lang="en-US" dirty="0">
                <a:solidFill>
                  <a:schemeClr val="bg1"/>
                </a:solidFill>
              </a:rPr>
              <a:t> de 4 </a:t>
            </a:r>
            <a:r>
              <a:rPr lang="en-US" dirty="0" err="1">
                <a:solidFill>
                  <a:schemeClr val="bg1"/>
                </a:solidFill>
              </a:rPr>
              <a:t>octeți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anume 00 01 00 00. Ce </a:t>
            </a:r>
            <a:r>
              <a:rPr lang="en-US" dirty="0" err="1">
                <a:solidFill>
                  <a:schemeClr val="bg1"/>
                </a:solidFill>
              </a:rPr>
              <a:t>facem</a:t>
            </a:r>
            <a:r>
              <a:rPr lang="en-US" dirty="0">
                <a:solidFill>
                  <a:schemeClr val="bg1"/>
                </a:solidFill>
              </a:rPr>
              <a:t> cu </a:t>
            </a:r>
            <a:r>
              <a:rPr lang="en-US" dirty="0" err="1">
                <a:solidFill>
                  <a:schemeClr val="bg1"/>
                </a:solidFill>
              </a:rPr>
              <a:t>această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valoare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84005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Process 14"/>
          <p:cNvSpPr/>
          <p:nvPr/>
        </p:nvSpPr>
        <p:spPr>
          <a:xfrm>
            <a:off x="438664" y="1896762"/>
            <a:ext cx="11300255" cy="479737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X32dbg:</a:t>
            </a:r>
            <a:br>
              <a:rPr lang="en-US" dirty="0"/>
            </a:br>
            <a:r>
              <a:rPr lang="en-US" sz="2000" dirty="0" err="1"/>
              <a:t>Punctul</a:t>
            </a:r>
            <a:r>
              <a:rPr lang="en-US" sz="2000" dirty="0"/>
              <a:t> de </a:t>
            </a:r>
            <a:r>
              <a:rPr lang="en-US" sz="2000" dirty="0" err="1"/>
              <a:t>intrare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C56350-CE0C-49F7-AF68-914FE39A4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24" y="2002789"/>
            <a:ext cx="4078929" cy="2428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1C4312-CBDF-4B40-B09B-1279A4667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06" y="4630093"/>
            <a:ext cx="5794519" cy="1931506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ounded Rectangular Callout 11"/>
          <p:cNvSpPr/>
          <p:nvPr/>
        </p:nvSpPr>
        <p:spPr>
          <a:xfrm>
            <a:off x="2172729" y="2526956"/>
            <a:ext cx="879389" cy="135925"/>
          </a:xfrm>
          <a:prstGeom prst="wedgeRoundRectCallout">
            <a:avLst>
              <a:gd name="adj1" fmla="val -140318"/>
              <a:gd name="adj2" fmla="val 1612091"/>
              <a:gd name="adj3" fmla="val 16667"/>
            </a:avLst>
          </a:prstGeom>
          <a:solidFill>
            <a:schemeClr val="accent1"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4D8A21-2FAE-437D-B76C-CE7A0611D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658" y="2330556"/>
            <a:ext cx="5058361" cy="1931506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Rounded Rectangular Callout 13"/>
          <p:cNvSpPr/>
          <p:nvPr/>
        </p:nvSpPr>
        <p:spPr>
          <a:xfrm>
            <a:off x="7259596" y="2662881"/>
            <a:ext cx="685800" cy="129746"/>
          </a:xfrm>
          <a:prstGeom prst="wedgeRoundRectCallout">
            <a:avLst>
              <a:gd name="adj1" fmla="val -515218"/>
              <a:gd name="adj2" fmla="val -26982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7197520" y="2792627"/>
            <a:ext cx="463958" cy="727667"/>
            <a:chOff x="-331003" y="4352362"/>
            <a:chExt cx="463958" cy="727667"/>
          </a:xfrm>
        </p:grpSpPr>
        <p:sp>
          <p:nvSpPr>
            <p:cNvPr id="20" name="Right Arrow 19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36649" y="2428793"/>
            <a:ext cx="463958" cy="727667"/>
            <a:chOff x="-331003" y="4352362"/>
            <a:chExt cx="463958" cy="727667"/>
          </a:xfrm>
        </p:grpSpPr>
        <p:sp>
          <p:nvSpPr>
            <p:cNvPr id="23" name="Right Arrow 22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2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404235" y="2662881"/>
            <a:ext cx="463958" cy="727667"/>
            <a:chOff x="-331003" y="4352362"/>
            <a:chExt cx="463958" cy="727667"/>
          </a:xfrm>
        </p:grpSpPr>
        <p:sp>
          <p:nvSpPr>
            <p:cNvPr id="26" name="Right Arrow 25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4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09364" y="4868179"/>
            <a:ext cx="463958" cy="727667"/>
            <a:chOff x="-331003" y="4352362"/>
            <a:chExt cx="463958" cy="727667"/>
          </a:xfrm>
        </p:grpSpPr>
        <p:sp>
          <p:nvSpPr>
            <p:cNvPr id="29" name="Right Arrow 28"/>
            <p:cNvSpPr/>
            <p:nvPr/>
          </p:nvSpPr>
          <p:spPr>
            <a:xfrm rot="17500047">
              <a:off x="-293519" y="450878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-331003" y="4636780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6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172729" y="3469964"/>
            <a:ext cx="463958" cy="733846"/>
            <a:chOff x="-351394" y="3953548"/>
            <a:chExt cx="463958" cy="733846"/>
          </a:xfrm>
        </p:grpSpPr>
        <p:sp>
          <p:nvSpPr>
            <p:cNvPr id="32" name="Right Arrow 31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5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505040" y="1620847"/>
            <a:ext cx="463958" cy="733846"/>
            <a:chOff x="-351394" y="3953548"/>
            <a:chExt cx="463958" cy="733846"/>
          </a:xfrm>
        </p:grpSpPr>
        <p:sp>
          <p:nvSpPr>
            <p:cNvPr id="35" name="Right Arrow 34"/>
            <p:cNvSpPr/>
            <p:nvPr/>
          </p:nvSpPr>
          <p:spPr>
            <a:xfrm rot="6510179">
              <a:off x="-488158" y="4262626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-351394" y="39535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3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7259596" y="5386577"/>
            <a:ext cx="4014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Adresa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(Entry Point)</a:t>
            </a:r>
          </a:p>
        </p:txBody>
      </p:sp>
      <p:sp>
        <p:nvSpPr>
          <p:cNvPr id="38" name="Rounded Rectangular Callout 37"/>
          <p:cNvSpPr/>
          <p:nvPr/>
        </p:nvSpPr>
        <p:spPr>
          <a:xfrm>
            <a:off x="7259596" y="5424616"/>
            <a:ext cx="3951757" cy="318937"/>
          </a:xfrm>
          <a:prstGeom prst="wedgeRoundRectCallout">
            <a:avLst>
              <a:gd name="adj1" fmla="val -69284"/>
              <a:gd name="adj2" fmla="val -227552"/>
              <a:gd name="adj3" fmla="val 16667"/>
            </a:avLst>
          </a:prstGeom>
          <a:solidFill>
            <a:schemeClr val="accent1"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5EBF8-02B0-66EE-A2F9-E925C0BE91FD}"/>
              </a:ext>
            </a:extLst>
          </p:cNvPr>
          <p:cNvSpPr txBox="1"/>
          <p:nvPr/>
        </p:nvSpPr>
        <p:spPr>
          <a:xfrm>
            <a:off x="3996714" y="610574"/>
            <a:ext cx="7846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imageBase + 0x80 (PE Header offset) + 0x28 (offset </a:t>
            </a:r>
            <a:r>
              <a:rPr lang="en-US" dirty="0" err="1">
                <a:solidFill>
                  <a:schemeClr val="bg1"/>
                </a:solidFill>
              </a:rPr>
              <a:t>pentru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AddressOfEntryPoint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CA822-0DDB-C5CF-CDDA-FCEC76C4D760}"/>
              </a:ext>
            </a:extLst>
          </p:cNvPr>
          <p:cNvSpPr txBox="1"/>
          <p:nvPr/>
        </p:nvSpPr>
        <p:spPr>
          <a:xfrm>
            <a:off x="7058222" y="1398967"/>
            <a:ext cx="4618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 01 00 00 → se </a:t>
            </a:r>
            <a:r>
              <a:rPr lang="en-US" dirty="0" err="1">
                <a:solidFill>
                  <a:schemeClr val="bg1"/>
                </a:solidFill>
              </a:rPr>
              <a:t>interpretează</a:t>
            </a:r>
            <a:r>
              <a:rPr lang="en-US" dirty="0">
                <a:solidFill>
                  <a:schemeClr val="bg1"/>
                </a:solidFill>
              </a:rPr>
              <a:t> ca 0x00000100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BEC25-441F-385D-73AE-ADD39CC805C1}"/>
              </a:ext>
            </a:extLst>
          </p:cNvPr>
          <p:cNvSpPr txBox="1"/>
          <p:nvPr/>
        </p:nvSpPr>
        <p:spPr>
          <a:xfrm>
            <a:off x="8098747" y="1868082"/>
            <a:ext cx="364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AddressOfEntryPoint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0x00000100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4891E7-4B9B-A1F6-DEFD-FDEE46F126BB}"/>
              </a:ext>
            </a:extLst>
          </p:cNvPr>
          <p:cNvSpPr txBox="1"/>
          <p:nvPr/>
        </p:nvSpPr>
        <p:spPr>
          <a:xfrm>
            <a:off x="7602496" y="5714278"/>
            <a:ext cx="37991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imageBase +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AddressOfEntryPoint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00007FF7A58C0000 + 0x100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00007FF7A58C0100</a:t>
            </a:r>
          </a:p>
        </p:txBody>
      </p:sp>
    </p:spTree>
    <p:extLst>
      <p:ext uri="{BB962C8B-B14F-4D97-AF65-F5344CB8AC3E}">
        <p14:creationId xmlns:p14="http://schemas.microsoft.com/office/powerpoint/2010/main" val="1449620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348048" y="233739"/>
            <a:ext cx="5595552" cy="6514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gaseste_punct_intrare_pe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calegere_fisier_pe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calegere_fisier_pe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Citim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header-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din header-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MZ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0x3C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offset_pe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'little'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Ne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mutăm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începutul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header-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folosind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găsit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Verificăm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semnătura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corectă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b'PE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\0\0'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raise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 este un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executabil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valid."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Sărim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peste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COFF File Header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ajunge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Optional Header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Header-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COFF are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mereu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 de bytes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Citim adresa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relativă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Optional Header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este la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16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Optional Header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executabilele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PE32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24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PE32+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Aici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presupunem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că este un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executabil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PE32 standard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adresa_rva_punct_intrare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'little'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adresa_rva_punct_intrare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'C:\\Users\\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Elitebook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\\Desktop\\LaboratorATMCript.exe'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punct_intrare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gaseste_punct_intrare_pe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"Punctul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găsește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adresa: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punct_intrare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Determinăm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bytes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necesari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reprezenta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adresa;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4 bytes (32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biți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sunt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suficienți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majoritatea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adreselor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RVA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bytes_little_endian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punct_intrare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byteorder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'little'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bytes_big_endian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punct_intrare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byteorder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'big'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"Little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-endian: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bytes_little_endian.hex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 ')}"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"Big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-endian   :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bytes_big_endian.hex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 ')}"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6017741" y="1946189"/>
            <a:ext cx="5901985" cy="4732638"/>
          </a:xfrm>
        </p:spPr>
        <p:txBody>
          <a:bodyPr>
            <a:noAutofit/>
          </a:bodyPr>
          <a:lstStyle/>
          <a:p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-un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formatul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Portable Executable (PE)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sistemele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Windows, header-ul COFF (Common Object File Format)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urmat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imediat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header-ul PE Optional. Acesta din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urmă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câmpuri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sunt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esențiale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încărcarea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inclusiv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adresa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După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headerului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verificarea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semnăturii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acestuia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PE\0\0,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următorul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pas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constă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trecerea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peste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COFF File Header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accesarea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Optional Header. COFF File Header are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lungime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fixă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20 de bytes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informații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despre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structura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precum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numărul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timestampul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simbolurile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Pentru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accesarea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Optional Header,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poziția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trebuie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deplasată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20 de bytes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imediat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după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verificarea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semnăturii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PE.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anterior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f.seek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(20, 1). Această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operație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cursorul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20 de bytes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înainte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peste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COFF File Header,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poziționează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începutul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Optional Header.</a:t>
            </a: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Optional Header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începe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imediat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după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COFF File Header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informații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suplimentare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cum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versiunea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linker,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dimensiunea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secțiunilor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cod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date,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adresele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import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export,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cel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important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această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discuție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adresa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Adresa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relativă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baza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imaginii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memorie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utilizată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ști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unde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înceapă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atunci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când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încărcat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Pentru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adresei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Optional Header,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cursorul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deplasează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poziția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corespunzătoare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offsetul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16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Optional Header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PE32.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Apoi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citește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valoarea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respectivă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conform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secvenței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cod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analizate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RVA se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referă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calculată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raport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încărcare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atunci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când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program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încărcat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memorie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Când un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încărcat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memorie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către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primește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care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încărcat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Această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varia de la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rulare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alta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diverse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aspecte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cum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ASLR (Address Space Layout Randomization), care este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tehnică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securitate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menită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prevină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anumite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tipuri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atacuri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Virtuală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Relativă (RVA)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specificată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relativ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adresa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modulului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încărcat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memorie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exemplu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dacă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încărcat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adresa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0x10000000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cadrul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află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RVA 0x00001000, adresa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absolută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funcției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spațiul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memorie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procesului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0x10001000.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6170959" y="183840"/>
            <a:ext cx="5907772" cy="551387"/>
          </a:xfrm>
        </p:spPr>
        <p:txBody>
          <a:bodyPr>
            <a:normAutofit/>
          </a:bodyPr>
          <a:lstStyle/>
          <a:p>
            <a:r>
              <a:rPr lang="pt-BR" sz="2400">
                <a:solidFill>
                  <a:schemeClr val="tx1">
                    <a:lumMod val="50000"/>
                    <a:lumOff val="50000"/>
                  </a:schemeClr>
                </a:solidFill>
              </a:rPr>
              <a:t>Cum calculăm codul punctului de intrare?</a:t>
            </a:r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70959" y="946662"/>
            <a:ext cx="54382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găsește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adresa: </a:t>
            </a:r>
            <a:r>
              <a:rPr lang="en-US" sz="1400" dirty="0">
                <a:solidFill>
                  <a:srgbClr val="C00000"/>
                </a:solidFill>
              </a:rPr>
              <a:t>4648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Little-endian: </a:t>
            </a:r>
            <a:r>
              <a:rPr lang="en-US" sz="1400" dirty="0">
                <a:solidFill>
                  <a:srgbClr val="C00000"/>
                </a:solidFill>
              </a:rPr>
              <a:t>28 12 00 00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Big-endian : </a:t>
            </a:r>
            <a:r>
              <a:rPr lang="en-US" sz="1400" dirty="0">
                <a:solidFill>
                  <a:srgbClr val="C00000"/>
                </a:solidFill>
              </a:rPr>
              <a:t>00 00 12 28</a:t>
            </a:r>
          </a:p>
        </p:txBody>
      </p:sp>
      <p:sp>
        <p:nvSpPr>
          <p:cNvPr id="31" name="Flowchart: Process 30"/>
          <p:cNvSpPr/>
          <p:nvPr/>
        </p:nvSpPr>
        <p:spPr>
          <a:xfrm>
            <a:off x="241197" y="102077"/>
            <a:ext cx="5628262" cy="6576750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2" name="Flowchart: Process 31"/>
          <p:cNvSpPr/>
          <p:nvPr/>
        </p:nvSpPr>
        <p:spPr>
          <a:xfrm>
            <a:off x="6017741" y="1892095"/>
            <a:ext cx="5976126" cy="4782065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6017741" y="900495"/>
            <a:ext cx="5976126" cy="880425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58409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Process 12"/>
          <p:cNvSpPr/>
          <p:nvPr/>
        </p:nvSpPr>
        <p:spPr>
          <a:xfrm>
            <a:off x="214609" y="182979"/>
            <a:ext cx="6377721" cy="6304317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5953896" y="1104295"/>
            <a:ext cx="5597186" cy="532760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634" y="451886"/>
            <a:ext cx="5249562" cy="581754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Primii 10 bytes de la punctul de intrare!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670" y="290985"/>
            <a:ext cx="7772400" cy="634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gaseste_si_arata_bytes_punct_intrare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calegere_fisier_pe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calegere_fisier_pe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Citim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header-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din header-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MZ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0x3C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offset_pe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'little'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Ne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mutăm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începutul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header-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folosind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găsit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Verificăm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semnătura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corectă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b'PE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\0\0'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raise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 este un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executabil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valid."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Sărim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peste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COFF File Header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ajunge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Optional Header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Header-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COFF are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mereu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 de bytes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Citim adresa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relativă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Optional Header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adresa_rva_punct_intrare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'little'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Întrucât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acest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mapează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RVA la offset-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secțiunea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direct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folosind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RVA ca un offset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simplificat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arăta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primii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10 bytes.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Acest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 fie precis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fișierele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adresa_rva_punct_intrare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primii_10_bytes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adresa_rva_punct_intrare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primii_10_bytes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 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'C:\\Users\\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Elitebook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\\Desktop\\LaboratorATMCript.exe'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punct_intrare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bytes_intrare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gaseste_si_arata_bytes_punct_intrare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"Punctul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punct_intrare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(decimal), {hex(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punct_intrare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)} (hex)"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"Primii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 bytes de la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bytes_intrare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730314" y="1893372"/>
            <a:ext cx="4548920" cy="1918472"/>
          </a:xfrm>
        </p:spPr>
        <p:txBody>
          <a:bodyPr>
            <a:normAutofit fontScale="55000" lnSpcReduction="20000"/>
          </a:bodyPr>
          <a:lstStyle/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Pentru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afișa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primii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10 bytes de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trebuie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modificăm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include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afișarea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bytes.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necesită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determinarea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adresei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absolute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implică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conversie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adresa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relativă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virtuală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(RVA)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offset-ul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fizic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În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simplificarea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noastră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RVA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direct din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presupunând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complex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RVA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corespunde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offset-ul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fizic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730314" y="4160149"/>
            <a:ext cx="5068329" cy="182785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În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cod,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după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determinăm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adresa RVA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direct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locația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corespunzătoare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primii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10 bytes de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Apoi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convertim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bytes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-un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hexadecimale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afișare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presupune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RVA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direct ca offset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simplificare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putea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precis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deoarece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RVA pot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necesita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conversie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 layout-ul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fișierul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PE.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6958913" y="4330732"/>
            <a:ext cx="4839729" cy="1751640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78401" y="1136685"/>
            <a:ext cx="44294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Punctul de intrare se găsește la adresa: </a:t>
            </a:r>
            <a:r>
              <a:rPr lang="es-ES" sz="1200">
                <a:solidFill>
                  <a:srgbClr val="C00000"/>
                </a:solidFill>
              </a:rPr>
              <a:t>4648</a:t>
            </a:r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(decimal), </a:t>
            </a:r>
            <a:r>
              <a:rPr lang="es-ES" sz="1200">
                <a:solidFill>
                  <a:srgbClr val="C00000"/>
                </a:solidFill>
              </a:rPr>
              <a:t>0x1228</a:t>
            </a:r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(hex)</a:t>
            </a:r>
          </a:p>
          <a:p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Primii 10 bytes de la punctul de intrare: </a:t>
            </a:r>
            <a:r>
              <a:rPr lang="es-ES" sz="1200">
                <a:solidFill>
                  <a:srgbClr val="C00000"/>
                </a:solidFill>
              </a:rPr>
              <a:t>68 1c 58 46 00 e8 ee ff ff ff</a:t>
            </a:r>
            <a:endParaRPr lang="en-US" sz="1200">
              <a:solidFill>
                <a:srgbClr val="C00000"/>
              </a:solidFill>
            </a:endParaRPr>
          </a:p>
        </p:txBody>
      </p:sp>
      <p:sp>
        <p:nvSpPr>
          <p:cNvPr id="15" name="Flowchart: Process 14"/>
          <p:cNvSpPr/>
          <p:nvPr/>
        </p:nvSpPr>
        <p:spPr>
          <a:xfrm>
            <a:off x="6958913" y="2099462"/>
            <a:ext cx="4396521" cy="1700025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025293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/>
          <p:cNvSpPr/>
          <p:nvPr/>
        </p:nvSpPr>
        <p:spPr>
          <a:xfrm>
            <a:off x="420554" y="3978122"/>
            <a:ext cx="11554778" cy="267599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6871992" y="2292835"/>
            <a:ext cx="5097162" cy="1481403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9466" y="41043"/>
            <a:ext cx="4475629" cy="1325563"/>
          </a:xfrm>
        </p:spPr>
        <p:txBody>
          <a:bodyPr/>
          <a:lstStyle/>
          <a:p>
            <a:r>
              <a:rPr lang="en-US"/>
              <a:t>Biblioteca </a:t>
            </a:r>
            <a:r>
              <a:rPr lang="en-US" i="1">
                <a:solidFill>
                  <a:srgbClr val="C00000"/>
                </a:solidFill>
              </a:rPr>
              <a:t>pefile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8622" y="2225445"/>
            <a:ext cx="4803902" cy="1481403"/>
          </a:xfrm>
        </p:spPr>
        <p:txBody>
          <a:bodyPr>
            <a:normAutofit fontScale="55000" lnSpcReduction="20000"/>
          </a:bodyPr>
          <a:lstStyle/>
          <a:p>
            <a:endParaRPr lang="es-E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Folosind biblioteca </a:t>
            </a:r>
            <a:r>
              <a:rPr lang="es-ES" i="1">
                <a:solidFill>
                  <a:schemeClr val="tx1">
                    <a:lumMod val="50000"/>
                    <a:lumOff val="50000"/>
                  </a:schemeClr>
                </a:solidFill>
              </a:rPr>
              <a:t>pefile</a:t>
            </a:r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 pentru a analiza fișierele PE (Portable Executable), putem obține adresa de intrare (entry point) și citi primii 10 bytes din acea adresă într-un mod mult mai direct și simplu. </a:t>
            </a:r>
            <a:r>
              <a:rPr lang="es-ES" i="1">
                <a:solidFill>
                  <a:schemeClr val="tx1">
                    <a:lumMod val="50000"/>
                    <a:lumOff val="50000"/>
                  </a:schemeClr>
                </a:solidFill>
              </a:rPr>
              <a:t>pefile</a:t>
            </a:r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 este o bibliotecă Python care facilitează lucrul cu fișierele PE, oferind acces ușor la structurile și informațiile acestora.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1362" y="365125"/>
            <a:ext cx="6096000" cy="32208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pefile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arata_bytes_punct_intrare_pe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pefile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adresa_ep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OPTIONAL_HEADER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AddressOfEntryPoint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offset_ep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get_offset_from_rva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adresa_ep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offset_ep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primii_10_bytes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 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"Punctul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adresa_ep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(decimal), {hex(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adresa_ep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)} (hex)"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"Primii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 bytes de la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punctul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{primii_10_bytes}"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'C:\\Users\\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Elitebook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\\Desktop\\LaboratorATMCript.exe'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arata_bytes_punct_intrare_pe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cale_fisier_pe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4611" y="4193306"/>
            <a:ext cx="9506465" cy="255860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Acest cod face următoarele:</a:t>
            </a:r>
          </a:p>
          <a:p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    Încarcă fișierul PE folosind pefile.</a:t>
            </a:r>
          </a:p>
          <a:p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    Obține adresa de intrare (entry point) din header-ul opțional al fișierului PE.</a:t>
            </a:r>
          </a:p>
          <a:p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    Calculează offset-ul fizic în fișier pentru adresa de intrare folosind funcția </a:t>
            </a:r>
            <a:r>
              <a:rPr lang="es-ES">
                <a:solidFill>
                  <a:srgbClr val="C00000"/>
                </a:solidFill>
              </a:rPr>
              <a:t>get_offset_from_rva</a:t>
            </a:r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 a obiectului </a:t>
            </a:r>
            <a:r>
              <a:rPr lang="es-ES">
                <a:solidFill>
                  <a:srgbClr val="C00000"/>
                </a:solidFill>
              </a:rPr>
              <a:t>pe</a:t>
            </a:r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    Deschide fișierul în modul binar, sare la offset-ul calculat și citește primii 10 bytes.</a:t>
            </a:r>
          </a:p>
          <a:p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    Afișează adresa de intrare și primii 10 bytes în format hexadecimale.</a:t>
            </a:r>
          </a:p>
          <a:p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Folosind </a:t>
            </a:r>
            <a:r>
              <a:rPr lang="es-ES" i="1">
                <a:solidFill>
                  <a:schemeClr val="tx1">
                    <a:lumMod val="50000"/>
                    <a:lumOff val="50000"/>
                  </a:schemeClr>
                </a:solidFill>
              </a:rPr>
              <a:t>pefile</a:t>
            </a:r>
            <a:r>
              <a:rPr lang="es-ES">
                <a:solidFill>
                  <a:schemeClr val="tx1">
                    <a:lumMod val="50000"/>
                    <a:lumOff val="50000"/>
                  </a:schemeClr>
                </a:solidFill>
              </a:rPr>
              <a:t>, codul devine mai concis și direct, evitând necesitatea de a naviga manual prin structura fișierului PE sau de a calcula offset-urile manual. Biblioteca gestionează toate aspectele legate de interpretarea structurii fișierului PE, permițându-ne să ne concentrăm pe informațiile specifice de care avem nevoie.</a:t>
            </a:r>
          </a:p>
        </p:txBody>
      </p:sp>
      <p:sp>
        <p:nvSpPr>
          <p:cNvPr id="7" name="Flowchart: Process 6"/>
          <p:cNvSpPr/>
          <p:nvPr/>
        </p:nvSpPr>
        <p:spPr>
          <a:xfrm>
            <a:off x="420554" y="179173"/>
            <a:ext cx="6276808" cy="360289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6147486" y="1140868"/>
            <a:ext cx="5821668" cy="880425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00217" y="1345020"/>
            <a:ext cx="4642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Punctul de intrare se găsește la adresa: </a:t>
            </a:r>
            <a:r>
              <a:rPr lang="es-ES" sz="1200">
                <a:solidFill>
                  <a:srgbClr val="C00000"/>
                </a:solidFill>
              </a:rPr>
              <a:t>4648</a:t>
            </a:r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(decimal), </a:t>
            </a:r>
            <a:r>
              <a:rPr lang="es-ES" sz="1200">
                <a:solidFill>
                  <a:srgbClr val="C00000"/>
                </a:solidFill>
              </a:rPr>
              <a:t>0x1228</a:t>
            </a:r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(hex)</a:t>
            </a:r>
          </a:p>
          <a:p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Primii 10 bytes de la punctul de intrare: </a:t>
            </a:r>
            <a:r>
              <a:rPr lang="es-ES" sz="1200">
                <a:solidFill>
                  <a:srgbClr val="C00000"/>
                </a:solidFill>
              </a:rPr>
              <a:t>68 1c 58 46 00 e8 ee ff ff ff</a:t>
            </a:r>
            <a:endParaRPr 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428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60308" y="1620304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C.6.5</a:t>
            </a:r>
            <a:br>
              <a:rPr lang="en-US" dirty="0"/>
            </a:br>
            <a:r>
              <a:rPr lang="en-US" dirty="0" err="1"/>
              <a:t>regimUl</a:t>
            </a:r>
            <a:r>
              <a:rPr lang="en-US" dirty="0"/>
              <a:t> de </a:t>
            </a:r>
            <a:r>
              <a:rPr lang="en-US" dirty="0" err="1"/>
              <a:t>compilare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limbaje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979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 reţinut 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Toate limbajele de programare 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de nivel înalt sunt la fel: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C++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FASM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VB6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123" y="3100134"/>
            <a:ext cx="1905165" cy="19051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707" y="158396"/>
            <a:ext cx="3810000" cy="381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508" y="26106"/>
            <a:ext cx="2848397" cy="28483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596" y="4499329"/>
            <a:ext cx="3750111" cy="1088282"/>
          </a:xfrm>
          <a:prstGeom prst="rect">
            <a:avLst/>
          </a:prstGeom>
        </p:spPr>
      </p:pic>
      <p:sp>
        <p:nvSpPr>
          <p:cNvPr id="11" name="Flowchart: Process 10"/>
          <p:cNvSpPr/>
          <p:nvPr/>
        </p:nvSpPr>
        <p:spPr>
          <a:xfrm>
            <a:off x="451261" y="1957630"/>
            <a:ext cx="3972458" cy="3349597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389271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3D981E-4C02-4A87-9592-0392A97B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Pachetul C++ </a:t>
            </a:r>
            <a:br>
              <a:rPr lang="en-US"/>
            </a:br>
            <a:r>
              <a:rPr lang="en-US" sz="2000"/>
              <a:t>care ne ajută să compilăm imediat!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020064"/>
            <a:ext cx="12192000" cy="1597026"/>
          </a:xfrm>
          <a:prstGeom prst="rect">
            <a:avLst/>
          </a:prstGeom>
          <a:solidFill>
            <a:srgbClr val="A5A5A5"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4583381"/>
            <a:ext cx="12192000" cy="62386"/>
          </a:xfrm>
          <a:prstGeom prst="rect">
            <a:avLst/>
          </a:prstGeom>
          <a:solidFill>
            <a:srgbClr val="A5A5A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3020064"/>
            <a:ext cx="12192000" cy="62386"/>
          </a:xfrm>
          <a:prstGeom prst="rect">
            <a:avLst/>
          </a:prstGeom>
          <a:solidFill>
            <a:srgbClr val="A5A5A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3AE435-60CB-4AB8-B0F9-36840F594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6398" y="2419447"/>
            <a:ext cx="8553100" cy="3165808"/>
          </a:xfrm>
          <a:prstGeom prst="rect">
            <a:avLst/>
          </a:prstGeom>
          <a:ln w="38100" cap="sq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itle 3">
            <a:extLst>
              <a:ext uri="{FF2B5EF4-FFF2-40B4-BE49-F238E27FC236}">
                <a16:creationId xmlns:a16="http://schemas.microsoft.com/office/drawing/2014/main" id="{87412834-4727-44E5-B7ED-C1305A8ED890}"/>
              </a:ext>
            </a:extLst>
          </p:cNvPr>
          <p:cNvSpPr txBox="1">
            <a:spLocks/>
          </p:cNvSpPr>
          <p:nvPr/>
        </p:nvSpPr>
        <p:spPr>
          <a:xfrm>
            <a:off x="2059459" y="5672940"/>
            <a:ext cx="8073081" cy="827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>
                <a:solidFill>
                  <a:prstClr val="black">
                    <a:lumMod val="50000"/>
                    <a:lumOff val="50000"/>
                  </a:prstClr>
                </a:solidFill>
                <a:latin typeface="Calibri Light" panose="020F0302020204030204"/>
              </a:rPr>
              <a:t>Instalam: tdm64-gcc-10.3.0-2.exe</a:t>
            </a:r>
            <a:endParaRPr lang="en-US" sz="3600" dirty="0">
              <a:solidFill>
                <a:prstClr val="black">
                  <a:lumMod val="50000"/>
                  <a:lumOff val="50000"/>
                </a:prstClr>
              </a:solidFill>
              <a:latin typeface="Calibri Light" panose="020F0302020204030204"/>
            </a:endParaRPr>
          </a:p>
        </p:txBody>
      </p:sp>
      <p:sp>
        <p:nvSpPr>
          <p:cNvPr id="17" name="Flowchart: Process 16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498753" y="4013275"/>
            <a:ext cx="560706" cy="774231"/>
            <a:chOff x="9560" y="4154901"/>
            <a:chExt cx="560706" cy="774231"/>
          </a:xfrm>
        </p:grpSpPr>
        <p:sp>
          <p:nvSpPr>
            <p:cNvPr id="10" name="Right Arrow 9"/>
            <p:cNvSpPr/>
            <p:nvPr/>
          </p:nvSpPr>
          <p:spPr>
            <a:xfrm rot="18327667">
              <a:off x="145499" y="4311325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9560" y="4485883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60408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Regim</a:t>
            </a:r>
            <a:r>
              <a:rPr lang="en-US" dirty="0"/>
              <a:t> de </a:t>
            </a:r>
            <a:r>
              <a:rPr lang="en-US" dirty="0" err="1"/>
              <a:t>compilare</a:t>
            </a:r>
            <a:r>
              <a:rPr lang="en-US" dirty="0"/>
              <a:t> opulent</a:t>
            </a:r>
            <a:br>
              <a:rPr lang="en-US" dirty="0"/>
            </a:br>
            <a:r>
              <a:rPr lang="en-US" sz="2000" dirty="0" err="1"/>
              <a:t>Compilarea</a:t>
            </a:r>
            <a:r>
              <a:rPr lang="en-US" sz="2000" dirty="0"/>
              <a:t> </a:t>
            </a:r>
            <a:r>
              <a:rPr lang="en-US" sz="2000" dirty="0" err="1"/>
              <a:t>fișierului</a:t>
            </a:r>
            <a:r>
              <a:rPr lang="en-US" sz="2000" dirty="0"/>
              <a:t> .</a:t>
            </a:r>
            <a:r>
              <a:rPr lang="en-US" sz="2000" dirty="0" err="1"/>
              <a:t>py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.exe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1388" y="2043071"/>
            <a:ext cx="2687968" cy="1731201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Deschide</a:t>
            </a:r>
            <a:r>
              <a:rPr lang="en-US" dirty="0"/>
              <a:t> un terminal </a:t>
            </a:r>
            <a:r>
              <a:rPr lang="en-US" dirty="0" err="1"/>
              <a:t>sau</a:t>
            </a:r>
            <a:r>
              <a:rPr lang="en-US" dirty="0"/>
              <a:t> prompt de </a:t>
            </a:r>
            <a:r>
              <a:rPr lang="en-US" dirty="0" err="1"/>
              <a:t>comandă</a:t>
            </a:r>
            <a:r>
              <a:rPr lang="en-US" dirty="0"/>
              <a:t>.</a:t>
            </a:r>
          </a:p>
          <a:p>
            <a:r>
              <a:rPr lang="en-US" dirty="0" err="1"/>
              <a:t>Navighează</a:t>
            </a:r>
            <a:r>
              <a:rPr lang="en-US" dirty="0"/>
              <a:t> la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se </a:t>
            </a:r>
            <a:r>
              <a:rPr lang="en-US" dirty="0" err="1"/>
              <a:t>află</a:t>
            </a:r>
            <a:r>
              <a:rPr lang="en-US" dirty="0"/>
              <a:t> p.py.</a:t>
            </a:r>
          </a:p>
          <a:p>
            <a:r>
              <a:rPr lang="en-US" dirty="0" err="1"/>
              <a:t>Rulează</a:t>
            </a:r>
            <a:r>
              <a:rPr lang="en-US" dirty="0"/>
              <a:t> </a:t>
            </a:r>
            <a:r>
              <a:rPr lang="en-US" dirty="0" err="1"/>
              <a:t>pyinstaller</a:t>
            </a:r>
            <a:r>
              <a:rPr lang="en-US" dirty="0"/>
              <a:t> --</a:t>
            </a:r>
            <a:r>
              <a:rPr lang="en-US" dirty="0" err="1"/>
              <a:t>onefile</a:t>
            </a:r>
            <a:r>
              <a:rPr lang="en-US" dirty="0"/>
              <a:t> p.py.</a:t>
            </a:r>
          </a:p>
          <a:p>
            <a:r>
              <a:rPr lang="en-US" dirty="0"/>
              <a:t>După </a:t>
            </a:r>
            <a:r>
              <a:rPr lang="en-US" dirty="0" err="1"/>
              <a:t>finalizarea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, </a:t>
            </a:r>
            <a:r>
              <a:rPr lang="en-US" dirty="0" err="1"/>
              <a:t>navighează</a:t>
            </a:r>
            <a:r>
              <a:rPr lang="en-US" dirty="0"/>
              <a:t> la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dirty="0" err="1"/>
              <a:t>dist</a:t>
            </a:r>
            <a:r>
              <a:rPr lang="en-US" dirty="0"/>
              <a:t> care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locația</a:t>
            </a:r>
            <a:r>
              <a:rPr lang="en-US" dirty="0"/>
              <a:t> ta </a:t>
            </a:r>
            <a:r>
              <a:rPr lang="en-US" dirty="0" err="1"/>
              <a:t>curentă</a:t>
            </a:r>
            <a:r>
              <a:rPr lang="en-US" dirty="0"/>
              <a:t>. (</a:t>
            </a:r>
            <a:r>
              <a:rPr lang="en-US" dirty="0" err="1"/>
              <a:t>Comanda</a:t>
            </a:r>
            <a:r>
              <a:rPr lang="en-US" dirty="0"/>
              <a:t> cd </a:t>
            </a:r>
            <a:r>
              <a:rPr lang="en-US" dirty="0" err="1"/>
              <a:t>dist</a:t>
            </a:r>
            <a:r>
              <a:rPr lang="en-US" dirty="0"/>
              <a:t>)</a:t>
            </a:r>
          </a:p>
          <a:p>
            <a:r>
              <a:rPr lang="en-US" dirty="0"/>
              <a:t>În </a:t>
            </a:r>
            <a:r>
              <a:rPr lang="en-US" dirty="0" err="1"/>
              <a:t>dist</a:t>
            </a:r>
            <a:r>
              <a:rPr lang="en-US" dirty="0"/>
              <a:t>, </a:t>
            </a:r>
            <a:r>
              <a:rPr lang="en-US" dirty="0" err="1"/>
              <a:t>vei</a:t>
            </a:r>
            <a:r>
              <a:rPr lang="en-US" dirty="0"/>
              <a:t> </a:t>
            </a:r>
            <a:r>
              <a:rPr lang="en-US" dirty="0" err="1"/>
              <a:t>găsi</a:t>
            </a:r>
            <a:r>
              <a:rPr lang="en-US" dirty="0"/>
              <a:t> p.exe.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06" y="3817932"/>
            <a:ext cx="6130694" cy="27792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507" y="4885734"/>
            <a:ext cx="3495544" cy="11784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507" y="2208297"/>
            <a:ext cx="3391434" cy="2445745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Rectangle 13"/>
          <p:cNvSpPr/>
          <p:nvPr/>
        </p:nvSpPr>
        <p:spPr>
          <a:xfrm>
            <a:off x="6257801" y="877988"/>
            <a:ext cx="2461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pip install pyinstaller</a:t>
            </a:r>
          </a:p>
          <a:p>
            <a:r>
              <a:rPr lang="en-US">
                <a:solidFill>
                  <a:schemeClr val="bg1"/>
                </a:solidFill>
              </a:rPr>
              <a:t>pyinstaller --onefile p.py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06" y="2098950"/>
            <a:ext cx="3598081" cy="80972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06" y="2994623"/>
            <a:ext cx="3598081" cy="73735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 rot="16200000">
            <a:off x="-330390" y="3834999"/>
            <a:ext cx="268971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p.exe (6Mb)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090764" y="5690977"/>
            <a:ext cx="796035" cy="577420"/>
            <a:chOff x="10090764" y="5690977"/>
            <a:chExt cx="796035" cy="577420"/>
          </a:xfrm>
        </p:grpSpPr>
        <p:sp>
          <p:nvSpPr>
            <p:cNvPr id="19" name="Right Arrow 18"/>
            <p:cNvSpPr/>
            <p:nvPr/>
          </p:nvSpPr>
          <p:spPr>
            <a:xfrm rot="12980508">
              <a:off x="10090764" y="5690977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0422841" y="582514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sp>
        <p:nvSpPr>
          <p:cNvPr id="21" name="Flowchart: Process 20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8965328" y="1386134"/>
            <a:ext cx="2508420" cy="659644"/>
          </a:xfrm>
          <a:prstGeom prst="wedgeRoundRectCallout">
            <a:avLst>
              <a:gd name="adj1" fmla="val 6835"/>
              <a:gd name="adj2" fmla="val 204308"/>
              <a:gd name="adj3" fmla="val 16667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Consolas" panose="020B0609020204030204" pitchFamily="49" charset="0"/>
              </a:rPr>
              <a:t>a = 5</a:t>
            </a:r>
          </a:p>
          <a:p>
            <a:r>
              <a:rPr lang="en-US" sz="900">
                <a:latin typeface="Consolas" panose="020B0609020204030204" pitchFamily="49" charset="0"/>
              </a:rPr>
              <a:t>b = 3</a:t>
            </a:r>
          </a:p>
          <a:p>
            <a:r>
              <a:rPr lang="en-US" sz="900">
                <a:latin typeface="Consolas" panose="020B0609020204030204" pitchFamily="49" charset="0"/>
              </a:rPr>
              <a:t>print(a+b)</a:t>
            </a:r>
          </a:p>
        </p:txBody>
      </p:sp>
    </p:spTree>
    <p:extLst>
      <p:ext uri="{BB962C8B-B14F-4D97-AF65-F5344CB8AC3E}">
        <p14:creationId xmlns:p14="http://schemas.microsoft.com/office/powerpoint/2010/main" val="3941052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Regim de compilare auto-sufficient</a:t>
            </a:r>
            <a:br>
              <a:rPr lang="en-US"/>
            </a:br>
            <a:r>
              <a:rPr lang="en-US" sz="2000"/>
              <a:t>compilare (fmare.cpp)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074" y="2495517"/>
            <a:ext cx="3188164" cy="2392210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Cod sursă C++ minim compilat prin:</a:t>
            </a:r>
          </a:p>
          <a:p>
            <a:r>
              <a:rPr lang="en-US"/>
              <a:t>g++ -o fmare.exe fmare.cpp</a:t>
            </a:r>
          </a:p>
          <a:p>
            <a:r>
              <a:rPr lang="en-US"/>
              <a:t>Acest tip de compilare generează executabile mari care sunt destinate să funcționeze între versiunile de sistem de operare.</a:t>
            </a:r>
          </a:p>
          <a:p>
            <a:r>
              <a:rPr lang="en-US"/>
              <a:t>Include toate bibliotecile de care un cod ar putea avea nevoie, indiferent dacă sunt folosite sau nu (devin balast).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61074-E8C2-498B-91DF-72C7C578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43" y="5110175"/>
            <a:ext cx="6270412" cy="125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80C25-3A16-49CF-BE2B-AD413B7BD80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371703" y="2282014"/>
            <a:ext cx="3073490" cy="4027714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 rot="16200000">
            <a:off x="-1062000" y="3834999"/>
            <a:ext cx="41529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mare.exe (2.74Mb)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0BEF5F-0BA3-4585-986C-D0B447535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81" y="2288230"/>
            <a:ext cx="3148874" cy="1163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48C89D-7F14-4526-A20D-96058E7F7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849" y="3814398"/>
            <a:ext cx="3140189" cy="11598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959348" y="3475844"/>
            <a:ext cx="28841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/>
              <a:t>C:\Users\Elitebook\Desktop\cpp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3739" y="1964623"/>
            <a:ext cx="16305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/>
              <a:t>Deschidem CMD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0285" y="2097348"/>
            <a:ext cx="2509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Unde punem sursa C++?</a:t>
            </a:r>
          </a:p>
        </p:txBody>
      </p:sp>
      <p:sp>
        <p:nvSpPr>
          <p:cNvPr id="14" name="Flowchart: Process 13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8816546" y="1126507"/>
            <a:ext cx="2508420" cy="1042104"/>
          </a:xfrm>
          <a:prstGeom prst="wedgeRoundRectCallout">
            <a:avLst>
              <a:gd name="adj1" fmla="val 14664"/>
              <a:gd name="adj2" fmla="val 159652"/>
              <a:gd name="adj3" fmla="val 16667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Consolas" panose="020B0609020204030204" pitchFamily="49" charset="0"/>
              </a:rPr>
              <a:t>#include &lt;iostream&gt;</a:t>
            </a:r>
          </a:p>
          <a:p>
            <a:endParaRPr lang="en-US" sz="900">
              <a:latin typeface="Consolas" panose="020B0609020204030204" pitchFamily="49" charset="0"/>
            </a:endParaRPr>
          </a:p>
          <a:p>
            <a:r>
              <a:rPr lang="en-US" sz="900">
                <a:latin typeface="Consolas" panose="020B0609020204030204" pitchFamily="49" charset="0"/>
              </a:rPr>
              <a:t>int main(){</a:t>
            </a:r>
          </a:p>
          <a:p>
            <a:r>
              <a:rPr lang="en-US" sz="900">
                <a:latin typeface="Consolas" panose="020B0609020204030204" pitchFamily="49" charset="0"/>
              </a:rPr>
              <a:t>    std::cout&lt;&lt;"Inginerie Inversa";</a:t>
            </a:r>
          </a:p>
          <a:p>
            <a:r>
              <a:rPr lang="en-US" sz="90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9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3502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Regim de compilare semi-sufficient</a:t>
            </a:r>
            <a:br>
              <a:rPr lang="en-US"/>
            </a:br>
            <a:r>
              <a:rPr lang="pt-BR" sz="2000"/>
              <a:t>compilare (mare.cpp)</a:t>
            </a:r>
            <a:endParaRPr 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8610" y="823062"/>
            <a:ext cx="4448432" cy="419549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g++ -Os -s -static -o mare.exe mare.cpp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741634-D6B0-4AE0-AE8B-75153836A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449" y="2068170"/>
            <a:ext cx="6193991" cy="1909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5DA7F6-FCFE-45D0-815F-6031CDA70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449" y="4172082"/>
            <a:ext cx="6193989" cy="2292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2D9C20-6E07-4BD7-AA9B-089C4997E42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019536" y="2068170"/>
            <a:ext cx="3354860" cy="4396441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 rot="16200000">
            <a:off x="-910518" y="3834999"/>
            <a:ext cx="38499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mare.exe (930Kb)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6079524" y="1371065"/>
            <a:ext cx="5900352" cy="1125000"/>
          </a:xfrm>
          <a:prstGeom prst="wedgeRoundRectCallout">
            <a:avLst>
              <a:gd name="adj1" fmla="val 21712"/>
              <a:gd name="adj2" fmla="val 115623"/>
              <a:gd name="adj3" fmla="val 16667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latin typeface="Consolas" panose="020B0609020204030204" pitchFamily="49" charset="0"/>
              </a:rPr>
              <a:t>#include &lt;windows.h&gt;</a:t>
            </a:r>
          </a:p>
          <a:p>
            <a:endParaRPr lang="en-US" sz="800">
              <a:latin typeface="Consolas" panose="020B0609020204030204" pitchFamily="49" charset="0"/>
            </a:endParaRPr>
          </a:p>
          <a:p>
            <a:r>
              <a:rPr lang="en-US" sz="800">
                <a:latin typeface="Consolas" panose="020B0609020204030204" pitchFamily="49" charset="0"/>
              </a:rPr>
              <a:t>int WINAPI WinMain(HINSTANCE hInstance, HINSTANCE hPrevInstance, LPSTR lpCmdLine, int nCmdShow) {</a:t>
            </a:r>
          </a:p>
          <a:p>
            <a:r>
              <a:rPr lang="en-US" sz="800">
                <a:latin typeface="Consolas" panose="020B0609020204030204" pitchFamily="49" charset="0"/>
              </a:rPr>
              <a:t>    MessageBox(NULL, "Inginerie Inversa", "Cod malware", MB_OK);</a:t>
            </a:r>
          </a:p>
          <a:p>
            <a:r>
              <a:rPr lang="en-US" sz="80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8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8357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621" y="3978424"/>
            <a:ext cx="4655144" cy="253741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178" y="3979217"/>
            <a:ext cx="4645300" cy="25320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255" y="2073825"/>
            <a:ext cx="2279546" cy="1703227"/>
          </a:xfrm>
          <a:prstGeom prst="rect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 rot="16200000">
            <a:off x="-695874" y="3834999"/>
            <a:ext cx="34206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mini.exe (16Kb)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64488" y="2229179"/>
            <a:ext cx="4099382" cy="155741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 </a:t>
            </a:r>
            <a:r>
              <a:rPr lang="en-US" dirty="0" err="1"/>
              <a:t>sursă</a:t>
            </a:r>
            <a:r>
              <a:rPr lang="en-US" dirty="0"/>
              <a:t> VB6 </a:t>
            </a:r>
            <a:r>
              <a:rPr lang="en-US" dirty="0" err="1"/>
              <a:t>compilat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mod normal:</a:t>
            </a:r>
          </a:p>
          <a:p>
            <a:r>
              <a:rPr lang="en-US" dirty="0" err="1"/>
              <a:t>Meniu</a:t>
            </a:r>
            <a:r>
              <a:rPr lang="en-US" dirty="0"/>
              <a:t> [File] - [Make].</a:t>
            </a:r>
          </a:p>
          <a:p>
            <a:r>
              <a:rPr lang="en-US" dirty="0"/>
              <a:t>Mic </a:t>
            </a:r>
            <a:r>
              <a:rPr lang="en-US" dirty="0" err="1"/>
              <a:t>executabil</a:t>
            </a:r>
            <a:r>
              <a:rPr lang="en-US" dirty="0"/>
              <a:t> de 16Kb.</a:t>
            </a:r>
          </a:p>
          <a:p>
            <a:r>
              <a:rPr lang="en-US" dirty="0" err="1"/>
              <a:t>Acest</a:t>
            </a:r>
            <a:r>
              <a:rPr lang="en-US" dirty="0"/>
              <a:t> tip de </a:t>
            </a:r>
            <a:r>
              <a:rPr lang="en-US" dirty="0" err="1"/>
              <a:t>compilare</a:t>
            </a:r>
            <a:r>
              <a:rPr lang="en-US" dirty="0"/>
              <a:t> </a:t>
            </a:r>
            <a:r>
              <a:rPr lang="en-US" dirty="0" err="1"/>
              <a:t>generează</a:t>
            </a:r>
            <a:r>
              <a:rPr lang="en-US" dirty="0"/>
              <a:t> </a:t>
            </a:r>
            <a:r>
              <a:rPr lang="en-US" dirty="0" err="1"/>
              <a:t>executabile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 </a:t>
            </a:r>
            <a:r>
              <a:rPr lang="en-US" dirty="0" err="1"/>
              <a:t>dependente</a:t>
            </a:r>
            <a:r>
              <a:rPr lang="en-US" dirty="0"/>
              <a:t> de </a:t>
            </a:r>
            <a:r>
              <a:rPr lang="en-US" dirty="0" err="1"/>
              <a:t>biblioteca</a:t>
            </a:r>
            <a:r>
              <a:rPr lang="en-US" dirty="0"/>
              <a:t> </a:t>
            </a:r>
            <a:r>
              <a:rPr lang="en-US" dirty="0" err="1"/>
              <a:t>dinamică</a:t>
            </a:r>
            <a:r>
              <a:rPr lang="en-US" dirty="0"/>
              <a:t> </a:t>
            </a:r>
            <a:r>
              <a:rPr lang="en-US" dirty="0" err="1"/>
              <a:t>numită</a:t>
            </a:r>
            <a:r>
              <a:rPr lang="en-US" dirty="0"/>
              <a:t> msvbvm60.dll.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/>
              <a:t>Regim de compilare semi-distribuit</a:t>
            </a:r>
            <a:br>
              <a:rPr lang="en-US"/>
            </a:br>
            <a:r>
              <a:rPr lang="pt-BR" sz="2000"/>
              <a:t>compilare (mini.bas)</a:t>
            </a:r>
            <a:endParaRPr lang="en-US" sz="2000"/>
          </a:p>
        </p:txBody>
      </p:sp>
      <p:grpSp>
        <p:nvGrpSpPr>
          <p:cNvPr id="2" name="Group 1"/>
          <p:cNvGrpSpPr/>
          <p:nvPr/>
        </p:nvGrpSpPr>
        <p:grpSpPr>
          <a:xfrm>
            <a:off x="7644527" y="6224887"/>
            <a:ext cx="796035" cy="577420"/>
            <a:chOff x="7644527" y="6224887"/>
            <a:chExt cx="796035" cy="577420"/>
          </a:xfrm>
        </p:grpSpPr>
        <p:sp>
          <p:nvSpPr>
            <p:cNvPr id="11" name="Right Arrow 10"/>
            <p:cNvSpPr/>
            <p:nvPr/>
          </p:nvSpPr>
          <p:spPr>
            <a:xfrm rot="12980508">
              <a:off x="7644527" y="6224887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7976604" y="6359058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2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569145" y="4277596"/>
            <a:ext cx="514344" cy="824145"/>
            <a:chOff x="1569145" y="4277596"/>
            <a:chExt cx="514344" cy="824145"/>
          </a:xfrm>
        </p:grpSpPr>
        <p:sp>
          <p:nvSpPr>
            <p:cNvPr id="14" name="Right Arrow 13"/>
            <p:cNvSpPr/>
            <p:nvPr/>
          </p:nvSpPr>
          <p:spPr>
            <a:xfrm rot="17679463">
              <a:off x="1658722" y="4434020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1569145" y="4658492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sp>
        <p:nvSpPr>
          <p:cNvPr id="18" name="Flowchart: Process 17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949" y="1484418"/>
            <a:ext cx="2433029" cy="2433029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8867839" y="1392277"/>
            <a:ext cx="2454765" cy="836901"/>
          </a:xfrm>
          <a:prstGeom prst="wedgeRoundRectCallout">
            <a:avLst>
              <a:gd name="adj1" fmla="val 24201"/>
              <a:gd name="adj2" fmla="val 126337"/>
              <a:gd name="adj3" fmla="val 16667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Consolas" panose="020B0609020204030204" pitchFamily="49" charset="0"/>
              </a:rPr>
              <a:t>Sub main()</a:t>
            </a:r>
          </a:p>
          <a:p>
            <a:r>
              <a:rPr lang="en-US" sz="900">
                <a:latin typeface="Consolas" panose="020B0609020204030204" pitchFamily="49" charset="0"/>
              </a:rPr>
              <a:t>    MsgBox "Inginerie Inversa"</a:t>
            </a:r>
          </a:p>
          <a:p>
            <a:r>
              <a:rPr lang="en-US" sz="900">
                <a:latin typeface="Consolas" panose="020B0609020204030204" pitchFamily="49" charset="0"/>
              </a:rPr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3209334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Regim de compilare sufficient</a:t>
            </a:r>
            <a:br>
              <a:rPr lang="en-US"/>
            </a:br>
            <a:r>
              <a:rPr lang="en-US" sz="2000"/>
              <a:t>compilare (minimal.cpp)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E29E0-0478-40A0-9F89-5325FCB3F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04" y="2389124"/>
            <a:ext cx="9623228" cy="1124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807C4-4686-4E1C-9608-4FF4F2E6B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203" y="3670984"/>
            <a:ext cx="4112541" cy="2774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36D54F-D9F7-438F-A636-8434A5A2810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039738" y="3670985"/>
            <a:ext cx="5315694" cy="2774818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CFEA08-AAC6-4E68-81EF-4C8AC35A4825}"/>
              </a:ext>
            </a:extLst>
          </p:cNvPr>
          <p:cNvSpPr txBox="1"/>
          <p:nvPr/>
        </p:nvSpPr>
        <p:spPr>
          <a:xfrm>
            <a:off x="6734498" y="678141"/>
            <a:ext cx="48747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#include &lt;</a:t>
            </a:r>
            <a:r>
              <a:rPr lang="en-US" sz="900" dirty="0" err="1">
                <a:solidFill>
                  <a:schemeClr val="bg1"/>
                </a:solidFill>
              </a:rPr>
              <a:t>windows.h</a:t>
            </a:r>
            <a:r>
              <a:rPr lang="en-US" sz="900" dirty="0">
                <a:solidFill>
                  <a:schemeClr val="bg1"/>
                </a:solidFill>
              </a:rPr>
              <a:t>&gt;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 err="1">
                <a:solidFill>
                  <a:schemeClr val="bg1"/>
                </a:solidFill>
              </a:rPr>
              <a:t>int</a:t>
            </a:r>
            <a:r>
              <a:rPr lang="en-US" sz="900" dirty="0">
                <a:solidFill>
                  <a:schemeClr val="bg1"/>
                </a:solidFill>
              </a:rPr>
              <a:t> WINAPI </a:t>
            </a:r>
            <a:r>
              <a:rPr lang="en-US" sz="900" dirty="0" err="1">
                <a:solidFill>
                  <a:schemeClr val="bg1"/>
                </a:solidFill>
              </a:rPr>
              <a:t>WinMain</a:t>
            </a:r>
            <a:r>
              <a:rPr lang="en-US" sz="900" dirty="0">
                <a:solidFill>
                  <a:schemeClr val="bg1"/>
                </a:solidFill>
              </a:rPr>
              <a:t>(HINSTANCE </a:t>
            </a:r>
            <a:r>
              <a:rPr lang="en-US" sz="900" dirty="0" err="1">
                <a:solidFill>
                  <a:schemeClr val="bg1"/>
                </a:solidFill>
              </a:rPr>
              <a:t>hInstance</a:t>
            </a:r>
            <a:r>
              <a:rPr lang="en-US" sz="900" dirty="0">
                <a:solidFill>
                  <a:schemeClr val="bg1"/>
                </a:solidFill>
              </a:rPr>
              <a:t>, HINSTANCE </a:t>
            </a:r>
            <a:r>
              <a:rPr lang="en-US" sz="900" dirty="0" err="1">
                <a:solidFill>
                  <a:schemeClr val="bg1"/>
                </a:solidFill>
              </a:rPr>
              <a:t>hPrevInstance</a:t>
            </a:r>
            <a:r>
              <a:rPr lang="en-US" sz="900" dirty="0">
                <a:solidFill>
                  <a:schemeClr val="bg1"/>
                </a:solidFill>
              </a:rPr>
              <a:t>, LPSTR </a:t>
            </a:r>
            <a:r>
              <a:rPr lang="en-US" sz="900" dirty="0" err="1">
                <a:solidFill>
                  <a:schemeClr val="bg1"/>
                </a:solidFill>
              </a:rPr>
              <a:t>lpCmdLine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int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nCmdShow</a:t>
            </a:r>
            <a:r>
              <a:rPr lang="en-US" sz="900" dirty="0">
                <a:solidFill>
                  <a:schemeClr val="bg1"/>
                </a:solidFill>
              </a:rPr>
              <a:t>) {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</a:t>
            </a:r>
            <a:r>
              <a:rPr lang="en-US" sz="900" dirty="0" err="1">
                <a:solidFill>
                  <a:schemeClr val="bg1"/>
                </a:solidFill>
              </a:rPr>
              <a:t>MessageBox</a:t>
            </a:r>
            <a:r>
              <a:rPr lang="en-US" sz="900" dirty="0">
                <a:solidFill>
                  <a:schemeClr val="bg1"/>
                </a:solidFill>
              </a:rPr>
              <a:t>(NULL, "</a:t>
            </a:r>
            <a:r>
              <a:rPr lang="en-US" sz="900" dirty="0" err="1">
                <a:solidFill>
                  <a:schemeClr val="bg1"/>
                </a:solidFill>
              </a:rPr>
              <a:t>Inginerie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Inversa</a:t>
            </a:r>
            <a:r>
              <a:rPr lang="en-US" sz="900" dirty="0">
                <a:solidFill>
                  <a:schemeClr val="bg1"/>
                </a:solidFill>
              </a:rPr>
              <a:t>", "Cod malware", MB_OK);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return 0;</a:t>
            </a:r>
          </a:p>
          <a:p>
            <a:r>
              <a:rPr lang="en-US" sz="9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Content Placeholder 19">
            <a:extLst>
              <a:ext uri="{FF2B5EF4-FFF2-40B4-BE49-F238E27FC236}">
                <a16:creationId xmlns:a16="http://schemas.microsoft.com/office/drawing/2014/main" id="{40734BA4-0293-4472-A7C3-29CBAC6E3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203" y="2025915"/>
            <a:ext cx="9623229" cy="284383"/>
          </a:xfrm>
        </p:spPr>
        <p:txBody>
          <a:bodyPr>
            <a:noAutofit/>
          </a:bodyPr>
          <a:lstStyle/>
          <a:p>
            <a:r>
              <a:rPr lang="en-US" sz="1600" dirty="0"/>
              <a:t>g++ -</a:t>
            </a:r>
            <a:r>
              <a:rPr lang="en-US" sz="1600" dirty="0" err="1"/>
              <a:t>Os</a:t>
            </a:r>
            <a:r>
              <a:rPr lang="en-US" sz="1600" dirty="0"/>
              <a:t> -s -</a:t>
            </a:r>
            <a:r>
              <a:rPr lang="en-US" sz="1600" dirty="0" err="1"/>
              <a:t>nostdlib</a:t>
            </a:r>
            <a:r>
              <a:rPr lang="en-US" sz="1600" dirty="0"/>
              <a:t> -</a:t>
            </a:r>
            <a:r>
              <a:rPr lang="en-US" sz="1600" dirty="0" err="1"/>
              <a:t>fno</a:t>
            </a:r>
            <a:r>
              <a:rPr lang="en-US" sz="1600" dirty="0"/>
              <a:t>-exceptions -</a:t>
            </a:r>
            <a:r>
              <a:rPr lang="en-US" sz="1600" dirty="0" err="1"/>
              <a:t>fno-rtti</a:t>
            </a:r>
            <a:r>
              <a:rPr lang="en-US" sz="1600" dirty="0"/>
              <a:t> -</a:t>
            </a:r>
            <a:r>
              <a:rPr lang="en-US" sz="1600" dirty="0" err="1"/>
              <a:t>Wl</a:t>
            </a:r>
            <a:r>
              <a:rPr lang="en-US" sz="1600" dirty="0"/>
              <a:t>,--</a:t>
            </a:r>
            <a:r>
              <a:rPr lang="en-US" sz="1600" dirty="0" err="1"/>
              <a:t>subsystem,windows</a:t>
            </a:r>
            <a:r>
              <a:rPr lang="en-US" sz="1600" dirty="0"/>
              <a:t> minimal.cpp -o minimal.exe -luser32</a:t>
            </a:r>
          </a:p>
        </p:txBody>
      </p:sp>
      <p:sp>
        <p:nvSpPr>
          <p:cNvPr id="9" name="Rectangle 8"/>
          <p:cNvSpPr/>
          <p:nvPr/>
        </p:nvSpPr>
        <p:spPr>
          <a:xfrm rot="16200000">
            <a:off x="-1150135" y="3834999"/>
            <a:ext cx="432919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minimal.exe (3.5Kb)</a:t>
            </a:r>
          </a:p>
        </p:txBody>
      </p:sp>
      <p:sp>
        <p:nvSpPr>
          <p:cNvPr id="11" name="Flowchart: Process 10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767301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Regim de compilare optim</a:t>
            </a:r>
            <a:br>
              <a:rPr lang="en-US"/>
            </a:br>
            <a:r>
              <a:rPr lang="en-US" sz="2000"/>
              <a:t>Compilare cu FASM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-481073" y="3834999"/>
            <a:ext cx="29910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mic.exe (2Kb)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2D0F3-EA23-4CCD-B7FE-E7CFD4E3D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90" y="2266440"/>
            <a:ext cx="6076950" cy="1733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9785B4-F933-43DA-A193-11F7D3497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390" y="4192912"/>
            <a:ext cx="6076950" cy="2085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DBFB25-58DE-4C52-B1EA-8A7C6130BDD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103752" y="2266440"/>
            <a:ext cx="3106206" cy="4006372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864340" y="754422"/>
            <a:ext cx="4244545" cy="906754"/>
          </a:xfrm>
        </p:spPr>
        <p:txBody>
          <a:bodyPr>
            <a:normAutofit fontScale="85000" lnSpcReduction="20000"/>
          </a:bodyPr>
          <a:lstStyle/>
          <a:p>
            <a:r>
              <a:rPr lang="en-US">
                <a:solidFill>
                  <a:schemeClr val="bg1"/>
                </a:solidFill>
              </a:rPr>
              <a:t>cd cale_dir_FASM</a:t>
            </a:r>
          </a:p>
          <a:p>
            <a:r>
              <a:rPr lang="en-US">
                <a:solidFill>
                  <a:schemeClr val="bg1"/>
                </a:solidFill>
              </a:rPr>
              <a:t>FASM.EXE mic.asm mic.exe</a:t>
            </a:r>
          </a:p>
          <a:p>
            <a:r>
              <a:rPr lang="en-US">
                <a:solidFill>
                  <a:schemeClr val="bg1"/>
                </a:solidFill>
              </a:rPr>
              <a:t>FASM vine ca o arhivă, nu trebuie instalat.</a:t>
            </a:r>
          </a:p>
        </p:txBody>
      </p:sp>
      <p:sp>
        <p:nvSpPr>
          <p:cNvPr id="9" name="Flowchart: Process 8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853497" y="5807391"/>
            <a:ext cx="560706" cy="774231"/>
            <a:chOff x="9560" y="4154901"/>
            <a:chExt cx="560706" cy="774231"/>
          </a:xfrm>
        </p:grpSpPr>
        <p:sp>
          <p:nvSpPr>
            <p:cNvPr id="12" name="Right Arrow 11"/>
            <p:cNvSpPr/>
            <p:nvPr/>
          </p:nvSpPr>
          <p:spPr>
            <a:xfrm rot="18327667">
              <a:off x="145499" y="4311325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9560" y="4485883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16370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324909" y="1886"/>
            <a:ext cx="1867091" cy="74191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bg1">
                  <a:lumMod val="85000"/>
                </a:schemeClr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201244" y="163414"/>
            <a:ext cx="10614608" cy="569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Compilare in: </a:t>
            </a:r>
            <a:r>
              <a:rPr lang="en-US">
                <a:solidFill>
                  <a:srgbClr val="C00000"/>
                </a:solidFill>
              </a:rPr>
              <a:t>F</a:t>
            </a:r>
            <a:r>
              <a:rPr lang="en-US" u="sng">
                <a:solidFill>
                  <a:schemeClr val="accent1">
                    <a:lumMod val="75000"/>
                  </a:schemeClr>
                </a:solidFill>
              </a:rPr>
              <a:t>ASM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" y="743805"/>
            <a:ext cx="12192000" cy="6238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195598" y="905333"/>
            <a:ext cx="9996402" cy="5661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4.0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executabilului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fiind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(Portable Executable)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interfața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Windows,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versiunea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4.0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definește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execuția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începe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'INCLUDE/win32a.inc'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include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fișierul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antet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'win32a.inc' care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conține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macro-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definiții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interfața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 API-ul Windows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'.data'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readable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writeable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începe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secțiune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date care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citită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scrisă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Inginerie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Inversa'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definește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caractere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 null (0)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fi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mesaj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'Malware'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definește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șir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caractere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mesaj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 null (0)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'.text'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readable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executable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începe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secțiunea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cod, care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citită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executată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eticheta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'start', care este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programului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valoarea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stivă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reprezentând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handle-ul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fereastra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părinte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niciuna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acest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caz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adresa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șirului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stivă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adresa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șirului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mesaj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stivă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valoarea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stivă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reprezintă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stilul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cutiei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mesaj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(MB_OK)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apelează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user32.dll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valoarea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 pe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stivă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argument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statusul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ieșire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apelează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kernel32.dll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încheia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programul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idata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readable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writeable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începe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secțiunea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importuri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citită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scrisă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kernel32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'KERNEL32.DLL'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că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funcții din KERNEL32.DLL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user32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'USER32.DLL'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USER32.DLL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kernel32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               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începe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definițiile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import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kernel32.dll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că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dorim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acest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DLL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user32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                 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începe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definițiile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import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user32.dll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0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MessageBoxA</a:t>
            </a:r>
            <a:r>
              <a:rPr lang="en-US" sz="10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MessageBoxA</a:t>
            </a:r>
            <a:r>
              <a:rPr lang="en-US" sz="10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0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că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dorim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folosim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MessageBoxA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10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acest</a:t>
            </a:r>
            <a:r>
              <a:rPr lang="en-US" sz="10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DLL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04876" y="774998"/>
            <a:ext cx="45719" cy="608300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eft Brace 2"/>
          <p:cNvSpPr/>
          <p:nvPr/>
        </p:nvSpPr>
        <p:spPr>
          <a:xfrm>
            <a:off x="1713786" y="2817340"/>
            <a:ext cx="376881" cy="1451919"/>
          </a:xfrm>
          <a:prstGeom prst="leftBrac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1709461" y="4508156"/>
            <a:ext cx="376881" cy="1577547"/>
          </a:xfrm>
          <a:prstGeom prst="leftBrac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>
            <a:off x="1767018" y="2038865"/>
            <a:ext cx="323649" cy="618308"/>
          </a:xfrm>
          <a:prstGeom prst="leftBrace">
            <a:avLst>
              <a:gd name="adj1" fmla="val 12151"/>
              <a:gd name="adj2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3057" y="2144819"/>
            <a:ext cx="657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.data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22" y="3358633"/>
            <a:ext cx="600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.text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25" y="5099907"/>
            <a:ext cx="710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.idata</a:t>
            </a:r>
          </a:p>
        </p:txBody>
      </p:sp>
    </p:spTree>
    <p:extLst>
      <p:ext uri="{BB962C8B-B14F-4D97-AF65-F5344CB8AC3E}">
        <p14:creationId xmlns:p14="http://schemas.microsoft.com/office/powerpoint/2010/main" val="3710307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Process 11"/>
          <p:cNvSpPr/>
          <p:nvPr/>
        </p:nvSpPr>
        <p:spPr>
          <a:xfrm>
            <a:off x="432727" y="1922774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argumentele pe stivă</a:t>
            </a:r>
          </a:p>
        </p:txBody>
      </p:sp>
      <p:sp>
        <p:nvSpPr>
          <p:cNvPr id="4" name="Rectangle 3"/>
          <p:cNvSpPr/>
          <p:nvPr/>
        </p:nvSpPr>
        <p:spPr>
          <a:xfrm>
            <a:off x="928815" y="2495346"/>
            <a:ext cx="6096000" cy="12614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uType = MB_OK (deoarece 0 corespunde acestui stil)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lpCaption = pointer către titlul cutiei de mesaj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lpText = pointer către textul cutiei de mesaj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hWnd = NULL (cutia de mesaj nu are fereastră părinte)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0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00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MessageBoxA</a:t>
            </a:r>
            <a:r>
              <a:rPr lang="en-US" sz="100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00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i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Apelează funcția MessageBoxA cu argumentele de pe stivă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47650-D8A0-4D22-AB24-72B6763D78DC}"/>
              </a:ext>
            </a:extLst>
          </p:cNvPr>
          <p:cNvSpPr txBox="1"/>
          <p:nvPr/>
        </p:nvSpPr>
        <p:spPr>
          <a:xfrm>
            <a:off x="928815" y="4355102"/>
            <a:ext cx="9765958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</a:rPr>
              <a:t>push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 care le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vezi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cod sunt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pune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argumentele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funcția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dirty="0" err="1">
                <a:solidFill>
                  <a:schemeClr val="accent5">
                    <a:lumMod val="75000"/>
                  </a:schemeClr>
                </a:solidFill>
              </a:rPr>
              <a:t>MessageBoxA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 În Windows,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majoritatea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apelurilor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funcții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către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API-ul Win32 se fac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prin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intermediul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Astfel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argumentele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dirty="0" err="1">
                <a:solidFill>
                  <a:schemeClr val="accent5">
                    <a:lumMod val="75000"/>
                  </a:schemeClr>
                </a:solidFill>
              </a:rPr>
              <a:t>MessageBoxA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sunt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împinse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ordinea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inversă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parametrilor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deoarece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structură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tip LIFO (Last In, First Out).</a:t>
            </a:r>
          </a:p>
          <a:p>
            <a:pPr algn="l"/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Funcția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i="0" dirty="0" err="1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MessageBoxA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următorii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patru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parametri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listati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aici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ordinea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trebuie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fie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împinși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</a:t>
            </a:r>
          </a:p>
          <a:p>
            <a:pPr algn="l"/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uType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-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Stilul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cutiei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mesaj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(de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exemplu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butoanele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vor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apărea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lpCaption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- Un pointer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către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un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caractere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null-terminated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reprezintă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titlul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cutiei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mesaj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lpText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- Un pointer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către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un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caractere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null-terminated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reprezintă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textul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fi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afișat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cutia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mesaj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hWnd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- Un handle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către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fereastra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părinte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cutiei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mesaj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Dacă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acesta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NULL,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cutia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mesaj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nu 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fereastră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părinte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Söh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518A1-A8DD-4F0C-97E9-8CDB522E5A24}"/>
              </a:ext>
            </a:extLst>
          </p:cNvPr>
          <p:cNvSpPr txBox="1"/>
          <p:nvPr/>
        </p:nvSpPr>
        <p:spPr>
          <a:xfrm>
            <a:off x="7170614" y="908974"/>
            <a:ext cx="43104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Fiecare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push</a:t>
            </a:r>
            <a:r>
              <a:rPr lang="en-US" sz="1100" b="0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pune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un argument pe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ordinea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corectă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astfel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încât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când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MessageBoxA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este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apelată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aceasta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să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poată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extrage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utiliza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aceste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argumente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 mod </a:t>
            </a:r>
            <a:r>
              <a:rPr lang="en-US" sz="1100" b="0" i="0" dirty="0" err="1">
                <a:solidFill>
                  <a:schemeClr val="bg1"/>
                </a:solidFill>
                <a:effectLst/>
                <a:latin typeface="Söhne"/>
              </a:rPr>
              <a:t>corespunzător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Söhne"/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1724" y="3935627"/>
            <a:ext cx="10552671" cy="617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11" y="2194598"/>
            <a:ext cx="1562184" cy="15621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170D6D-EB97-28ED-E625-7342173E9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10136" y="5091188"/>
            <a:ext cx="3070926" cy="1168176"/>
          </a:xfrm>
          <a:prstGeom prst="rect">
            <a:avLst/>
          </a:prstGeom>
        </p:spPr>
      </p:pic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123C1946-FAF5-5CCC-20E3-E516FAE77716}"/>
              </a:ext>
            </a:extLst>
          </p:cNvPr>
          <p:cNvSpPr/>
          <p:nvPr/>
        </p:nvSpPr>
        <p:spPr>
          <a:xfrm>
            <a:off x="8315025" y="4977204"/>
            <a:ext cx="3261148" cy="1396143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679505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Process 10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Diferențele </a:t>
            </a:r>
            <a:r>
              <a:rPr lang="en-US" sz="1800"/>
              <a:t>dintre </a:t>
            </a:r>
            <a:br>
              <a:rPr lang="en-US" sz="1800"/>
            </a:br>
            <a:r>
              <a:rPr lang="en-US" sz="1300"/>
              <a:t>limbajele de programare </a:t>
            </a:r>
            <a:br>
              <a:rPr lang="en-US" sz="1300"/>
            </a:br>
            <a:r>
              <a:rPr lang="en-US" sz="1800"/>
              <a:t>moderne și clasice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81193" y="2598510"/>
            <a:ext cx="11029615" cy="3678303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[Python] p.exe (6Mb)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[C++] fmare.exe (2.74Mb)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[C++] mare.exe (930Kb)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[VB6.0] mini.exe (16Kb)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[C++] minimal.exe (3.5Kb)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[FASM] mic.exe (2Kb)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881" y="4373633"/>
            <a:ext cx="1905165" cy="19051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891" y="1290317"/>
            <a:ext cx="3810000" cy="381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197" y="1853130"/>
            <a:ext cx="2584531" cy="258453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179" y="5425940"/>
            <a:ext cx="3750111" cy="108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542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347863" y="1073756"/>
            <a:ext cx="10354541" cy="276652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C.6.6</a:t>
            </a:r>
            <a:br>
              <a:rPr lang="en-US" dirty="0"/>
            </a:br>
            <a:r>
              <a:rPr lang="en-US" dirty="0" err="1"/>
              <a:t>Arhitectura</a:t>
            </a:r>
            <a:r>
              <a:rPr lang="en-US" dirty="0"/>
              <a:t> CPU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instrucțiunile</a:t>
            </a:r>
            <a:r>
              <a:rPr lang="en-US" dirty="0"/>
              <a:t> de </a:t>
            </a:r>
            <a:r>
              <a:rPr lang="en-US" dirty="0" err="1"/>
              <a:t>bază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886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Process 6"/>
          <p:cNvSpPr/>
          <p:nvPr/>
        </p:nvSpPr>
        <p:spPr>
          <a:xfrm>
            <a:off x="451262" y="1957630"/>
            <a:ext cx="11289474" cy="474268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Secțiune / rol</a:t>
            </a:r>
            <a:br>
              <a:rPr lang="en-US"/>
            </a:br>
            <a:r>
              <a:rPr lang="en-US" sz="2000"/>
              <a:t>Conventie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288" y="2229923"/>
            <a:ext cx="6245915" cy="414616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.text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mașină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real pe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CPU.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.data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variabile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globale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statice care sunt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inițializate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programator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rdata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rodata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ELF)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similară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.data,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obicei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constante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bss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deține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variabile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încep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neinițializate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inițializate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zero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către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pornirea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Adnotările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scrise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mână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sugerează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înțelegerea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faptului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variabilele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declarate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bss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sunt destinate a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atribuite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târziu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Variabila din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.data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inițializată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imediat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variabila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rdata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rodata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atât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inițializată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cât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marcată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finală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sugerează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că nu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modificată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după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atribuirea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inițială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fiind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astfel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plasată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într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secțiune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414054" y="2071787"/>
            <a:ext cx="4196753" cy="4304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.text: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Cod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executabil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asamblare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).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.data: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inițiale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scriere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).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 x = 98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sz="17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sz="1700" dirty="0" err="1">
                <a:solidFill>
                  <a:schemeClr val="accent5">
                    <a:lumMod val="75000"/>
                  </a:schemeClr>
                </a:solidFill>
              </a:rPr>
              <a:t>rdata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sz="1700" dirty="0" err="1">
                <a:solidFill>
                  <a:schemeClr val="accent5">
                    <a:lumMod val="75000"/>
                  </a:schemeClr>
                </a:solidFill>
              </a:rPr>
              <a:t>rodata</a:t>
            </a: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inițializate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doar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).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 int x = 98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sz="17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.</a:t>
            </a:r>
            <a:r>
              <a:rPr lang="en-US" sz="1700" dirty="0" err="1">
                <a:solidFill>
                  <a:schemeClr val="accent5">
                    <a:lumMod val="75000"/>
                  </a:schemeClr>
                </a:solidFill>
              </a:rPr>
              <a:t>bss</a:t>
            </a:r>
            <a:r>
              <a:rPr lang="en-US" sz="1700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neinițializate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citire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scriere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).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 x (cu o nota „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alocați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târziu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”)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7143229" y="1013254"/>
            <a:ext cx="91655" cy="5687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Process 8"/>
          <p:cNvSpPr/>
          <p:nvPr/>
        </p:nvSpPr>
        <p:spPr>
          <a:xfrm>
            <a:off x="7414054" y="2199304"/>
            <a:ext cx="4121454" cy="42240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7414054" y="2959543"/>
            <a:ext cx="4121454" cy="42240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7414054" y="4117773"/>
            <a:ext cx="4121454" cy="652454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7414054" y="5499660"/>
            <a:ext cx="4121454" cy="42240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014154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068" y="768086"/>
            <a:ext cx="5489053" cy="5810611"/>
          </a:xfrm>
          <a:prstGeom prst="rect">
            <a:avLst/>
          </a:prstGeom>
        </p:spPr>
      </p:pic>
      <p:sp>
        <p:nvSpPr>
          <p:cNvPr id="23" name="Flowchart: Process 22"/>
          <p:cNvSpPr/>
          <p:nvPr/>
        </p:nvSpPr>
        <p:spPr>
          <a:xfrm>
            <a:off x="6259519" y="63080"/>
            <a:ext cx="5831567" cy="6677529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1" name="Flowchart: Process 20"/>
          <p:cNvSpPr/>
          <p:nvPr/>
        </p:nvSpPr>
        <p:spPr>
          <a:xfrm>
            <a:off x="117181" y="63081"/>
            <a:ext cx="6024127" cy="6677529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8129231" y="3439888"/>
            <a:ext cx="697381" cy="467006"/>
            <a:chOff x="8049424" y="3180682"/>
            <a:chExt cx="697381" cy="467006"/>
          </a:xfrm>
        </p:grpSpPr>
        <p:sp>
          <p:nvSpPr>
            <p:cNvPr id="6" name="Right Arrow 5"/>
            <p:cNvSpPr/>
            <p:nvPr/>
          </p:nvSpPr>
          <p:spPr>
            <a:xfrm rot="12951826">
              <a:off x="8049424" y="3180682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8282847" y="3204439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2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63519" y="63082"/>
            <a:ext cx="6096000" cy="694087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'INCLUDE/win32a.inc'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'.data'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readable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writeable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hFile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bytesRead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'C:\\test.txt'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fileBuffer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dup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buffer </a:t>
            </a:r>
            <a:r>
              <a:rPr lang="en-US" sz="8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8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i="1" dirty="0" err="1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continut</a:t>
            </a:r>
            <a:r>
              <a:rPr lang="en-US" sz="800" i="1" dirty="0">
                <a:solidFill>
                  <a:srgbClr val="93A1A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!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messageTitle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'File Content'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errorTitle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'Error'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errorMsg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'The file could not be opened.'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formatMessageBuffer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dup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blabla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readable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executable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CreateFile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GENERIC_READ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FILE_SHARE_READ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OPEN_EXISTING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FILE_ATTRIBUTE_NORMAL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hFile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INVALID_HANDLE_VALUE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jne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read_file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jmp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display_error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read_file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ReadFile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hFile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fileBuffer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bytesRead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CloseHandle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hFile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dword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bytesRead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jne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display_message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jmp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display_error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display_message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fileBuffer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messageTitle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MB_OK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jmp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finished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display_error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GetLastError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FormatMessage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FORMAT_MESSAGE_FROM_SYSTEM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CB4B1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formatMessageBuffer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formatMessageBuffer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errorTitle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MB_OK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finished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idata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readable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writeable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kernel32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'KERNEL32.DLL'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user32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'USER32.DLL'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kernel32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CreateFile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CreateFileA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ReadFile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ReadFile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CloseHandle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CloseHandle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,\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GetLastError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GetLastError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FormatMessage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FormatMessageA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dirty="0" err="1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>
                <a:solidFill>
                  <a:srgbClr val="268BD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user32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B589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</a:t>
            </a:r>
            <a:r>
              <a:rPr lang="en-US" sz="800" dirty="0">
                <a:solidFill>
                  <a:srgbClr val="586E7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800" dirty="0">
                <a:solidFill>
                  <a:srgbClr val="657B8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800" dirty="0" err="1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MessageBoxA</a:t>
            </a:r>
            <a:r>
              <a:rPr lang="en-US" sz="800" dirty="0">
                <a:solidFill>
                  <a:srgbClr val="2AA19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651951" y="1900242"/>
            <a:ext cx="754553" cy="443249"/>
            <a:chOff x="2583989" y="1855492"/>
            <a:chExt cx="754553" cy="443249"/>
          </a:xfrm>
        </p:grpSpPr>
        <p:sp>
          <p:nvSpPr>
            <p:cNvPr id="17" name="Right Arrow 16"/>
            <p:cNvSpPr/>
            <p:nvPr/>
          </p:nvSpPr>
          <p:spPr>
            <a:xfrm rot="10800000">
              <a:off x="2583989" y="1936768"/>
              <a:ext cx="581192" cy="268343"/>
            </a:xfrm>
            <a:prstGeom prst="rightArrow">
              <a:avLst>
                <a:gd name="adj1" fmla="val 50000"/>
                <a:gd name="adj2" fmla="val 80341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874584" y="1855492"/>
              <a:ext cx="463958" cy="4432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979" y="393663"/>
            <a:ext cx="1562184" cy="156218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431638" y="230917"/>
            <a:ext cx="4378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Definire sectiuni din </a:t>
            </a:r>
            <a:r>
              <a:rPr lang="en-US" sz="2400">
                <a:solidFill>
                  <a:srgbClr val="C00000"/>
                </a:solidFill>
              </a:rPr>
              <a:t>.text </a:t>
            </a: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in </a:t>
            </a:r>
            <a:r>
              <a:rPr lang="en-US" sz="2400">
                <a:solidFill>
                  <a:srgbClr val="C00000"/>
                </a:solidFill>
              </a:rPr>
              <a:t>.orice</a:t>
            </a:r>
          </a:p>
        </p:txBody>
      </p:sp>
    </p:spTree>
    <p:extLst>
      <p:ext uri="{BB962C8B-B14F-4D97-AF65-F5344CB8AC3E}">
        <p14:creationId xmlns:p14="http://schemas.microsoft.com/office/powerpoint/2010/main" val="32927110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827108" y="571262"/>
            <a:ext cx="5029200" cy="1304450"/>
          </a:xfrm>
          <a:custGeom>
            <a:avLst/>
            <a:gdLst>
              <a:gd name="connsiteX0" fmla="*/ 0 w 586946"/>
              <a:gd name="connsiteY0" fmla="*/ 97826 h 1268157"/>
              <a:gd name="connsiteX1" fmla="*/ 97826 w 586946"/>
              <a:gd name="connsiteY1" fmla="*/ 0 h 1268157"/>
              <a:gd name="connsiteX2" fmla="*/ 489120 w 586946"/>
              <a:gd name="connsiteY2" fmla="*/ 0 h 1268157"/>
              <a:gd name="connsiteX3" fmla="*/ 586946 w 586946"/>
              <a:gd name="connsiteY3" fmla="*/ 97826 h 1268157"/>
              <a:gd name="connsiteX4" fmla="*/ 586946 w 586946"/>
              <a:gd name="connsiteY4" fmla="*/ 1170331 h 1268157"/>
              <a:gd name="connsiteX5" fmla="*/ 489120 w 586946"/>
              <a:gd name="connsiteY5" fmla="*/ 1268157 h 1268157"/>
              <a:gd name="connsiteX6" fmla="*/ 97826 w 586946"/>
              <a:gd name="connsiteY6" fmla="*/ 1268157 h 1268157"/>
              <a:gd name="connsiteX7" fmla="*/ 0 w 586946"/>
              <a:gd name="connsiteY7" fmla="*/ 1170331 h 1268157"/>
              <a:gd name="connsiteX8" fmla="*/ 0 w 586946"/>
              <a:gd name="connsiteY8" fmla="*/ 97826 h 1268157"/>
              <a:gd name="connsiteX0" fmla="*/ 0 w 1859692"/>
              <a:gd name="connsiteY0" fmla="*/ 25424 h 1288431"/>
              <a:gd name="connsiteX1" fmla="*/ 1370572 w 1859692"/>
              <a:gd name="connsiteY1" fmla="*/ 20274 h 1288431"/>
              <a:gd name="connsiteX2" fmla="*/ 1761866 w 1859692"/>
              <a:gd name="connsiteY2" fmla="*/ 20274 h 1288431"/>
              <a:gd name="connsiteX3" fmla="*/ 1859692 w 1859692"/>
              <a:gd name="connsiteY3" fmla="*/ 118100 h 1288431"/>
              <a:gd name="connsiteX4" fmla="*/ 1859692 w 1859692"/>
              <a:gd name="connsiteY4" fmla="*/ 1190605 h 1288431"/>
              <a:gd name="connsiteX5" fmla="*/ 1761866 w 1859692"/>
              <a:gd name="connsiteY5" fmla="*/ 1288431 h 1288431"/>
              <a:gd name="connsiteX6" fmla="*/ 1370572 w 1859692"/>
              <a:gd name="connsiteY6" fmla="*/ 1288431 h 1288431"/>
              <a:gd name="connsiteX7" fmla="*/ 1272746 w 1859692"/>
              <a:gd name="connsiteY7" fmla="*/ 1190605 h 1288431"/>
              <a:gd name="connsiteX8" fmla="*/ 0 w 1859692"/>
              <a:gd name="connsiteY8" fmla="*/ 25424 h 1288431"/>
              <a:gd name="connsiteX0" fmla="*/ 0 w 1859692"/>
              <a:gd name="connsiteY0" fmla="*/ 25424 h 1288431"/>
              <a:gd name="connsiteX1" fmla="*/ 1370572 w 1859692"/>
              <a:gd name="connsiteY1" fmla="*/ 20274 h 1288431"/>
              <a:gd name="connsiteX2" fmla="*/ 1761866 w 1859692"/>
              <a:gd name="connsiteY2" fmla="*/ 20274 h 1288431"/>
              <a:gd name="connsiteX3" fmla="*/ 1859692 w 1859692"/>
              <a:gd name="connsiteY3" fmla="*/ 118100 h 1288431"/>
              <a:gd name="connsiteX4" fmla="*/ 1859692 w 1859692"/>
              <a:gd name="connsiteY4" fmla="*/ 1190605 h 1288431"/>
              <a:gd name="connsiteX5" fmla="*/ 1761866 w 1859692"/>
              <a:gd name="connsiteY5" fmla="*/ 1288431 h 1288431"/>
              <a:gd name="connsiteX6" fmla="*/ 1370572 w 1859692"/>
              <a:gd name="connsiteY6" fmla="*/ 1288431 h 1288431"/>
              <a:gd name="connsiteX7" fmla="*/ 1303638 w 1859692"/>
              <a:gd name="connsiteY7" fmla="*/ 962005 h 1288431"/>
              <a:gd name="connsiteX8" fmla="*/ 0 w 1859692"/>
              <a:gd name="connsiteY8" fmla="*/ 25424 h 1288431"/>
              <a:gd name="connsiteX0" fmla="*/ 0 w 5029200"/>
              <a:gd name="connsiteY0" fmla="*/ 25424 h 1288431"/>
              <a:gd name="connsiteX1" fmla="*/ 1370572 w 5029200"/>
              <a:gd name="connsiteY1" fmla="*/ 20274 h 1288431"/>
              <a:gd name="connsiteX2" fmla="*/ 1761866 w 5029200"/>
              <a:gd name="connsiteY2" fmla="*/ 20274 h 1288431"/>
              <a:gd name="connsiteX3" fmla="*/ 5029200 w 5029200"/>
              <a:gd name="connsiteY3" fmla="*/ 31603 h 1288431"/>
              <a:gd name="connsiteX4" fmla="*/ 1859692 w 5029200"/>
              <a:gd name="connsiteY4" fmla="*/ 1190605 h 1288431"/>
              <a:gd name="connsiteX5" fmla="*/ 1761866 w 5029200"/>
              <a:gd name="connsiteY5" fmla="*/ 1288431 h 1288431"/>
              <a:gd name="connsiteX6" fmla="*/ 1370572 w 5029200"/>
              <a:gd name="connsiteY6" fmla="*/ 1288431 h 1288431"/>
              <a:gd name="connsiteX7" fmla="*/ 1303638 w 5029200"/>
              <a:gd name="connsiteY7" fmla="*/ 962005 h 1288431"/>
              <a:gd name="connsiteX8" fmla="*/ 0 w 5029200"/>
              <a:gd name="connsiteY8" fmla="*/ 25424 h 1288431"/>
              <a:gd name="connsiteX0" fmla="*/ 0 w 5029200"/>
              <a:gd name="connsiteY0" fmla="*/ 25424 h 1304450"/>
              <a:gd name="connsiteX1" fmla="*/ 1370572 w 5029200"/>
              <a:gd name="connsiteY1" fmla="*/ 20274 h 1304450"/>
              <a:gd name="connsiteX2" fmla="*/ 1761866 w 5029200"/>
              <a:gd name="connsiteY2" fmla="*/ 20274 h 1304450"/>
              <a:gd name="connsiteX3" fmla="*/ 5029200 w 5029200"/>
              <a:gd name="connsiteY3" fmla="*/ 31603 h 1304450"/>
              <a:gd name="connsiteX4" fmla="*/ 5010665 w 5029200"/>
              <a:gd name="connsiteY4" fmla="*/ 1277103 h 1304450"/>
              <a:gd name="connsiteX5" fmla="*/ 1761866 w 5029200"/>
              <a:gd name="connsiteY5" fmla="*/ 1288431 h 1304450"/>
              <a:gd name="connsiteX6" fmla="*/ 1370572 w 5029200"/>
              <a:gd name="connsiteY6" fmla="*/ 1288431 h 1304450"/>
              <a:gd name="connsiteX7" fmla="*/ 1303638 w 5029200"/>
              <a:gd name="connsiteY7" fmla="*/ 962005 h 1304450"/>
              <a:gd name="connsiteX8" fmla="*/ 0 w 5029200"/>
              <a:gd name="connsiteY8" fmla="*/ 25424 h 130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29200" h="1304450">
                <a:moveTo>
                  <a:pt x="0" y="25424"/>
                </a:moveTo>
                <a:cubicBezTo>
                  <a:pt x="0" y="-28604"/>
                  <a:pt x="1316544" y="20274"/>
                  <a:pt x="1370572" y="20274"/>
                </a:cubicBezTo>
                <a:lnTo>
                  <a:pt x="1761866" y="20274"/>
                </a:lnTo>
                <a:lnTo>
                  <a:pt x="5029200" y="31603"/>
                </a:lnTo>
                <a:lnTo>
                  <a:pt x="5010665" y="1277103"/>
                </a:lnTo>
                <a:cubicBezTo>
                  <a:pt x="5010665" y="1331131"/>
                  <a:pt x="1815894" y="1288431"/>
                  <a:pt x="1761866" y="1288431"/>
                </a:cubicBezTo>
                <a:lnTo>
                  <a:pt x="1370572" y="1288431"/>
                </a:lnTo>
                <a:cubicBezTo>
                  <a:pt x="1316544" y="1288431"/>
                  <a:pt x="1303638" y="1016033"/>
                  <a:pt x="1303638" y="962005"/>
                </a:cubicBezTo>
                <a:cubicBezTo>
                  <a:pt x="1303638" y="604503"/>
                  <a:pt x="0" y="382926"/>
                  <a:pt x="0" y="254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83473" y="1013254"/>
            <a:ext cx="45719" cy="37193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Process 6"/>
          <p:cNvSpPr/>
          <p:nvPr/>
        </p:nvSpPr>
        <p:spPr>
          <a:xfrm>
            <a:off x="469981" y="1963894"/>
            <a:ext cx="11287473" cy="4677863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Tabelul</a:t>
            </a:r>
            <a:r>
              <a:rPr lang="en-US" dirty="0"/>
              <a:t> de </a:t>
            </a:r>
            <a:r>
              <a:rPr lang="en-US" dirty="0" err="1"/>
              <a:t>Instrucțiuni</a:t>
            </a:r>
            <a:r>
              <a:rPr lang="en-US" dirty="0"/>
              <a:t> x86 </a:t>
            </a:r>
            <a:br>
              <a:rPr lang="en-US" dirty="0"/>
            </a:br>
            <a:r>
              <a:rPr lang="en-US" sz="2000" dirty="0" err="1"/>
              <a:t>Instrucțiunile</a:t>
            </a:r>
            <a:r>
              <a:rPr lang="en-US" sz="2000" dirty="0"/>
              <a:t> opcode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arhitectura</a:t>
            </a:r>
            <a:r>
              <a:rPr lang="en-US" sz="2000" dirty="0"/>
              <a:t> x86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731" y="2059281"/>
            <a:ext cx="6567992" cy="2570677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Crearea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detaliat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x86,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includă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opcode-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efecte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asupra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flagurilor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reprezintă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sarcină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amplă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cauza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numărului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mare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complexității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arhitecturii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x86.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Totuși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format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exemplificativ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astfel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aplicat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bază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model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servi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drept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punct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plecare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elaborarea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material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educațional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cuprinzător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destinat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curs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inginerie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inversă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acoperă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mică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parte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setul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x86. Pentru 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listă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completă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detalii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despre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fiecare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inclusiv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modurile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detaliate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efectele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exacte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asupra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flagurilor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este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recomandat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consultați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documentația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oficială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producătorului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procesor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exemplu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manualele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la Intel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AMD)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resurse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specializate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arhitectura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x86.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resurse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oferi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informațiile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necesare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înțelege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profunzime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x86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interacționează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 hardware-ul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computerului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75838" y="1484054"/>
            <a:ext cx="413497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Note: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Opcode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Codul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operației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Unele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au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multe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opcode-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funcție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modul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adresare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dimensiunea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operandului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Moduri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Adresare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Indică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cum sunt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specificați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operanzii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(e.g., direct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prin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registre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prin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memorie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Efecte Asupra </a:t>
            </a: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Flagurilor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Indică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flaguri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registrul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EFLAGS sunt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modificate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execuția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instrucțiunii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Descriere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O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scurtă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explicație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operației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efectuate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instrucțiune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766670"/>
              </p:ext>
            </p:extLst>
          </p:nvPr>
        </p:nvGraphicFramePr>
        <p:xfrm>
          <a:off x="884538" y="4728874"/>
          <a:ext cx="10638139" cy="1762120"/>
        </p:xfrm>
        <a:graphic>
          <a:graphicData uri="http://schemas.openxmlformats.org/drawingml/2006/table">
            <a:tbl>
              <a:tblPr/>
              <a:tblGrid>
                <a:gridCol w="75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5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149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Mnemonic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Opcode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Moduri de Adresare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Efecte Asupra Flagurilor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Descriere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9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MOV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Diverse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Registru, Memorie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Niciunul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Transferă date între registri sau între registru și memorie fără a modifica flagurile.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23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ADD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03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Registru, Memorie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CF, ZF, SF, OF, PF, AF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Adună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operanzi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și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stochează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rezultatul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în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operandul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destinatar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actualizând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flagurile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de stare.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23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SUB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2D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Registru, Memorie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CF, ZF, SF, OF, PF, AF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Scade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operandul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sursă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din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operandul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destinatar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și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stochează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rezultatul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în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destinatar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actualizând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flagurile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de stare.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823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CMP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3D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Registru, Memorie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ZF, SF, OF, PF, CF, AF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Compară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operanzi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prin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scădere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și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setează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flagurile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de stare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în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consecință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fără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a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stochea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rezultatul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49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JMP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E9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Direct, Indirect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Niciunul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Efectuează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un salt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necondiționat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la adresa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specificată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sau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la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cea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calculată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49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JE/JZ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74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Direct, Indirect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Utilizează ZF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Efectuează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salt la adresa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specificată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dacă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flagul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ZF este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setat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(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egalitate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sau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zero).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49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JNE/JNZ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75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Direct, Indirect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Utilizează ZF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Efectuează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salt la adresa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specificată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dacă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flagul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ZF nu este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setat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(nu este egal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sau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nu este zero).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49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CALL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E8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Direct, Indirect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Niciunul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Apelază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o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subrutină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la adresa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specificată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și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pune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adresa de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retur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pe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stivă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49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RET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C3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N/A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Niciunul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Întoarce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execuția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la adresa de pe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vârful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stivei</a:t>
                      </a: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</a:t>
                      </a:r>
                    </a:p>
                  </a:txBody>
                  <a:tcPr marL="23812" marR="23812" marT="11906" marB="11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381" y="661241"/>
            <a:ext cx="2827300" cy="105471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1595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8528EE4F-B61C-1681-6D23-660493983705}"/>
              </a:ext>
            </a:extLst>
          </p:cNvPr>
          <p:cNvSpPr/>
          <p:nvPr/>
        </p:nvSpPr>
        <p:spPr>
          <a:xfrm>
            <a:off x="8660487" y="667716"/>
            <a:ext cx="3015698" cy="70708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Flowchart: Process 12"/>
          <p:cNvSpPr/>
          <p:nvPr/>
        </p:nvSpPr>
        <p:spPr>
          <a:xfrm>
            <a:off x="450395" y="1963894"/>
            <a:ext cx="11307059" cy="4313337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Tabele</a:t>
            </a:r>
            <a:r>
              <a:rPr lang="en-US" dirty="0"/>
              <a:t> de </a:t>
            </a:r>
            <a:r>
              <a:rPr lang="en-US" dirty="0" err="1"/>
              <a:t>Moduri</a:t>
            </a:r>
            <a:r>
              <a:rPr lang="en-US" dirty="0"/>
              <a:t> de </a:t>
            </a:r>
            <a:r>
              <a:rPr lang="en-US" dirty="0" err="1"/>
              <a:t>Adresare</a:t>
            </a:r>
            <a:br>
              <a:rPr lang="en-US" dirty="0"/>
            </a:br>
            <a:r>
              <a:rPr lang="en-US" sz="1200" dirty="0" err="1"/>
              <a:t>Modurile</a:t>
            </a:r>
            <a:r>
              <a:rPr lang="en-US" sz="1200" dirty="0"/>
              <a:t> de </a:t>
            </a:r>
            <a:r>
              <a:rPr lang="en-US" sz="1200" dirty="0" err="1"/>
              <a:t>adresare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arhitectura</a:t>
            </a:r>
            <a:r>
              <a:rPr lang="en-US" sz="1200" dirty="0"/>
              <a:t> x86 </a:t>
            </a:r>
            <a:r>
              <a:rPr lang="en-US" sz="1200" dirty="0" err="1"/>
              <a:t>definesc</a:t>
            </a:r>
            <a:r>
              <a:rPr lang="en-US" sz="1200" dirty="0"/>
              <a:t> </a:t>
            </a:r>
            <a:r>
              <a:rPr lang="en-US" sz="1200" dirty="0" err="1"/>
              <a:t>modul</a:t>
            </a:r>
            <a:r>
              <a:rPr lang="en-US" sz="1200" dirty="0"/>
              <a:t> </a:t>
            </a:r>
            <a:r>
              <a:rPr lang="en-US" sz="1200" dirty="0" err="1"/>
              <a:t>în</a:t>
            </a:r>
            <a:r>
              <a:rPr lang="en-US" sz="1200" dirty="0"/>
              <a:t> care </a:t>
            </a:r>
            <a:r>
              <a:rPr lang="en-US" sz="1200" dirty="0" err="1"/>
              <a:t>instrucțiunile</a:t>
            </a:r>
            <a:r>
              <a:rPr lang="en-US" sz="1200" dirty="0"/>
              <a:t> </a:t>
            </a:r>
            <a:r>
              <a:rPr lang="en-US" sz="1200" dirty="0" err="1"/>
              <a:t>accesează</a:t>
            </a:r>
            <a:r>
              <a:rPr lang="en-US" sz="1200" dirty="0"/>
              <a:t> </a:t>
            </a:r>
            <a:r>
              <a:rPr lang="en-US" sz="1200" dirty="0" err="1"/>
              <a:t>datele</a:t>
            </a:r>
            <a:r>
              <a:rPr lang="en-US" sz="1200" dirty="0"/>
              <a:t> din </a:t>
            </a:r>
            <a:r>
              <a:rPr lang="en-US" sz="1200" dirty="0" err="1"/>
              <a:t>memorie</a:t>
            </a:r>
            <a:r>
              <a:rPr lang="en-US" sz="1200" dirty="0"/>
              <a:t> </a:t>
            </a:r>
            <a:r>
              <a:rPr lang="en-US" sz="1200" dirty="0" err="1"/>
              <a:t>sau</a:t>
            </a:r>
            <a:r>
              <a:rPr lang="en-US" sz="1200" dirty="0"/>
              <a:t> </a:t>
            </a:r>
            <a:r>
              <a:rPr lang="en-US" sz="1200" dirty="0" err="1"/>
              <a:t>registre</a:t>
            </a:r>
            <a:endParaRPr lang="en-US" sz="12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32936" y="2567508"/>
            <a:ext cx="745287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Directă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(Immediate Addressing)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Valoarea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operandului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este direct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instrucție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Exemplu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MOV AX, 1234h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Valoarea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1234h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încărcată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direct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registru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Directă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Memoriei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(Direct Memory Addressing)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Adresa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efectivă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operandului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specificată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direct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instrucție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Exemplu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MOV AX, [1234h]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Valoarea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memorie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la adresa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1234h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încărcată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AX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Registru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(Register Addressing)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Operandul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este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registru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Exemplu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MOV AX, BX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Conținutul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BX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copiat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AX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Indirectă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Registru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(Register Indirect Addressing)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Adresa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operandului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într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-un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registru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Exemplu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MOV AX, [BX]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Valoarea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memorie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la adresa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conținută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BX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încărcată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AX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46919" y="2221305"/>
            <a:ext cx="36868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Fiecare</a:t>
            </a:r>
            <a:r>
              <a:rPr lang="en-US" sz="1100" dirty="0"/>
              <a:t> mod de </a:t>
            </a:r>
            <a:r>
              <a:rPr lang="en-US" sz="1100" dirty="0" err="1"/>
              <a:t>adresare</a:t>
            </a:r>
            <a:r>
              <a:rPr lang="en-US" sz="1100" dirty="0"/>
              <a:t> are </a:t>
            </a:r>
            <a:r>
              <a:rPr lang="en-US" sz="1100" dirty="0" err="1"/>
              <a:t>aplicațiile</a:t>
            </a:r>
            <a:r>
              <a:rPr lang="en-US" sz="1100" dirty="0"/>
              <a:t> sale, </a:t>
            </a:r>
            <a:r>
              <a:rPr lang="en-US" sz="1100" dirty="0" err="1"/>
              <a:t>iar</a:t>
            </a:r>
            <a:r>
              <a:rPr lang="en-US" sz="1100" dirty="0"/>
              <a:t> </a:t>
            </a:r>
            <a:r>
              <a:rPr lang="en-US" sz="1100" dirty="0" err="1"/>
              <a:t>alegerea</a:t>
            </a:r>
            <a:r>
              <a:rPr lang="en-US" sz="1100" dirty="0"/>
              <a:t> </a:t>
            </a:r>
            <a:r>
              <a:rPr lang="en-US" sz="1100" dirty="0" err="1"/>
              <a:t>între</a:t>
            </a:r>
            <a:r>
              <a:rPr lang="en-US" sz="1100" dirty="0"/>
              <a:t> </a:t>
            </a:r>
            <a:r>
              <a:rPr lang="en-US" sz="1100" dirty="0" err="1"/>
              <a:t>ele</a:t>
            </a:r>
            <a:r>
              <a:rPr lang="en-US" sz="1100" dirty="0"/>
              <a:t> </a:t>
            </a:r>
            <a:r>
              <a:rPr lang="en-US" sz="1100" dirty="0" err="1"/>
              <a:t>depinde</a:t>
            </a:r>
            <a:r>
              <a:rPr lang="en-US" sz="1100" dirty="0"/>
              <a:t> de </a:t>
            </a:r>
            <a:r>
              <a:rPr lang="en-US" sz="1100" dirty="0" err="1"/>
              <a:t>contextul</a:t>
            </a:r>
            <a:r>
              <a:rPr lang="en-US" sz="1100" dirty="0"/>
              <a:t> </a:t>
            </a:r>
            <a:r>
              <a:rPr lang="en-US" sz="1100" dirty="0" err="1"/>
              <a:t>instrucțiunii</a:t>
            </a:r>
            <a:r>
              <a:rPr lang="en-US" sz="1100" dirty="0"/>
              <a:t> </a:t>
            </a:r>
            <a:r>
              <a:rPr lang="en-US" sz="1100" dirty="0" err="1"/>
              <a:t>și</a:t>
            </a:r>
            <a:r>
              <a:rPr lang="en-US" sz="1100" dirty="0"/>
              <a:t> de </a:t>
            </a:r>
            <a:r>
              <a:rPr lang="en-US" sz="1100" dirty="0" err="1"/>
              <a:t>datele</a:t>
            </a:r>
            <a:r>
              <a:rPr lang="en-US" sz="1100" dirty="0"/>
              <a:t> pe care </a:t>
            </a:r>
            <a:r>
              <a:rPr lang="en-US" sz="1100" dirty="0" err="1"/>
              <a:t>programul</a:t>
            </a:r>
            <a:r>
              <a:rPr lang="en-US" sz="1100" dirty="0"/>
              <a:t> </a:t>
            </a:r>
            <a:r>
              <a:rPr lang="en-US" sz="1100" dirty="0" err="1"/>
              <a:t>intenționează</a:t>
            </a:r>
            <a:r>
              <a:rPr lang="en-US" sz="1100" dirty="0"/>
              <a:t> </a:t>
            </a:r>
            <a:r>
              <a:rPr lang="en-US" sz="1100" dirty="0" err="1"/>
              <a:t>să</a:t>
            </a:r>
            <a:r>
              <a:rPr lang="en-US" sz="1100" dirty="0"/>
              <a:t> le </a:t>
            </a:r>
            <a:r>
              <a:rPr lang="en-US" sz="1100" dirty="0" err="1"/>
              <a:t>acceseze</a:t>
            </a:r>
            <a:r>
              <a:rPr lang="en-US" sz="1100" dirty="0"/>
              <a:t> </a:t>
            </a:r>
            <a:r>
              <a:rPr lang="en-US" sz="1100" dirty="0" err="1"/>
              <a:t>sau</a:t>
            </a:r>
            <a:r>
              <a:rPr lang="en-US" sz="1100" dirty="0"/>
              <a:t> </a:t>
            </a:r>
            <a:r>
              <a:rPr lang="en-US" sz="1100" dirty="0" err="1"/>
              <a:t>să</a:t>
            </a:r>
            <a:r>
              <a:rPr lang="en-US" sz="1100" dirty="0"/>
              <a:t> le </a:t>
            </a:r>
            <a:r>
              <a:rPr lang="en-US" sz="1100" dirty="0" err="1"/>
              <a:t>manipuleze</a:t>
            </a:r>
            <a:r>
              <a:rPr lang="en-US" sz="1100" dirty="0"/>
              <a:t>. </a:t>
            </a:r>
            <a:r>
              <a:rPr lang="en-US" sz="1100" dirty="0" err="1"/>
              <a:t>Înțelegerea</a:t>
            </a:r>
            <a:r>
              <a:rPr lang="en-US" sz="1100" dirty="0"/>
              <a:t> </a:t>
            </a:r>
            <a:r>
              <a:rPr lang="en-US" sz="1100" dirty="0" err="1"/>
              <a:t>acestor</a:t>
            </a:r>
            <a:r>
              <a:rPr lang="en-US" sz="1100" dirty="0"/>
              <a:t> </a:t>
            </a:r>
            <a:r>
              <a:rPr lang="en-US" sz="1100" dirty="0" err="1"/>
              <a:t>moduri</a:t>
            </a:r>
            <a:r>
              <a:rPr lang="en-US" sz="1100" dirty="0"/>
              <a:t> de </a:t>
            </a:r>
            <a:r>
              <a:rPr lang="en-US" sz="1100" dirty="0" err="1"/>
              <a:t>adresare</a:t>
            </a:r>
            <a:r>
              <a:rPr lang="en-US" sz="1100" dirty="0"/>
              <a:t> este </a:t>
            </a:r>
            <a:r>
              <a:rPr lang="en-US" sz="1100" dirty="0" err="1"/>
              <a:t>crucială</a:t>
            </a:r>
            <a:r>
              <a:rPr lang="en-US" sz="1100" dirty="0"/>
              <a:t> </a:t>
            </a:r>
            <a:r>
              <a:rPr lang="en-US" sz="1100" dirty="0" err="1"/>
              <a:t>pentru</a:t>
            </a:r>
            <a:r>
              <a:rPr lang="en-US" sz="1100" dirty="0"/>
              <a:t> </a:t>
            </a:r>
            <a:r>
              <a:rPr lang="en-US" sz="1100" dirty="0" err="1"/>
              <a:t>analiza</a:t>
            </a:r>
            <a:r>
              <a:rPr lang="en-US" sz="1100" dirty="0"/>
              <a:t> </a:t>
            </a:r>
            <a:r>
              <a:rPr lang="en-US" sz="1100" dirty="0" err="1"/>
              <a:t>și</a:t>
            </a:r>
            <a:r>
              <a:rPr lang="en-US" sz="1100" dirty="0"/>
              <a:t> </a:t>
            </a:r>
            <a:r>
              <a:rPr lang="en-US" sz="1100" dirty="0" err="1"/>
              <a:t>dezasamblarea</a:t>
            </a:r>
            <a:r>
              <a:rPr lang="en-US" sz="1100" dirty="0"/>
              <a:t> </a:t>
            </a:r>
            <a:r>
              <a:rPr lang="en-US" sz="1100" dirty="0" err="1"/>
              <a:t>eficientă</a:t>
            </a:r>
            <a:r>
              <a:rPr lang="en-US" sz="1100" dirty="0"/>
              <a:t> a </a:t>
            </a:r>
            <a:r>
              <a:rPr lang="en-US" sz="1100" dirty="0" err="1"/>
              <a:t>codului</a:t>
            </a:r>
            <a:r>
              <a:rPr lang="en-US" sz="1100" dirty="0"/>
              <a:t> x86, </a:t>
            </a:r>
            <a:r>
              <a:rPr lang="en-US" sz="1100" dirty="0" err="1"/>
              <a:t>permițând</a:t>
            </a:r>
            <a:r>
              <a:rPr lang="en-US" sz="1100" dirty="0"/>
              <a:t> </a:t>
            </a:r>
            <a:r>
              <a:rPr lang="en-US" sz="1100" dirty="0" err="1"/>
              <a:t>inginerilor</a:t>
            </a:r>
            <a:r>
              <a:rPr lang="en-US" sz="1100" dirty="0"/>
              <a:t> </a:t>
            </a:r>
            <a:r>
              <a:rPr lang="en-US" sz="1100" dirty="0" err="1"/>
              <a:t>să</a:t>
            </a:r>
            <a:r>
              <a:rPr lang="en-US" sz="1100" dirty="0"/>
              <a:t> </a:t>
            </a:r>
            <a:r>
              <a:rPr lang="en-US" sz="1100" dirty="0" err="1"/>
              <a:t>urmărească</a:t>
            </a:r>
            <a:r>
              <a:rPr lang="en-US" sz="1100" dirty="0"/>
              <a:t> </a:t>
            </a:r>
            <a:r>
              <a:rPr lang="en-US" sz="1100" dirty="0" err="1"/>
              <a:t>fluxul</a:t>
            </a:r>
            <a:r>
              <a:rPr lang="en-US" sz="1100" dirty="0"/>
              <a:t> de date </a:t>
            </a:r>
            <a:r>
              <a:rPr lang="en-US" sz="1100" dirty="0" err="1"/>
              <a:t>prin</a:t>
            </a:r>
            <a:r>
              <a:rPr lang="en-US" sz="1100" dirty="0"/>
              <a:t> program.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04F07-2318-07FB-6DEF-815BBCFBA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1979" y="768125"/>
            <a:ext cx="2832713" cy="502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A89B6-B63D-14F3-0EDE-7474DA3C3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487" y="3687624"/>
            <a:ext cx="3184617" cy="934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2C6B0D-18E1-4984-13F7-E356610CD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186" y="4696003"/>
            <a:ext cx="3175220" cy="9536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9E3221-F463-CFAE-FBCC-B7D7E5947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5186" y="5714019"/>
            <a:ext cx="3175220" cy="895584"/>
          </a:xfrm>
          <a:prstGeom prst="rect">
            <a:avLst/>
          </a:prstGeom>
        </p:spPr>
      </p:pic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A79A5D30-4F43-0F6F-CF18-F02D3C99DAC8}"/>
              </a:ext>
            </a:extLst>
          </p:cNvPr>
          <p:cNvSpPr/>
          <p:nvPr/>
        </p:nvSpPr>
        <p:spPr>
          <a:xfrm>
            <a:off x="8535897" y="3586713"/>
            <a:ext cx="3408853" cy="3159386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7752231" y="2110920"/>
            <a:ext cx="3858577" cy="1328766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762684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Process 6"/>
          <p:cNvSpPr/>
          <p:nvPr/>
        </p:nvSpPr>
        <p:spPr>
          <a:xfrm>
            <a:off x="450395" y="1963894"/>
            <a:ext cx="11307059" cy="4313337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Tabele</a:t>
            </a:r>
            <a:r>
              <a:rPr lang="en-US" dirty="0"/>
              <a:t> de </a:t>
            </a:r>
            <a:r>
              <a:rPr lang="en-US" dirty="0" err="1"/>
              <a:t>Moduri</a:t>
            </a:r>
            <a:r>
              <a:rPr lang="en-US" dirty="0"/>
              <a:t> de </a:t>
            </a:r>
            <a:r>
              <a:rPr lang="en-US" dirty="0" err="1"/>
              <a:t>Adresare</a:t>
            </a:r>
            <a:br>
              <a:rPr lang="en-US" dirty="0"/>
            </a:br>
            <a:r>
              <a:rPr lang="en-US" sz="1100" dirty="0" err="1"/>
              <a:t>Modurile</a:t>
            </a:r>
            <a:r>
              <a:rPr lang="en-US" sz="1100" dirty="0"/>
              <a:t> de </a:t>
            </a:r>
            <a:r>
              <a:rPr lang="en-US" sz="1100" dirty="0" err="1"/>
              <a:t>adresare</a:t>
            </a:r>
            <a:r>
              <a:rPr lang="en-US" sz="1100" dirty="0"/>
              <a:t> </a:t>
            </a:r>
            <a:r>
              <a:rPr lang="en-US" sz="1100" dirty="0" err="1"/>
              <a:t>în</a:t>
            </a:r>
            <a:r>
              <a:rPr lang="en-US" sz="1100" dirty="0"/>
              <a:t> </a:t>
            </a:r>
            <a:r>
              <a:rPr lang="en-US" sz="1100" dirty="0" err="1"/>
              <a:t>arhitectura</a:t>
            </a:r>
            <a:r>
              <a:rPr lang="en-US" sz="1100" dirty="0"/>
              <a:t> x86 </a:t>
            </a:r>
            <a:r>
              <a:rPr lang="en-US" sz="1100" dirty="0" err="1"/>
              <a:t>definesc</a:t>
            </a:r>
            <a:r>
              <a:rPr lang="en-US" sz="1100" dirty="0"/>
              <a:t> </a:t>
            </a:r>
            <a:r>
              <a:rPr lang="en-US" sz="1100" dirty="0" err="1"/>
              <a:t>modul</a:t>
            </a:r>
            <a:r>
              <a:rPr lang="en-US" sz="1100" dirty="0"/>
              <a:t> </a:t>
            </a:r>
            <a:r>
              <a:rPr lang="en-US" sz="1100" dirty="0" err="1"/>
              <a:t>în</a:t>
            </a:r>
            <a:r>
              <a:rPr lang="en-US" sz="1100" dirty="0"/>
              <a:t> care </a:t>
            </a:r>
            <a:r>
              <a:rPr lang="en-US" sz="1100" dirty="0" err="1"/>
              <a:t>instrucțiunile</a:t>
            </a:r>
            <a:r>
              <a:rPr lang="en-US" sz="1100" dirty="0"/>
              <a:t> </a:t>
            </a:r>
            <a:r>
              <a:rPr lang="en-US" sz="1100" dirty="0" err="1"/>
              <a:t>accesează</a:t>
            </a:r>
            <a:r>
              <a:rPr lang="en-US" sz="1100" dirty="0"/>
              <a:t> </a:t>
            </a:r>
            <a:r>
              <a:rPr lang="en-US" sz="1100" dirty="0" err="1"/>
              <a:t>datele</a:t>
            </a:r>
            <a:r>
              <a:rPr lang="en-US" sz="1100" dirty="0"/>
              <a:t> din </a:t>
            </a:r>
            <a:r>
              <a:rPr lang="en-US" sz="1100" dirty="0" err="1"/>
              <a:t>memorie</a:t>
            </a:r>
            <a:r>
              <a:rPr lang="en-US" sz="1100" dirty="0"/>
              <a:t> </a:t>
            </a:r>
            <a:r>
              <a:rPr lang="en-US" sz="1100" dirty="0" err="1"/>
              <a:t>sau</a:t>
            </a:r>
            <a:r>
              <a:rPr lang="en-US" sz="1100" dirty="0"/>
              <a:t> </a:t>
            </a:r>
            <a:r>
              <a:rPr lang="en-US" sz="1100" dirty="0" err="1"/>
              <a:t>registre</a:t>
            </a:r>
            <a:endParaRPr lang="en-US" sz="11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8282" y="2462644"/>
            <a:ext cx="1073607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Deplasament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(Base plus Displacement Addressing)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Adresa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efectivă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suma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dintre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registru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(baza)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valoare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constantă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deplasament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Exemplu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MOV AX, [BX+10h]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Valoarea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memorie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la adresa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rezultată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adunarea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BX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cu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10h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încărcată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AX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6.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Indexată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(Indexed Addressing)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Similar cu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deplasament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dar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folosește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registru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index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calcula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adresa.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Exemplu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MOV AX, [SI+1234h]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Valoarea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din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memorie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la adresa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calculată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adunând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SI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1234h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încărcată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AX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7.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Bazată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pe Index cu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Deplasament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(Based Indexed Addressing with Displacement)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Combinație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adresării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indexate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celei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deplasament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folosind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registru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bază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unul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index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deplasament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Exemplu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MOV AX, [BX+SI+10h]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- Adresa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efectivă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este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calculată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adunând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BX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SI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,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10h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8.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Adresare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Directă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sz="1400" b="1" i="0" u="sng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Pointerului</a:t>
            </a:r>
            <a:r>
              <a:rPr kumimoji="0" lang="en-US" sz="1400" b="1" i="0" u="sng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(Direct Addressing with Segment Override)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Descriere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Specifică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un segment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adresă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directă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; util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accesul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la date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segmente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diferite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de cel implicit.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Exemplu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 panose="020B0604020202020204" pitchFamily="34" charset="-128"/>
              </a:rPr>
              <a:t>MOV AX, ES:[1234h]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-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Accesează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date la adresa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1234h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în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segmentul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specificat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de 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 Unicode MS" panose="020B0604020202020204" pitchFamily="34" charset="-128"/>
              </a:rPr>
              <a:t>ES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885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1986153-6593-4036-9F52-30C49526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848" y="384558"/>
            <a:ext cx="3807941" cy="1325563"/>
          </a:xfrm>
        </p:spPr>
        <p:txBody>
          <a:bodyPr/>
          <a:lstStyle/>
          <a:p>
            <a:r>
              <a:rPr lang="en-US"/>
              <a:t>push/pop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C17A3D-4E53-4DB7-B5EC-ED41B462A916}"/>
              </a:ext>
            </a:extLst>
          </p:cNvPr>
          <p:cNvSpPr txBox="1"/>
          <p:nvPr/>
        </p:nvSpPr>
        <p:spPr>
          <a:xfrm>
            <a:off x="352167" y="1775669"/>
            <a:ext cx="573353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Deși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multe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convenții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specifice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diferitelor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sisteme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operare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medii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rulare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push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sunt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plasarea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argumentelor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înaintea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unui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funcție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nu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toate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push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observate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într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-un disassembler au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acest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scop.</a:t>
            </a:r>
          </a:p>
          <a:p>
            <a:pPr algn="l"/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push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pur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simplu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pune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Acest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lucru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fi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făcut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din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mai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multe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motive:</a:t>
            </a:r>
          </a:p>
          <a:p>
            <a:pPr algn="l"/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Pentru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Argumente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Funcții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În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multe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cazuri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push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trece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argumente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unei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funcții,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special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convențiile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stdcall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cdecl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sunt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comune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medii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Windows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C.</a:t>
            </a:r>
          </a:p>
          <a:p>
            <a:pPr algn="l">
              <a:buFont typeface="+mj-lt"/>
              <a:buAutoNum type="arabicPeriod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Pentru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Salvarea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Regiștrilor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Codul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push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salva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curentă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unui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registru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înainte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efectua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operații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putea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schimba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registru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astfel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încât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originală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fi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recuperată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(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pop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)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mai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târziu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Pentru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Alocarea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Spațiului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Uneori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un push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fi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utilizat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ajusta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alocarea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spațiu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variabile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locale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într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-o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funcție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Pentru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Instrucțiunile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Control al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Fluxului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push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pot fi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utilizate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înainte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anumite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control al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fluxului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cum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fi call (care,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asemenea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împinge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adresa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întoarcere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).</a:t>
            </a:r>
          </a:p>
          <a:p>
            <a:pPr algn="l">
              <a:buFont typeface="+mj-lt"/>
              <a:buAutoNum type="arabicPeriod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Când se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citește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cod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disasamblat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apare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push,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trebuie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analizat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contextul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aceasta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este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 Prin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urmărirea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fluxului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execuție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prin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analiza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modului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valorile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sunt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plasate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se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determina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scopul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lor. În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unele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cazuri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codul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trebuie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urmărit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până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la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punctul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aceste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valori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sunt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efectiv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utilizate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exemplu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într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-un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funcție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înțelege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motivul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au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fost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introduse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697008-9C3F-4709-9D9A-26FC65C69A96}"/>
              </a:ext>
            </a:extLst>
          </p:cNvPr>
          <p:cNvSpPr txBox="1"/>
          <p:nvPr/>
        </p:nvSpPr>
        <p:spPr>
          <a:xfrm>
            <a:off x="6378593" y="929283"/>
            <a:ext cx="54612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pop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limbajul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asamblare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elimina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vârful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obicei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stochează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într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-un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registru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sau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într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-o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locație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memorie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 Practic, face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opusul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push -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timp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push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adaugă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pop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scoate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öhne"/>
              </a:rPr>
              <a:t>:</a:t>
            </a:r>
          </a:p>
          <a:p>
            <a:pPr algn="l"/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Extrage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Valoarea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pe Vârful Stivei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Când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execuți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pop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procesorul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elimina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se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află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vârful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Stochează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eliminată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apoi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stocată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locația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specificată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pop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cum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fi un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registru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Ajustează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Pointerul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După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extrasă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stocată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pointerul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(de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exemplu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registrul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ESP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arhitecturile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x86)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ajustat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automat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reflecta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noua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poziție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vârfului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care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acum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la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elementul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următor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din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pop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adesea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următoarele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scenarii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</a:t>
            </a:r>
          </a:p>
          <a:p>
            <a:pPr algn="l"/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Pentru a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Recupera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Valori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Salvate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Pentru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recupera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valori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care au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fost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salvate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anterior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cu </a:t>
            </a:r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push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adesea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parte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conservării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stării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registrelor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înainte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un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funcție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Pentru a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Obține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Adresa de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Întoarcere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După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funcție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fost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apelată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cu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instrucțiunea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call, adresa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întoarcere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automat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împinsă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către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CPU. La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finalul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funcției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se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folosește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pop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obține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această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adresă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reveni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la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punctul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din cod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unde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fost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făcut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apelul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Pentru a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Elibera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Spațiu</a:t>
            </a:r>
            <a:r>
              <a:rPr lang="en-US" sz="1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: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Dacă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s-a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push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aloca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spațiu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pe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(de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exemplu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variabile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locale), pop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poate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fi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folosit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elibera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acel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spațiu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după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nu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mai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nevoie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variabilele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respective.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1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sz="1100" b="0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pop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o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operație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fundamentală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gestionarea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stivei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în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limbajul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asamblare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este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crucială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pentru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menținerea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unui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flux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corect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al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programului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și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a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stării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procesorului</a:t>
            </a: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7" name="Flowchart: Process 6"/>
          <p:cNvSpPr/>
          <p:nvPr/>
        </p:nvSpPr>
        <p:spPr>
          <a:xfrm>
            <a:off x="265669" y="678707"/>
            <a:ext cx="5820033" cy="75467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647" y="84892"/>
            <a:ext cx="1285099" cy="479402"/>
          </a:xfrm>
          <a:prstGeom prst="rect">
            <a:avLst/>
          </a:prstGeom>
        </p:spPr>
      </p:pic>
      <p:sp>
        <p:nvSpPr>
          <p:cNvPr id="4" name="Flowchart: Process 3"/>
          <p:cNvSpPr/>
          <p:nvPr/>
        </p:nvSpPr>
        <p:spPr>
          <a:xfrm>
            <a:off x="6252518" y="678706"/>
            <a:ext cx="5690287" cy="5993941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B4EBA3E1-F202-73CF-69F8-9DEE7735975A}"/>
              </a:ext>
            </a:extLst>
          </p:cNvPr>
          <p:cNvSpPr/>
          <p:nvPr/>
        </p:nvSpPr>
        <p:spPr>
          <a:xfrm>
            <a:off x="265669" y="1636036"/>
            <a:ext cx="5820033" cy="5036612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476695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Process 16"/>
          <p:cNvSpPr/>
          <p:nvPr/>
        </p:nvSpPr>
        <p:spPr>
          <a:xfrm>
            <a:off x="5918887" y="3571354"/>
            <a:ext cx="5657784" cy="2909765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8" name="Flowchart: Process 17"/>
          <p:cNvSpPr/>
          <p:nvPr/>
        </p:nvSpPr>
        <p:spPr>
          <a:xfrm>
            <a:off x="7713647" y="1402068"/>
            <a:ext cx="3836774" cy="1933009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232735"/>
              </p:ext>
            </p:extLst>
          </p:nvPr>
        </p:nvGraphicFramePr>
        <p:xfrm>
          <a:off x="707974" y="1791131"/>
          <a:ext cx="6656653" cy="1143000"/>
        </p:xfrm>
        <a:graphic>
          <a:graphicData uri="http://schemas.openxmlformats.org/drawingml/2006/table">
            <a:tbl>
              <a:tblPr/>
              <a:tblGrid>
                <a:gridCol w="172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80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Categorie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Registre Principale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Descriere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93">
                <a:tc>
                  <a:txBody>
                    <a:bodyPr/>
                    <a:lstStyle/>
                    <a:p>
                      <a:r>
                        <a:rPr lang="en-US" sz="900"/>
                        <a:t>Registre Generale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EAX, EBX, ECX, EDX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Utilizate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pentru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operații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aritmetice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logice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și</a:t>
                      </a:r>
                      <a:r>
                        <a:rPr lang="en-US" sz="900" dirty="0"/>
                        <a:t> de transfer de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93">
                <a:tc>
                  <a:txBody>
                    <a:bodyPr/>
                    <a:lstStyle/>
                    <a:p>
                      <a:r>
                        <a:rPr lang="en-US" sz="900"/>
                        <a:t>Registre de Index și Pointer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ESI, EDI, EBP, ESP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Utilizate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pentru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adresarea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memoriei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și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manipularea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stivei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93">
                <a:tc>
                  <a:txBody>
                    <a:bodyPr/>
                    <a:lstStyle/>
                    <a:p>
                      <a:r>
                        <a:rPr lang="en-US" sz="900"/>
                        <a:t>Registre de 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CS, DS, ES, FS, GS, 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Specifică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segmentele</a:t>
                      </a:r>
                      <a:r>
                        <a:rPr lang="en-US" sz="900" dirty="0"/>
                        <a:t> de </a:t>
                      </a:r>
                      <a:r>
                        <a:rPr lang="en-US" sz="900" dirty="0" err="1"/>
                        <a:t>memorie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pentru</a:t>
                      </a:r>
                      <a:r>
                        <a:rPr lang="en-US" sz="900" dirty="0"/>
                        <a:t> cod, date </a:t>
                      </a:r>
                      <a:r>
                        <a:rPr lang="en-US" sz="900" dirty="0" err="1"/>
                        <a:t>și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stivă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93">
                <a:tc>
                  <a:txBody>
                    <a:bodyPr/>
                    <a:lstStyle/>
                    <a:p>
                      <a:r>
                        <a:rPr lang="it-IT" sz="900"/>
                        <a:t>Registre de Control și Stare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EFLAGS, EIP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Controlă execuția instrucțiunilor și indică starea procesorului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36964"/>
              </p:ext>
            </p:extLst>
          </p:nvPr>
        </p:nvGraphicFramePr>
        <p:xfrm>
          <a:off x="704172" y="3561120"/>
          <a:ext cx="4992293" cy="2938742"/>
        </p:xfrm>
        <a:graphic>
          <a:graphicData uri="http://schemas.openxmlformats.org/drawingml/2006/table">
            <a:tbl>
              <a:tblPr/>
              <a:tblGrid>
                <a:gridCol w="51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066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Flag (Bit)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Nume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Descriere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0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CF (Carry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Indică un carry out sau borrow într-o operație aritmetică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2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PF (Parity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Indică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paritatea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numărului</a:t>
                      </a:r>
                      <a:r>
                        <a:rPr lang="en-US" sz="800" dirty="0"/>
                        <a:t> de </a:t>
                      </a:r>
                      <a:r>
                        <a:rPr lang="en-US" sz="800" dirty="0" err="1"/>
                        <a:t>biți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setați</a:t>
                      </a:r>
                      <a:r>
                        <a:rPr lang="en-US" sz="800" dirty="0"/>
                        <a:t> la 1 </a:t>
                      </a:r>
                      <a:r>
                        <a:rPr lang="en-US" sz="800" dirty="0" err="1"/>
                        <a:t>în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rezultat</a:t>
                      </a:r>
                      <a:endParaRPr lang="en-US" sz="80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66">
                <a:tc>
                  <a:txBody>
                    <a:bodyPr/>
                    <a:lstStyle/>
                    <a:p>
                      <a:r>
                        <a:rPr lang="en-US" sz="800"/>
                        <a:t>4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AF (Adjust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Folosit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în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operații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aritmetice</a:t>
                      </a:r>
                      <a:r>
                        <a:rPr lang="en-US" sz="800" dirty="0"/>
                        <a:t> BCD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6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ZF (Zero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Indică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dacă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rezultatul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unei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operații</a:t>
                      </a:r>
                      <a:r>
                        <a:rPr lang="en-US" sz="800" dirty="0"/>
                        <a:t> este zero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7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SF (Sign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/>
                        <a:t>Indică semnul (bitul cel mai semnificativ) al rezultatului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8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TF (Trap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/>
                        <a:t>Permite modul de depanare pas cu pas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9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IF (Interrupt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Controlează răspunsul la întreruperi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10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DF (Direction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Controlează direcția string operations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11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OF (Overflow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Indică dacă a avut loc un overflow într-o operație cu semn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12-13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IOPL (I/O Privilege Level)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800"/>
                        <a:t>Nivelul de privilegiu pentru operațiile de I/O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2066">
                <a:tc>
                  <a:txBody>
                    <a:bodyPr/>
                    <a:lstStyle/>
                    <a:p>
                      <a:r>
                        <a:rPr lang="en-US" sz="800"/>
                        <a:t>14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NT (Nested Task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Controlează înlănțuirea sarcinilor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9668">
                <a:tc>
                  <a:txBody>
                    <a:bodyPr/>
                    <a:lstStyle/>
                    <a:p>
                      <a:r>
                        <a:rPr lang="en-US" sz="800"/>
                        <a:t>16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RF (Resume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Controlează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răspunsul</a:t>
                      </a:r>
                      <a:r>
                        <a:rPr lang="en-US" sz="800" dirty="0"/>
                        <a:t> la breakpoint-</a:t>
                      </a:r>
                      <a:r>
                        <a:rPr lang="en-US" sz="800" dirty="0" err="1"/>
                        <a:t>uri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în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modul</a:t>
                      </a:r>
                      <a:r>
                        <a:rPr lang="en-US" sz="800" dirty="0"/>
                        <a:t> de </a:t>
                      </a:r>
                      <a:r>
                        <a:rPr lang="en-US" sz="800" dirty="0" err="1"/>
                        <a:t>depanare</a:t>
                      </a:r>
                      <a:endParaRPr lang="en-US" sz="80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17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VM (Virtual-8086 Mode)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Indică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dacă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procesorul</a:t>
                      </a:r>
                      <a:r>
                        <a:rPr lang="en-US" sz="800" dirty="0"/>
                        <a:t> este </a:t>
                      </a:r>
                      <a:r>
                        <a:rPr lang="en-US" sz="800" dirty="0" err="1"/>
                        <a:t>în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modul</a:t>
                      </a:r>
                      <a:r>
                        <a:rPr lang="en-US" sz="800" dirty="0"/>
                        <a:t> virtual 8086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2066">
                <a:tc>
                  <a:txBody>
                    <a:bodyPr/>
                    <a:lstStyle/>
                    <a:p>
                      <a:r>
                        <a:rPr lang="en-US" sz="800"/>
                        <a:t>18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AC (Alignment Check)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Controlează verificarea alinierii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82066">
                <a:tc>
                  <a:txBody>
                    <a:bodyPr/>
                    <a:lstStyle/>
                    <a:p>
                      <a:r>
                        <a:rPr lang="en-US" sz="800"/>
                        <a:t>19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VIF (Virtual Interrupt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Flag de întrerupere virtuală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9768">
                <a:tc>
                  <a:txBody>
                    <a:bodyPr/>
                    <a:lstStyle/>
                    <a:p>
                      <a:r>
                        <a:rPr lang="en-US" sz="800"/>
                        <a:t>20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VIP (Virtual Interrupt Pending)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Indică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dacă</a:t>
                      </a:r>
                      <a:r>
                        <a:rPr lang="en-US" sz="800" dirty="0"/>
                        <a:t> o </a:t>
                      </a:r>
                      <a:r>
                        <a:rPr lang="en-US" sz="800" dirty="0" err="1"/>
                        <a:t>întrerupere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virtuală</a:t>
                      </a:r>
                      <a:r>
                        <a:rPr lang="en-US" sz="800" dirty="0"/>
                        <a:t> este </a:t>
                      </a:r>
                      <a:r>
                        <a:rPr lang="en-US" sz="800" dirty="0" err="1"/>
                        <a:t>în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așteptare</a:t>
                      </a:r>
                      <a:endParaRPr lang="en-US" sz="80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82066">
                <a:tc>
                  <a:txBody>
                    <a:bodyPr/>
                    <a:lstStyle/>
                    <a:p>
                      <a:r>
                        <a:rPr lang="en-US" sz="800"/>
                        <a:t>21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ID (ID Flag)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Suport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pentru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instrucțiunea</a:t>
                      </a:r>
                      <a:r>
                        <a:rPr lang="en-US" sz="800" dirty="0"/>
                        <a:t> CPUID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34870" y="3202022"/>
            <a:ext cx="2779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Flaguri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Registrul</a:t>
            </a:r>
            <a:r>
              <a:rPr lang="en-US" dirty="0"/>
              <a:t> EFLAGS: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870" y="1400168"/>
            <a:ext cx="3340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/>
              <a:t>Registrele CPU în Arhitectura x86: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82556" y="3810561"/>
            <a:ext cx="53783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Arhitectura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x86 include o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serie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registre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utilizate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stoca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date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temporare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necesare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timpul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execuției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programelor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precum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flaguri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indică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diverse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stări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procesorului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rezultate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operațiilor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2556" y="4882807"/>
            <a:ext cx="546786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Aceste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registre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flaguri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programarea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nivel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dezvoltarea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software-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care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necesită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manipularea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directă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hardware-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Registrele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sunt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folosite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pentru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stoca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temporar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date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adrese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timpul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execuției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în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timp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flagurile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registrul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EFLAGS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oferă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informații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despre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starea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curentă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procesorului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și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rezultatele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operațiunilor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executate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177" y="1523939"/>
            <a:ext cx="3561360" cy="1695885"/>
          </a:xfrm>
          <a:prstGeom prst="rect">
            <a:avLst/>
          </a:prstGeom>
        </p:spPr>
      </p:pic>
      <p:sp>
        <p:nvSpPr>
          <p:cNvPr id="13" name="Flowchart: Process 12"/>
          <p:cNvSpPr/>
          <p:nvPr/>
        </p:nvSpPr>
        <p:spPr>
          <a:xfrm>
            <a:off x="525162" y="350895"/>
            <a:ext cx="8149282" cy="754678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61986153-6593-4036-9F52-30C49526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807" y="284140"/>
            <a:ext cx="8155459" cy="888188"/>
          </a:xfrm>
        </p:spPr>
        <p:txBody>
          <a:bodyPr>
            <a:normAutofit/>
          </a:bodyPr>
          <a:lstStyle/>
          <a:p>
            <a:r>
              <a:rPr lang="en-US" sz="3200"/>
              <a:t>Registre și steaguri CPU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911" y="212679"/>
            <a:ext cx="2392510" cy="8925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D7D43C-13FB-1134-908C-17015E112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064" y="435026"/>
            <a:ext cx="595377" cy="58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153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Process 12"/>
          <p:cNvSpPr/>
          <p:nvPr/>
        </p:nvSpPr>
        <p:spPr>
          <a:xfrm>
            <a:off x="450395" y="1963894"/>
            <a:ext cx="11307059" cy="4313337"/>
          </a:xfrm>
          <a:prstGeom prst="flowChartProcess">
            <a:avLst/>
          </a:prstGeom>
          <a:solidFill>
            <a:srgbClr val="8CB64A">
              <a:lumMod val="75000"/>
              <a:alpha val="8000"/>
            </a:srgbClr>
          </a:solidFill>
          <a:ln w="25400" cap="rnd" cmpd="sng" algn="ctr">
            <a:solidFill>
              <a:sysClr val="windowText" lastClr="000000">
                <a:lumMod val="50000"/>
                <a:lumOff val="50000"/>
                <a:alpha val="59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Instrucțiunile de tip jump</a:t>
            </a:r>
            <a:br>
              <a:rPr lang="en-US"/>
            </a:br>
            <a:r>
              <a:rPr lang="en-US" sz="1100"/>
              <a:t>Salt Necondiționat / Condiționat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3740" y="2071442"/>
            <a:ext cx="109270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Instrucțiunile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de tip jump (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săritură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)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în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arhitectura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x86 permit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controlul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fluxului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execuției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programului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prin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salturi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la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adrese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specifice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de cod.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Salturile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pot fi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condiționate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(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efectuate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doar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dacă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o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anumită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condiție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este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îndeplinită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)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sau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necondiționate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(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efectuate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întotdeauna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96630"/>
              </p:ext>
            </p:extLst>
          </p:nvPr>
        </p:nvGraphicFramePr>
        <p:xfrm>
          <a:off x="932855" y="3005504"/>
          <a:ext cx="4765752" cy="2977476"/>
        </p:xfrm>
        <a:graphic>
          <a:graphicData uri="http://schemas.openxmlformats.org/drawingml/2006/table">
            <a:tbl>
              <a:tblPr/>
              <a:tblGrid>
                <a:gridCol w="834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27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Mnemonic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Descriere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Tip de Salt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JMP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it-IT" sz="800" b="0"/>
                        <a:t>Salt necondiționat la o adresă specificată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Necondiționat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7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JE/JZ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Salt dacă egal/zero (Egalitate)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7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JNE/JNZ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nu este egal/nu este zero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JS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nb-NO" sz="800" b="0"/>
                        <a:t>Salt dacă semnul este setat (negativ)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JNS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</a:t>
                      </a:r>
                      <a:r>
                        <a:rPr lang="en-US" sz="800" b="0" dirty="0" err="1"/>
                        <a:t>semnul</a:t>
                      </a:r>
                      <a:r>
                        <a:rPr lang="en-US" sz="800" b="0" dirty="0"/>
                        <a:t> nu este </a:t>
                      </a:r>
                      <a:r>
                        <a:rPr lang="en-US" sz="800" b="0" dirty="0" err="1"/>
                        <a:t>setat</a:t>
                      </a:r>
                      <a:r>
                        <a:rPr lang="en-US" sz="800" b="0" dirty="0"/>
                        <a:t> (</a:t>
                      </a:r>
                      <a:r>
                        <a:rPr lang="en-US" sz="800" b="0" dirty="0" err="1"/>
                        <a:t>pozitiv</a:t>
                      </a:r>
                      <a:r>
                        <a:rPr lang="en-US" sz="800" b="0" dirty="0"/>
                        <a:t>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527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JP/JPE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</a:t>
                      </a:r>
                      <a:r>
                        <a:rPr lang="en-US" sz="800" b="0" dirty="0" err="1"/>
                        <a:t>paritatea</a:t>
                      </a:r>
                      <a:r>
                        <a:rPr lang="en-US" sz="800" b="0" dirty="0"/>
                        <a:t> este </a:t>
                      </a:r>
                      <a:r>
                        <a:rPr lang="en-US" sz="800" b="0" dirty="0" err="1"/>
                        <a:t>setată</a:t>
                      </a:r>
                      <a:endParaRPr lang="en-US" sz="800" b="0" dirty="0"/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27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JNP/JPO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sv-SE" sz="800" b="0"/>
                        <a:t>Salt dacă paritatea nu este setată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JB/JNAE/JC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este </a:t>
                      </a:r>
                      <a:r>
                        <a:rPr lang="en-US" sz="800" b="0" dirty="0" err="1"/>
                        <a:t>mai</a:t>
                      </a:r>
                      <a:r>
                        <a:rPr lang="en-US" sz="800" b="0" dirty="0"/>
                        <a:t> mic </a:t>
                      </a:r>
                      <a:r>
                        <a:rPr lang="en-US" sz="800" b="0" dirty="0" err="1"/>
                        <a:t>decât</a:t>
                      </a:r>
                      <a:r>
                        <a:rPr lang="en-US" sz="800" b="0" dirty="0"/>
                        <a:t> (</a:t>
                      </a:r>
                      <a:r>
                        <a:rPr lang="en-US" sz="800" b="0" dirty="0" err="1"/>
                        <a:t>Fără</a:t>
                      </a:r>
                      <a:r>
                        <a:rPr lang="en-US" sz="800" b="0" dirty="0"/>
                        <a:t> </a:t>
                      </a:r>
                      <a:r>
                        <a:rPr lang="en-US" sz="800" b="0" dirty="0" err="1"/>
                        <a:t>semn</a:t>
                      </a:r>
                      <a:r>
                        <a:rPr lang="en-US" sz="800" b="0" dirty="0"/>
                        <a:t>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JNB/JAE/JNC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nu este </a:t>
                      </a:r>
                      <a:r>
                        <a:rPr lang="en-US" sz="800" b="0" dirty="0" err="1"/>
                        <a:t>mai</a:t>
                      </a:r>
                      <a:r>
                        <a:rPr lang="en-US" sz="800" b="0" dirty="0"/>
                        <a:t> mic </a:t>
                      </a:r>
                      <a:r>
                        <a:rPr lang="en-US" sz="800" b="0" dirty="0" err="1"/>
                        <a:t>decât</a:t>
                      </a:r>
                      <a:r>
                        <a:rPr lang="en-US" sz="800" b="0" dirty="0"/>
                        <a:t> (</a:t>
                      </a:r>
                      <a:r>
                        <a:rPr lang="en-US" sz="800" b="0" dirty="0" err="1"/>
                        <a:t>Fără</a:t>
                      </a:r>
                      <a:r>
                        <a:rPr lang="en-US" sz="800" b="0" dirty="0"/>
                        <a:t> </a:t>
                      </a:r>
                      <a:r>
                        <a:rPr lang="en-US" sz="800" b="0" dirty="0" err="1"/>
                        <a:t>semn</a:t>
                      </a:r>
                      <a:r>
                        <a:rPr lang="en-US" sz="800" b="0" dirty="0"/>
                        <a:t>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JL/JNGE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este </a:t>
                      </a:r>
                      <a:r>
                        <a:rPr lang="en-US" sz="800" b="0" dirty="0" err="1"/>
                        <a:t>mai</a:t>
                      </a:r>
                      <a:r>
                        <a:rPr lang="en-US" sz="800" b="0" dirty="0"/>
                        <a:t> mic </a:t>
                      </a:r>
                      <a:r>
                        <a:rPr lang="en-US" sz="800" b="0" dirty="0" err="1"/>
                        <a:t>decât</a:t>
                      </a:r>
                      <a:r>
                        <a:rPr lang="en-US" sz="800" b="0" dirty="0"/>
                        <a:t> (Cu </a:t>
                      </a:r>
                      <a:r>
                        <a:rPr lang="en-US" sz="800" b="0" dirty="0" err="1"/>
                        <a:t>semn</a:t>
                      </a:r>
                      <a:r>
                        <a:rPr lang="en-US" sz="800" b="0" dirty="0"/>
                        <a:t>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JGE/JNL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este </a:t>
                      </a:r>
                      <a:r>
                        <a:rPr lang="en-US" sz="800" b="0" dirty="0" err="1"/>
                        <a:t>mai</a:t>
                      </a:r>
                      <a:r>
                        <a:rPr lang="en-US" sz="800" b="0" dirty="0"/>
                        <a:t> mare </a:t>
                      </a:r>
                      <a:r>
                        <a:rPr lang="en-US" sz="800" b="0" dirty="0" err="1"/>
                        <a:t>sau</a:t>
                      </a:r>
                      <a:r>
                        <a:rPr lang="en-US" sz="800" b="0" dirty="0"/>
                        <a:t> egal (Cu </a:t>
                      </a:r>
                      <a:r>
                        <a:rPr lang="en-US" sz="800" b="0" dirty="0" err="1"/>
                        <a:t>semn</a:t>
                      </a:r>
                      <a:r>
                        <a:rPr lang="en-US" sz="800" b="0" dirty="0"/>
                        <a:t>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JG/JNLE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it-IT" sz="800" b="0"/>
                        <a:t>Salt dacă este mai mare decât (Cu semn)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JLE/JNG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este </a:t>
                      </a:r>
                      <a:r>
                        <a:rPr lang="en-US" sz="800" b="0" dirty="0" err="1"/>
                        <a:t>mai</a:t>
                      </a:r>
                      <a:r>
                        <a:rPr lang="en-US" sz="800" b="0" dirty="0"/>
                        <a:t> mic </a:t>
                      </a:r>
                      <a:r>
                        <a:rPr lang="en-US" sz="800" b="0" dirty="0" err="1"/>
                        <a:t>sau</a:t>
                      </a:r>
                      <a:r>
                        <a:rPr lang="en-US" sz="800" b="0" dirty="0"/>
                        <a:t> egal (Cu </a:t>
                      </a:r>
                      <a:r>
                        <a:rPr lang="en-US" sz="800" b="0" dirty="0" err="1"/>
                        <a:t>semn</a:t>
                      </a:r>
                      <a:r>
                        <a:rPr lang="en-US" sz="800" b="0" dirty="0"/>
                        <a:t>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JA/JNBE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este </a:t>
                      </a:r>
                      <a:r>
                        <a:rPr lang="en-US" sz="800" b="0" dirty="0" err="1"/>
                        <a:t>mai</a:t>
                      </a:r>
                      <a:r>
                        <a:rPr lang="en-US" sz="800" b="0" dirty="0"/>
                        <a:t> mare </a:t>
                      </a:r>
                      <a:r>
                        <a:rPr lang="en-US" sz="800" b="0" dirty="0" err="1"/>
                        <a:t>decât</a:t>
                      </a:r>
                      <a:r>
                        <a:rPr lang="en-US" sz="800" b="0" dirty="0"/>
                        <a:t> (</a:t>
                      </a:r>
                      <a:r>
                        <a:rPr lang="en-US" sz="800" b="0" dirty="0" err="1"/>
                        <a:t>Fără</a:t>
                      </a:r>
                      <a:r>
                        <a:rPr lang="en-US" sz="800" b="0" dirty="0"/>
                        <a:t> </a:t>
                      </a:r>
                      <a:r>
                        <a:rPr lang="en-US" sz="800" b="0" dirty="0" err="1"/>
                        <a:t>semn</a:t>
                      </a:r>
                      <a:r>
                        <a:rPr lang="en-US" sz="800" b="0" dirty="0"/>
                        <a:t>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6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JNA/JBE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 dirty="0"/>
                        <a:t>Salt </a:t>
                      </a:r>
                      <a:r>
                        <a:rPr lang="en-US" sz="800" b="0" dirty="0" err="1"/>
                        <a:t>dacă</a:t>
                      </a:r>
                      <a:r>
                        <a:rPr lang="en-US" sz="800" b="0" dirty="0"/>
                        <a:t> este </a:t>
                      </a:r>
                      <a:r>
                        <a:rPr lang="en-US" sz="800" b="0" dirty="0" err="1"/>
                        <a:t>mai</a:t>
                      </a:r>
                      <a:r>
                        <a:rPr lang="en-US" sz="800" b="0" dirty="0"/>
                        <a:t> mic </a:t>
                      </a:r>
                      <a:r>
                        <a:rPr lang="en-US" sz="800" b="0" dirty="0" err="1"/>
                        <a:t>sau</a:t>
                      </a:r>
                      <a:r>
                        <a:rPr lang="en-US" sz="800" b="0" dirty="0"/>
                        <a:t> egal (</a:t>
                      </a:r>
                      <a:r>
                        <a:rPr lang="en-US" sz="800" b="0" dirty="0" err="1"/>
                        <a:t>Fără</a:t>
                      </a:r>
                      <a:r>
                        <a:rPr lang="en-US" sz="800" b="0" dirty="0"/>
                        <a:t> </a:t>
                      </a:r>
                      <a:r>
                        <a:rPr lang="en-US" sz="800" b="0" dirty="0" err="1"/>
                        <a:t>semn</a:t>
                      </a:r>
                      <a:r>
                        <a:rPr lang="en-US" sz="800" b="0" dirty="0"/>
                        <a:t>)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9527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JO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Salt dacă overflow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527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JNO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da-DK" sz="800" b="0"/>
                        <a:t>Salt dacă nu este overflow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800" b="0"/>
                        <a:t>Condiționat</a:t>
                      </a:r>
                    </a:p>
                  </a:txBody>
                  <a:tcPr marL="41441" marR="41441" marT="20721" marB="2072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978611" y="2901722"/>
            <a:ext cx="5556421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Explicații</a:t>
            </a:r>
            <a:r>
              <a:rPr 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Suplimentare</a:t>
            </a:r>
            <a:endParaRPr lang="en-US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Mnemonic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Numele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scurt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al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instrucțiunii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folosit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în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codul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de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asamblare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Descriere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: O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scurtă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descriere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condiției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sub care se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efectuează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saltul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Tip de Salt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Indică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dacă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saltul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este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efectuat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necondiționat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indiferent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de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starea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flag-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urilor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procesorului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sau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condiționat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bazat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pe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evaluarea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unei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anumite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condiții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Instrucțiunile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de salt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condiționat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testează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starea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flag-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urilor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în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registrul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de stat al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procesorului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(EFLAGS)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pentru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determina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dacă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saltul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trebuie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fie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efectuat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. De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exemplu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instrucțiunea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8"/>
              </a:rPr>
              <a:t>JE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(Jump if Equal)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sau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8"/>
              </a:rPr>
              <a:t>JZ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(Jump if Zero)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efectuează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saltul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dacă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flag-ul ZF (Zero Flag) este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setat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, care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indică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că ultima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operație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aritmetică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sau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logică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rezultat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într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-o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valoare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zero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sau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că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două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valori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comparate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 sunt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egale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Fiecare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din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aceste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instrucțiuni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de salt are o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utilizare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specifică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permițând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dezvoltatorilor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controleze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fluxul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execuției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programelor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în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moduri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complexe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, de la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bucle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simple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până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la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structuri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de control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condiționat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avansate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3302C0-E054-3974-A547-1E16C27D2DFB}"/>
              </a:ext>
            </a:extLst>
          </p:cNvPr>
          <p:cNvSpPr/>
          <p:nvPr/>
        </p:nvSpPr>
        <p:spPr>
          <a:xfrm>
            <a:off x="772733" y="2731504"/>
            <a:ext cx="1066370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4580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Process 6"/>
          <p:cNvSpPr/>
          <p:nvPr/>
        </p:nvSpPr>
        <p:spPr>
          <a:xfrm>
            <a:off x="6650735" y="1956816"/>
            <a:ext cx="5110048" cy="1840992"/>
          </a:xfrm>
          <a:prstGeom prst="flowChartProcess">
            <a:avLst/>
          </a:prstGeom>
          <a:solidFill>
            <a:schemeClr val="accent2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>
            <a:off x="457200" y="1956816"/>
            <a:ext cx="5949696" cy="4742688"/>
          </a:xfrm>
          <a:prstGeom prst="flowChartProcess">
            <a:avLst/>
          </a:prstGeom>
          <a:solidFill>
            <a:schemeClr val="accent2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Bibliografie / resurse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888" y="2588928"/>
            <a:ext cx="5831800" cy="3678303"/>
          </a:xfrm>
        </p:spPr>
        <p:txBody>
          <a:bodyPr>
            <a:normAutofit fontScale="25000" lnSpcReduction="20000"/>
          </a:bodyPr>
          <a:lstStyle/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Antivirus Engines: From Methods to Innovations, Design, and Applications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. Cambridge, MA: Elsevier Syngress, 2024. pp. 1-656.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An Introduction to Programming Languages: Simultaneous Learning in Multiple Coding Environments. Synthesis Lectures on Computer Science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. Springer International Publishing, 2023, pp. 1-280.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Coding Examples from Simple to Complex - Applications in MATLAB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, Springer, 2024, pp. 1-255.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Coding Examples from Simple to Complex - Applications in Python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, Springer, 2024, pp. 1-245.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Coding Examples from Simple to Complex - Applications in Javascript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, Springer, 2024, pp. 1-240.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Markov chains: from theory to implementation and experimentation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. Hoboken, NJ,  John Wiley &amp; Sons, USA, 2017, ISBN: 978-1-119-38755-8.</a:t>
            </a:r>
          </a:p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866610" y="2687191"/>
            <a:ext cx="2678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https://github.com/gagniuc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735" y="3970542"/>
            <a:ext cx="5110048" cy="2728962"/>
          </a:xfrm>
          <a:prstGeom prst="rect">
            <a:avLst/>
          </a:prstGeom>
          <a:ln w="9525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404710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3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12928</TotalTime>
  <Words>17000</Words>
  <Application>Microsoft Office PowerPoint</Application>
  <PresentationFormat>Widescreen</PresentationFormat>
  <Paragraphs>1279</Paragraphs>
  <Slides>63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63</vt:i4>
      </vt:variant>
    </vt:vector>
  </HeadingPairs>
  <TitlesOfParts>
    <vt:vector size="76" baseType="lpstr">
      <vt:lpstr>Arial</vt:lpstr>
      <vt:lpstr>Arial Unicode MS</vt:lpstr>
      <vt:lpstr>Calibri</vt:lpstr>
      <vt:lpstr>Calibri Light</vt:lpstr>
      <vt:lpstr>Consolas</vt:lpstr>
      <vt:lpstr>Gill Sans MT</vt:lpstr>
      <vt:lpstr>Impact</vt:lpstr>
      <vt:lpstr>Söhne</vt:lpstr>
      <vt:lpstr>Wingdings</vt:lpstr>
      <vt:lpstr>Wingdings 2</vt:lpstr>
      <vt:lpstr>Office Theme</vt:lpstr>
      <vt:lpstr>1_Main Event</vt:lpstr>
      <vt:lpstr>Dividend</vt:lpstr>
      <vt:lpstr>C.6 Formatele de fișiere și regimul de compilare </vt:lpstr>
      <vt:lpstr>Principalele părți ale prezentării</vt:lpstr>
      <vt:lpstr>C.6.1 formatele de fișiere și detectarea pe baza de semnaturi</vt:lpstr>
      <vt:lpstr>cele mai relevante formate de fișiere împărțitE pe categorii:</vt:lpstr>
      <vt:lpstr>Formatele principale de fișiere  exploatate de malware</vt:lpstr>
      <vt:lpstr>fișierele executabile binare </vt:lpstr>
      <vt:lpstr>fișierele executabile script</vt:lpstr>
      <vt:lpstr>Alte tipuri de executabile  binare și script</vt:lpstr>
      <vt:lpstr>semnaturile de fișiere cunoscute și ca „magic numbers”</vt:lpstr>
      <vt:lpstr>Exemple in cutter magic headers (observați că .pptx și .zip sunt identice)</vt:lpstr>
      <vt:lpstr>Detectia de format                                 Python file type detector</vt:lpstr>
      <vt:lpstr>Ce ne indică  Discrepanță între semnătura magică și extensie?</vt:lpstr>
      <vt:lpstr>Cum obtinem sematurile magice? Aliniem fisiere cu extensii de acelasi fel</vt:lpstr>
      <vt:lpstr>C.6.2 Fișiere executabile interpretate vs compilate</vt:lpstr>
      <vt:lpstr>diferitele tipuri de fișiere executabile sub forma unui arbore</vt:lpstr>
      <vt:lpstr>Fișierele .exe (Executable files) structura generală a unui fișier .exe în format PE</vt:lpstr>
      <vt:lpstr>Fișierele .sys Diagrama generală a structurii unui fișier .sys (și, prin extensie, a oricărui fișier PE)</vt:lpstr>
      <vt:lpstr>Fișierele .dll (Dynamic Link Libraries)  Structura unui fișier .dll este, prin urmare, similară cu cea a altor fișiere PE</vt:lpstr>
      <vt:lpstr>diferențe semnificative  .exe, .dll, și .sys </vt:lpstr>
      <vt:lpstr>Fișierele Executable  &amp; extensiile</vt:lpstr>
      <vt:lpstr>Fișierele .com</vt:lpstr>
      <vt:lpstr>Fișierele .com compatibilitate</vt:lpstr>
      <vt:lpstr>C.6.3 Tipul de informații, ofuscarea și detectarea criptării</vt:lpstr>
      <vt:lpstr>Cum determinăm dacă  un fișier este text (human-readable)?</vt:lpstr>
      <vt:lpstr>Cum determinăm dacă  un fișier este text (human-readable)?</vt:lpstr>
      <vt:lpstr>Cum identificăm  tipul de codificare al unui fișier text?</vt:lpstr>
      <vt:lpstr>Cum identificăm tipul de codificare al unui fișier text?</vt:lpstr>
      <vt:lpstr>Cum ne dăm seama dacă  un script Python (fișier text) a fost ofuscat?</vt:lpstr>
      <vt:lpstr>Detectare Automată Cum ne dăm seama dacă un script Python (fișier text) a fost ofuscat?</vt:lpstr>
      <vt:lpstr>C.6.4 identificarea punctului de intrare în executabile</vt:lpstr>
      <vt:lpstr>Calcularea entry point ce ne intereseaza?</vt:lpstr>
      <vt:lpstr>În debugger _</vt:lpstr>
      <vt:lpstr>PowerPoint Presentation</vt:lpstr>
      <vt:lpstr>PowerPoint Presentation</vt:lpstr>
      <vt:lpstr>Pe scurt … structura de început a unui fișier PE</vt:lpstr>
      <vt:lpstr>PowerPoint Presentation</vt:lpstr>
      <vt:lpstr>X64dbg: Little-Endian</vt:lpstr>
      <vt:lpstr>X32dbg: Punctul de intrare</vt:lpstr>
      <vt:lpstr>Cum calculăm codul punctului de intrare?</vt:lpstr>
      <vt:lpstr>Primii 10 bytes de la punctul de intrare!</vt:lpstr>
      <vt:lpstr>Biblioteca pefile </vt:lpstr>
      <vt:lpstr>C.6.5 regimUl de compilare în diferite limbaje de programare</vt:lpstr>
      <vt:lpstr>De reţinut !</vt:lpstr>
      <vt:lpstr>Pachetul C++  care ne ajută să compilăm imediat!</vt:lpstr>
      <vt:lpstr>Regim de compilare opulent Compilarea fișierului .py în .exe</vt:lpstr>
      <vt:lpstr>Regim de compilare auto-sufficient compilare (fmare.cpp)</vt:lpstr>
      <vt:lpstr>Regim de compilare semi-sufficient compilare (mare.cpp)</vt:lpstr>
      <vt:lpstr>Regim de compilare semi-distribuit compilare (mini.bas)</vt:lpstr>
      <vt:lpstr>Regim de compilare sufficient compilare (minimal.cpp)</vt:lpstr>
      <vt:lpstr>Regim de compilare optim Compilare cu FASM</vt:lpstr>
      <vt:lpstr>PowerPoint Presentation</vt:lpstr>
      <vt:lpstr>argumentele pe stivă</vt:lpstr>
      <vt:lpstr>Diferențele dintre  limbajele de programare  moderne și clasice</vt:lpstr>
      <vt:lpstr>C.6.6 Arhitectura CPU și instrucțiunile de bază</vt:lpstr>
      <vt:lpstr>Secțiune / rol Conventie</vt:lpstr>
      <vt:lpstr>PowerPoint Presentation</vt:lpstr>
      <vt:lpstr>Tabelul de Instrucțiuni x86  Instrucțiunile opcode pentru arhitectura x86</vt:lpstr>
      <vt:lpstr>Tabele de Moduri de Adresare Modurile de adresare în arhitectura x86 definesc modul în care instrucțiunile accesează datele din memorie sau registre</vt:lpstr>
      <vt:lpstr>Tabele de Moduri de Adresare Modurile de adresare în arhitectura x86 definesc modul în care instrucțiunile accesează datele din memorie sau registre</vt:lpstr>
      <vt:lpstr>push/pop</vt:lpstr>
      <vt:lpstr>Registre și steaguri CPU</vt:lpstr>
      <vt:lpstr>Instrucțiunile de tip jump Salt Necondiționat / Condiționat</vt:lpstr>
      <vt:lpstr>Bibliografie / resurse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C.1. Evolutia malware si a solutiilor de securitate</dc:title>
  <dc:creator>Dr. Paul A. Gagniuc</dc:creator>
  <cp:lastModifiedBy>Paul Gagniuc</cp:lastModifiedBy>
  <cp:revision>1143</cp:revision>
  <dcterms:created xsi:type="dcterms:W3CDTF">2024-01-23T11:52:18Z</dcterms:created>
  <dcterms:modified xsi:type="dcterms:W3CDTF">2026-05-09T10:37:02Z</dcterms:modified>
</cp:coreProperties>
</file>